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7.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c:v>
                </c:pt>
              </c:strCache>
            </c:strRef>
          </c:tx>
          <c:spPr>
            <a:solidFill>
              <a:srgbClr val="1E293B"/>
            </a:solidFill>
            <a:effectLst/>
          </c:spPr>
          <c:invertIfNegative val="0"/>
          <c:dLbls>
            <c:numFmt formatCode="#,##0" sourceLinked="0"/>
            <c:txPr>
              <a:bodyPr/>
              <a:lstStyle/>
              <a:p>
                <a:pPr>
                  <a:defRPr b="1"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Sheet1!$A$2:$A$3</c:f>
              <c:multiLvlStrCache>
                <c:ptCount val="2"/>
                <c:lvl>
                  <c:pt idx="0">
                    <c:v>Amazon</c:v>
                  </c:pt>
                  <c:pt idx="1">
                    <c:v>Netflix</c:v>
                  </c:pt>
                </c:lvl>
              </c:multiLvlStrCache>
            </c:multiLvlStrRef>
          </c:cat>
          <c:val>
            <c:numRef>
              <c:f>Sheet1!$B$2:$B$3</c:f>
              <c:numCache>
                <c:formatCode>General</c:formatCode>
                <c:ptCount val="2"/>
                <c:pt idx="0">
                  <c:v>35</c:v>
                </c:pt>
                <c:pt idx="1">
                  <c:v>75</c:v>
                </c:pt>
              </c:numCache>
            </c:numRef>
          </c:val>
        </c:ser>
        <c:dLbls>
          <c:numFmt formatCode="#,##0" sourceLinked="0"/>
          <c:txPr>
            <a:bodyPr/>
            <a:lstStyle/>
            <a:p>
              <a:pPr>
                <a:defRPr b="1" i="0" strike="noStrike" sz="1100" u="none">
                  <a:solidFill>
                    <a:srgbClr val="0F172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cvr</c:v>
                </c:pt>
              </c:strCache>
            </c:strRef>
          </c:tx>
          <c:spPr>
            <a:solidFill>
              <a:srgbClr val="1E293B"/>
            </a:solidFill>
            <a:effectLst/>
          </c:spPr>
          <c:invertIfNegative val="0"/>
          <c:dLbls>
            <c:numFmt formatCode="0.0&quot;%&quot;" sourceLinked="0"/>
            <c:txPr>
              <a:bodyPr/>
              <a:lstStyle/>
              <a:p>
                <a:pPr>
                  <a:defRPr b="1" i="0" strike="noStrike" sz="13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1E293B"/>
              </a:solidFill>
              <a:effectLst/>
            </c:spPr>
          </c:dPt>
          <c:dPt>
            <c:idx val="1"/>
            <c:invertIfNegative val="0"/>
            <c:bubble3D val="0"/>
            <c:spPr>
              <a:solidFill>
                <a:srgbClr val="06B6D4"/>
              </a:solidFill>
              <a:effectLst/>
            </c:spPr>
          </c:dPt>
          <c:cat>
            <c:multiLvlStrRef>
              <c:f>Sheet1!$A$2:$A$3</c:f>
              <c:multiLvlStrCache>
                <c:ptCount val="2"/>
                <c:lvl>
                  <c:pt idx="0">
                    <c:v>Control</c:v>
                  </c:pt>
                  <c:pt idx="1">
                    <c:v>Treatment</c:v>
                  </c:pt>
                </c:lvl>
              </c:multiLvlStrCache>
            </c:multiLvlStrRef>
          </c:cat>
          <c:val>
            <c:numRef>
              <c:f>Sheet1!$B$2:$B$3</c:f>
              <c:numCache>
                <c:formatCode>General</c:formatCode>
                <c:ptCount val="2"/>
                <c:pt idx="0">
                  <c:v>3.2</c:v>
                </c:pt>
                <c:pt idx="1">
                  <c:v>3.9</c:v>
                </c:pt>
              </c:numCache>
            </c:numRef>
          </c:val>
        </c:ser>
        <c:dLbls>
          <c:numFmt formatCode="0.0&quot;%&quot;" sourceLinked="0"/>
          <c:txPr>
            <a:bodyPr/>
            <a:lstStyle/>
            <a:p>
              <a:pPr>
                <a:defRPr b="1" i="0" strike="noStrike" sz="1300" u="none">
                  <a:solidFill>
                    <a:srgbClr val="0F172A"/>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profile</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Serving latency</c:v>
                  </c:pt>
                  <c:pt idx="1">
                    <c:v>Catalog scalability</c:v>
                  </c:pt>
                  <c:pt idx="2">
                    <c:v>Sparse-data robustness</c:v>
                  </c:pt>
                </c:lvl>
              </c:multiLvlStrCache>
            </c:multiLvlStrRef>
          </c:cat>
          <c:val>
            <c:numRef>
              <c:f>Sheet1!$B$2:$B$4</c:f>
              <c:numCache>
                <c:formatCode>General</c:formatCode>
                <c:ptCount val="3"/>
                <c:pt idx="0">
                  <c:v>92</c:v>
                </c:pt>
                <c:pt idx="1">
                  <c:v>96</c:v>
                </c:pt>
                <c:pt idx="2">
                  <c:v>82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Technical Team session. Frame the topic: product recommendation systems are the engines behind "recommended for you," "frequently bought together," and personalized storefronts. State who this is for (a technical deep-dive) and the arc: we'll go from the problem, to how these systems work, to their real-world impact and trade-offs. Replace the placeholder name and date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stakes concrete. The discovery problem: catalogs are enormous, attention is scarce. Choice overload genuinely suppresses purchases — more options can mean fewer sales. Then the business case: recommendations lift conversion, raise average order value through cross-sell, and improve retention by making the experience feel tailored. The Amazon (~35% of sales) and Netflix (~75% of viewing) figures are widely cited estimates — present them as directional proof that recommendations drive a large share of engagement, not as precise current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clean definition: a recommender predicts which items a user is most likely to want, then ranks them. Walk the pipeline left to right — Input (who the user is, their history, the current context) feeds the Model (which scores relevance), producing a Ranked output (a short ordered list). Emphasize that every recommendation surface you'll see later is a variation on this same input → model → ranked-output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surfaces shoppers actually see. Personalized ('recommended for you') is individual-level. Frequently bought together drives basket size at the cart. Trending/popular is a strong default when you know little about a user. Similar items keeps a browsing session alive, and recently viewed gives an easy way back in. Key point: these are different presentations powered by the same underlying techniques we'll cover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then a forward look. Content-based matches on item attributes (good for new items). Collaborative filtering learns from user–item interactions — mention user-based ('people like you') vs item-based ('items like this'). Matrix factorization / embeddings compress those interactions into latent taste vectors that make matching fast and accurate. Hybrid systems blend methods to cover each other's weaknesses. Close with deep learning and sequence/session-based models, which capture in-the-moment intent. Tailor depth to the room — keep it conceptual for non-specialists, go into ALS/two-tower/SASRec for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explicit signals (ratings, reviews, likes — high-quality but sparse, because most users never rate) from implicit signals (clicks, purchases, dwell time, cart events — abundant but noisy and biased). Most production signal is implicit. The strongest systems combine both. For technical audiences, add: implicit feedback should be modeled as weighted positives with exposure/position bias in mind, not treated as clean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start is the recommender's chicken-and-egg problem. A new user has no interaction history, so collaborative methods can't place them. A new item has no interactions, so it can't be learned from behavior. Walk through the workarounds: fall back to popular/trending, ask a few onboarding preferences to seed taste, use item attributes (content-based) to bootstrap new items, and lean on context like location, device, and time. For engineers, mention exploration/bandit strategies to gather signal on new items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measurement worlds. Offline metrics run on historical data and are cheap and fast: precision@k and recall ask whether good items appear in the top-k; NDCG rewards putting the best items highest. They're proxies. Online metrics are the real test — click-through, conversion, and revenue measured with A/B tests on live traffic. The chart shows an illustrative lift from a new model. The discipline: offline metrics narrow the field, but only a live A/B test (ideally statistically significant) decides what ships. Offline and online results don't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production shape. Candidate generation cheaply narrows a massive catalog to a manageable set (often via approximate nearest-neighbor search over embeddings) — optimized for recall. Ranking applies a heavier, more accurate model to score that shortlist for the specific user. Re-ranking layers in business rules: diversity, de-duplication, in-stock, promotions, and policy. Finally, the real-time vs batch split: embeddings, indexes, and candidate lists are precomputed in batch; feature lookup, ranking, and re-ranking happen live per request within a tight latency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Recommenders shape what millions of people see, so the trade-offs are real. Filter bubbles narrow discovery; popularity bias lets best-sellers crowd out the long tail; diversity must be balanced against relevance so results aren't repetitive or random. Privacy matters because personalization runs on personal data — respect consent and minimize collection. Fairness means even-handed exposure across customer groups and sellers. For technical teams, point to concrete levers: exploration to counter feedback loops, debiasing/re-weighting for popularity, MMR or DPP for diversity, and exposure-parity audits for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everything in one concrete example: Amazon's item-to-item collaborative filtering. The insight was to flip the problem — instead of finding users similar to you (which doesn't scale as users grow and churn), precompute, for each item, the items most often bought or viewed alongside it. That similarity computation is done offline; at serve time it's a fast lookup keyed on what you're viewing or have in your cart. This is what powers 'customers who bought this also bought.' The takeaway — decoupling expensive offline computation from cheap online serving — is why the approach scaled to enormous catalogs and became a retail benchmark. The bar chart is an illustrative strength profile, not measured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message. Recap the arc in one breath: recommendations solve discovery, are powered by content-based and collaborative methods over explicit and implicit data, follow a retrieve→rank→re-rank pipeline, and must be validated online while balancing relevance against diversity, privacy, and fairness. Read the five takeaways, then deliver the closing line and open for discussion. Swap in real contact details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7.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chart" Target="/ppt/charts/chart8.xm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738360" y="3977640"/>
            <a:ext cx="1828800" cy="-1554480"/>
          </a:xfrm>
          <a:prstGeom prst="line">
            <a:avLst/>
          </a:prstGeom>
          <a:noFill/>
          <a:ln w="15875">
            <a:solidFill>
              <a:srgbClr val="06B6D4">
                <a:alpha val="55000"/>
              </a:srgbClr>
            </a:solidFill>
            <a:prstDash val="solid"/>
          </a:ln>
        </p:spPr>
      </p:sp>
      <p:sp>
        <p:nvSpPr>
          <p:cNvPr id="3" name="Shape 1"/>
          <p:cNvSpPr/>
          <p:nvPr/>
        </p:nvSpPr>
        <p:spPr>
          <a:xfrm>
            <a:off x="9738360" y="3977640"/>
            <a:ext cx="2331720" cy="-91440"/>
          </a:xfrm>
          <a:prstGeom prst="line">
            <a:avLst/>
          </a:prstGeom>
          <a:noFill/>
          <a:ln w="15875">
            <a:solidFill>
              <a:srgbClr val="06B6D4">
                <a:alpha val="55000"/>
              </a:srgbClr>
            </a:solidFill>
            <a:prstDash val="solid"/>
          </a:ln>
        </p:spPr>
      </p:sp>
      <p:sp>
        <p:nvSpPr>
          <p:cNvPr id="4" name="Shape 2"/>
          <p:cNvSpPr/>
          <p:nvPr/>
        </p:nvSpPr>
        <p:spPr>
          <a:xfrm>
            <a:off x="9738360" y="3977640"/>
            <a:ext cx="1737360" cy="1371600"/>
          </a:xfrm>
          <a:prstGeom prst="line">
            <a:avLst/>
          </a:prstGeom>
          <a:noFill/>
          <a:ln w="15875">
            <a:solidFill>
              <a:srgbClr val="06B6D4">
                <a:alpha val="55000"/>
              </a:srgbClr>
            </a:solidFill>
            <a:prstDash val="solid"/>
          </a:ln>
        </p:spPr>
      </p:sp>
      <p:sp>
        <p:nvSpPr>
          <p:cNvPr id="5" name="Shape 3"/>
          <p:cNvSpPr/>
          <p:nvPr/>
        </p:nvSpPr>
        <p:spPr>
          <a:xfrm>
            <a:off x="9738360" y="3977640"/>
            <a:ext cx="-457200" cy="1737360"/>
          </a:xfrm>
          <a:prstGeom prst="line">
            <a:avLst/>
          </a:prstGeom>
          <a:noFill/>
          <a:ln w="15875">
            <a:solidFill>
              <a:srgbClr val="06B6D4">
                <a:alpha val="55000"/>
              </a:srgbClr>
            </a:solidFill>
            <a:prstDash val="solid"/>
          </a:ln>
        </p:spPr>
      </p:sp>
      <p:sp>
        <p:nvSpPr>
          <p:cNvPr id="6" name="Shape 4"/>
          <p:cNvSpPr/>
          <p:nvPr/>
        </p:nvSpPr>
        <p:spPr>
          <a:xfrm>
            <a:off x="9738360" y="3977640"/>
            <a:ext cx="-1554480" cy="548640"/>
          </a:xfrm>
          <a:prstGeom prst="line">
            <a:avLst/>
          </a:prstGeom>
          <a:noFill/>
          <a:ln w="15875">
            <a:solidFill>
              <a:srgbClr val="06B6D4">
                <a:alpha val="55000"/>
              </a:srgbClr>
            </a:solidFill>
            <a:prstDash val="solid"/>
          </a:ln>
        </p:spPr>
      </p:sp>
      <p:sp>
        <p:nvSpPr>
          <p:cNvPr id="7" name="Shape 5"/>
          <p:cNvSpPr/>
          <p:nvPr/>
        </p:nvSpPr>
        <p:spPr>
          <a:xfrm>
            <a:off x="9738360" y="3977640"/>
            <a:ext cx="-1280160" cy="-1280160"/>
          </a:xfrm>
          <a:prstGeom prst="line">
            <a:avLst/>
          </a:prstGeom>
          <a:noFill/>
          <a:ln w="15875">
            <a:solidFill>
              <a:srgbClr val="06B6D4">
                <a:alpha val="55000"/>
              </a:srgbClr>
            </a:solidFill>
            <a:prstDash val="solid"/>
          </a:ln>
        </p:spPr>
      </p:sp>
      <p:sp>
        <p:nvSpPr>
          <p:cNvPr id="8" name="Shape 6"/>
          <p:cNvSpPr/>
          <p:nvPr/>
        </p:nvSpPr>
        <p:spPr>
          <a:xfrm>
            <a:off x="11155680" y="2011680"/>
            <a:ext cx="457200" cy="457200"/>
          </a:xfrm>
          <a:prstGeom prst="ellipse">
            <a:avLst/>
          </a:prstGeom>
          <a:solidFill>
            <a:srgbClr val="E2E8F0">
              <a:alpha val="82000"/>
            </a:srgbClr>
          </a:solidFill>
          <a:ln/>
        </p:spPr>
      </p:sp>
      <p:sp>
        <p:nvSpPr>
          <p:cNvPr id="9" name="Shape 7"/>
          <p:cNvSpPr/>
          <p:nvPr/>
        </p:nvSpPr>
        <p:spPr>
          <a:xfrm>
            <a:off x="11658600" y="3474720"/>
            <a:ext cx="457200" cy="457200"/>
          </a:xfrm>
          <a:prstGeom prst="ellipse">
            <a:avLst/>
          </a:prstGeom>
          <a:solidFill>
            <a:srgbClr val="E2E8F0">
              <a:alpha val="82000"/>
            </a:srgbClr>
          </a:solidFill>
          <a:ln/>
        </p:spPr>
      </p:sp>
      <p:sp>
        <p:nvSpPr>
          <p:cNvPr id="10" name="Shape 8"/>
          <p:cNvSpPr/>
          <p:nvPr/>
        </p:nvSpPr>
        <p:spPr>
          <a:xfrm>
            <a:off x="11064240" y="4937760"/>
            <a:ext cx="457200" cy="457200"/>
          </a:xfrm>
          <a:prstGeom prst="ellipse">
            <a:avLst/>
          </a:prstGeom>
          <a:solidFill>
            <a:srgbClr val="E2E8F0">
              <a:alpha val="82000"/>
            </a:srgbClr>
          </a:solidFill>
          <a:ln/>
        </p:spPr>
      </p:sp>
      <p:sp>
        <p:nvSpPr>
          <p:cNvPr id="11" name="Shape 9"/>
          <p:cNvSpPr/>
          <p:nvPr/>
        </p:nvSpPr>
        <p:spPr>
          <a:xfrm>
            <a:off x="8869680" y="5303520"/>
            <a:ext cx="457200" cy="457200"/>
          </a:xfrm>
          <a:prstGeom prst="ellipse">
            <a:avLst/>
          </a:prstGeom>
          <a:solidFill>
            <a:srgbClr val="E2E8F0">
              <a:alpha val="82000"/>
            </a:srgbClr>
          </a:solidFill>
          <a:ln/>
        </p:spPr>
      </p:sp>
      <p:sp>
        <p:nvSpPr>
          <p:cNvPr id="12" name="Shape 10"/>
          <p:cNvSpPr/>
          <p:nvPr/>
        </p:nvSpPr>
        <p:spPr>
          <a:xfrm>
            <a:off x="7772400" y="4114800"/>
            <a:ext cx="457200" cy="457200"/>
          </a:xfrm>
          <a:prstGeom prst="ellipse">
            <a:avLst/>
          </a:prstGeom>
          <a:solidFill>
            <a:srgbClr val="E2E8F0">
              <a:alpha val="82000"/>
            </a:srgbClr>
          </a:solidFill>
          <a:ln/>
        </p:spPr>
      </p:sp>
      <p:sp>
        <p:nvSpPr>
          <p:cNvPr id="13" name="Shape 11"/>
          <p:cNvSpPr/>
          <p:nvPr/>
        </p:nvSpPr>
        <p:spPr>
          <a:xfrm>
            <a:off x="8046720" y="2286000"/>
            <a:ext cx="457200" cy="457200"/>
          </a:xfrm>
          <a:prstGeom prst="ellipse">
            <a:avLst/>
          </a:prstGeom>
          <a:solidFill>
            <a:srgbClr val="E2E8F0">
              <a:alpha val="82000"/>
            </a:srgbClr>
          </a:solidFill>
          <a:ln/>
        </p:spPr>
      </p:sp>
      <p:sp>
        <p:nvSpPr>
          <p:cNvPr id="14" name="Shape 12"/>
          <p:cNvSpPr/>
          <p:nvPr/>
        </p:nvSpPr>
        <p:spPr>
          <a:xfrm>
            <a:off x="9326880" y="3566160"/>
            <a:ext cx="822960" cy="822960"/>
          </a:xfrm>
          <a:prstGeom prst="ellipse">
            <a:avLst/>
          </a:prstGeom>
          <a:solidFill>
            <a:srgbClr val="06B6D4"/>
          </a:solidFill>
          <a:ln/>
        </p:spPr>
      </p:sp>
      <p:pic>
        <p:nvPicPr>
          <p:cNvPr id="15" name="Image 0" descr="preencoded.png">    </p:cNvPr>
          <p:cNvPicPr>
            <a:picLocks noChangeAspect="1"/>
          </p:cNvPicPr>
          <p:nvPr/>
        </p:nvPicPr>
        <p:blipFill>
          <a:blip r:embed="rId1"/>
          <a:stretch>
            <a:fillRect/>
          </a:stretch>
        </p:blipFill>
        <p:spPr>
          <a:xfrm>
            <a:off x="9546336" y="3767328"/>
            <a:ext cx="384048" cy="420624"/>
          </a:xfrm>
          <a:prstGeom prst="rect">
            <a:avLst/>
          </a:prstGeom>
        </p:spPr>
      </p:pic>
      <p:sp>
        <p:nvSpPr>
          <p:cNvPr id="16" name="Text 13"/>
          <p:cNvSpPr/>
          <p:nvPr/>
        </p:nvSpPr>
        <p:spPr>
          <a:xfrm>
            <a:off x="777240" y="1234440"/>
            <a:ext cx="7315200" cy="274320"/>
          </a:xfrm>
          <a:prstGeom prst="rect">
            <a:avLst/>
          </a:prstGeom>
          <a:noFill/>
          <a:ln/>
        </p:spPr>
        <p:txBody>
          <a:bodyPr wrap="square" lIns="0" tIns="0" rIns="0" bIns="0" rtlCol="0" anchor="ctr"/>
          <a:lstStyle/>
          <a:p>
            <a:pPr indent="0" marL="0">
              <a:buNone/>
            </a:pPr>
            <a:r>
              <a:rPr lang="en-US" sz="1300" b="1" spc="200" kern="0" dirty="0">
                <a:solidFill>
                  <a:srgbClr val="06B6D4"/>
                </a:solidFill>
                <a:latin typeface="Arial" pitchFamily="34" charset="0"/>
                <a:ea typeface="Arial" pitchFamily="34" charset="-122"/>
                <a:cs typeface="Arial" pitchFamily="34" charset="-120"/>
              </a:rPr>
              <a:t>E-COMMERCE  ·  TECHNICAL DEEP-DIVE</a:t>
            </a:r>
            <a:endParaRPr lang="en-US" sz="1300" dirty="0"/>
          </a:p>
        </p:txBody>
      </p:sp>
      <p:sp>
        <p:nvSpPr>
          <p:cNvPr id="17" name="Text 14"/>
          <p:cNvSpPr/>
          <p:nvPr/>
        </p:nvSpPr>
        <p:spPr>
          <a:xfrm>
            <a:off x="749808" y="1691640"/>
            <a:ext cx="7223760" cy="1828800"/>
          </a:xfrm>
          <a:prstGeom prst="rect">
            <a:avLst/>
          </a:prstGeom>
          <a:noFill/>
          <a:ln/>
        </p:spPr>
        <p:txBody>
          <a:bodyPr wrap="square" lIns="0" tIns="0" rIns="0" bIns="0" rtlCol="0" anchor="ctr"/>
          <a:lstStyle/>
          <a:p>
            <a:pPr indent="0" marL="0">
              <a:lnSpc>
                <a:spcPct val="102000"/>
              </a:lnSpc>
              <a:buNone/>
            </a:pPr>
            <a:r>
              <a:rPr lang="en-US" sz="4300" b="1" dirty="0">
                <a:solidFill>
                  <a:srgbClr val="E2E8F0"/>
                </a:solidFill>
                <a:latin typeface="Arial" pitchFamily="34" charset="0"/>
                <a:ea typeface="Arial" pitchFamily="34" charset="-122"/>
                <a:cs typeface="Arial" pitchFamily="34" charset="-120"/>
              </a:rPr>
              <a:t>Product Recommendation Systems in E-Commerce</a:t>
            </a:r>
            <a:endParaRPr lang="en-US" sz="4300" dirty="0"/>
          </a:p>
        </p:txBody>
      </p:sp>
      <p:sp>
        <p:nvSpPr>
          <p:cNvPr id="18" name="Text 15"/>
          <p:cNvSpPr/>
          <p:nvPr/>
        </p:nvSpPr>
        <p:spPr>
          <a:xfrm>
            <a:off x="777240" y="3611880"/>
            <a:ext cx="6949440" cy="457200"/>
          </a:xfrm>
          <a:prstGeom prst="rect">
            <a:avLst/>
          </a:prstGeom>
          <a:noFill/>
          <a:ln/>
        </p:spPr>
        <p:txBody>
          <a:bodyPr wrap="square" lIns="0" tIns="0" rIns="0" bIns="0" rtlCol="0" anchor="ctr"/>
          <a:lstStyle/>
          <a:p>
            <a:pPr indent="0" marL="0">
              <a:buNone/>
            </a:pPr>
            <a:r>
              <a:rPr lang="en-US" sz="1900" i="1" dirty="0">
                <a:solidFill>
                  <a:srgbClr val="06B6D4"/>
                </a:solidFill>
                <a:latin typeface="Arial" pitchFamily="34" charset="0"/>
                <a:ea typeface="Arial" pitchFamily="34" charset="-122"/>
                <a:cs typeface="Arial" pitchFamily="34" charset="-120"/>
              </a:rPr>
              <a:t>Architecture, Algorithms &amp; Production Trade-offs</a:t>
            </a:r>
            <a:endParaRPr lang="en-US" sz="1900" dirty="0"/>
          </a:p>
        </p:txBody>
      </p:sp>
      <p:sp>
        <p:nvSpPr>
          <p:cNvPr id="19" name="Text 16"/>
          <p:cNvSpPr/>
          <p:nvPr/>
        </p:nvSpPr>
        <p:spPr>
          <a:xfrm>
            <a:off x="777240" y="4160520"/>
            <a:ext cx="6949440" cy="365760"/>
          </a:xfrm>
          <a:prstGeom prst="rect">
            <a:avLst/>
          </a:prstGeom>
          <a:noFill/>
          <a:ln/>
        </p:spPr>
        <p:txBody>
          <a:bodyPr wrap="square" lIns="0" tIns="0" rIns="0" bIns="0" rtlCol="0" anchor="ctr"/>
          <a:lstStyle/>
          <a:p>
            <a:pPr indent="0" marL="0">
              <a:buNone/>
            </a:pPr>
            <a:r>
              <a:rPr lang="en-US" sz="1500" dirty="0">
                <a:solidFill>
                  <a:srgbClr val="E2E8F0"/>
                </a:solidFill>
                <a:latin typeface="Arial" pitchFamily="34" charset="0"/>
                <a:ea typeface="Arial" pitchFamily="34" charset="-122"/>
                <a:cs typeface="Arial" pitchFamily="34" charset="-120"/>
              </a:rPr>
              <a:t>A Technical Deep-Dive</a:t>
            </a:r>
            <a:endParaRPr lang="en-US" sz="1500" dirty="0"/>
          </a:p>
        </p:txBody>
      </p:sp>
      <p:sp>
        <p:nvSpPr>
          <p:cNvPr id="20" name="Shape 17"/>
          <p:cNvSpPr/>
          <p:nvPr/>
        </p:nvSpPr>
        <p:spPr>
          <a:xfrm>
            <a:off x="795528" y="5074920"/>
            <a:ext cx="2926080" cy="0"/>
          </a:xfrm>
          <a:prstGeom prst="line">
            <a:avLst/>
          </a:prstGeom>
          <a:noFill/>
          <a:ln w="9525">
            <a:solidFill>
              <a:srgbClr val="E2E8F0">
                <a:alpha val="45000"/>
              </a:srgbClr>
            </a:solidFill>
            <a:prstDash val="solid"/>
          </a:ln>
        </p:spPr>
      </p:sp>
      <p:sp>
        <p:nvSpPr>
          <p:cNvPr id="21" name="Text 18"/>
          <p:cNvSpPr/>
          <p:nvPr/>
        </p:nvSpPr>
        <p:spPr>
          <a:xfrm>
            <a:off x="777240" y="5212080"/>
            <a:ext cx="6949440" cy="32004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Presented by Your Name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WHY RECOMMENDATIONS MATTER</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Helping shoppers find what they didn't know to search for</a:t>
            </a:r>
            <a:endParaRPr lang="en-US" sz="2700" dirty="0"/>
          </a:p>
        </p:txBody>
      </p:sp>
      <p:sp>
        <p:nvSpPr>
          <p:cNvPr id="4" name="Shape 2"/>
          <p:cNvSpPr/>
          <p:nvPr/>
        </p:nvSpPr>
        <p:spPr>
          <a:xfrm>
            <a:off x="685800" y="1691640"/>
            <a:ext cx="566928" cy="566928"/>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5" name="Image 0" descr="preencoded.png">    </p:cNvPr>
          <p:cNvPicPr>
            <a:picLocks noChangeAspect="1"/>
          </p:cNvPicPr>
          <p:nvPr/>
        </p:nvPicPr>
        <p:blipFill>
          <a:blip r:embed="rId1"/>
          <a:stretch>
            <a:fillRect/>
          </a:stretch>
        </p:blipFill>
        <p:spPr>
          <a:xfrm>
            <a:off x="838871" y="1844711"/>
            <a:ext cx="260787" cy="260787"/>
          </a:xfrm>
          <a:prstGeom prst="rect">
            <a:avLst/>
          </a:prstGeom>
        </p:spPr>
      </p:pic>
      <p:sp>
        <p:nvSpPr>
          <p:cNvPr id="6" name="Text 3"/>
          <p:cNvSpPr/>
          <p:nvPr/>
        </p:nvSpPr>
        <p:spPr>
          <a:xfrm>
            <a:off x="1417320" y="1655064"/>
            <a:ext cx="5212080" cy="365760"/>
          </a:xfrm>
          <a:prstGeom prst="rect">
            <a:avLst/>
          </a:prstGeom>
          <a:noFill/>
          <a:ln/>
        </p:spPr>
        <p:txBody>
          <a:bodyPr wrap="square" lIns="0" tIns="0" rIns="0" bIns="0" rtlCol="0" anchor="ctr"/>
          <a:lstStyle/>
          <a:p>
            <a:pPr indent="0" marL="0">
              <a:buNone/>
            </a:pPr>
            <a:r>
              <a:rPr lang="en-US" sz="1650" b="1" dirty="0">
                <a:solidFill>
                  <a:srgbClr val="0F172A"/>
                </a:solidFill>
                <a:latin typeface="Arial" pitchFamily="34" charset="0"/>
                <a:ea typeface="Arial" pitchFamily="34" charset="-122"/>
                <a:cs typeface="Arial" pitchFamily="34" charset="-120"/>
              </a:rPr>
              <a:t>Discovery at scale</a:t>
            </a:r>
            <a:endParaRPr lang="en-US" sz="1650" dirty="0"/>
          </a:p>
        </p:txBody>
      </p:sp>
      <p:sp>
        <p:nvSpPr>
          <p:cNvPr id="7" name="Text 4"/>
          <p:cNvSpPr/>
          <p:nvPr/>
        </p:nvSpPr>
        <p:spPr>
          <a:xfrm>
            <a:off x="1417320" y="2020824"/>
            <a:ext cx="534924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Catalogs of 10⁶–10⁸ items vs. a handful of impression slots — a ranking problem.</a:t>
            </a:r>
            <a:endParaRPr lang="en-US" sz="1350" dirty="0"/>
          </a:p>
        </p:txBody>
      </p:sp>
      <p:sp>
        <p:nvSpPr>
          <p:cNvPr id="8" name="Shape 5"/>
          <p:cNvSpPr/>
          <p:nvPr/>
        </p:nvSpPr>
        <p:spPr>
          <a:xfrm>
            <a:off x="685800" y="3172968"/>
            <a:ext cx="566928" cy="566928"/>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9" name="Image 1" descr="preencoded.png">    </p:cNvPr>
          <p:cNvPicPr>
            <a:picLocks noChangeAspect="1"/>
          </p:cNvPicPr>
          <p:nvPr/>
        </p:nvPicPr>
        <p:blipFill>
          <a:blip r:embed="rId2"/>
          <a:stretch>
            <a:fillRect/>
          </a:stretch>
        </p:blipFill>
        <p:spPr>
          <a:xfrm>
            <a:off x="838871" y="3326039"/>
            <a:ext cx="260787" cy="260787"/>
          </a:xfrm>
          <a:prstGeom prst="rect">
            <a:avLst/>
          </a:prstGeom>
        </p:spPr>
      </p:pic>
      <p:sp>
        <p:nvSpPr>
          <p:cNvPr id="10" name="Text 6"/>
          <p:cNvSpPr/>
          <p:nvPr/>
        </p:nvSpPr>
        <p:spPr>
          <a:xfrm>
            <a:off x="1417320" y="3136392"/>
            <a:ext cx="5212080" cy="365760"/>
          </a:xfrm>
          <a:prstGeom prst="rect">
            <a:avLst/>
          </a:prstGeom>
          <a:noFill/>
          <a:ln/>
        </p:spPr>
        <p:txBody>
          <a:bodyPr wrap="square" lIns="0" tIns="0" rIns="0" bIns="0" rtlCol="0" anchor="ctr"/>
          <a:lstStyle/>
          <a:p>
            <a:pPr indent="0" marL="0">
              <a:buNone/>
            </a:pPr>
            <a:r>
              <a:rPr lang="en-US" sz="1650" b="1" dirty="0">
                <a:solidFill>
                  <a:srgbClr val="0F172A"/>
                </a:solidFill>
                <a:latin typeface="Arial" pitchFamily="34" charset="0"/>
                <a:ea typeface="Arial" pitchFamily="34" charset="-122"/>
                <a:cs typeface="Arial" pitchFamily="34" charset="-120"/>
              </a:rPr>
              <a:t>Choice overload</a:t>
            </a:r>
            <a:endParaRPr lang="en-US" sz="1650" dirty="0"/>
          </a:p>
        </p:txBody>
      </p:sp>
      <p:sp>
        <p:nvSpPr>
          <p:cNvPr id="11" name="Text 7"/>
          <p:cNvSpPr/>
          <p:nvPr/>
        </p:nvSpPr>
        <p:spPr>
          <a:xfrm>
            <a:off x="1417320" y="3502152"/>
            <a:ext cx="534924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Unranked inventory depresses engagement; surfacing relevance is the lever.</a:t>
            </a:r>
            <a:endParaRPr lang="en-US" sz="1350" dirty="0"/>
          </a:p>
        </p:txBody>
      </p:sp>
      <p:sp>
        <p:nvSpPr>
          <p:cNvPr id="12" name="Shape 8"/>
          <p:cNvSpPr/>
          <p:nvPr/>
        </p:nvSpPr>
        <p:spPr>
          <a:xfrm>
            <a:off x="685800" y="4654296"/>
            <a:ext cx="566928" cy="566928"/>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13" name="Image 2" descr="preencoded.png">    </p:cNvPr>
          <p:cNvPicPr>
            <a:picLocks noChangeAspect="1"/>
          </p:cNvPicPr>
          <p:nvPr/>
        </p:nvPicPr>
        <p:blipFill>
          <a:blip r:embed="rId3"/>
          <a:stretch>
            <a:fillRect/>
          </a:stretch>
        </p:blipFill>
        <p:spPr>
          <a:xfrm>
            <a:off x="838871" y="4807367"/>
            <a:ext cx="260787" cy="260787"/>
          </a:xfrm>
          <a:prstGeom prst="rect">
            <a:avLst/>
          </a:prstGeom>
        </p:spPr>
      </p:pic>
      <p:sp>
        <p:nvSpPr>
          <p:cNvPr id="14" name="Text 9"/>
          <p:cNvSpPr/>
          <p:nvPr/>
        </p:nvSpPr>
        <p:spPr>
          <a:xfrm>
            <a:off x="1417320" y="4617720"/>
            <a:ext cx="5212080" cy="365760"/>
          </a:xfrm>
          <a:prstGeom prst="rect">
            <a:avLst/>
          </a:prstGeom>
          <a:noFill/>
          <a:ln/>
        </p:spPr>
        <p:txBody>
          <a:bodyPr wrap="square" lIns="0" tIns="0" rIns="0" bIns="0" rtlCol="0" anchor="ctr"/>
          <a:lstStyle/>
          <a:p>
            <a:pPr indent="0" marL="0">
              <a:buNone/>
            </a:pPr>
            <a:r>
              <a:rPr lang="en-US" sz="1650" b="1" dirty="0">
                <a:solidFill>
                  <a:srgbClr val="0F172A"/>
                </a:solidFill>
                <a:latin typeface="Arial" pitchFamily="34" charset="0"/>
                <a:ea typeface="Arial" pitchFamily="34" charset="-122"/>
                <a:cs typeface="Arial" pitchFamily="34" charset="-120"/>
              </a:rPr>
              <a:t>Why we invest</a:t>
            </a:r>
            <a:endParaRPr lang="en-US" sz="1650" dirty="0"/>
          </a:p>
        </p:txBody>
      </p:sp>
      <p:sp>
        <p:nvSpPr>
          <p:cNvPr id="15" name="Text 10"/>
          <p:cNvSpPr/>
          <p:nvPr/>
        </p:nvSpPr>
        <p:spPr>
          <a:xfrm>
            <a:off x="1417320" y="4983480"/>
            <a:ext cx="5349240" cy="777240"/>
          </a:xfrm>
          <a:prstGeom prst="rect">
            <a:avLst/>
          </a:prstGeom>
          <a:noFill/>
          <a:ln/>
        </p:spPr>
        <p:txBody>
          <a:bodyPr wrap="square" lIns="0" tIns="0" rIns="0" bIns="0" rtlCol="0" anchor="ctr"/>
          <a:lstStyle/>
          <a:p>
            <a:pPr indent="0" marL="0">
              <a:buNone/>
            </a:pPr>
            <a:r>
              <a:rPr lang="en-US" sz="1350" dirty="0">
                <a:solidFill>
                  <a:srgbClr val="64748B"/>
                </a:solidFill>
                <a:latin typeface="Arial" pitchFamily="34" charset="0"/>
                <a:ea typeface="Arial" pitchFamily="34" charset="-122"/>
                <a:cs typeface="Arial" pitchFamily="34" charset="-120"/>
              </a:rPr>
              <a:t>Relevance gains map directly to conversion, AOV, and retention.</a:t>
            </a:r>
            <a:endParaRPr lang="en-US" sz="1350" dirty="0"/>
          </a:p>
        </p:txBody>
      </p:sp>
      <p:sp>
        <p:nvSpPr>
          <p:cNvPr id="16" name="Shape 11"/>
          <p:cNvSpPr/>
          <p:nvPr/>
        </p:nvSpPr>
        <p:spPr>
          <a:xfrm>
            <a:off x="7178040" y="1691640"/>
            <a:ext cx="4370832" cy="4434840"/>
          </a:xfrm>
          <a:prstGeom prst="roundRect">
            <a:avLst>
              <a:gd name="adj" fmla="val 2929"/>
            </a:avLst>
          </a:prstGeom>
          <a:solidFill>
            <a:srgbClr val="F1F5F9"/>
          </a:solidFill>
          <a:ln/>
          <a:effectLst>
            <a:outerShdw sx="100000" sy="100000" kx="0" ky="0" algn="bl" rotWithShape="0" blurRad="127000" dist="50800" dir="5400000">
              <a:srgbClr val="8A93A6">
                <a:alpha val="13000"/>
              </a:srgbClr>
            </a:outerShdw>
          </a:effectLst>
        </p:spPr>
      </p:sp>
      <p:sp>
        <p:nvSpPr>
          <p:cNvPr id="17" name="Text 12"/>
          <p:cNvSpPr/>
          <p:nvPr/>
        </p:nvSpPr>
        <p:spPr>
          <a:xfrm>
            <a:off x="7498080" y="1920240"/>
            <a:ext cx="1773936" cy="640080"/>
          </a:xfrm>
          <a:prstGeom prst="rect">
            <a:avLst/>
          </a:prstGeom>
          <a:noFill/>
          <a:ln/>
        </p:spPr>
        <p:txBody>
          <a:bodyPr wrap="square" lIns="0" tIns="0" rIns="0" bIns="0" rtlCol="0" anchor="ctr"/>
          <a:lstStyle/>
          <a:p>
            <a:pPr algn="ctr" indent="0" marL="0">
              <a:buNone/>
            </a:pPr>
            <a:r>
              <a:rPr lang="en-US" sz="3800" b="1" dirty="0">
                <a:solidFill>
                  <a:srgbClr val="1E293B"/>
                </a:solidFill>
                <a:latin typeface="Arial" pitchFamily="34" charset="0"/>
                <a:ea typeface="Arial" pitchFamily="34" charset="-122"/>
                <a:cs typeface="Arial" pitchFamily="34" charset="-120"/>
              </a:rPr>
              <a:t>~35%</a:t>
            </a:r>
            <a:endParaRPr lang="en-US" sz="3800" dirty="0"/>
          </a:p>
        </p:txBody>
      </p:sp>
      <p:sp>
        <p:nvSpPr>
          <p:cNvPr id="18" name="Text 13"/>
          <p:cNvSpPr/>
          <p:nvPr/>
        </p:nvSpPr>
        <p:spPr>
          <a:xfrm>
            <a:off x="7498080" y="2578608"/>
            <a:ext cx="1773936" cy="640080"/>
          </a:xfrm>
          <a:prstGeom prst="rect">
            <a:avLst/>
          </a:prstGeom>
          <a:noFill/>
          <a:ln/>
        </p:spPr>
        <p:txBody>
          <a:bodyPr wrap="square" lIns="0" tIns="0" rIns="0" bIns="0" rtlCol="0" anchor="ctr"/>
          <a:lstStyle/>
          <a:p>
            <a:pPr algn="ctr" indent="0" marL="0">
              <a:buNone/>
            </a:pPr>
            <a:r>
              <a:rPr lang="en-US" sz="1100" dirty="0">
                <a:solidFill>
                  <a:srgbClr val="64748B"/>
                </a:solidFill>
                <a:latin typeface="Arial" pitchFamily="34" charset="0"/>
                <a:ea typeface="Arial" pitchFamily="34" charset="-122"/>
                <a:cs typeface="Arial" pitchFamily="34" charset="-120"/>
              </a:rPr>
              <a:t>of Amazon revenue attributed to recommendations</a:t>
            </a:r>
            <a:endParaRPr lang="en-US" sz="1100" dirty="0"/>
          </a:p>
        </p:txBody>
      </p:sp>
      <p:sp>
        <p:nvSpPr>
          <p:cNvPr id="19" name="Text 14"/>
          <p:cNvSpPr/>
          <p:nvPr/>
        </p:nvSpPr>
        <p:spPr>
          <a:xfrm>
            <a:off x="9454896" y="1920240"/>
            <a:ext cx="1773936" cy="640080"/>
          </a:xfrm>
          <a:prstGeom prst="rect">
            <a:avLst/>
          </a:prstGeom>
          <a:noFill/>
          <a:ln/>
        </p:spPr>
        <p:txBody>
          <a:bodyPr wrap="square" lIns="0" tIns="0" rIns="0" bIns="0" rtlCol="0" anchor="ctr"/>
          <a:lstStyle/>
          <a:p>
            <a:pPr algn="ctr" indent="0" marL="0">
              <a:buNone/>
            </a:pPr>
            <a:r>
              <a:rPr lang="en-US" sz="3800" b="1" dirty="0">
                <a:solidFill>
                  <a:srgbClr val="F59E0B"/>
                </a:solidFill>
                <a:latin typeface="Arial" pitchFamily="34" charset="0"/>
                <a:ea typeface="Arial" pitchFamily="34" charset="-122"/>
                <a:cs typeface="Arial" pitchFamily="34" charset="-120"/>
              </a:rPr>
              <a:t>~75%</a:t>
            </a:r>
            <a:endParaRPr lang="en-US" sz="3800" dirty="0"/>
          </a:p>
        </p:txBody>
      </p:sp>
      <p:sp>
        <p:nvSpPr>
          <p:cNvPr id="20" name="Text 15"/>
          <p:cNvSpPr/>
          <p:nvPr/>
        </p:nvSpPr>
        <p:spPr>
          <a:xfrm>
            <a:off x="9454896" y="2578608"/>
            <a:ext cx="1773936" cy="640080"/>
          </a:xfrm>
          <a:prstGeom prst="rect">
            <a:avLst/>
          </a:prstGeom>
          <a:noFill/>
          <a:ln/>
        </p:spPr>
        <p:txBody>
          <a:bodyPr wrap="square" lIns="0" tIns="0" rIns="0" bIns="0" rtlCol="0" anchor="ctr"/>
          <a:lstStyle/>
          <a:p>
            <a:pPr algn="ctr" indent="0" marL="0">
              <a:buNone/>
            </a:pPr>
            <a:r>
              <a:rPr lang="en-US" sz="1100" dirty="0">
                <a:solidFill>
                  <a:srgbClr val="64748B"/>
                </a:solidFill>
                <a:latin typeface="Arial" pitchFamily="34" charset="0"/>
                <a:ea typeface="Arial" pitchFamily="34" charset="-122"/>
                <a:cs typeface="Arial" pitchFamily="34" charset="-120"/>
              </a:rPr>
              <a:t>of Netflix watch-time recommendation-driven</a:t>
            </a:r>
            <a:endParaRPr lang="en-US" sz="1100" dirty="0"/>
          </a:p>
        </p:txBody>
      </p:sp>
      <p:sp>
        <p:nvSpPr>
          <p:cNvPr id="21" name="Text 16"/>
          <p:cNvSpPr/>
          <p:nvPr/>
        </p:nvSpPr>
        <p:spPr>
          <a:xfrm>
            <a:off x="7498080" y="3383280"/>
            <a:ext cx="3730752" cy="274320"/>
          </a:xfrm>
          <a:prstGeom prst="rect">
            <a:avLst/>
          </a:prstGeom>
          <a:noFill/>
          <a:ln/>
        </p:spPr>
        <p:txBody>
          <a:bodyPr wrap="square" lIns="0" tIns="0" rIns="0" bIns="0" rtlCol="0" anchor="ctr"/>
          <a:lstStyle/>
          <a:p>
            <a:pPr indent="0" marL="0">
              <a:buNone/>
            </a:pPr>
            <a:r>
              <a:rPr lang="en-US" sz="1250" b="1" dirty="0">
                <a:solidFill>
                  <a:srgbClr val="0F172A"/>
                </a:solidFill>
                <a:latin typeface="Arial" pitchFamily="34" charset="0"/>
                <a:ea typeface="Arial" pitchFamily="34" charset="-122"/>
                <a:cs typeface="Arial" pitchFamily="34" charset="-120"/>
              </a:rPr>
              <a:t>Activity driven by recommendations</a:t>
            </a:r>
            <a:endParaRPr lang="en-US" sz="1250" dirty="0"/>
          </a:p>
        </p:txBody>
      </p:sp>
      <p:graphicFrame>
        <p:nvGraphicFramePr>
          <p:cNvPr id="22" name="Chart 0" descr=""/>
          <p:cNvGraphicFramePr/>
          <p:nvPr/>
        </p:nvGraphicFramePr>
        <p:xfrm>
          <a:off x="7360920" y="3657600"/>
          <a:ext cx="4005072" cy="1874520"/>
        </p:xfrm>
        <a:graphic xmlns:a="http://schemas.openxmlformats.org/drawingml/2006/main">
          <a:graphicData uri="http://schemas.openxmlformats.org/drawingml/2006/chart">
            <c:chart xmlns:c="http://schemas.openxmlformats.org/drawingml/2006/chart" r:id="rId4"/>
          </a:graphicData>
        </a:graphic>
      </p:graphicFrame>
      <p:sp>
        <p:nvSpPr>
          <p:cNvPr id="23" name="Text 17"/>
          <p:cNvSpPr/>
          <p:nvPr/>
        </p:nvSpPr>
        <p:spPr>
          <a:xfrm>
            <a:off x="7498080" y="5650992"/>
            <a:ext cx="3730752" cy="365760"/>
          </a:xfrm>
          <a:prstGeom prst="rect">
            <a:avLst/>
          </a:prstGeom>
          <a:noFill/>
          <a:ln/>
        </p:spPr>
        <p:txBody>
          <a:bodyPr wrap="square" lIns="0" tIns="0" rIns="0" bIns="0" rtlCol="0" anchor="ctr"/>
          <a:lstStyle/>
          <a:p>
            <a:pPr indent="0" marL="0">
              <a:buNone/>
            </a:pPr>
            <a:r>
              <a:rPr lang="en-US" sz="950" i="1" dirty="0">
                <a:solidFill>
                  <a:srgbClr val="64748B"/>
                </a:solidFill>
                <a:latin typeface="Arial" pitchFamily="34" charset="0"/>
                <a:ea typeface="Arial" pitchFamily="34" charset="-122"/>
                <a:cs typeface="Arial" pitchFamily="34" charset="-120"/>
              </a:rPr>
              <a:t>Widely cited estimates; treat as directional benchmarks.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WHAT A RECOMMENDER DOES</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Predict relevance, then rank</a:t>
            </a:r>
            <a:endParaRPr lang="en-US" sz="2700" dirty="0"/>
          </a:p>
        </p:txBody>
      </p:sp>
      <p:sp>
        <p:nvSpPr>
          <p:cNvPr id="4" name="Shape 2"/>
          <p:cNvSpPr/>
          <p:nvPr/>
        </p:nvSpPr>
        <p:spPr>
          <a:xfrm>
            <a:off x="640080" y="1600200"/>
            <a:ext cx="10927080" cy="1024128"/>
          </a:xfrm>
          <a:prstGeom prst="roundRect">
            <a:avLst>
              <a:gd name="adj" fmla="val 10714"/>
            </a:avLst>
          </a:prstGeom>
          <a:solidFill>
            <a:srgbClr val="F1F5F9"/>
          </a:solidFill>
          <a:ln/>
          <a:effectLst>
            <a:outerShdw sx="100000" sy="100000" kx="0" ky="0" algn="bl" rotWithShape="0" blurRad="127000" dist="50800" dir="5400000">
              <a:srgbClr val="8A93A6">
                <a:alpha val="13000"/>
              </a:srgbClr>
            </a:outerShdw>
          </a:effectLst>
        </p:spPr>
      </p:sp>
      <p:sp>
        <p:nvSpPr>
          <p:cNvPr id="5" name="Shape 3"/>
          <p:cNvSpPr/>
          <p:nvPr/>
        </p:nvSpPr>
        <p:spPr>
          <a:xfrm>
            <a:off x="896112" y="1819656"/>
            <a:ext cx="566928" cy="566928"/>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49183" y="1972727"/>
            <a:ext cx="260787" cy="260787"/>
          </a:xfrm>
          <a:prstGeom prst="rect">
            <a:avLst/>
          </a:prstGeom>
        </p:spPr>
      </p:pic>
      <p:sp>
        <p:nvSpPr>
          <p:cNvPr id="7" name="Text 4"/>
          <p:cNvSpPr/>
          <p:nvPr/>
        </p:nvSpPr>
        <p:spPr>
          <a:xfrm>
            <a:off x="1691640" y="1700784"/>
            <a:ext cx="9646920" cy="841248"/>
          </a:xfrm>
          <a:prstGeom prst="rect">
            <a:avLst/>
          </a:prstGeom>
          <a:noFill/>
          <a:ln/>
        </p:spPr>
        <p:txBody>
          <a:bodyPr wrap="square" lIns="0" tIns="0" rIns="0" bIns="0" rtlCol="0" anchor="ctr"/>
          <a:lstStyle/>
          <a:p>
            <a:pPr indent="0" marL="0">
              <a:buNone/>
            </a:pPr>
            <a:r>
              <a:rPr lang="en-US" sz="1450" dirty="0">
                <a:solidFill>
                  <a:srgbClr val="0F172A"/>
                </a:solidFill>
                <a:latin typeface="Arial" pitchFamily="34" charset="0"/>
                <a:ea typeface="Arial" pitchFamily="34" charset="-122"/>
                <a:cs typeface="Arial" pitchFamily="34" charset="-120"/>
              </a:rPr>
              <a:t>A recommender approximates a scoring function f(user, item, context) → relevance, then returns argmax-K over the catalog.</a:t>
            </a:r>
            <a:endParaRPr lang="en-US" sz="1450" dirty="0"/>
          </a:p>
        </p:txBody>
      </p:sp>
      <p:sp>
        <p:nvSpPr>
          <p:cNvPr id="8" name="Shape 5"/>
          <p:cNvSpPr/>
          <p:nvPr/>
        </p:nvSpPr>
        <p:spPr>
          <a:xfrm>
            <a:off x="640080" y="3063240"/>
            <a:ext cx="3154680" cy="2331720"/>
          </a:xfrm>
          <a:prstGeom prst="roundRect">
            <a:avLst>
              <a:gd name="adj" fmla="val 4706"/>
            </a:avLst>
          </a:prstGeom>
          <a:solidFill>
            <a:srgbClr val="FFFFFF"/>
          </a:solidFill>
          <a:ln/>
          <a:effectLst>
            <a:outerShdw sx="100000" sy="100000" kx="0" ky="0" algn="bl" rotWithShape="0" blurRad="127000" dist="50800" dir="5400000">
              <a:srgbClr val="8A93A6">
                <a:alpha val="13000"/>
              </a:srgbClr>
            </a:outerShdw>
          </a:effectLst>
        </p:spPr>
      </p:sp>
      <p:sp>
        <p:nvSpPr>
          <p:cNvPr id="9" name="Shape 6"/>
          <p:cNvSpPr/>
          <p:nvPr/>
        </p:nvSpPr>
        <p:spPr>
          <a:xfrm>
            <a:off x="640080" y="3063240"/>
            <a:ext cx="3154680" cy="2331720"/>
          </a:xfrm>
          <a:prstGeom prst="roundRect">
            <a:avLst>
              <a:gd name="adj" fmla="val 4706"/>
            </a:avLst>
          </a:prstGeom>
          <a:solidFill>
            <a:srgbClr val="FFFFFF">
              <a:alpha val="0"/>
            </a:srgbClr>
          </a:solidFill>
          <a:ln w="12700">
            <a:solidFill>
              <a:srgbClr val="DCE3EC"/>
            </a:solidFill>
            <a:prstDash val="solid"/>
          </a:ln>
        </p:spPr>
      </p:sp>
      <p:sp>
        <p:nvSpPr>
          <p:cNvPr id="10" name="Shape 7"/>
          <p:cNvSpPr/>
          <p:nvPr/>
        </p:nvSpPr>
        <p:spPr>
          <a:xfrm>
            <a:off x="1888236" y="3355848"/>
            <a:ext cx="658368" cy="658368"/>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2065995" y="3533607"/>
            <a:ext cx="302849" cy="302849"/>
          </a:xfrm>
          <a:prstGeom prst="rect">
            <a:avLst/>
          </a:prstGeom>
        </p:spPr>
      </p:pic>
      <p:sp>
        <p:nvSpPr>
          <p:cNvPr id="12" name="Text 8"/>
          <p:cNvSpPr/>
          <p:nvPr/>
        </p:nvSpPr>
        <p:spPr>
          <a:xfrm>
            <a:off x="822960" y="4142232"/>
            <a:ext cx="2788920" cy="365760"/>
          </a:xfrm>
          <a:prstGeom prst="rect">
            <a:avLst/>
          </a:prstGeom>
          <a:noFill/>
          <a:ln/>
        </p:spPr>
        <p:txBody>
          <a:bodyPr wrap="square" lIns="0" tIns="0" rIns="0" bIns="0" rtlCol="0" anchor="ctr"/>
          <a:lstStyle/>
          <a:p>
            <a:pPr algn="ctr" indent="0" marL="0">
              <a:buNone/>
            </a:pPr>
            <a:r>
              <a:rPr lang="en-US" sz="1700" b="1" dirty="0">
                <a:solidFill>
                  <a:srgbClr val="0F172A"/>
                </a:solidFill>
                <a:latin typeface="Arial" pitchFamily="34" charset="0"/>
                <a:ea typeface="Arial" pitchFamily="34" charset="-122"/>
                <a:cs typeface="Arial" pitchFamily="34" charset="-120"/>
              </a:rPr>
              <a:t>Input</a:t>
            </a:r>
            <a:endParaRPr lang="en-US" sz="1700" dirty="0"/>
          </a:p>
        </p:txBody>
      </p:sp>
      <p:sp>
        <p:nvSpPr>
          <p:cNvPr id="13" name="Text 9"/>
          <p:cNvSpPr/>
          <p:nvPr/>
        </p:nvSpPr>
        <p:spPr>
          <a:xfrm>
            <a:off x="896112" y="4526280"/>
            <a:ext cx="2642616" cy="777240"/>
          </a:xfrm>
          <a:prstGeom prst="rect">
            <a:avLst/>
          </a:prstGeom>
          <a:noFill/>
          <a:ln/>
        </p:spPr>
        <p:txBody>
          <a:bodyPr wrap="square" lIns="0" tIns="0" rIns="0" bIns="0" rtlCol="0" anchor="ctr"/>
          <a:lstStyle/>
          <a:p>
            <a:pPr algn="ctr" indent="0" marL="0">
              <a:buNone/>
            </a:pPr>
            <a:r>
              <a:rPr lang="en-US" sz="1250" dirty="0">
                <a:solidFill>
                  <a:srgbClr val="64748B"/>
                </a:solidFill>
                <a:latin typeface="Arial" pitchFamily="34" charset="0"/>
                <a:ea typeface="Arial" pitchFamily="34" charset="-122"/>
                <a:cs typeface="Arial" pitchFamily="34" charset="-120"/>
              </a:rPr>
              <a:t>User &amp; item features, interaction history, and request-time context.</a:t>
            </a:r>
            <a:endParaRPr lang="en-US" sz="1250" dirty="0"/>
          </a:p>
        </p:txBody>
      </p:sp>
      <p:pic>
        <p:nvPicPr>
          <p:cNvPr id="14" name="Image 2" descr="preencoded.png">    </p:cNvPr>
          <p:cNvPicPr>
            <a:picLocks noChangeAspect="1"/>
          </p:cNvPicPr>
          <p:nvPr/>
        </p:nvPicPr>
        <p:blipFill>
          <a:blip r:embed="rId3"/>
          <a:stretch>
            <a:fillRect/>
          </a:stretch>
        </p:blipFill>
        <p:spPr>
          <a:xfrm>
            <a:off x="3904488" y="4055364"/>
            <a:ext cx="347472" cy="173736"/>
          </a:xfrm>
          <a:prstGeom prst="rect">
            <a:avLst/>
          </a:prstGeom>
        </p:spPr>
      </p:pic>
      <p:sp>
        <p:nvSpPr>
          <p:cNvPr id="15" name="Shape 10"/>
          <p:cNvSpPr/>
          <p:nvPr/>
        </p:nvSpPr>
        <p:spPr>
          <a:xfrm>
            <a:off x="4361688" y="3063240"/>
            <a:ext cx="3154680" cy="2331720"/>
          </a:xfrm>
          <a:prstGeom prst="roundRect">
            <a:avLst>
              <a:gd name="adj" fmla="val 4706"/>
            </a:avLst>
          </a:prstGeom>
          <a:solidFill>
            <a:srgbClr val="FFFFFF"/>
          </a:solidFill>
          <a:ln/>
          <a:effectLst>
            <a:outerShdw sx="100000" sy="100000" kx="0" ky="0" algn="bl" rotWithShape="0" blurRad="127000" dist="50800" dir="5400000">
              <a:srgbClr val="8A93A6">
                <a:alpha val="13000"/>
              </a:srgbClr>
            </a:outerShdw>
          </a:effectLst>
        </p:spPr>
      </p:sp>
      <p:sp>
        <p:nvSpPr>
          <p:cNvPr id="16" name="Shape 11"/>
          <p:cNvSpPr/>
          <p:nvPr/>
        </p:nvSpPr>
        <p:spPr>
          <a:xfrm>
            <a:off x="4361688" y="3063240"/>
            <a:ext cx="3154680" cy="2331720"/>
          </a:xfrm>
          <a:prstGeom prst="roundRect">
            <a:avLst>
              <a:gd name="adj" fmla="val 4706"/>
            </a:avLst>
          </a:prstGeom>
          <a:solidFill>
            <a:srgbClr val="FFFFFF">
              <a:alpha val="0"/>
            </a:srgbClr>
          </a:solidFill>
          <a:ln w="12700">
            <a:solidFill>
              <a:srgbClr val="DCE3EC"/>
            </a:solidFill>
            <a:prstDash val="solid"/>
          </a:ln>
        </p:spPr>
      </p:sp>
      <p:sp>
        <p:nvSpPr>
          <p:cNvPr id="17" name="Shape 12"/>
          <p:cNvSpPr/>
          <p:nvPr/>
        </p:nvSpPr>
        <p:spPr>
          <a:xfrm>
            <a:off x="5609844" y="3355848"/>
            <a:ext cx="658368" cy="658368"/>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18" name="Image 3" descr="preencoded.png">    </p:cNvPr>
          <p:cNvPicPr>
            <a:picLocks noChangeAspect="1"/>
          </p:cNvPicPr>
          <p:nvPr/>
        </p:nvPicPr>
        <p:blipFill>
          <a:blip r:embed="rId4"/>
          <a:stretch>
            <a:fillRect/>
          </a:stretch>
        </p:blipFill>
        <p:spPr>
          <a:xfrm>
            <a:off x="5787603" y="3533607"/>
            <a:ext cx="302849" cy="302849"/>
          </a:xfrm>
          <a:prstGeom prst="rect">
            <a:avLst/>
          </a:prstGeom>
        </p:spPr>
      </p:pic>
      <p:sp>
        <p:nvSpPr>
          <p:cNvPr id="19" name="Text 13"/>
          <p:cNvSpPr/>
          <p:nvPr/>
        </p:nvSpPr>
        <p:spPr>
          <a:xfrm>
            <a:off x="4544568" y="4142232"/>
            <a:ext cx="2788920" cy="365760"/>
          </a:xfrm>
          <a:prstGeom prst="rect">
            <a:avLst/>
          </a:prstGeom>
          <a:noFill/>
          <a:ln/>
        </p:spPr>
        <p:txBody>
          <a:bodyPr wrap="square" lIns="0" tIns="0" rIns="0" bIns="0" rtlCol="0" anchor="ctr"/>
          <a:lstStyle/>
          <a:p>
            <a:pPr algn="ctr" indent="0" marL="0">
              <a:buNone/>
            </a:pPr>
            <a:r>
              <a:rPr lang="en-US" sz="1700" b="1" dirty="0">
                <a:solidFill>
                  <a:srgbClr val="0F172A"/>
                </a:solidFill>
                <a:latin typeface="Arial" pitchFamily="34" charset="0"/>
                <a:ea typeface="Arial" pitchFamily="34" charset="-122"/>
                <a:cs typeface="Arial" pitchFamily="34" charset="-120"/>
              </a:rPr>
              <a:t>Model</a:t>
            </a:r>
            <a:endParaRPr lang="en-US" sz="1700" dirty="0"/>
          </a:p>
        </p:txBody>
      </p:sp>
      <p:sp>
        <p:nvSpPr>
          <p:cNvPr id="20" name="Text 14"/>
          <p:cNvSpPr/>
          <p:nvPr/>
        </p:nvSpPr>
        <p:spPr>
          <a:xfrm>
            <a:off x="4617720" y="4526280"/>
            <a:ext cx="2642616" cy="777240"/>
          </a:xfrm>
          <a:prstGeom prst="rect">
            <a:avLst/>
          </a:prstGeom>
          <a:noFill/>
          <a:ln/>
        </p:spPr>
        <p:txBody>
          <a:bodyPr wrap="square" lIns="0" tIns="0" rIns="0" bIns="0" rtlCol="0" anchor="ctr"/>
          <a:lstStyle/>
          <a:p>
            <a:pPr algn="ctr" indent="0" marL="0">
              <a:buNone/>
            </a:pPr>
            <a:r>
              <a:rPr lang="en-US" sz="1250" dirty="0">
                <a:solidFill>
                  <a:srgbClr val="64748B"/>
                </a:solidFill>
                <a:latin typeface="Arial" pitchFamily="34" charset="0"/>
                <a:ea typeface="Arial" pitchFamily="34" charset="-122"/>
                <a:cs typeface="Arial" pitchFamily="34" charset="-120"/>
              </a:rPr>
              <a:t>Learned scorer: dot-product of embeddings, GBDT, or a neural ranker.</a:t>
            </a:r>
            <a:endParaRPr lang="en-US" sz="1250" dirty="0"/>
          </a:p>
        </p:txBody>
      </p:sp>
      <p:pic>
        <p:nvPicPr>
          <p:cNvPr id="21" name="Image 4" descr="preencoded.png">    </p:cNvPr>
          <p:cNvPicPr>
            <a:picLocks noChangeAspect="1"/>
          </p:cNvPicPr>
          <p:nvPr/>
        </p:nvPicPr>
        <p:blipFill>
          <a:blip r:embed="rId5"/>
          <a:stretch>
            <a:fillRect/>
          </a:stretch>
        </p:blipFill>
        <p:spPr>
          <a:xfrm>
            <a:off x="7626096" y="4055364"/>
            <a:ext cx="347472" cy="173736"/>
          </a:xfrm>
          <a:prstGeom prst="rect">
            <a:avLst/>
          </a:prstGeom>
        </p:spPr>
      </p:pic>
      <p:sp>
        <p:nvSpPr>
          <p:cNvPr id="22" name="Shape 15"/>
          <p:cNvSpPr/>
          <p:nvPr/>
        </p:nvSpPr>
        <p:spPr>
          <a:xfrm>
            <a:off x="8083296" y="3063240"/>
            <a:ext cx="3154680" cy="2331720"/>
          </a:xfrm>
          <a:prstGeom prst="roundRect">
            <a:avLst>
              <a:gd name="adj" fmla="val 4706"/>
            </a:avLst>
          </a:prstGeom>
          <a:solidFill>
            <a:srgbClr val="FFFFFF"/>
          </a:solidFill>
          <a:ln/>
          <a:effectLst>
            <a:outerShdw sx="100000" sy="100000" kx="0" ky="0" algn="bl" rotWithShape="0" blurRad="127000" dist="50800" dir="5400000">
              <a:srgbClr val="8A93A6">
                <a:alpha val="13000"/>
              </a:srgbClr>
            </a:outerShdw>
          </a:effectLst>
        </p:spPr>
      </p:sp>
      <p:sp>
        <p:nvSpPr>
          <p:cNvPr id="23" name="Shape 16"/>
          <p:cNvSpPr/>
          <p:nvPr/>
        </p:nvSpPr>
        <p:spPr>
          <a:xfrm>
            <a:off x="8083296" y="3063240"/>
            <a:ext cx="3154680" cy="2331720"/>
          </a:xfrm>
          <a:prstGeom prst="roundRect">
            <a:avLst>
              <a:gd name="adj" fmla="val 4706"/>
            </a:avLst>
          </a:prstGeom>
          <a:solidFill>
            <a:srgbClr val="FFFFFF">
              <a:alpha val="0"/>
            </a:srgbClr>
          </a:solidFill>
          <a:ln w="12700">
            <a:solidFill>
              <a:srgbClr val="DCE3EC"/>
            </a:solidFill>
            <a:prstDash val="solid"/>
          </a:ln>
        </p:spPr>
      </p:sp>
      <p:sp>
        <p:nvSpPr>
          <p:cNvPr id="24" name="Shape 17"/>
          <p:cNvSpPr/>
          <p:nvPr/>
        </p:nvSpPr>
        <p:spPr>
          <a:xfrm>
            <a:off x="9331452" y="3355848"/>
            <a:ext cx="658368" cy="658368"/>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25" name="Image 5" descr="preencoded.png">    </p:cNvPr>
          <p:cNvPicPr>
            <a:picLocks noChangeAspect="1"/>
          </p:cNvPicPr>
          <p:nvPr/>
        </p:nvPicPr>
        <p:blipFill>
          <a:blip r:embed="rId6"/>
          <a:stretch>
            <a:fillRect/>
          </a:stretch>
        </p:blipFill>
        <p:spPr>
          <a:xfrm>
            <a:off x="9509211" y="3533607"/>
            <a:ext cx="302849" cy="302849"/>
          </a:xfrm>
          <a:prstGeom prst="rect">
            <a:avLst/>
          </a:prstGeom>
        </p:spPr>
      </p:pic>
      <p:sp>
        <p:nvSpPr>
          <p:cNvPr id="26" name="Text 18"/>
          <p:cNvSpPr/>
          <p:nvPr/>
        </p:nvSpPr>
        <p:spPr>
          <a:xfrm>
            <a:off x="8266176" y="4142232"/>
            <a:ext cx="2788920" cy="365760"/>
          </a:xfrm>
          <a:prstGeom prst="rect">
            <a:avLst/>
          </a:prstGeom>
          <a:noFill/>
          <a:ln/>
        </p:spPr>
        <p:txBody>
          <a:bodyPr wrap="square" lIns="0" tIns="0" rIns="0" bIns="0" rtlCol="0" anchor="ctr"/>
          <a:lstStyle/>
          <a:p>
            <a:pPr algn="ctr" indent="0" marL="0">
              <a:buNone/>
            </a:pPr>
            <a:r>
              <a:rPr lang="en-US" sz="1700" b="1" dirty="0">
                <a:solidFill>
                  <a:srgbClr val="0F172A"/>
                </a:solidFill>
                <a:latin typeface="Arial" pitchFamily="34" charset="0"/>
                <a:ea typeface="Arial" pitchFamily="34" charset="-122"/>
                <a:cs typeface="Arial" pitchFamily="34" charset="-120"/>
              </a:rPr>
              <a:t>Ranked output</a:t>
            </a:r>
            <a:endParaRPr lang="en-US" sz="1700" dirty="0"/>
          </a:p>
        </p:txBody>
      </p:sp>
      <p:sp>
        <p:nvSpPr>
          <p:cNvPr id="27" name="Text 19"/>
          <p:cNvSpPr/>
          <p:nvPr/>
        </p:nvSpPr>
        <p:spPr>
          <a:xfrm>
            <a:off x="8339328" y="4526280"/>
            <a:ext cx="2642616" cy="777240"/>
          </a:xfrm>
          <a:prstGeom prst="rect">
            <a:avLst/>
          </a:prstGeom>
          <a:noFill/>
          <a:ln/>
        </p:spPr>
        <p:txBody>
          <a:bodyPr wrap="square" lIns="0" tIns="0" rIns="0" bIns="0" rtlCol="0" anchor="ctr"/>
          <a:lstStyle/>
          <a:p>
            <a:pPr algn="ctr" indent="0" marL="0">
              <a:buNone/>
            </a:pPr>
            <a:r>
              <a:rPr lang="en-US" sz="1250" dirty="0">
                <a:solidFill>
                  <a:srgbClr val="64748B"/>
                </a:solidFill>
                <a:latin typeface="Arial" pitchFamily="34" charset="0"/>
                <a:ea typeface="Arial" pitchFamily="34" charset="-122"/>
                <a:cs typeface="Arial" pitchFamily="34" charset="-120"/>
              </a:rPr>
              <a:t>Top-K items by predicted relevance, served under tight latency.</a:t>
            </a:r>
            <a:endParaRPr lang="en-US" sz="1250" dirty="0"/>
          </a:p>
        </p:txBody>
      </p:sp>
      <p:sp>
        <p:nvSpPr>
          <p:cNvPr id="28" name="Text 20"/>
          <p:cNvSpPr/>
          <p:nvPr/>
        </p:nvSpPr>
        <p:spPr>
          <a:xfrm>
            <a:off x="640080" y="5623560"/>
            <a:ext cx="10927080" cy="365760"/>
          </a:xfrm>
          <a:prstGeom prst="rect">
            <a:avLst/>
          </a:prstGeom>
          <a:noFill/>
          <a:ln/>
        </p:spPr>
        <p:txBody>
          <a:bodyPr wrap="square" lIns="0" tIns="0" rIns="0" bIns="0" rtlCol="0" anchor="ctr"/>
          <a:lstStyle/>
          <a:p>
            <a:pPr algn="ctr" indent="0" marL="0">
              <a:buNone/>
            </a:pPr>
            <a:r>
              <a:rPr lang="en-US" sz="1200" i="1" dirty="0">
                <a:solidFill>
                  <a:srgbClr val="F59E0B"/>
                </a:solidFill>
                <a:latin typeface="Arial" pitchFamily="34" charset="0"/>
                <a:ea typeface="Arial" pitchFamily="34" charset="-122"/>
                <a:cs typeface="Arial" pitchFamily="34" charset="-120"/>
              </a:rPr>
              <a:t>Everything downstream is an engineering problem of computing top-K well, fast, at scale.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TYPES OF RECOMMENDATIONS</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The same engine, many storefront surfaces</a:t>
            </a:r>
            <a:endParaRPr lang="en-US" sz="2700" dirty="0"/>
          </a:p>
        </p:txBody>
      </p:sp>
      <p:sp>
        <p:nvSpPr>
          <p:cNvPr id="4" name="Shape 2"/>
          <p:cNvSpPr/>
          <p:nvPr/>
        </p:nvSpPr>
        <p:spPr>
          <a:xfrm>
            <a:off x="640080" y="1600200"/>
            <a:ext cx="3456432" cy="1993392"/>
          </a:xfrm>
          <a:prstGeom prst="roundRect">
            <a:avLst>
              <a:gd name="adj" fmla="val 5505"/>
            </a:avLst>
          </a:prstGeom>
          <a:solidFill>
            <a:srgbClr val="F1F5F9"/>
          </a:solidFill>
          <a:ln/>
          <a:effectLst>
            <a:outerShdw sx="100000" sy="100000" kx="0" ky="0" algn="bl" rotWithShape="0" blurRad="127000" dist="50800" dir="5400000">
              <a:srgbClr val="8A93A6">
                <a:alpha val="13000"/>
              </a:srgbClr>
            </a:outerShdw>
          </a:effectLst>
        </p:spPr>
      </p:sp>
      <p:sp>
        <p:nvSpPr>
          <p:cNvPr id="5" name="Shape 3"/>
          <p:cNvSpPr/>
          <p:nvPr/>
        </p:nvSpPr>
        <p:spPr>
          <a:xfrm>
            <a:off x="932688" y="1911096"/>
            <a:ext cx="640080" cy="640080"/>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105510" y="2083918"/>
            <a:ext cx="294437" cy="294437"/>
          </a:xfrm>
          <a:prstGeom prst="rect">
            <a:avLst/>
          </a:prstGeom>
        </p:spPr>
      </p:pic>
      <p:sp>
        <p:nvSpPr>
          <p:cNvPr id="7" name="Text 4"/>
          <p:cNvSpPr/>
          <p:nvPr/>
        </p:nvSpPr>
        <p:spPr>
          <a:xfrm>
            <a:off x="932688" y="2660904"/>
            <a:ext cx="2907792" cy="365760"/>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Personalized</a:t>
            </a:r>
            <a:endParaRPr lang="en-US" sz="1550" dirty="0"/>
          </a:p>
        </p:txBody>
      </p:sp>
      <p:sp>
        <p:nvSpPr>
          <p:cNvPr id="8" name="Text 5"/>
          <p:cNvSpPr/>
          <p:nvPr/>
        </p:nvSpPr>
        <p:spPr>
          <a:xfrm>
            <a:off x="932688" y="3026664"/>
            <a:ext cx="2907792" cy="5029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User-conditioned ranking from interaction history.</a:t>
            </a:r>
            <a:endParaRPr lang="en-US" sz="1250" dirty="0"/>
          </a:p>
        </p:txBody>
      </p:sp>
      <p:sp>
        <p:nvSpPr>
          <p:cNvPr id="9" name="Shape 6"/>
          <p:cNvSpPr/>
          <p:nvPr/>
        </p:nvSpPr>
        <p:spPr>
          <a:xfrm>
            <a:off x="4379976" y="1600200"/>
            <a:ext cx="3456432" cy="1993392"/>
          </a:xfrm>
          <a:prstGeom prst="roundRect">
            <a:avLst>
              <a:gd name="adj" fmla="val 5505"/>
            </a:avLst>
          </a:prstGeom>
          <a:solidFill>
            <a:srgbClr val="F1F5F9"/>
          </a:solidFill>
          <a:ln/>
          <a:effectLst>
            <a:outerShdw sx="100000" sy="100000" kx="0" ky="0" algn="bl" rotWithShape="0" blurRad="127000" dist="50800" dir="5400000">
              <a:srgbClr val="8A93A6">
                <a:alpha val="13000"/>
              </a:srgbClr>
            </a:outerShdw>
          </a:effectLst>
        </p:spPr>
      </p:sp>
      <p:sp>
        <p:nvSpPr>
          <p:cNvPr id="10" name="Shape 7"/>
          <p:cNvSpPr/>
          <p:nvPr/>
        </p:nvSpPr>
        <p:spPr>
          <a:xfrm>
            <a:off x="4672584" y="1911096"/>
            <a:ext cx="640080" cy="640080"/>
          </a:xfrm>
          <a:prstGeom prst="ellipse">
            <a:avLst/>
          </a:prstGeom>
          <a:solidFill>
            <a:srgbClr val="F59E0B"/>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4845406" y="2083918"/>
            <a:ext cx="294437" cy="294437"/>
          </a:xfrm>
          <a:prstGeom prst="rect">
            <a:avLst/>
          </a:prstGeom>
        </p:spPr>
      </p:pic>
      <p:sp>
        <p:nvSpPr>
          <p:cNvPr id="12" name="Text 8"/>
          <p:cNvSpPr/>
          <p:nvPr/>
        </p:nvSpPr>
        <p:spPr>
          <a:xfrm>
            <a:off x="4672584" y="2660904"/>
            <a:ext cx="2907792" cy="365760"/>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Frequently bought together</a:t>
            </a:r>
            <a:endParaRPr lang="en-US" sz="1550" dirty="0"/>
          </a:p>
        </p:txBody>
      </p:sp>
      <p:sp>
        <p:nvSpPr>
          <p:cNvPr id="13" name="Text 9"/>
          <p:cNvSpPr/>
          <p:nvPr/>
        </p:nvSpPr>
        <p:spPr>
          <a:xfrm>
            <a:off x="4672584" y="3026664"/>
            <a:ext cx="2907792" cy="5029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Co-purchase / market-basket association.</a:t>
            </a:r>
            <a:endParaRPr lang="en-US" sz="1250" dirty="0"/>
          </a:p>
        </p:txBody>
      </p:sp>
      <p:sp>
        <p:nvSpPr>
          <p:cNvPr id="14" name="Shape 10"/>
          <p:cNvSpPr/>
          <p:nvPr/>
        </p:nvSpPr>
        <p:spPr>
          <a:xfrm>
            <a:off x="8119872" y="1600200"/>
            <a:ext cx="3456432" cy="1993392"/>
          </a:xfrm>
          <a:prstGeom prst="roundRect">
            <a:avLst>
              <a:gd name="adj" fmla="val 5505"/>
            </a:avLst>
          </a:prstGeom>
          <a:solidFill>
            <a:srgbClr val="F1F5F9"/>
          </a:solidFill>
          <a:ln/>
          <a:effectLst>
            <a:outerShdw sx="100000" sy="100000" kx="0" ky="0" algn="bl" rotWithShape="0" blurRad="127000" dist="50800" dir="5400000">
              <a:srgbClr val="8A93A6">
                <a:alpha val="13000"/>
              </a:srgbClr>
            </a:outerShdw>
          </a:effectLst>
        </p:spPr>
      </p:sp>
      <p:sp>
        <p:nvSpPr>
          <p:cNvPr id="15" name="Shape 11"/>
          <p:cNvSpPr/>
          <p:nvPr/>
        </p:nvSpPr>
        <p:spPr>
          <a:xfrm>
            <a:off x="8412480" y="1911096"/>
            <a:ext cx="640080" cy="640080"/>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16" name="Image 2" descr="preencoded.png">    </p:cNvPr>
          <p:cNvPicPr>
            <a:picLocks noChangeAspect="1"/>
          </p:cNvPicPr>
          <p:nvPr/>
        </p:nvPicPr>
        <p:blipFill>
          <a:blip r:embed="rId3"/>
          <a:stretch>
            <a:fillRect/>
          </a:stretch>
        </p:blipFill>
        <p:spPr>
          <a:xfrm>
            <a:off x="8585302" y="2083918"/>
            <a:ext cx="294437" cy="294437"/>
          </a:xfrm>
          <a:prstGeom prst="rect">
            <a:avLst/>
          </a:prstGeom>
        </p:spPr>
      </p:pic>
      <p:sp>
        <p:nvSpPr>
          <p:cNvPr id="17" name="Text 12"/>
          <p:cNvSpPr/>
          <p:nvPr/>
        </p:nvSpPr>
        <p:spPr>
          <a:xfrm>
            <a:off x="8412480" y="2660904"/>
            <a:ext cx="2907792" cy="365760"/>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Trending &amp; popular</a:t>
            </a:r>
            <a:endParaRPr lang="en-US" sz="1550" dirty="0"/>
          </a:p>
        </p:txBody>
      </p:sp>
      <p:sp>
        <p:nvSpPr>
          <p:cNvPr id="18" name="Text 13"/>
          <p:cNvSpPr/>
          <p:nvPr/>
        </p:nvSpPr>
        <p:spPr>
          <a:xfrm>
            <a:off x="8412480" y="3026664"/>
            <a:ext cx="2907792" cy="5029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Time-decayed popularity; strong cold-start fallback.</a:t>
            </a:r>
            <a:endParaRPr lang="en-US" sz="1250" dirty="0"/>
          </a:p>
        </p:txBody>
      </p:sp>
      <p:sp>
        <p:nvSpPr>
          <p:cNvPr id="19" name="Shape 14"/>
          <p:cNvSpPr/>
          <p:nvPr/>
        </p:nvSpPr>
        <p:spPr>
          <a:xfrm>
            <a:off x="2510028" y="3904488"/>
            <a:ext cx="3456432" cy="1993392"/>
          </a:xfrm>
          <a:prstGeom prst="roundRect">
            <a:avLst>
              <a:gd name="adj" fmla="val 5505"/>
            </a:avLst>
          </a:prstGeom>
          <a:solidFill>
            <a:srgbClr val="F1F5F9"/>
          </a:solidFill>
          <a:ln/>
          <a:effectLst>
            <a:outerShdw sx="100000" sy="100000" kx="0" ky="0" algn="bl" rotWithShape="0" blurRad="127000" dist="50800" dir="5400000">
              <a:srgbClr val="8A93A6">
                <a:alpha val="13000"/>
              </a:srgbClr>
            </a:outerShdw>
          </a:effectLst>
        </p:spPr>
      </p:sp>
      <p:sp>
        <p:nvSpPr>
          <p:cNvPr id="20" name="Shape 15"/>
          <p:cNvSpPr/>
          <p:nvPr/>
        </p:nvSpPr>
        <p:spPr>
          <a:xfrm>
            <a:off x="2802636" y="4215384"/>
            <a:ext cx="640080" cy="640080"/>
          </a:xfrm>
          <a:prstGeom prst="ellipse">
            <a:avLst/>
          </a:prstGeom>
          <a:solidFill>
            <a:srgbClr val="F59E0B"/>
          </a:solidFill>
          <a:ln/>
          <a:effectLst>
            <a:outerShdw sx="100000" sy="100000" kx="0" ky="0" algn="bl" rotWithShape="0" blurRad="127000" dist="50800" dir="5400000">
              <a:srgbClr val="8A93A6">
                <a:alpha val="13000"/>
              </a:srgbClr>
            </a:outerShdw>
          </a:effectLst>
        </p:spPr>
      </p:sp>
      <p:pic>
        <p:nvPicPr>
          <p:cNvPr id="21" name="Image 3" descr="preencoded.png">    </p:cNvPr>
          <p:cNvPicPr>
            <a:picLocks noChangeAspect="1"/>
          </p:cNvPicPr>
          <p:nvPr/>
        </p:nvPicPr>
        <p:blipFill>
          <a:blip r:embed="rId4"/>
          <a:stretch>
            <a:fillRect/>
          </a:stretch>
        </p:blipFill>
        <p:spPr>
          <a:xfrm>
            <a:off x="2975458" y="4388206"/>
            <a:ext cx="294437" cy="294437"/>
          </a:xfrm>
          <a:prstGeom prst="rect">
            <a:avLst/>
          </a:prstGeom>
        </p:spPr>
      </p:pic>
      <p:sp>
        <p:nvSpPr>
          <p:cNvPr id="22" name="Text 16"/>
          <p:cNvSpPr/>
          <p:nvPr/>
        </p:nvSpPr>
        <p:spPr>
          <a:xfrm>
            <a:off x="2802636" y="4965192"/>
            <a:ext cx="2907792" cy="365760"/>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Similar items</a:t>
            </a:r>
            <a:endParaRPr lang="en-US" sz="1550" dirty="0"/>
          </a:p>
        </p:txBody>
      </p:sp>
      <p:sp>
        <p:nvSpPr>
          <p:cNvPr id="23" name="Text 17"/>
          <p:cNvSpPr/>
          <p:nvPr/>
        </p:nvSpPr>
        <p:spPr>
          <a:xfrm>
            <a:off x="2802636" y="5330952"/>
            <a:ext cx="2907792" cy="5029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Item-item nearest neighbors in embedding space.</a:t>
            </a:r>
            <a:endParaRPr lang="en-US" sz="1250" dirty="0"/>
          </a:p>
        </p:txBody>
      </p:sp>
      <p:sp>
        <p:nvSpPr>
          <p:cNvPr id="24" name="Shape 18"/>
          <p:cNvSpPr/>
          <p:nvPr/>
        </p:nvSpPr>
        <p:spPr>
          <a:xfrm>
            <a:off x="6249924" y="3904488"/>
            <a:ext cx="3456432" cy="1993392"/>
          </a:xfrm>
          <a:prstGeom prst="roundRect">
            <a:avLst>
              <a:gd name="adj" fmla="val 5505"/>
            </a:avLst>
          </a:prstGeom>
          <a:solidFill>
            <a:srgbClr val="F1F5F9"/>
          </a:solidFill>
          <a:ln/>
          <a:effectLst>
            <a:outerShdw sx="100000" sy="100000" kx="0" ky="0" algn="bl" rotWithShape="0" blurRad="127000" dist="50800" dir="5400000">
              <a:srgbClr val="8A93A6">
                <a:alpha val="13000"/>
              </a:srgbClr>
            </a:outerShdw>
          </a:effectLst>
        </p:spPr>
      </p:sp>
      <p:sp>
        <p:nvSpPr>
          <p:cNvPr id="25" name="Shape 19"/>
          <p:cNvSpPr/>
          <p:nvPr/>
        </p:nvSpPr>
        <p:spPr>
          <a:xfrm>
            <a:off x="6542532" y="4215384"/>
            <a:ext cx="640080" cy="640080"/>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26" name="Image 4" descr="preencoded.png">    </p:cNvPr>
          <p:cNvPicPr>
            <a:picLocks noChangeAspect="1"/>
          </p:cNvPicPr>
          <p:nvPr/>
        </p:nvPicPr>
        <p:blipFill>
          <a:blip r:embed="rId5"/>
          <a:stretch>
            <a:fillRect/>
          </a:stretch>
        </p:blipFill>
        <p:spPr>
          <a:xfrm>
            <a:off x="6715354" y="4388206"/>
            <a:ext cx="294437" cy="294437"/>
          </a:xfrm>
          <a:prstGeom prst="rect">
            <a:avLst/>
          </a:prstGeom>
        </p:spPr>
      </p:pic>
      <p:sp>
        <p:nvSpPr>
          <p:cNvPr id="27" name="Text 20"/>
          <p:cNvSpPr/>
          <p:nvPr/>
        </p:nvSpPr>
        <p:spPr>
          <a:xfrm>
            <a:off x="6542532" y="4965192"/>
            <a:ext cx="2907792" cy="365760"/>
          </a:xfrm>
          <a:prstGeom prst="rect">
            <a:avLst/>
          </a:prstGeom>
          <a:noFill/>
          <a:ln/>
        </p:spPr>
        <p:txBody>
          <a:bodyPr wrap="square" lIns="0" tIns="0" rIns="0" bIns="0" rtlCol="0" anchor="ctr"/>
          <a:lstStyle/>
          <a:p>
            <a:pPr indent="0" marL="0">
              <a:buNone/>
            </a:pPr>
            <a:r>
              <a:rPr lang="en-US" sz="1550" b="1" dirty="0">
                <a:solidFill>
                  <a:srgbClr val="0F172A"/>
                </a:solidFill>
                <a:latin typeface="Arial" pitchFamily="34" charset="0"/>
                <a:ea typeface="Arial" pitchFamily="34" charset="-122"/>
                <a:cs typeface="Arial" pitchFamily="34" charset="-120"/>
              </a:rPr>
              <a:t>Recently viewed</a:t>
            </a:r>
            <a:endParaRPr lang="en-US" sz="1550" dirty="0"/>
          </a:p>
        </p:txBody>
      </p:sp>
      <p:sp>
        <p:nvSpPr>
          <p:cNvPr id="28" name="Text 21"/>
          <p:cNvSpPr/>
          <p:nvPr/>
        </p:nvSpPr>
        <p:spPr>
          <a:xfrm>
            <a:off x="6542532" y="5330952"/>
            <a:ext cx="2907792" cy="50292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Session memory; cheap, high-CTR retrieval source.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CORE APPROACHES</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How a recommender decides what to show</a:t>
            </a:r>
            <a:endParaRPr lang="en-US" sz="2700" dirty="0"/>
          </a:p>
        </p:txBody>
      </p:sp>
      <p:sp>
        <p:nvSpPr>
          <p:cNvPr id="4" name="Text 2"/>
          <p:cNvSpPr/>
          <p:nvPr/>
        </p:nvSpPr>
        <p:spPr>
          <a:xfrm>
            <a:off x="640080" y="1371600"/>
            <a:ext cx="10881360" cy="292608"/>
          </a:xfrm>
          <a:prstGeom prst="rect">
            <a:avLst/>
          </a:prstGeom>
          <a:noFill/>
          <a:ln/>
        </p:spPr>
        <p:txBody>
          <a:bodyPr wrap="square" lIns="0" tIns="0" rIns="0" bIns="0" rtlCol="0" anchor="ctr"/>
          <a:lstStyle/>
          <a:p>
            <a:pPr indent="0" marL="0">
              <a:buNone/>
            </a:pPr>
            <a:r>
              <a:rPr lang="en-US" sz="1300" i="1" dirty="0">
                <a:solidFill>
                  <a:srgbClr val="64748B"/>
                </a:solidFill>
                <a:latin typeface="Arial" pitchFamily="34" charset="0"/>
                <a:ea typeface="Arial" pitchFamily="34" charset="-122"/>
                <a:cs typeface="Arial" pitchFamily="34" charset="-120"/>
              </a:rPr>
              <a:t>The algorithmic toolkit, from feature-driven to learned representations.</a:t>
            </a:r>
            <a:endParaRPr lang="en-US" sz="1300" dirty="0"/>
          </a:p>
        </p:txBody>
      </p:sp>
      <p:sp>
        <p:nvSpPr>
          <p:cNvPr id="5" name="Shape 3"/>
          <p:cNvSpPr/>
          <p:nvPr/>
        </p:nvSpPr>
        <p:spPr>
          <a:xfrm>
            <a:off x="640080" y="1783080"/>
            <a:ext cx="5349240" cy="1627632"/>
          </a:xfrm>
          <a:prstGeom prst="roundRect">
            <a:avLst>
              <a:gd name="adj" fmla="val 6742"/>
            </a:avLst>
          </a:prstGeom>
          <a:solidFill>
            <a:srgbClr val="F1F5F9"/>
          </a:solidFill>
          <a:ln/>
          <a:effectLst>
            <a:outerShdw sx="100000" sy="100000" kx="0" ky="0" algn="bl" rotWithShape="0" blurRad="127000" dist="50800" dir="5400000">
              <a:srgbClr val="8A93A6">
                <a:alpha val="13000"/>
              </a:srgbClr>
            </a:outerShdw>
          </a:effectLst>
        </p:spPr>
      </p:sp>
      <p:sp>
        <p:nvSpPr>
          <p:cNvPr id="6" name="Shape 4"/>
          <p:cNvSpPr/>
          <p:nvPr/>
        </p:nvSpPr>
        <p:spPr>
          <a:xfrm>
            <a:off x="914400" y="2057400"/>
            <a:ext cx="713232" cy="713232"/>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7" name="Image 0" descr="preencoded.png">    </p:cNvPr>
          <p:cNvPicPr>
            <a:picLocks noChangeAspect="1"/>
          </p:cNvPicPr>
          <p:nvPr/>
        </p:nvPicPr>
        <p:blipFill>
          <a:blip r:embed="rId1"/>
          <a:stretch>
            <a:fillRect/>
          </a:stretch>
        </p:blipFill>
        <p:spPr>
          <a:xfrm>
            <a:off x="1106973" y="2249973"/>
            <a:ext cx="328087" cy="328087"/>
          </a:xfrm>
          <a:prstGeom prst="rect">
            <a:avLst/>
          </a:prstGeom>
        </p:spPr>
      </p:pic>
      <p:sp>
        <p:nvSpPr>
          <p:cNvPr id="8" name="Text 5"/>
          <p:cNvSpPr/>
          <p:nvPr/>
        </p:nvSpPr>
        <p:spPr>
          <a:xfrm>
            <a:off x="1810512" y="2039112"/>
            <a:ext cx="397764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Content-based</a:t>
            </a:r>
            <a:endParaRPr lang="en-US" sz="1600" dirty="0"/>
          </a:p>
        </p:txBody>
      </p:sp>
      <p:sp>
        <p:nvSpPr>
          <p:cNvPr id="9" name="Text 6"/>
          <p:cNvSpPr/>
          <p:nvPr/>
        </p:nvSpPr>
        <p:spPr>
          <a:xfrm>
            <a:off x="1810512" y="2441448"/>
            <a:ext cx="3977640" cy="82296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Score on item features (TF-IDF, attributes). No cold-start for new items.</a:t>
            </a:r>
            <a:endParaRPr lang="en-US" sz="1250" dirty="0"/>
          </a:p>
        </p:txBody>
      </p:sp>
      <p:sp>
        <p:nvSpPr>
          <p:cNvPr id="10" name="Shape 7"/>
          <p:cNvSpPr/>
          <p:nvPr/>
        </p:nvSpPr>
        <p:spPr>
          <a:xfrm>
            <a:off x="6217920" y="1783080"/>
            <a:ext cx="5349240" cy="1627632"/>
          </a:xfrm>
          <a:prstGeom prst="roundRect">
            <a:avLst>
              <a:gd name="adj" fmla="val 6742"/>
            </a:avLst>
          </a:prstGeom>
          <a:solidFill>
            <a:srgbClr val="F1F5F9"/>
          </a:solidFill>
          <a:ln/>
          <a:effectLst>
            <a:outerShdw sx="100000" sy="100000" kx="0" ky="0" algn="bl" rotWithShape="0" blurRad="127000" dist="50800" dir="5400000">
              <a:srgbClr val="8A93A6">
                <a:alpha val="13000"/>
              </a:srgbClr>
            </a:outerShdw>
          </a:effectLst>
        </p:spPr>
      </p:sp>
      <p:sp>
        <p:nvSpPr>
          <p:cNvPr id="11" name="Shape 8"/>
          <p:cNvSpPr/>
          <p:nvPr/>
        </p:nvSpPr>
        <p:spPr>
          <a:xfrm>
            <a:off x="6492240" y="2057400"/>
            <a:ext cx="713232" cy="713232"/>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12" name="Image 1" descr="preencoded.png">    </p:cNvPr>
          <p:cNvPicPr>
            <a:picLocks noChangeAspect="1"/>
          </p:cNvPicPr>
          <p:nvPr/>
        </p:nvPicPr>
        <p:blipFill>
          <a:blip r:embed="rId2"/>
          <a:stretch>
            <a:fillRect/>
          </a:stretch>
        </p:blipFill>
        <p:spPr>
          <a:xfrm>
            <a:off x="6684813" y="2249973"/>
            <a:ext cx="328087" cy="328087"/>
          </a:xfrm>
          <a:prstGeom prst="rect">
            <a:avLst/>
          </a:prstGeom>
        </p:spPr>
      </p:pic>
      <p:sp>
        <p:nvSpPr>
          <p:cNvPr id="13" name="Text 9"/>
          <p:cNvSpPr/>
          <p:nvPr/>
        </p:nvSpPr>
        <p:spPr>
          <a:xfrm>
            <a:off x="7388352" y="2039112"/>
            <a:ext cx="397764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Collaborative filtering</a:t>
            </a:r>
            <a:endParaRPr lang="en-US" sz="1600" dirty="0"/>
          </a:p>
        </p:txBody>
      </p:sp>
      <p:sp>
        <p:nvSpPr>
          <p:cNvPr id="14" name="Text 10"/>
          <p:cNvSpPr/>
          <p:nvPr/>
        </p:nvSpPr>
        <p:spPr>
          <a:xfrm>
            <a:off x="7388352" y="2441448"/>
            <a:ext cx="3977640" cy="82296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User-based vs. item-based kNN over the interaction matrix.</a:t>
            </a:r>
            <a:endParaRPr lang="en-US" sz="1250" dirty="0"/>
          </a:p>
        </p:txBody>
      </p:sp>
      <p:sp>
        <p:nvSpPr>
          <p:cNvPr id="15" name="Shape 11"/>
          <p:cNvSpPr/>
          <p:nvPr/>
        </p:nvSpPr>
        <p:spPr>
          <a:xfrm>
            <a:off x="640080" y="3648456"/>
            <a:ext cx="5349240" cy="1627632"/>
          </a:xfrm>
          <a:prstGeom prst="roundRect">
            <a:avLst>
              <a:gd name="adj" fmla="val 6742"/>
            </a:avLst>
          </a:prstGeom>
          <a:solidFill>
            <a:srgbClr val="F1F5F9"/>
          </a:solidFill>
          <a:ln/>
          <a:effectLst>
            <a:outerShdw sx="100000" sy="100000" kx="0" ky="0" algn="bl" rotWithShape="0" blurRad="127000" dist="50800" dir="5400000">
              <a:srgbClr val="8A93A6">
                <a:alpha val="13000"/>
              </a:srgbClr>
            </a:outerShdw>
          </a:effectLst>
        </p:spPr>
      </p:sp>
      <p:sp>
        <p:nvSpPr>
          <p:cNvPr id="16" name="Shape 12"/>
          <p:cNvSpPr/>
          <p:nvPr/>
        </p:nvSpPr>
        <p:spPr>
          <a:xfrm>
            <a:off x="914400" y="3922776"/>
            <a:ext cx="713232" cy="713232"/>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17" name="Image 2" descr="preencoded.png">    </p:cNvPr>
          <p:cNvPicPr>
            <a:picLocks noChangeAspect="1"/>
          </p:cNvPicPr>
          <p:nvPr/>
        </p:nvPicPr>
        <p:blipFill>
          <a:blip r:embed="rId3"/>
          <a:stretch>
            <a:fillRect/>
          </a:stretch>
        </p:blipFill>
        <p:spPr>
          <a:xfrm>
            <a:off x="1106973" y="4115349"/>
            <a:ext cx="328087" cy="328087"/>
          </a:xfrm>
          <a:prstGeom prst="rect">
            <a:avLst/>
          </a:prstGeom>
        </p:spPr>
      </p:pic>
      <p:sp>
        <p:nvSpPr>
          <p:cNvPr id="18" name="Text 13"/>
          <p:cNvSpPr/>
          <p:nvPr/>
        </p:nvSpPr>
        <p:spPr>
          <a:xfrm>
            <a:off x="1810512" y="3904488"/>
            <a:ext cx="397764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Matrix factorization</a:t>
            </a:r>
            <a:endParaRPr lang="en-US" sz="1600" dirty="0"/>
          </a:p>
        </p:txBody>
      </p:sp>
      <p:sp>
        <p:nvSpPr>
          <p:cNvPr id="19" name="Text 14"/>
          <p:cNvSpPr/>
          <p:nvPr/>
        </p:nvSpPr>
        <p:spPr>
          <a:xfrm>
            <a:off x="1810512" y="4306824"/>
            <a:ext cx="3977640" cy="82296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Latent factors via ALS/SGD; two-tower embeddings for retrieval.</a:t>
            </a:r>
            <a:endParaRPr lang="en-US" sz="1250" dirty="0"/>
          </a:p>
        </p:txBody>
      </p:sp>
      <p:sp>
        <p:nvSpPr>
          <p:cNvPr id="20" name="Shape 15"/>
          <p:cNvSpPr/>
          <p:nvPr/>
        </p:nvSpPr>
        <p:spPr>
          <a:xfrm>
            <a:off x="6217920" y="3648456"/>
            <a:ext cx="5349240" cy="1627632"/>
          </a:xfrm>
          <a:prstGeom prst="roundRect">
            <a:avLst>
              <a:gd name="adj" fmla="val 6742"/>
            </a:avLst>
          </a:prstGeom>
          <a:solidFill>
            <a:srgbClr val="F1F5F9"/>
          </a:solidFill>
          <a:ln/>
          <a:effectLst>
            <a:outerShdw sx="100000" sy="100000" kx="0" ky="0" algn="bl" rotWithShape="0" blurRad="127000" dist="50800" dir="5400000">
              <a:srgbClr val="8A93A6">
                <a:alpha val="13000"/>
              </a:srgbClr>
            </a:outerShdw>
          </a:effectLst>
        </p:spPr>
      </p:sp>
      <p:sp>
        <p:nvSpPr>
          <p:cNvPr id="21" name="Shape 16"/>
          <p:cNvSpPr/>
          <p:nvPr/>
        </p:nvSpPr>
        <p:spPr>
          <a:xfrm>
            <a:off x="6492240" y="3922776"/>
            <a:ext cx="713232" cy="713232"/>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22" name="Image 3" descr="preencoded.png">    </p:cNvPr>
          <p:cNvPicPr>
            <a:picLocks noChangeAspect="1"/>
          </p:cNvPicPr>
          <p:nvPr/>
        </p:nvPicPr>
        <p:blipFill>
          <a:blip r:embed="rId4"/>
          <a:stretch>
            <a:fillRect/>
          </a:stretch>
        </p:blipFill>
        <p:spPr>
          <a:xfrm>
            <a:off x="6684813" y="4115349"/>
            <a:ext cx="328087" cy="328087"/>
          </a:xfrm>
          <a:prstGeom prst="rect">
            <a:avLst/>
          </a:prstGeom>
        </p:spPr>
      </p:pic>
      <p:sp>
        <p:nvSpPr>
          <p:cNvPr id="23" name="Text 17"/>
          <p:cNvSpPr/>
          <p:nvPr/>
        </p:nvSpPr>
        <p:spPr>
          <a:xfrm>
            <a:off x="7388352" y="3904488"/>
            <a:ext cx="397764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Hybrid</a:t>
            </a:r>
            <a:endParaRPr lang="en-US" sz="1600" dirty="0"/>
          </a:p>
        </p:txBody>
      </p:sp>
      <p:sp>
        <p:nvSpPr>
          <p:cNvPr id="24" name="Text 18"/>
          <p:cNvSpPr/>
          <p:nvPr/>
        </p:nvSpPr>
        <p:spPr>
          <a:xfrm>
            <a:off x="7388352" y="4306824"/>
            <a:ext cx="3977640" cy="822960"/>
          </a:xfrm>
          <a:prstGeom prst="rect">
            <a:avLst/>
          </a:prstGeom>
          <a:noFill/>
          <a:ln/>
        </p:spPr>
        <p:txBody>
          <a:bodyPr wrap="square" lIns="0" tIns="0" rIns="0" bIns="0" rtlCol="0" anchor="ctr"/>
          <a:lstStyle/>
          <a:p>
            <a:pPr indent="0" marL="0">
              <a:buNone/>
            </a:pPr>
            <a:r>
              <a:rPr lang="en-US" sz="1250" dirty="0">
                <a:solidFill>
                  <a:srgbClr val="64748B"/>
                </a:solidFill>
                <a:latin typeface="Arial" pitchFamily="34" charset="0"/>
                <a:ea typeface="Arial" pitchFamily="34" charset="-122"/>
                <a:cs typeface="Arial" pitchFamily="34" charset="-120"/>
              </a:rPr>
              <a:t>Blend signals; mitigate sparsity and cold-start together.</a:t>
            </a:r>
            <a:endParaRPr lang="en-US" sz="1250" dirty="0"/>
          </a:p>
        </p:txBody>
      </p:sp>
      <p:sp>
        <p:nvSpPr>
          <p:cNvPr id="25" name="Shape 19"/>
          <p:cNvSpPr/>
          <p:nvPr/>
        </p:nvSpPr>
        <p:spPr>
          <a:xfrm>
            <a:off x="640080" y="5312664"/>
            <a:ext cx="10927080" cy="841248"/>
          </a:xfrm>
          <a:prstGeom prst="roundRect">
            <a:avLst>
              <a:gd name="adj" fmla="val 13043"/>
            </a:avLst>
          </a:prstGeom>
          <a:solidFill>
            <a:srgbClr val="ECFEFF"/>
          </a:solidFill>
          <a:ln/>
          <a:effectLst>
            <a:outerShdw sx="100000" sy="100000" kx="0" ky="0" algn="bl" rotWithShape="0" blurRad="127000" dist="50800" dir="5400000">
              <a:srgbClr val="8A93A6">
                <a:alpha val="13000"/>
              </a:srgbClr>
            </a:outerShdw>
          </a:effectLst>
        </p:spPr>
      </p:sp>
      <p:sp>
        <p:nvSpPr>
          <p:cNvPr id="26" name="Shape 20"/>
          <p:cNvSpPr/>
          <p:nvPr/>
        </p:nvSpPr>
        <p:spPr>
          <a:xfrm>
            <a:off x="896112" y="5458968"/>
            <a:ext cx="548640" cy="548640"/>
          </a:xfrm>
          <a:prstGeom prst="ellipse">
            <a:avLst/>
          </a:prstGeom>
          <a:solidFill>
            <a:srgbClr val="F59E0B"/>
          </a:solidFill>
          <a:ln/>
          <a:effectLst>
            <a:outerShdw sx="100000" sy="100000" kx="0" ky="0" algn="bl" rotWithShape="0" blurRad="127000" dist="50800" dir="5400000">
              <a:srgbClr val="8A93A6">
                <a:alpha val="13000"/>
              </a:srgbClr>
            </a:outerShdw>
          </a:effectLst>
        </p:spPr>
      </p:sp>
      <p:pic>
        <p:nvPicPr>
          <p:cNvPr id="27" name="Image 4" descr="preencoded.png">    </p:cNvPr>
          <p:cNvPicPr>
            <a:picLocks noChangeAspect="1"/>
          </p:cNvPicPr>
          <p:nvPr/>
        </p:nvPicPr>
        <p:blipFill>
          <a:blip r:embed="rId5"/>
          <a:stretch>
            <a:fillRect/>
          </a:stretch>
        </p:blipFill>
        <p:spPr>
          <a:xfrm>
            <a:off x="1044245" y="5607101"/>
            <a:ext cx="252374" cy="252374"/>
          </a:xfrm>
          <a:prstGeom prst="rect">
            <a:avLst/>
          </a:prstGeom>
        </p:spPr>
      </p:pic>
      <p:sp>
        <p:nvSpPr>
          <p:cNvPr id="28" name="Text 21"/>
          <p:cNvSpPr/>
          <p:nvPr/>
        </p:nvSpPr>
        <p:spPr>
          <a:xfrm>
            <a:off x="1645920" y="5312664"/>
            <a:ext cx="9646920" cy="841248"/>
          </a:xfrm>
          <a:prstGeom prst="rect">
            <a:avLst/>
          </a:prstGeom>
          <a:noFill/>
          <a:ln/>
        </p:spPr>
        <p:txBody>
          <a:bodyPr wrap="square" lIns="0" tIns="0" rIns="0" bIns="0" rtlCol="0" anchor="ctr"/>
          <a:lstStyle/>
          <a:p>
            <a:pPr indent="0" marL="0">
              <a:buNone/>
            </a:pPr>
            <a:r>
              <a:rPr lang="en-US" sz="1250" dirty="0">
                <a:solidFill>
                  <a:srgbClr val="0F172A"/>
                </a:solidFill>
                <a:latin typeface="Arial" pitchFamily="34" charset="0"/>
                <a:ea typeface="Arial" pitchFamily="34" charset="-122"/>
                <a:cs typeface="Arial" pitchFamily="34" charset="-120"/>
              </a:rPr>
              <a:t>Sequence/session models (GRU4Rec, SASRec) and two-tower retrieval now dominate large-scale stacks.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THE DATA THAT POWERS IT</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Two kinds of signal: what users say vs. what they do</a:t>
            </a:r>
            <a:endParaRPr lang="en-US" sz="2700" dirty="0"/>
          </a:p>
        </p:txBody>
      </p:sp>
      <p:sp>
        <p:nvSpPr>
          <p:cNvPr id="4" name="Shape 2"/>
          <p:cNvSpPr/>
          <p:nvPr/>
        </p:nvSpPr>
        <p:spPr>
          <a:xfrm>
            <a:off x="640080" y="1691640"/>
            <a:ext cx="5120640" cy="3246120"/>
          </a:xfrm>
          <a:prstGeom prst="roundRect">
            <a:avLst>
              <a:gd name="adj" fmla="val 3944"/>
            </a:avLst>
          </a:prstGeom>
          <a:solidFill>
            <a:srgbClr val="F1F5F9"/>
          </a:solidFill>
          <a:ln/>
          <a:effectLst>
            <a:outerShdw sx="100000" sy="100000" kx="0" ky="0" algn="bl" rotWithShape="0" blurRad="127000" dist="50800" dir="5400000">
              <a:srgbClr val="8A93A6">
                <a:alpha val="13000"/>
              </a:srgbClr>
            </a:outerShdw>
          </a:effectLst>
        </p:spPr>
      </p:sp>
      <p:sp>
        <p:nvSpPr>
          <p:cNvPr id="5" name="Shape 3"/>
          <p:cNvSpPr/>
          <p:nvPr/>
        </p:nvSpPr>
        <p:spPr>
          <a:xfrm>
            <a:off x="932688" y="1965960"/>
            <a:ext cx="603504" cy="603504"/>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95634" y="2128906"/>
            <a:ext cx="277612" cy="277612"/>
          </a:xfrm>
          <a:prstGeom prst="rect">
            <a:avLst/>
          </a:prstGeom>
        </p:spPr>
      </p:pic>
      <p:sp>
        <p:nvSpPr>
          <p:cNvPr id="7" name="Text 4"/>
          <p:cNvSpPr/>
          <p:nvPr/>
        </p:nvSpPr>
        <p:spPr>
          <a:xfrm>
            <a:off x="1691640" y="1965960"/>
            <a:ext cx="384048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Explicit signals</a:t>
            </a:r>
            <a:endParaRPr lang="en-US" sz="1800" dirty="0"/>
          </a:p>
        </p:txBody>
      </p:sp>
      <p:sp>
        <p:nvSpPr>
          <p:cNvPr id="8" name="Text 5"/>
          <p:cNvSpPr/>
          <p:nvPr/>
        </p:nvSpPr>
        <p:spPr>
          <a:xfrm>
            <a:off x="1691640" y="2350008"/>
            <a:ext cx="3840480" cy="27432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Users tell us directly</a:t>
            </a:r>
            <a:endParaRPr lang="en-US" sz="1200" dirty="0"/>
          </a:p>
        </p:txBody>
      </p:sp>
      <p:pic>
        <p:nvPicPr>
          <p:cNvPr id="9" name="Image 1" descr="preencoded.png">    </p:cNvPr>
          <p:cNvPicPr>
            <a:picLocks noChangeAspect="1"/>
          </p:cNvPicPr>
          <p:nvPr/>
        </p:nvPicPr>
        <p:blipFill>
          <a:blip r:embed="rId2"/>
          <a:stretch>
            <a:fillRect/>
          </a:stretch>
        </p:blipFill>
        <p:spPr>
          <a:xfrm>
            <a:off x="1005840" y="2926080"/>
            <a:ext cx="219456" cy="219456"/>
          </a:xfrm>
          <a:prstGeom prst="rect">
            <a:avLst/>
          </a:prstGeom>
        </p:spPr>
      </p:pic>
      <p:sp>
        <p:nvSpPr>
          <p:cNvPr id="10" name="Text 6"/>
          <p:cNvSpPr/>
          <p:nvPr/>
        </p:nvSpPr>
        <p:spPr>
          <a:xfrm>
            <a:off x="1353312" y="2898648"/>
            <a:ext cx="4114800" cy="2926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Ratings (1–5)</a:t>
            </a:r>
            <a:endParaRPr lang="en-US" sz="1350" dirty="0"/>
          </a:p>
        </p:txBody>
      </p:sp>
      <p:pic>
        <p:nvPicPr>
          <p:cNvPr id="11" name="Image 2" descr="preencoded.png">    </p:cNvPr>
          <p:cNvPicPr>
            <a:picLocks noChangeAspect="1"/>
          </p:cNvPicPr>
          <p:nvPr/>
        </p:nvPicPr>
        <p:blipFill>
          <a:blip r:embed="rId3"/>
          <a:stretch>
            <a:fillRect/>
          </a:stretch>
        </p:blipFill>
        <p:spPr>
          <a:xfrm>
            <a:off x="1005840" y="3383280"/>
            <a:ext cx="219456" cy="219456"/>
          </a:xfrm>
          <a:prstGeom prst="rect">
            <a:avLst/>
          </a:prstGeom>
        </p:spPr>
      </p:pic>
      <p:sp>
        <p:nvSpPr>
          <p:cNvPr id="12" name="Text 7"/>
          <p:cNvSpPr/>
          <p:nvPr/>
        </p:nvSpPr>
        <p:spPr>
          <a:xfrm>
            <a:off x="1353312" y="3355848"/>
            <a:ext cx="4114800" cy="2926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Reviews / sentiment</a:t>
            </a:r>
            <a:endParaRPr lang="en-US" sz="1350" dirty="0"/>
          </a:p>
        </p:txBody>
      </p:sp>
      <p:pic>
        <p:nvPicPr>
          <p:cNvPr id="13" name="Image 3" descr="preencoded.png">    </p:cNvPr>
          <p:cNvPicPr>
            <a:picLocks noChangeAspect="1"/>
          </p:cNvPicPr>
          <p:nvPr/>
        </p:nvPicPr>
        <p:blipFill>
          <a:blip r:embed="rId4"/>
          <a:stretch>
            <a:fillRect/>
          </a:stretch>
        </p:blipFill>
        <p:spPr>
          <a:xfrm>
            <a:off x="1005840" y="3840480"/>
            <a:ext cx="219456" cy="219456"/>
          </a:xfrm>
          <a:prstGeom prst="rect">
            <a:avLst/>
          </a:prstGeom>
        </p:spPr>
      </p:pic>
      <p:sp>
        <p:nvSpPr>
          <p:cNvPr id="14" name="Text 8"/>
          <p:cNvSpPr/>
          <p:nvPr/>
        </p:nvSpPr>
        <p:spPr>
          <a:xfrm>
            <a:off x="1353312" y="3813048"/>
            <a:ext cx="4114800" cy="2926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Likes, wishlists</a:t>
            </a:r>
            <a:endParaRPr lang="en-US" sz="1350" dirty="0"/>
          </a:p>
        </p:txBody>
      </p:sp>
      <p:pic>
        <p:nvPicPr>
          <p:cNvPr id="15" name="Image 4" descr="preencoded.png">    </p:cNvPr>
          <p:cNvPicPr>
            <a:picLocks noChangeAspect="1"/>
          </p:cNvPicPr>
          <p:nvPr/>
        </p:nvPicPr>
        <p:blipFill>
          <a:blip r:embed="rId5"/>
          <a:stretch>
            <a:fillRect/>
          </a:stretch>
        </p:blipFill>
        <p:spPr>
          <a:xfrm>
            <a:off x="1005840" y="4297680"/>
            <a:ext cx="219456" cy="219456"/>
          </a:xfrm>
          <a:prstGeom prst="rect">
            <a:avLst/>
          </a:prstGeom>
        </p:spPr>
      </p:pic>
      <p:sp>
        <p:nvSpPr>
          <p:cNvPr id="16" name="Text 9"/>
          <p:cNvSpPr/>
          <p:nvPr/>
        </p:nvSpPr>
        <p:spPr>
          <a:xfrm>
            <a:off x="1353312" y="4270248"/>
            <a:ext cx="4114800" cy="2926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Stated preferences</a:t>
            </a:r>
            <a:endParaRPr lang="en-US" sz="1350" dirty="0"/>
          </a:p>
        </p:txBody>
      </p:sp>
      <p:sp>
        <p:nvSpPr>
          <p:cNvPr id="17" name="Shape 10"/>
          <p:cNvSpPr/>
          <p:nvPr/>
        </p:nvSpPr>
        <p:spPr>
          <a:xfrm>
            <a:off x="6263640" y="1691640"/>
            <a:ext cx="5120640" cy="3246120"/>
          </a:xfrm>
          <a:prstGeom prst="roundRect">
            <a:avLst>
              <a:gd name="adj" fmla="val 3944"/>
            </a:avLst>
          </a:prstGeom>
          <a:solidFill>
            <a:srgbClr val="F1F5F9"/>
          </a:solidFill>
          <a:ln/>
          <a:effectLst>
            <a:outerShdw sx="100000" sy="100000" kx="0" ky="0" algn="bl" rotWithShape="0" blurRad="127000" dist="50800" dir="5400000">
              <a:srgbClr val="8A93A6">
                <a:alpha val="13000"/>
              </a:srgbClr>
            </a:outerShdw>
          </a:effectLst>
        </p:spPr>
      </p:sp>
      <p:sp>
        <p:nvSpPr>
          <p:cNvPr id="18" name="Shape 11"/>
          <p:cNvSpPr/>
          <p:nvPr/>
        </p:nvSpPr>
        <p:spPr>
          <a:xfrm>
            <a:off x="6556248" y="1965960"/>
            <a:ext cx="603504" cy="603504"/>
          </a:xfrm>
          <a:prstGeom prst="ellipse">
            <a:avLst/>
          </a:prstGeom>
          <a:solidFill>
            <a:srgbClr val="F59E0B"/>
          </a:solidFill>
          <a:ln/>
          <a:effectLst>
            <a:outerShdw sx="100000" sy="100000" kx="0" ky="0" algn="bl" rotWithShape="0" blurRad="127000" dist="50800" dir="5400000">
              <a:srgbClr val="8A93A6">
                <a:alpha val="13000"/>
              </a:srgbClr>
            </a:outerShdw>
          </a:effectLst>
        </p:spPr>
      </p:sp>
      <p:pic>
        <p:nvPicPr>
          <p:cNvPr id="19" name="Image 5" descr="preencoded.png">    </p:cNvPr>
          <p:cNvPicPr>
            <a:picLocks noChangeAspect="1"/>
          </p:cNvPicPr>
          <p:nvPr/>
        </p:nvPicPr>
        <p:blipFill>
          <a:blip r:embed="rId6"/>
          <a:stretch>
            <a:fillRect/>
          </a:stretch>
        </p:blipFill>
        <p:spPr>
          <a:xfrm>
            <a:off x="6719194" y="2128906"/>
            <a:ext cx="277612" cy="277612"/>
          </a:xfrm>
          <a:prstGeom prst="rect">
            <a:avLst/>
          </a:prstGeom>
        </p:spPr>
      </p:pic>
      <p:sp>
        <p:nvSpPr>
          <p:cNvPr id="20" name="Text 12"/>
          <p:cNvSpPr/>
          <p:nvPr/>
        </p:nvSpPr>
        <p:spPr>
          <a:xfrm>
            <a:off x="7315200" y="1965960"/>
            <a:ext cx="3840480" cy="365760"/>
          </a:xfrm>
          <a:prstGeom prst="rect">
            <a:avLst/>
          </a:prstGeom>
          <a:noFill/>
          <a:ln/>
        </p:spPr>
        <p:txBody>
          <a:bodyPr wrap="square" lIns="0" tIns="0" rIns="0" bIns="0" rtlCol="0" anchor="ctr"/>
          <a:lstStyle/>
          <a:p>
            <a:pPr indent="0" marL="0">
              <a:buNone/>
            </a:pPr>
            <a:r>
              <a:rPr lang="en-US" sz="1800" b="1" dirty="0">
                <a:solidFill>
                  <a:srgbClr val="0F172A"/>
                </a:solidFill>
                <a:latin typeface="Arial" pitchFamily="34" charset="0"/>
                <a:ea typeface="Arial" pitchFamily="34" charset="-122"/>
                <a:cs typeface="Arial" pitchFamily="34" charset="-120"/>
              </a:rPr>
              <a:t>Implicit signals</a:t>
            </a:r>
            <a:endParaRPr lang="en-US" sz="1800" dirty="0"/>
          </a:p>
        </p:txBody>
      </p:sp>
      <p:sp>
        <p:nvSpPr>
          <p:cNvPr id="21" name="Text 13"/>
          <p:cNvSpPr/>
          <p:nvPr/>
        </p:nvSpPr>
        <p:spPr>
          <a:xfrm>
            <a:off x="7315200" y="2350008"/>
            <a:ext cx="3840480" cy="274320"/>
          </a:xfrm>
          <a:prstGeom prst="rect">
            <a:avLst/>
          </a:prstGeom>
          <a:noFill/>
          <a:ln/>
        </p:spPr>
        <p:txBody>
          <a:bodyPr wrap="square" lIns="0" tIns="0" rIns="0" bIns="0" rtlCol="0" anchor="ctr"/>
          <a:lstStyle/>
          <a:p>
            <a:pPr indent="0" marL="0">
              <a:buNone/>
            </a:pPr>
            <a:r>
              <a:rPr lang="en-US" sz="1200" i="1" dirty="0">
                <a:solidFill>
                  <a:srgbClr val="64748B"/>
                </a:solidFill>
                <a:latin typeface="Arial" pitchFamily="34" charset="0"/>
                <a:ea typeface="Arial" pitchFamily="34" charset="-122"/>
                <a:cs typeface="Arial" pitchFamily="34" charset="-120"/>
              </a:rPr>
              <a:t>We observe behavior</a:t>
            </a:r>
            <a:endParaRPr lang="en-US" sz="1200" dirty="0"/>
          </a:p>
        </p:txBody>
      </p:sp>
      <p:pic>
        <p:nvPicPr>
          <p:cNvPr id="22" name="Image 6" descr="preencoded.png">    </p:cNvPr>
          <p:cNvPicPr>
            <a:picLocks noChangeAspect="1"/>
          </p:cNvPicPr>
          <p:nvPr/>
        </p:nvPicPr>
        <p:blipFill>
          <a:blip r:embed="rId7"/>
          <a:stretch>
            <a:fillRect/>
          </a:stretch>
        </p:blipFill>
        <p:spPr>
          <a:xfrm>
            <a:off x="6629400" y="2926080"/>
            <a:ext cx="219456" cy="219456"/>
          </a:xfrm>
          <a:prstGeom prst="rect">
            <a:avLst/>
          </a:prstGeom>
        </p:spPr>
      </p:pic>
      <p:sp>
        <p:nvSpPr>
          <p:cNvPr id="23" name="Text 14"/>
          <p:cNvSpPr/>
          <p:nvPr/>
        </p:nvSpPr>
        <p:spPr>
          <a:xfrm>
            <a:off x="6976872" y="2898648"/>
            <a:ext cx="4114800" cy="2926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Clicks, impressions</a:t>
            </a:r>
            <a:endParaRPr lang="en-US" sz="1350" dirty="0"/>
          </a:p>
        </p:txBody>
      </p:sp>
      <p:pic>
        <p:nvPicPr>
          <p:cNvPr id="24" name="Image 7" descr="preencoded.png">    </p:cNvPr>
          <p:cNvPicPr>
            <a:picLocks noChangeAspect="1"/>
          </p:cNvPicPr>
          <p:nvPr/>
        </p:nvPicPr>
        <p:blipFill>
          <a:blip r:embed="rId8"/>
          <a:stretch>
            <a:fillRect/>
          </a:stretch>
        </p:blipFill>
        <p:spPr>
          <a:xfrm>
            <a:off x="6629400" y="3383280"/>
            <a:ext cx="219456" cy="219456"/>
          </a:xfrm>
          <a:prstGeom prst="rect">
            <a:avLst/>
          </a:prstGeom>
        </p:spPr>
      </p:pic>
      <p:sp>
        <p:nvSpPr>
          <p:cNvPr id="25" name="Text 15"/>
          <p:cNvSpPr/>
          <p:nvPr/>
        </p:nvSpPr>
        <p:spPr>
          <a:xfrm>
            <a:off x="6976872" y="3355848"/>
            <a:ext cx="4114800" cy="2926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Purchases, returns</a:t>
            </a:r>
            <a:endParaRPr lang="en-US" sz="1350" dirty="0"/>
          </a:p>
        </p:txBody>
      </p:sp>
      <p:pic>
        <p:nvPicPr>
          <p:cNvPr id="26" name="Image 8" descr="preencoded.png">    </p:cNvPr>
          <p:cNvPicPr>
            <a:picLocks noChangeAspect="1"/>
          </p:cNvPicPr>
          <p:nvPr/>
        </p:nvPicPr>
        <p:blipFill>
          <a:blip r:embed="rId9"/>
          <a:stretch>
            <a:fillRect/>
          </a:stretch>
        </p:blipFill>
        <p:spPr>
          <a:xfrm>
            <a:off x="6629400" y="3840480"/>
            <a:ext cx="219456" cy="219456"/>
          </a:xfrm>
          <a:prstGeom prst="rect">
            <a:avLst/>
          </a:prstGeom>
        </p:spPr>
      </p:pic>
      <p:sp>
        <p:nvSpPr>
          <p:cNvPr id="27" name="Text 16"/>
          <p:cNvSpPr/>
          <p:nvPr/>
        </p:nvSpPr>
        <p:spPr>
          <a:xfrm>
            <a:off x="6976872" y="3813048"/>
            <a:ext cx="4114800" cy="2926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Dwell time, scroll depth</a:t>
            </a:r>
            <a:endParaRPr lang="en-US" sz="1350" dirty="0"/>
          </a:p>
        </p:txBody>
      </p:sp>
      <p:pic>
        <p:nvPicPr>
          <p:cNvPr id="28" name="Image 9" descr="preencoded.png">    </p:cNvPr>
          <p:cNvPicPr>
            <a:picLocks noChangeAspect="1"/>
          </p:cNvPicPr>
          <p:nvPr/>
        </p:nvPicPr>
        <p:blipFill>
          <a:blip r:embed="rId10"/>
          <a:stretch>
            <a:fillRect/>
          </a:stretch>
        </p:blipFill>
        <p:spPr>
          <a:xfrm>
            <a:off x="6629400" y="4297680"/>
            <a:ext cx="219456" cy="219456"/>
          </a:xfrm>
          <a:prstGeom prst="rect">
            <a:avLst/>
          </a:prstGeom>
        </p:spPr>
      </p:pic>
      <p:sp>
        <p:nvSpPr>
          <p:cNvPr id="29" name="Text 17"/>
          <p:cNvSpPr/>
          <p:nvPr/>
        </p:nvSpPr>
        <p:spPr>
          <a:xfrm>
            <a:off x="6976872" y="4270248"/>
            <a:ext cx="4114800" cy="2926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Cart add / remove events</a:t>
            </a:r>
            <a:endParaRPr lang="en-US" sz="1350" dirty="0"/>
          </a:p>
        </p:txBody>
      </p:sp>
      <p:sp>
        <p:nvSpPr>
          <p:cNvPr id="30" name="Shape 18"/>
          <p:cNvSpPr/>
          <p:nvPr/>
        </p:nvSpPr>
        <p:spPr>
          <a:xfrm>
            <a:off x="640080" y="5138928"/>
            <a:ext cx="10927080" cy="713232"/>
          </a:xfrm>
          <a:prstGeom prst="roundRect">
            <a:avLst>
              <a:gd name="adj" fmla="val 15385"/>
            </a:avLst>
          </a:prstGeom>
          <a:solidFill>
            <a:srgbClr val="ECFEFF"/>
          </a:solidFill>
          <a:ln/>
          <a:effectLst>
            <a:outerShdw sx="100000" sy="100000" kx="0" ky="0" algn="bl" rotWithShape="0" blurRad="127000" dist="50800" dir="5400000">
              <a:srgbClr val="8A93A6">
                <a:alpha val="13000"/>
              </a:srgbClr>
            </a:outerShdw>
          </a:effectLst>
        </p:spPr>
      </p:sp>
      <p:sp>
        <p:nvSpPr>
          <p:cNvPr id="31" name="Shape 19"/>
          <p:cNvSpPr/>
          <p:nvPr/>
        </p:nvSpPr>
        <p:spPr>
          <a:xfrm>
            <a:off x="868680" y="5248656"/>
            <a:ext cx="493776" cy="493776"/>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32" name="Image 10" descr="preencoded.png">    </p:cNvPr>
          <p:cNvPicPr>
            <a:picLocks noChangeAspect="1"/>
          </p:cNvPicPr>
          <p:nvPr/>
        </p:nvPicPr>
        <p:blipFill>
          <a:blip r:embed="rId11"/>
          <a:stretch>
            <a:fillRect/>
          </a:stretch>
        </p:blipFill>
        <p:spPr>
          <a:xfrm>
            <a:off x="1002000" y="5381976"/>
            <a:ext cx="227137" cy="227137"/>
          </a:xfrm>
          <a:prstGeom prst="rect">
            <a:avLst/>
          </a:prstGeom>
        </p:spPr>
      </p:pic>
      <p:sp>
        <p:nvSpPr>
          <p:cNvPr id="33" name="Text 20"/>
          <p:cNvSpPr/>
          <p:nvPr/>
        </p:nvSpPr>
        <p:spPr>
          <a:xfrm>
            <a:off x="1554480" y="5138928"/>
            <a:ext cx="9875520" cy="713232"/>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Implicit feedback is abundant but biased (exposure, position). Model it as weighted positives, not absent negatives.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THE COLD-START PROBLEM</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When there's no history to learn from</a:t>
            </a:r>
            <a:endParaRPr lang="en-US" sz="2700" dirty="0"/>
          </a:p>
        </p:txBody>
      </p:sp>
      <p:sp>
        <p:nvSpPr>
          <p:cNvPr id="4" name="Shape 2"/>
          <p:cNvSpPr/>
          <p:nvPr/>
        </p:nvSpPr>
        <p:spPr>
          <a:xfrm>
            <a:off x="640080" y="1645920"/>
            <a:ext cx="5349240" cy="1783080"/>
          </a:xfrm>
          <a:prstGeom prst="roundRect">
            <a:avLst>
              <a:gd name="adj" fmla="val 6154"/>
            </a:avLst>
          </a:prstGeom>
          <a:solidFill>
            <a:srgbClr val="F1F5F9"/>
          </a:solidFill>
          <a:ln/>
          <a:effectLst>
            <a:outerShdw sx="100000" sy="100000" kx="0" ky="0" algn="bl" rotWithShape="0" blurRad="127000" dist="50800" dir="5400000">
              <a:srgbClr val="8A93A6">
                <a:alpha val="13000"/>
              </a:srgbClr>
            </a:outerShdw>
          </a:effectLst>
        </p:spPr>
      </p:sp>
      <p:sp>
        <p:nvSpPr>
          <p:cNvPr id="5" name="Shape 3"/>
          <p:cNvSpPr/>
          <p:nvPr/>
        </p:nvSpPr>
        <p:spPr>
          <a:xfrm>
            <a:off x="932688" y="1938528"/>
            <a:ext cx="676656" cy="676656"/>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115385" y="2121225"/>
            <a:ext cx="311262" cy="311262"/>
          </a:xfrm>
          <a:prstGeom prst="rect">
            <a:avLst/>
          </a:prstGeom>
        </p:spPr>
      </p:pic>
      <p:sp>
        <p:nvSpPr>
          <p:cNvPr id="7" name="Text 4"/>
          <p:cNvSpPr/>
          <p:nvPr/>
        </p:nvSpPr>
        <p:spPr>
          <a:xfrm>
            <a:off x="1828800" y="1956816"/>
            <a:ext cx="3977640" cy="36576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New user</a:t>
            </a:r>
            <a:endParaRPr lang="en-US" sz="1700" dirty="0"/>
          </a:p>
        </p:txBody>
      </p:sp>
      <p:sp>
        <p:nvSpPr>
          <p:cNvPr id="8" name="Text 5"/>
          <p:cNvSpPr/>
          <p:nvPr/>
        </p:nvSpPr>
        <p:spPr>
          <a:xfrm>
            <a:off x="1828800" y="2377440"/>
            <a:ext cx="3931920" cy="82296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No interaction vector → CF cannot place the user in latent space.</a:t>
            </a:r>
            <a:endParaRPr lang="en-US" sz="1300" dirty="0"/>
          </a:p>
        </p:txBody>
      </p:sp>
      <p:sp>
        <p:nvSpPr>
          <p:cNvPr id="9" name="Shape 6"/>
          <p:cNvSpPr/>
          <p:nvPr/>
        </p:nvSpPr>
        <p:spPr>
          <a:xfrm>
            <a:off x="6217920" y="1645920"/>
            <a:ext cx="5349240" cy="1783080"/>
          </a:xfrm>
          <a:prstGeom prst="roundRect">
            <a:avLst>
              <a:gd name="adj" fmla="val 6154"/>
            </a:avLst>
          </a:prstGeom>
          <a:solidFill>
            <a:srgbClr val="F1F5F9"/>
          </a:solidFill>
          <a:ln/>
          <a:effectLst>
            <a:outerShdw sx="100000" sy="100000" kx="0" ky="0" algn="bl" rotWithShape="0" blurRad="127000" dist="50800" dir="5400000">
              <a:srgbClr val="8A93A6">
                <a:alpha val="13000"/>
              </a:srgbClr>
            </a:outerShdw>
          </a:effectLst>
        </p:spPr>
      </p:sp>
      <p:sp>
        <p:nvSpPr>
          <p:cNvPr id="10" name="Shape 7"/>
          <p:cNvSpPr/>
          <p:nvPr/>
        </p:nvSpPr>
        <p:spPr>
          <a:xfrm>
            <a:off x="6510528" y="1938528"/>
            <a:ext cx="676656" cy="676656"/>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6693225" y="2121225"/>
            <a:ext cx="311262" cy="311262"/>
          </a:xfrm>
          <a:prstGeom prst="rect">
            <a:avLst/>
          </a:prstGeom>
        </p:spPr>
      </p:pic>
      <p:sp>
        <p:nvSpPr>
          <p:cNvPr id="12" name="Text 8"/>
          <p:cNvSpPr/>
          <p:nvPr/>
        </p:nvSpPr>
        <p:spPr>
          <a:xfrm>
            <a:off x="7406640" y="1956816"/>
            <a:ext cx="3977640" cy="365760"/>
          </a:xfrm>
          <a:prstGeom prst="rect">
            <a:avLst/>
          </a:prstGeom>
          <a:noFill/>
          <a:ln/>
        </p:spPr>
        <p:txBody>
          <a:bodyPr wrap="square" lIns="0" tIns="0" rIns="0" bIns="0" rtlCol="0" anchor="ctr"/>
          <a:lstStyle/>
          <a:p>
            <a:pPr indent="0" marL="0">
              <a:buNone/>
            </a:pPr>
            <a:r>
              <a:rPr lang="en-US" sz="1700" b="1" dirty="0">
                <a:solidFill>
                  <a:srgbClr val="0F172A"/>
                </a:solidFill>
                <a:latin typeface="Arial" pitchFamily="34" charset="0"/>
                <a:ea typeface="Arial" pitchFamily="34" charset="-122"/>
                <a:cs typeface="Arial" pitchFamily="34" charset="-120"/>
              </a:rPr>
              <a:t>New item</a:t>
            </a:r>
            <a:endParaRPr lang="en-US" sz="1700" dirty="0"/>
          </a:p>
        </p:txBody>
      </p:sp>
      <p:sp>
        <p:nvSpPr>
          <p:cNvPr id="13" name="Text 9"/>
          <p:cNvSpPr/>
          <p:nvPr/>
        </p:nvSpPr>
        <p:spPr>
          <a:xfrm>
            <a:off x="7406640" y="2377440"/>
            <a:ext cx="3931920" cy="82296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No interactions → item embedding is untrained and unreachable.</a:t>
            </a:r>
            <a:endParaRPr lang="en-US" sz="1300" dirty="0"/>
          </a:p>
        </p:txBody>
      </p:sp>
      <p:sp>
        <p:nvSpPr>
          <p:cNvPr id="14" name="Text 10"/>
          <p:cNvSpPr/>
          <p:nvPr/>
        </p:nvSpPr>
        <p:spPr>
          <a:xfrm>
            <a:off x="640080" y="3721608"/>
            <a:ext cx="1088136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Common workarounds</a:t>
            </a:r>
            <a:endParaRPr lang="en-US" sz="1600" dirty="0"/>
          </a:p>
        </p:txBody>
      </p:sp>
      <p:sp>
        <p:nvSpPr>
          <p:cNvPr id="15" name="Shape 11"/>
          <p:cNvSpPr/>
          <p:nvPr/>
        </p:nvSpPr>
        <p:spPr>
          <a:xfrm>
            <a:off x="640080" y="4178808"/>
            <a:ext cx="5349240" cy="749808"/>
          </a:xfrm>
          <a:prstGeom prst="roundRect">
            <a:avLst>
              <a:gd name="adj" fmla="val 12195"/>
            </a:avLst>
          </a:prstGeom>
          <a:solidFill>
            <a:srgbClr val="FFFFFF"/>
          </a:solidFill>
          <a:ln/>
          <a:effectLst>
            <a:outerShdw sx="100000" sy="100000" kx="0" ky="0" algn="bl" rotWithShape="0" blurRad="127000" dist="50800" dir="5400000">
              <a:srgbClr val="8A93A6">
                <a:alpha val="13000"/>
              </a:srgbClr>
            </a:outerShdw>
          </a:effectLst>
        </p:spPr>
      </p:sp>
      <p:sp>
        <p:nvSpPr>
          <p:cNvPr id="16" name="Shape 12"/>
          <p:cNvSpPr/>
          <p:nvPr/>
        </p:nvSpPr>
        <p:spPr>
          <a:xfrm>
            <a:off x="640080" y="4178808"/>
            <a:ext cx="5349240" cy="749808"/>
          </a:xfrm>
          <a:prstGeom prst="roundRect">
            <a:avLst>
              <a:gd name="adj" fmla="val 12195"/>
            </a:avLst>
          </a:prstGeom>
          <a:solidFill>
            <a:srgbClr val="FFFFFF">
              <a:alpha val="0"/>
            </a:srgbClr>
          </a:solidFill>
          <a:ln w="12700">
            <a:solidFill>
              <a:srgbClr val="DCE3EC"/>
            </a:solidFill>
            <a:prstDash val="solid"/>
          </a:ln>
        </p:spPr>
      </p:sp>
      <p:pic>
        <p:nvPicPr>
          <p:cNvPr id="17" name="Image 2" descr="preencoded.png">    </p:cNvPr>
          <p:cNvPicPr>
            <a:picLocks noChangeAspect="1"/>
          </p:cNvPicPr>
          <p:nvPr/>
        </p:nvPicPr>
        <p:blipFill>
          <a:blip r:embed="rId3"/>
          <a:stretch>
            <a:fillRect/>
          </a:stretch>
        </p:blipFill>
        <p:spPr>
          <a:xfrm>
            <a:off x="896112" y="4407408"/>
            <a:ext cx="292608" cy="292608"/>
          </a:xfrm>
          <a:prstGeom prst="rect">
            <a:avLst/>
          </a:prstGeom>
        </p:spPr>
      </p:pic>
      <p:sp>
        <p:nvSpPr>
          <p:cNvPr id="18" name="Text 13"/>
          <p:cNvSpPr/>
          <p:nvPr/>
        </p:nvSpPr>
        <p:spPr>
          <a:xfrm>
            <a:off x="1353312" y="4178808"/>
            <a:ext cx="4434840" cy="7498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Popularity / trending priors as fallback</a:t>
            </a:r>
            <a:endParaRPr lang="en-US" sz="1350" dirty="0"/>
          </a:p>
        </p:txBody>
      </p:sp>
      <p:sp>
        <p:nvSpPr>
          <p:cNvPr id="19" name="Shape 14"/>
          <p:cNvSpPr/>
          <p:nvPr/>
        </p:nvSpPr>
        <p:spPr>
          <a:xfrm>
            <a:off x="6217920" y="4178808"/>
            <a:ext cx="5349240" cy="749808"/>
          </a:xfrm>
          <a:prstGeom prst="roundRect">
            <a:avLst>
              <a:gd name="adj" fmla="val 12195"/>
            </a:avLst>
          </a:prstGeom>
          <a:solidFill>
            <a:srgbClr val="FFFFFF"/>
          </a:solidFill>
          <a:ln/>
          <a:effectLst>
            <a:outerShdw sx="100000" sy="100000" kx="0" ky="0" algn="bl" rotWithShape="0" blurRad="127000" dist="50800" dir="5400000">
              <a:srgbClr val="8A93A6">
                <a:alpha val="13000"/>
              </a:srgbClr>
            </a:outerShdw>
          </a:effectLst>
        </p:spPr>
      </p:sp>
      <p:sp>
        <p:nvSpPr>
          <p:cNvPr id="20" name="Shape 15"/>
          <p:cNvSpPr/>
          <p:nvPr/>
        </p:nvSpPr>
        <p:spPr>
          <a:xfrm>
            <a:off x="6217920" y="4178808"/>
            <a:ext cx="5349240" cy="749808"/>
          </a:xfrm>
          <a:prstGeom prst="roundRect">
            <a:avLst>
              <a:gd name="adj" fmla="val 12195"/>
            </a:avLst>
          </a:prstGeom>
          <a:solidFill>
            <a:srgbClr val="FFFFFF">
              <a:alpha val="0"/>
            </a:srgbClr>
          </a:solidFill>
          <a:ln w="12700">
            <a:solidFill>
              <a:srgbClr val="DCE3EC"/>
            </a:solidFill>
            <a:prstDash val="solid"/>
          </a:ln>
        </p:spPr>
      </p:sp>
      <p:pic>
        <p:nvPicPr>
          <p:cNvPr id="21" name="Image 3" descr="preencoded.png">    </p:cNvPr>
          <p:cNvPicPr>
            <a:picLocks noChangeAspect="1"/>
          </p:cNvPicPr>
          <p:nvPr/>
        </p:nvPicPr>
        <p:blipFill>
          <a:blip r:embed="rId4"/>
          <a:stretch>
            <a:fillRect/>
          </a:stretch>
        </p:blipFill>
        <p:spPr>
          <a:xfrm>
            <a:off x="6473952" y="4407408"/>
            <a:ext cx="292608" cy="292608"/>
          </a:xfrm>
          <a:prstGeom prst="rect">
            <a:avLst/>
          </a:prstGeom>
        </p:spPr>
      </p:pic>
      <p:sp>
        <p:nvSpPr>
          <p:cNvPr id="22" name="Text 16"/>
          <p:cNvSpPr/>
          <p:nvPr/>
        </p:nvSpPr>
        <p:spPr>
          <a:xfrm>
            <a:off x="6931152" y="4178808"/>
            <a:ext cx="4434840" cy="7498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Onboarding to seed explicit preferences</a:t>
            </a:r>
            <a:endParaRPr lang="en-US" sz="1350" dirty="0"/>
          </a:p>
        </p:txBody>
      </p:sp>
      <p:sp>
        <p:nvSpPr>
          <p:cNvPr id="23" name="Shape 17"/>
          <p:cNvSpPr/>
          <p:nvPr/>
        </p:nvSpPr>
        <p:spPr>
          <a:xfrm>
            <a:off x="640080" y="5111496"/>
            <a:ext cx="5349240" cy="749808"/>
          </a:xfrm>
          <a:prstGeom prst="roundRect">
            <a:avLst>
              <a:gd name="adj" fmla="val 12195"/>
            </a:avLst>
          </a:prstGeom>
          <a:solidFill>
            <a:srgbClr val="FFFFFF"/>
          </a:solidFill>
          <a:ln/>
          <a:effectLst>
            <a:outerShdw sx="100000" sy="100000" kx="0" ky="0" algn="bl" rotWithShape="0" blurRad="127000" dist="50800" dir="5400000">
              <a:srgbClr val="8A93A6">
                <a:alpha val="13000"/>
              </a:srgbClr>
            </a:outerShdw>
          </a:effectLst>
        </p:spPr>
      </p:sp>
      <p:sp>
        <p:nvSpPr>
          <p:cNvPr id="24" name="Shape 18"/>
          <p:cNvSpPr/>
          <p:nvPr/>
        </p:nvSpPr>
        <p:spPr>
          <a:xfrm>
            <a:off x="640080" y="5111496"/>
            <a:ext cx="5349240" cy="749808"/>
          </a:xfrm>
          <a:prstGeom prst="roundRect">
            <a:avLst>
              <a:gd name="adj" fmla="val 12195"/>
            </a:avLst>
          </a:prstGeom>
          <a:solidFill>
            <a:srgbClr val="FFFFFF">
              <a:alpha val="0"/>
            </a:srgbClr>
          </a:solidFill>
          <a:ln w="12700">
            <a:solidFill>
              <a:srgbClr val="DCE3EC"/>
            </a:solidFill>
            <a:prstDash val="solid"/>
          </a:ln>
        </p:spPr>
      </p:sp>
      <p:pic>
        <p:nvPicPr>
          <p:cNvPr id="25" name="Image 4" descr="preencoded.png">    </p:cNvPr>
          <p:cNvPicPr>
            <a:picLocks noChangeAspect="1"/>
          </p:cNvPicPr>
          <p:nvPr/>
        </p:nvPicPr>
        <p:blipFill>
          <a:blip r:embed="rId5"/>
          <a:stretch>
            <a:fillRect/>
          </a:stretch>
        </p:blipFill>
        <p:spPr>
          <a:xfrm>
            <a:off x="896112" y="5340096"/>
            <a:ext cx="292608" cy="292608"/>
          </a:xfrm>
          <a:prstGeom prst="rect">
            <a:avLst/>
          </a:prstGeom>
        </p:spPr>
      </p:pic>
      <p:sp>
        <p:nvSpPr>
          <p:cNvPr id="26" name="Text 19"/>
          <p:cNvSpPr/>
          <p:nvPr/>
        </p:nvSpPr>
        <p:spPr>
          <a:xfrm>
            <a:off x="1353312" y="5111496"/>
            <a:ext cx="4434840" cy="7498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Content features to bootstrap item vectors</a:t>
            </a:r>
            <a:endParaRPr lang="en-US" sz="1350" dirty="0"/>
          </a:p>
        </p:txBody>
      </p:sp>
      <p:sp>
        <p:nvSpPr>
          <p:cNvPr id="27" name="Shape 20"/>
          <p:cNvSpPr/>
          <p:nvPr/>
        </p:nvSpPr>
        <p:spPr>
          <a:xfrm>
            <a:off x="6217920" y="5111496"/>
            <a:ext cx="5349240" cy="749808"/>
          </a:xfrm>
          <a:prstGeom prst="roundRect">
            <a:avLst>
              <a:gd name="adj" fmla="val 12195"/>
            </a:avLst>
          </a:prstGeom>
          <a:solidFill>
            <a:srgbClr val="FFFFFF"/>
          </a:solidFill>
          <a:ln/>
          <a:effectLst>
            <a:outerShdw sx="100000" sy="100000" kx="0" ky="0" algn="bl" rotWithShape="0" blurRad="127000" dist="50800" dir="5400000">
              <a:srgbClr val="8A93A6">
                <a:alpha val="13000"/>
              </a:srgbClr>
            </a:outerShdw>
          </a:effectLst>
        </p:spPr>
      </p:sp>
      <p:sp>
        <p:nvSpPr>
          <p:cNvPr id="28" name="Shape 21"/>
          <p:cNvSpPr/>
          <p:nvPr/>
        </p:nvSpPr>
        <p:spPr>
          <a:xfrm>
            <a:off x="6217920" y="5111496"/>
            <a:ext cx="5349240" cy="749808"/>
          </a:xfrm>
          <a:prstGeom prst="roundRect">
            <a:avLst>
              <a:gd name="adj" fmla="val 12195"/>
            </a:avLst>
          </a:prstGeom>
          <a:solidFill>
            <a:srgbClr val="FFFFFF">
              <a:alpha val="0"/>
            </a:srgbClr>
          </a:solidFill>
          <a:ln w="12700">
            <a:solidFill>
              <a:srgbClr val="DCE3EC"/>
            </a:solidFill>
            <a:prstDash val="solid"/>
          </a:ln>
        </p:spPr>
      </p:sp>
      <p:pic>
        <p:nvPicPr>
          <p:cNvPr id="29" name="Image 5" descr="preencoded.png">    </p:cNvPr>
          <p:cNvPicPr>
            <a:picLocks noChangeAspect="1"/>
          </p:cNvPicPr>
          <p:nvPr/>
        </p:nvPicPr>
        <p:blipFill>
          <a:blip r:embed="rId6"/>
          <a:stretch>
            <a:fillRect/>
          </a:stretch>
        </p:blipFill>
        <p:spPr>
          <a:xfrm>
            <a:off x="6473952" y="5340096"/>
            <a:ext cx="292608" cy="292608"/>
          </a:xfrm>
          <a:prstGeom prst="rect">
            <a:avLst/>
          </a:prstGeom>
        </p:spPr>
      </p:pic>
      <p:sp>
        <p:nvSpPr>
          <p:cNvPr id="30" name="Text 22"/>
          <p:cNvSpPr/>
          <p:nvPr/>
        </p:nvSpPr>
        <p:spPr>
          <a:xfrm>
            <a:off x="6931152" y="5111496"/>
            <a:ext cx="4434840" cy="749808"/>
          </a:xfrm>
          <a:prstGeom prst="rect">
            <a:avLst/>
          </a:prstGeom>
          <a:noFill/>
          <a:ln/>
        </p:spPr>
        <p:txBody>
          <a:bodyPr wrap="square" lIns="0" tIns="0" rIns="0" bIns="0" rtlCol="0" anchor="ctr"/>
          <a:lstStyle/>
          <a:p>
            <a:pPr indent="0" marL="0">
              <a:buNone/>
            </a:pPr>
            <a:r>
              <a:rPr lang="en-US" sz="1350" dirty="0">
                <a:solidFill>
                  <a:srgbClr val="0F172A"/>
                </a:solidFill>
                <a:latin typeface="Arial" pitchFamily="34" charset="0"/>
                <a:ea typeface="Arial" pitchFamily="34" charset="-122"/>
                <a:cs typeface="Arial" pitchFamily="34" charset="-120"/>
              </a:rPr>
              <a:t>Contextual &amp; exploration (bandit) strategies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HOW WE MEASURE QUALITY</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Test offline to shortlist, test online to decide</a:t>
            </a:r>
            <a:endParaRPr lang="en-US" sz="2700" dirty="0"/>
          </a:p>
        </p:txBody>
      </p:sp>
      <p:sp>
        <p:nvSpPr>
          <p:cNvPr id="4" name="Shape 2"/>
          <p:cNvSpPr/>
          <p:nvPr/>
        </p:nvSpPr>
        <p:spPr>
          <a:xfrm>
            <a:off x="640080" y="1645920"/>
            <a:ext cx="5486400" cy="1508760"/>
          </a:xfrm>
          <a:prstGeom prst="roundRect">
            <a:avLst>
              <a:gd name="adj" fmla="val 7273"/>
            </a:avLst>
          </a:prstGeom>
          <a:solidFill>
            <a:srgbClr val="F1F5F9"/>
          </a:solidFill>
          <a:ln/>
          <a:effectLst>
            <a:outerShdw sx="100000" sy="100000" kx="0" ky="0" algn="bl" rotWithShape="0" blurRad="127000" dist="50800" dir="5400000">
              <a:srgbClr val="8A93A6">
                <a:alpha val="13000"/>
              </a:srgbClr>
            </a:outerShdw>
          </a:effectLst>
        </p:spPr>
      </p:sp>
      <p:sp>
        <p:nvSpPr>
          <p:cNvPr id="5" name="Shape 3"/>
          <p:cNvSpPr/>
          <p:nvPr/>
        </p:nvSpPr>
        <p:spPr>
          <a:xfrm>
            <a:off x="896112" y="1920240"/>
            <a:ext cx="548640" cy="548640"/>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044245" y="2068373"/>
            <a:ext cx="252374" cy="252374"/>
          </a:xfrm>
          <a:prstGeom prst="rect">
            <a:avLst/>
          </a:prstGeom>
        </p:spPr>
      </p:pic>
      <p:sp>
        <p:nvSpPr>
          <p:cNvPr id="7" name="Text 4"/>
          <p:cNvSpPr/>
          <p:nvPr/>
        </p:nvSpPr>
        <p:spPr>
          <a:xfrm>
            <a:off x="1600200" y="1883664"/>
            <a:ext cx="374904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Offline (proxy)</a:t>
            </a:r>
            <a:endParaRPr lang="en-US" sz="1600" dirty="0"/>
          </a:p>
        </p:txBody>
      </p:sp>
      <p:sp>
        <p:nvSpPr>
          <p:cNvPr id="8" name="Text 5"/>
          <p:cNvSpPr/>
          <p:nvPr/>
        </p:nvSpPr>
        <p:spPr>
          <a:xfrm>
            <a:off x="960120" y="2322576"/>
            <a:ext cx="4251960" cy="777240"/>
          </a:xfrm>
          <a:prstGeom prst="rect">
            <a:avLst/>
          </a:prstGeom>
          <a:noFill/>
          <a:ln/>
        </p:spPr>
        <p:txBody>
          <a:bodyPr wrap="square" lIns="0" tIns="0" rIns="0" bIns="0" rtlCol="0" anchor="ctr"/>
          <a:lstStyle/>
          <a:p>
            <a:pPr marL="177800" indent="-177800">
              <a:spcAft>
                <a:spcPts val="400"/>
              </a:spcAft>
              <a:buSzPct val="100000"/>
              <a:buChar char="•"/>
            </a:pPr>
            <a:r>
              <a:rPr lang="en-US" sz="1250" dirty="0">
                <a:solidFill>
                  <a:srgbClr val="64748B"/>
                </a:solidFill>
                <a:latin typeface="Arial" pitchFamily="34" charset="0"/>
                <a:ea typeface="Arial" pitchFamily="34" charset="-122"/>
                <a:cs typeface="Arial" pitchFamily="34" charset="-120"/>
              </a:rPr>
              <a:t>Precision@k, Recall@k, NDCG, MAP</a:t>
            </a:r>
            <a:endParaRPr lang="en-US" sz="1250" dirty="0"/>
          </a:p>
          <a:p>
            <a:pPr marL="177800" indent="-177800">
              <a:spcAft>
                <a:spcPts val="400"/>
              </a:spcAft>
              <a:buSzPct val="100000"/>
              <a:buChar char="•"/>
            </a:pPr>
            <a:r>
              <a:rPr lang="en-US" sz="1250" dirty="0">
                <a:solidFill>
                  <a:srgbClr val="64748B"/>
                </a:solidFill>
                <a:latin typeface="Arial" pitchFamily="34" charset="0"/>
                <a:ea typeface="Arial" pitchFamily="34" charset="-122"/>
                <a:cs typeface="Arial" pitchFamily="34" charset="-120"/>
              </a:rPr>
              <a:t>Cheap, fast, but only a proxy for impact</a:t>
            </a:r>
            <a:endParaRPr lang="en-US" sz="1250" dirty="0"/>
          </a:p>
        </p:txBody>
      </p:sp>
      <p:sp>
        <p:nvSpPr>
          <p:cNvPr id="9" name="Shape 6"/>
          <p:cNvSpPr/>
          <p:nvPr/>
        </p:nvSpPr>
        <p:spPr>
          <a:xfrm>
            <a:off x="640080" y="3337560"/>
            <a:ext cx="5486400" cy="1508760"/>
          </a:xfrm>
          <a:prstGeom prst="roundRect">
            <a:avLst>
              <a:gd name="adj" fmla="val 7273"/>
            </a:avLst>
          </a:prstGeom>
          <a:solidFill>
            <a:srgbClr val="F1F5F9"/>
          </a:solidFill>
          <a:ln/>
          <a:effectLst>
            <a:outerShdw sx="100000" sy="100000" kx="0" ky="0" algn="bl" rotWithShape="0" blurRad="127000" dist="50800" dir="5400000">
              <a:srgbClr val="8A93A6">
                <a:alpha val="13000"/>
              </a:srgbClr>
            </a:outerShdw>
          </a:effectLst>
        </p:spPr>
      </p:sp>
      <p:sp>
        <p:nvSpPr>
          <p:cNvPr id="10" name="Shape 7"/>
          <p:cNvSpPr/>
          <p:nvPr/>
        </p:nvSpPr>
        <p:spPr>
          <a:xfrm>
            <a:off x="896112" y="3611880"/>
            <a:ext cx="548640" cy="548640"/>
          </a:xfrm>
          <a:prstGeom prst="ellipse">
            <a:avLst/>
          </a:prstGeom>
          <a:solidFill>
            <a:srgbClr val="F59E0B"/>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1044245" y="3760013"/>
            <a:ext cx="252374" cy="252374"/>
          </a:xfrm>
          <a:prstGeom prst="rect">
            <a:avLst/>
          </a:prstGeom>
        </p:spPr>
      </p:pic>
      <p:sp>
        <p:nvSpPr>
          <p:cNvPr id="12" name="Text 8"/>
          <p:cNvSpPr/>
          <p:nvPr/>
        </p:nvSpPr>
        <p:spPr>
          <a:xfrm>
            <a:off x="1600200" y="3575304"/>
            <a:ext cx="374904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Online (ground truth)</a:t>
            </a:r>
            <a:endParaRPr lang="en-US" sz="1600" dirty="0"/>
          </a:p>
        </p:txBody>
      </p:sp>
      <p:sp>
        <p:nvSpPr>
          <p:cNvPr id="13" name="Text 9"/>
          <p:cNvSpPr/>
          <p:nvPr/>
        </p:nvSpPr>
        <p:spPr>
          <a:xfrm>
            <a:off x="960120" y="4014216"/>
            <a:ext cx="4251960" cy="777240"/>
          </a:xfrm>
          <a:prstGeom prst="rect">
            <a:avLst/>
          </a:prstGeom>
          <a:noFill/>
          <a:ln/>
        </p:spPr>
        <p:txBody>
          <a:bodyPr wrap="square" lIns="0" tIns="0" rIns="0" bIns="0" rtlCol="0" anchor="ctr"/>
          <a:lstStyle/>
          <a:p>
            <a:pPr marL="177800" indent="-177800">
              <a:spcAft>
                <a:spcPts val="400"/>
              </a:spcAft>
              <a:buSzPct val="100000"/>
              <a:buChar char="•"/>
            </a:pPr>
            <a:r>
              <a:rPr lang="en-US" sz="1250" dirty="0">
                <a:solidFill>
                  <a:srgbClr val="64748B"/>
                </a:solidFill>
                <a:latin typeface="Arial" pitchFamily="34" charset="0"/>
                <a:ea typeface="Arial" pitchFamily="34" charset="-122"/>
                <a:cs typeface="Arial" pitchFamily="34" charset="-120"/>
              </a:rPr>
              <a:t>CTR, CVR, revenue/AOV, dwell</a:t>
            </a:r>
            <a:endParaRPr lang="en-US" sz="1250" dirty="0"/>
          </a:p>
          <a:p>
            <a:pPr marL="177800" indent="-177800">
              <a:spcAft>
                <a:spcPts val="400"/>
              </a:spcAft>
              <a:buSzPct val="100000"/>
              <a:buChar char="•"/>
            </a:pPr>
            <a:r>
              <a:rPr lang="en-US" sz="1250" dirty="0">
                <a:solidFill>
                  <a:srgbClr val="64748B"/>
                </a:solidFill>
                <a:latin typeface="Arial" pitchFamily="34" charset="0"/>
                <a:ea typeface="Arial" pitchFamily="34" charset="-122"/>
                <a:cs typeface="Arial" pitchFamily="34" charset="-120"/>
              </a:rPr>
              <a:t>Interleaving &amp; A/B tests on live traffic</a:t>
            </a:r>
            <a:endParaRPr lang="en-US" sz="1250" dirty="0"/>
          </a:p>
        </p:txBody>
      </p:sp>
      <p:sp>
        <p:nvSpPr>
          <p:cNvPr id="14" name="Shape 10"/>
          <p:cNvSpPr/>
          <p:nvPr/>
        </p:nvSpPr>
        <p:spPr>
          <a:xfrm>
            <a:off x="6446520" y="1645920"/>
            <a:ext cx="5120640" cy="3200400"/>
          </a:xfrm>
          <a:prstGeom prst="roundRect">
            <a:avLst>
              <a:gd name="adj" fmla="val 3429"/>
            </a:avLst>
          </a:prstGeom>
          <a:solidFill>
            <a:srgbClr val="FFFFFF"/>
          </a:solidFill>
          <a:ln/>
          <a:effectLst>
            <a:outerShdw sx="100000" sy="100000" kx="0" ky="0" algn="bl" rotWithShape="0" blurRad="127000" dist="50800" dir="5400000">
              <a:srgbClr val="8A93A6">
                <a:alpha val="13000"/>
              </a:srgbClr>
            </a:outerShdw>
          </a:effectLst>
        </p:spPr>
      </p:sp>
      <p:sp>
        <p:nvSpPr>
          <p:cNvPr id="15" name="Shape 11"/>
          <p:cNvSpPr/>
          <p:nvPr/>
        </p:nvSpPr>
        <p:spPr>
          <a:xfrm>
            <a:off x="6446520" y="1645920"/>
            <a:ext cx="5120640" cy="3200400"/>
          </a:xfrm>
          <a:prstGeom prst="roundRect">
            <a:avLst>
              <a:gd name="adj" fmla="val 3429"/>
            </a:avLst>
          </a:prstGeom>
          <a:solidFill>
            <a:srgbClr val="FFFFFF">
              <a:alpha val="0"/>
            </a:srgbClr>
          </a:solidFill>
          <a:ln w="12700">
            <a:solidFill>
              <a:srgbClr val="DCE3EC"/>
            </a:solidFill>
            <a:prstDash val="solid"/>
          </a:ln>
        </p:spPr>
      </p:sp>
      <p:sp>
        <p:nvSpPr>
          <p:cNvPr id="16" name="Text 12"/>
          <p:cNvSpPr/>
          <p:nvPr/>
        </p:nvSpPr>
        <p:spPr>
          <a:xfrm>
            <a:off x="6766560" y="1874520"/>
            <a:ext cx="4480560" cy="320040"/>
          </a:xfrm>
          <a:prstGeom prst="rect">
            <a:avLst/>
          </a:prstGeom>
          <a:noFill/>
          <a:ln/>
        </p:spPr>
        <p:txBody>
          <a:bodyPr wrap="square" lIns="0" tIns="0" rIns="0" bIns="0" rtlCol="0" anchor="ctr"/>
          <a:lstStyle/>
          <a:p>
            <a:pPr indent="0" marL="0">
              <a:buNone/>
            </a:pPr>
            <a:r>
              <a:rPr lang="en-US" sz="1350" b="1" dirty="0">
                <a:solidFill>
                  <a:srgbClr val="0F172A"/>
                </a:solidFill>
                <a:latin typeface="Arial" pitchFamily="34" charset="0"/>
                <a:ea typeface="Arial" pitchFamily="34" charset="-122"/>
                <a:cs typeface="Arial" pitchFamily="34" charset="-120"/>
              </a:rPr>
              <a:t>A/B test — CVR (%) with significance</a:t>
            </a:r>
            <a:endParaRPr lang="en-US" sz="1350" dirty="0"/>
          </a:p>
        </p:txBody>
      </p:sp>
      <p:graphicFrame>
        <p:nvGraphicFramePr>
          <p:cNvPr id="17" name="Chart 0" descr=""/>
          <p:cNvGraphicFramePr/>
          <p:nvPr/>
        </p:nvGraphicFramePr>
        <p:xfrm>
          <a:off x="6675120" y="2286000"/>
          <a:ext cx="4663440" cy="2423160"/>
        </p:xfrm>
        <a:graphic xmlns:a="http://schemas.openxmlformats.org/drawingml/2006/main">
          <a:graphicData uri="http://schemas.openxmlformats.org/drawingml/2006/chart">
            <c:chart xmlns:c="http://schemas.openxmlformats.org/drawingml/2006/chart" r:id="rId3"/>
          </a:graphicData>
        </a:graphic>
      </p:graphicFrame>
      <p:sp>
        <p:nvSpPr>
          <p:cNvPr id="18" name="Shape 13"/>
          <p:cNvSpPr/>
          <p:nvPr/>
        </p:nvSpPr>
        <p:spPr>
          <a:xfrm>
            <a:off x="640080" y="4937760"/>
            <a:ext cx="10927080" cy="658368"/>
          </a:xfrm>
          <a:prstGeom prst="roundRect">
            <a:avLst>
              <a:gd name="adj" fmla="val 16667"/>
            </a:avLst>
          </a:prstGeom>
          <a:solidFill>
            <a:srgbClr val="ECFEFF"/>
          </a:solidFill>
          <a:ln/>
          <a:effectLst>
            <a:outerShdw sx="100000" sy="100000" kx="0" ky="0" algn="bl" rotWithShape="0" blurRad="127000" dist="50800" dir="5400000">
              <a:srgbClr val="8A93A6">
                <a:alpha val="13000"/>
              </a:srgbClr>
            </a:outerShdw>
          </a:effectLst>
        </p:spPr>
      </p:sp>
      <p:sp>
        <p:nvSpPr>
          <p:cNvPr id="19" name="Shape 14"/>
          <p:cNvSpPr/>
          <p:nvPr/>
        </p:nvSpPr>
        <p:spPr>
          <a:xfrm>
            <a:off x="868680" y="5029200"/>
            <a:ext cx="475488" cy="475488"/>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20" name="Image 2" descr="preencoded.png">    </p:cNvPr>
          <p:cNvPicPr>
            <a:picLocks noChangeAspect="1"/>
          </p:cNvPicPr>
          <p:nvPr/>
        </p:nvPicPr>
        <p:blipFill>
          <a:blip r:embed="rId4"/>
          <a:stretch>
            <a:fillRect/>
          </a:stretch>
        </p:blipFill>
        <p:spPr>
          <a:xfrm>
            <a:off x="997062" y="5157582"/>
            <a:ext cx="218724" cy="218724"/>
          </a:xfrm>
          <a:prstGeom prst="rect">
            <a:avLst/>
          </a:prstGeom>
        </p:spPr>
      </p:pic>
      <p:sp>
        <p:nvSpPr>
          <p:cNvPr id="21" name="Text 15"/>
          <p:cNvSpPr/>
          <p:nvPr/>
        </p:nvSpPr>
        <p:spPr>
          <a:xfrm>
            <a:off x="1508760" y="4937760"/>
            <a:ext cx="9966960" cy="658368"/>
          </a:xfrm>
          <a:prstGeom prst="rect">
            <a:avLst/>
          </a:prstGeom>
          <a:noFill/>
          <a:ln/>
        </p:spPr>
        <p:txBody>
          <a:bodyPr wrap="square" lIns="0" tIns="0" rIns="0" bIns="0" rtlCol="0" anchor="ctr"/>
          <a:lstStyle/>
          <a:p>
            <a:pPr indent="0" marL="0">
              <a:buNone/>
            </a:pPr>
            <a:r>
              <a:rPr lang="en-US" sz="1250" dirty="0">
                <a:solidFill>
                  <a:srgbClr val="0F172A"/>
                </a:solidFill>
                <a:latin typeface="Arial" pitchFamily="34" charset="0"/>
                <a:ea typeface="Arial" pitchFamily="34" charset="-122"/>
                <a:cs typeface="Arial" pitchFamily="34" charset="-120"/>
              </a:rPr>
              <a:t>Offline gates candidates; online A/B (with stat-sig) is the decision criterion. Beware offline/online gaps.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A REAL-WORLD ARCHITECTURE</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Retrieve broadly, rank precisely, then apply the rules</a:t>
            </a:r>
            <a:endParaRPr lang="en-US" sz="2700" dirty="0"/>
          </a:p>
        </p:txBody>
      </p:sp>
      <p:sp>
        <p:nvSpPr>
          <p:cNvPr id="4" name="Shape 2"/>
          <p:cNvSpPr/>
          <p:nvPr/>
        </p:nvSpPr>
        <p:spPr>
          <a:xfrm>
            <a:off x="640080" y="1691640"/>
            <a:ext cx="3310128" cy="2697480"/>
          </a:xfrm>
          <a:prstGeom prst="roundRect">
            <a:avLst>
              <a:gd name="adj" fmla="val 4068"/>
            </a:avLst>
          </a:prstGeom>
          <a:solidFill>
            <a:srgbClr val="F1F5F9"/>
          </a:solidFill>
          <a:ln/>
          <a:effectLst>
            <a:outerShdw sx="100000" sy="100000" kx="0" ky="0" algn="bl" rotWithShape="0" blurRad="127000" dist="50800" dir="5400000">
              <a:srgbClr val="8A93A6">
                <a:alpha val="13000"/>
              </a:srgbClr>
            </a:outerShdw>
          </a:effectLst>
        </p:spPr>
      </p:sp>
      <p:sp>
        <p:nvSpPr>
          <p:cNvPr id="5" name="Shape 3"/>
          <p:cNvSpPr/>
          <p:nvPr/>
        </p:nvSpPr>
        <p:spPr>
          <a:xfrm>
            <a:off x="1929384" y="1965960"/>
            <a:ext cx="731520" cy="731520"/>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2126894" y="2163470"/>
            <a:ext cx="336499" cy="336499"/>
          </a:xfrm>
          <a:prstGeom prst="rect">
            <a:avLst/>
          </a:prstGeom>
        </p:spPr>
      </p:pic>
      <p:sp>
        <p:nvSpPr>
          <p:cNvPr id="7" name="Text 4"/>
          <p:cNvSpPr/>
          <p:nvPr/>
        </p:nvSpPr>
        <p:spPr>
          <a:xfrm>
            <a:off x="822960" y="2752344"/>
            <a:ext cx="2944368" cy="228600"/>
          </a:xfrm>
          <a:prstGeom prst="rect">
            <a:avLst/>
          </a:prstGeom>
          <a:noFill/>
          <a:ln/>
        </p:spPr>
        <p:txBody>
          <a:bodyPr wrap="square" lIns="0" tIns="0" rIns="0" bIns="0" rtlCol="0" anchor="ctr"/>
          <a:lstStyle/>
          <a:p>
            <a:pPr algn="ctr" indent="0" marL="0">
              <a:buNone/>
            </a:pPr>
            <a:r>
              <a:rPr lang="en-US" sz="1050" b="1" spc="200" kern="0" dirty="0">
                <a:solidFill>
                  <a:srgbClr val="64748B"/>
                </a:solidFill>
                <a:latin typeface="Arial" pitchFamily="34" charset="0"/>
                <a:ea typeface="Arial" pitchFamily="34" charset="-122"/>
                <a:cs typeface="Arial" pitchFamily="34" charset="-120"/>
              </a:rPr>
              <a:t>STEP 1</a:t>
            </a:r>
            <a:endParaRPr lang="en-US" sz="1050" dirty="0"/>
          </a:p>
        </p:txBody>
      </p:sp>
      <p:sp>
        <p:nvSpPr>
          <p:cNvPr id="8" name="Text 5"/>
          <p:cNvSpPr/>
          <p:nvPr/>
        </p:nvSpPr>
        <p:spPr>
          <a:xfrm>
            <a:off x="822960" y="2971800"/>
            <a:ext cx="2944368" cy="365760"/>
          </a:xfrm>
          <a:prstGeom prst="rect">
            <a:avLst/>
          </a:prstGeom>
          <a:noFill/>
          <a:ln/>
        </p:spPr>
        <p:txBody>
          <a:bodyPr wrap="square" lIns="0" tIns="0" rIns="0" bIns="0" rtlCol="0" anchor="ctr"/>
          <a:lstStyle/>
          <a:p>
            <a:pPr algn="ctr" indent="0" marL="0">
              <a:buNone/>
            </a:pPr>
            <a:r>
              <a:rPr lang="en-US" sz="1550" b="1" dirty="0">
                <a:solidFill>
                  <a:srgbClr val="0F172A"/>
                </a:solidFill>
                <a:latin typeface="Arial" pitchFamily="34" charset="0"/>
                <a:ea typeface="Arial" pitchFamily="34" charset="-122"/>
                <a:cs typeface="Arial" pitchFamily="34" charset="-120"/>
              </a:rPr>
              <a:t>Candidate generation</a:t>
            </a:r>
            <a:endParaRPr lang="en-US" sz="1550" dirty="0"/>
          </a:p>
        </p:txBody>
      </p:sp>
      <p:sp>
        <p:nvSpPr>
          <p:cNvPr id="9" name="Text 6"/>
          <p:cNvSpPr/>
          <p:nvPr/>
        </p:nvSpPr>
        <p:spPr>
          <a:xfrm>
            <a:off x="877824" y="3355848"/>
            <a:ext cx="2834640" cy="64008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ANN retrieval over embeddings; high recall, cheap.</a:t>
            </a:r>
            <a:endParaRPr lang="en-US" sz="1200" dirty="0"/>
          </a:p>
        </p:txBody>
      </p:sp>
      <p:sp>
        <p:nvSpPr>
          <p:cNvPr id="10" name="Shape 7"/>
          <p:cNvSpPr/>
          <p:nvPr/>
        </p:nvSpPr>
        <p:spPr>
          <a:xfrm>
            <a:off x="1051560" y="3931920"/>
            <a:ext cx="2487168" cy="329184"/>
          </a:xfrm>
          <a:prstGeom prst="roundRect">
            <a:avLst>
              <a:gd name="adj" fmla="val 50000"/>
            </a:avLst>
          </a:prstGeom>
          <a:solidFill>
            <a:srgbClr val="FFFFFF"/>
          </a:solidFill>
          <a:ln w="12700">
            <a:solidFill>
              <a:srgbClr val="DCE3EC"/>
            </a:solidFill>
            <a:prstDash val="solid"/>
          </a:ln>
        </p:spPr>
      </p:sp>
      <p:sp>
        <p:nvSpPr>
          <p:cNvPr id="11" name="Text 8"/>
          <p:cNvSpPr/>
          <p:nvPr/>
        </p:nvSpPr>
        <p:spPr>
          <a:xfrm>
            <a:off x="1051560" y="3931920"/>
            <a:ext cx="2487168" cy="329184"/>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10⁶–10⁸ → ~10³</a:t>
            </a:r>
            <a:endParaRPr lang="en-US" sz="1050" dirty="0"/>
          </a:p>
        </p:txBody>
      </p:sp>
      <p:pic>
        <p:nvPicPr>
          <p:cNvPr id="12" name="Image 1" descr="preencoded.png">    </p:cNvPr>
          <p:cNvPicPr>
            <a:picLocks noChangeAspect="1"/>
          </p:cNvPicPr>
          <p:nvPr/>
        </p:nvPicPr>
        <p:blipFill>
          <a:blip r:embed="rId2"/>
          <a:stretch>
            <a:fillRect/>
          </a:stretch>
        </p:blipFill>
        <p:spPr>
          <a:xfrm>
            <a:off x="4005072" y="2857500"/>
            <a:ext cx="365760" cy="182880"/>
          </a:xfrm>
          <a:prstGeom prst="rect">
            <a:avLst/>
          </a:prstGeom>
        </p:spPr>
      </p:pic>
      <p:sp>
        <p:nvSpPr>
          <p:cNvPr id="13" name="Shape 9"/>
          <p:cNvSpPr/>
          <p:nvPr/>
        </p:nvSpPr>
        <p:spPr>
          <a:xfrm>
            <a:off x="4425696" y="1691640"/>
            <a:ext cx="3310128" cy="2697480"/>
          </a:xfrm>
          <a:prstGeom prst="roundRect">
            <a:avLst>
              <a:gd name="adj" fmla="val 4068"/>
            </a:avLst>
          </a:prstGeom>
          <a:solidFill>
            <a:srgbClr val="F1F5F9"/>
          </a:solidFill>
          <a:ln/>
          <a:effectLst>
            <a:outerShdw sx="100000" sy="100000" kx="0" ky="0" algn="bl" rotWithShape="0" blurRad="127000" dist="50800" dir="5400000">
              <a:srgbClr val="8A93A6">
                <a:alpha val="13000"/>
              </a:srgbClr>
            </a:outerShdw>
          </a:effectLst>
        </p:spPr>
      </p:sp>
      <p:sp>
        <p:nvSpPr>
          <p:cNvPr id="14" name="Shape 10"/>
          <p:cNvSpPr/>
          <p:nvPr/>
        </p:nvSpPr>
        <p:spPr>
          <a:xfrm>
            <a:off x="5715000" y="1965960"/>
            <a:ext cx="731520" cy="731520"/>
          </a:xfrm>
          <a:prstGeom prst="ellipse">
            <a:avLst/>
          </a:prstGeom>
          <a:solidFill>
            <a:srgbClr val="F59E0B"/>
          </a:solidFill>
          <a:ln/>
          <a:effectLst>
            <a:outerShdw sx="100000" sy="100000" kx="0" ky="0" algn="bl" rotWithShape="0" blurRad="127000" dist="50800" dir="5400000">
              <a:srgbClr val="8A93A6">
                <a:alpha val="13000"/>
              </a:srgbClr>
            </a:outerShdw>
          </a:effectLst>
        </p:spPr>
      </p:sp>
      <p:pic>
        <p:nvPicPr>
          <p:cNvPr id="15" name="Image 2" descr="preencoded.png">    </p:cNvPr>
          <p:cNvPicPr>
            <a:picLocks noChangeAspect="1"/>
          </p:cNvPicPr>
          <p:nvPr/>
        </p:nvPicPr>
        <p:blipFill>
          <a:blip r:embed="rId3"/>
          <a:stretch>
            <a:fillRect/>
          </a:stretch>
        </p:blipFill>
        <p:spPr>
          <a:xfrm>
            <a:off x="5912510" y="2163470"/>
            <a:ext cx="336499" cy="336499"/>
          </a:xfrm>
          <a:prstGeom prst="rect">
            <a:avLst/>
          </a:prstGeom>
        </p:spPr>
      </p:pic>
      <p:sp>
        <p:nvSpPr>
          <p:cNvPr id="16" name="Text 11"/>
          <p:cNvSpPr/>
          <p:nvPr/>
        </p:nvSpPr>
        <p:spPr>
          <a:xfrm>
            <a:off x="4608576" y="2752344"/>
            <a:ext cx="2944368" cy="228600"/>
          </a:xfrm>
          <a:prstGeom prst="rect">
            <a:avLst/>
          </a:prstGeom>
          <a:noFill/>
          <a:ln/>
        </p:spPr>
        <p:txBody>
          <a:bodyPr wrap="square" lIns="0" tIns="0" rIns="0" bIns="0" rtlCol="0" anchor="ctr"/>
          <a:lstStyle/>
          <a:p>
            <a:pPr algn="ctr" indent="0" marL="0">
              <a:buNone/>
            </a:pPr>
            <a:r>
              <a:rPr lang="en-US" sz="1050" b="1" spc="200" kern="0" dirty="0">
                <a:solidFill>
                  <a:srgbClr val="64748B"/>
                </a:solidFill>
                <a:latin typeface="Arial" pitchFamily="34" charset="0"/>
                <a:ea typeface="Arial" pitchFamily="34" charset="-122"/>
                <a:cs typeface="Arial" pitchFamily="34" charset="-120"/>
              </a:rPr>
              <a:t>STEP 2</a:t>
            </a:r>
            <a:endParaRPr lang="en-US" sz="1050" dirty="0"/>
          </a:p>
        </p:txBody>
      </p:sp>
      <p:sp>
        <p:nvSpPr>
          <p:cNvPr id="17" name="Text 12"/>
          <p:cNvSpPr/>
          <p:nvPr/>
        </p:nvSpPr>
        <p:spPr>
          <a:xfrm>
            <a:off x="4608576" y="2971800"/>
            <a:ext cx="2944368" cy="365760"/>
          </a:xfrm>
          <a:prstGeom prst="rect">
            <a:avLst/>
          </a:prstGeom>
          <a:noFill/>
          <a:ln/>
        </p:spPr>
        <p:txBody>
          <a:bodyPr wrap="square" lIns="0" tIns="0" rIns="0" bIns="0" rtlCol="0" anchor="ctr"/>
          <a:lstStyle/>
          <a:p>
            <a:pPr algn="ctr" indent="0" marL="0">
              <a:buNone/>
            </a:pPr>
            <a:r>
              <a:rPr lang="en-US" sz="1550" b="1" dirty="0">
                <a:solidFill>
                  <a:srgbClr val="0F172A"/>
                </a:solidFill>
                <a:latin typeface="Arial" pitchFamily="34" charset="0"/>
                <a:ea typeface="Arial" pitchFamily="34" charset="-122"/>
                <a:cs typeface="Arial" pitchFamily="34" charset="-120"/>
              </a:rPr>
              <a:t>Ranking</a:t>
            </a:r>
            <a:endParaRPr lang="en-US" sz="1550" dirty="0"/>
          </a:p>
        </p:txBody>
      </p:sp>
      <p:sp>
        <p:nvSpPr>
          <p:cNvPr id="18" name="Text 13"/>
          <p:cNvSpPr/>
          <p:nvPr/>
        </p:nvSpPr>
        <p:spPr>
          <a:xfrm>
            <a:off x="4663440" y="3355848"/>
            <a:ext cx="2834640" cy="64008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Heavy model (GBDT / DNN) scores the candidate set.</a:t>
            </a:r>
            <a:endParaRPr lang="en-US" sz="1200" dirty="0"/>
          </a:p>
        </p:txBody>
      </p:sp>
      <p:sp>
        <p:nvSpPr>
          <p:cNvPr id="19" name="Shape 14"/>
          <p:cNvSpPr/>
          <p:nvPr/>
        </p:nvSpPr>
        <p:spPr>
          <a:xfrm>
            <a:off x="4837176" y="3931920"/>
            <a:ext cx="2487168" cy="329184"/>
          </a:xfrm>
          <a:prstGeom prst="roundRect">
            <a:avLst>
              <a:gd name="adj" fmla="val 50000"/>
            </a:avLst>
          </a:prstGeom>
          <a:solidFill>
            <a:srgbClr val="FFFFFF"/>
          </a:solidFill>
          <a:ln w="12700">
            <a:solidFill>
              <a:srgbClr val="DCE3EC"/>
            </a:solidFill>
            <a:prstDash val="solid"/>
          </a:ln>
        </p:spPr>
      </p:sp>
      <p:sp>
        <p:nvSpPr>
          <p:cNvPr id="20" name="Text 15"/>
          <p:cNvSpPr/>
          <p:nvPr/>
        </p:nvSpPr>
        <p:spPr>
          <a:xfrm>
            <a:off x="4837176" y="3931920"/>
            <a:ext cx="2487168" cy="329184"/>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~10³ → ~10²</a:t>
            </a:r>
            <a:endParaRPr lang="en-US" sz="1050" dirty="0"/>
          </a:p>
        </p:txBody>
      </p:sp>
      <p:pic>
        <p:nvPicPr>
          <p:cNvPr id="21" name="Image 3" descr="preencoded.png">    </p:cNvPr>
          <p:cNvPicPr>
            <a:picLocks noChangeAspect="1"/>
          </p:cNvPicPr>
          <p:nvPr/>
        </p:nvPicPr>
        <p:blipFill>
          <a:blip r:embed="rId4"/>
          <a:stretch>
            <a:fillRect/>
          </a:stretch>
        </p:blipFill>
        <p:spPr>
          <a:xfrm>
            <a:off x="7790688" y="2857500"/>
            <a:ext cx="365760" cy="182880"/>
          </a:xfrm>
          <a:prstGeom prst="rect">
            <a:avLst/>
          </a:prstGeom>
        </p:spPr>
      </p:pic>
      <p:sp>
        <p:nvSpPr>
          <p:cNvPr id="22" name="Shape 16"/>
          <p:cNvSpPr/>
          <p:nvPr/>
        </p:nvSpPr>
        <p:spPr>
          <a:xfrm>
            <a:off x="8211312" y="1691640"/>
            <a:ext cx="3310128" cy="2697480"/>
          </a:xfrm>
          <a:prstGeom prst="roundRect">
            <a:avLst>
              <a:gd name="adj" fmla="val 4068"/>
            </a:avLst>
          </a:prstGeom>
          <a:solidFill>
            <a:srgbClr val="F1F5F9"/>
          </a:solidFill>
          <a:ln/>
          <a:effectLst>
            <a:outerShdw sx="100000" sy="100000" kx="0" ky="0" algn="bl" rotWithShape="0" blurRad="127000" dist="50800" dir="5400000">
              <a:srgbClr val="8A93A6">
                <a:alpha val="13000"/>
              </a:srgbClr>
            </a:outerShdw>
          </a:effectLst>
        </p:spPr>
      </p:sp>
      <p:sp>
        <p:nvSpPr>
          <p:cNvPr id="23" name="Shape 17"/>
          <p:cNvSpPr/>
          <p:nvPr/>
        </p:nvSpPr>
        <p:spPr>
          <a:xfrm>
            <a:off x="9500616" y="1965960"/>
            <a:ext cx="731520" cy="731520"/>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24" name="Image 4" descr="preencoded.png">    </p:cNvPr>
          <p:cNvPicPr>
            <a:picLocks noChangeAspect="1"/>
          </p:cNvPicPr>
          <p:nvPr/>
        </p:nvPicPr>
        <p:blipFill>
          <a:blip r:embed="rId5"/>
          <a:stretch>
            <a:fillRect/>
          </a:stretch>
        </p:blipFill>
        <p:spPr>
          <a:xfrm>
            <a:off x="9698126" y="2163470"/>
            <a:ext cx="336499" cy="336499"/>
          </a:xfrm>
          <a:prstGeom prst="rect">
            <a:avLst/>
          </a:prstGeom>
        </p:spPr>
      </p:pic>
      <p:sp>
        <p:nvSpPr>
          <p:cNvPr id="25" name="Text 18"/>
          <p:cNvSpPr/>
          <p:nvPr/>
        </p:nvSpPr>
        <p:spPr>
          <a:xfrm>
            <a:off x="8394192" y="2752344"/>
            <a:ext cx="2944368" cy="228600"/>
          </a:xfrm>
          <a:prstGeom prst="rect">
            <a:avLst/>
          </a:prstGeom>
          <a:noFill/>
          <a:ln/>
        </p:spPr>
        <p:txBody>
          <a:bodyPr wrap="square" lIns="0" tIns="0" rIns="0" bIns="0" rtlCol="0" anchor="ctr"/>
          <a:lstStyle/>
          <a:p>
            <a:pPr algn="ctr" indent="0" marL="0">
              <a:buNone/>
            </a:pPr>
            <a:r>
              <a:rPr lang="en-US" sz="1050" b="1" spc="200" kern="0" dirty="0">
                <a:solidFill>
                  <a:srgbClr val="64748B"/>
                </a:solidFill>
                <a:latin typeface="Arial" pitchFamily="34" charset="0"/>
                <a:ea typeface="Arial" pitchFamily="34" charset="-122"/>
                <a:cs typeface="Arial" pitchFamily="34" charset="-120"/>
              </a:rPr>
              <a:t>STEP 3</a:t>
            </a:r>
            <a:endParaRPr lang="en-US" sz="1050" dirty="0"/>
          </a:p>
        </p:txBody>
      </p:sp>
      <p:sp>
        <p:nvSpPr>
          <p:cNvPr id="26" name="Text 19"/>
          <p:cNvSpPr/>
          <p:nvPr/>
        </p:nvSpPr>
        <p:spPr>
          <a:xfrm>
            <a:off x="8394192" y="2971800"/>
            <a:ext cx="2944368" cy="365760"/>
          </a:xfrm>
          <a:prstGeom prst="rect">
            <a:avLst/>
          </a:prstGeom>
          <a:noFill/>
          <a:ln/>
        </p:spPr>
        <p:txBody>
          <a:bodyPr wrap="square" lIns="0" tIns="0" rIns="0" bIns="0" rtlCol="0" anchor="ctr"/>
          <a:lstStyle/>
          <a:p>
            <a:pPr algn="ctr" indent="0" marL="0">
              <a:buNone/>
            </a:pPr>
            <a:r>
              <a:rPr lang="en-US" sz="1550" b="1" dirty="0">
                <a:solidFill>
                  <a:srgbClr val="0F172A"/>
                </a:solidFill>
                <a:latin typeface="Arial" pitchFamily="34" charset="0"/>
                <a:ea typeface="Arial" pitchFamily="34" charset="-122"/>
                <a:cs typeface="Arial" pitchFamily="34" charset="-120"/>
              </a:rPr>
              <a:t>Re-ranking &amp; rules</a:t>
            </a:r>
            <a:endParaRPr lang="en-US" sz="1550" dirty="0"/>
          </a:p>
        </p:txBody>
      </p:sp>
      <p:sp>
        <p:nvSpPr>
          <p:cNvPr id="27" name="Text 20"/>
          <p:cNvSpPr/>
          <p:nvPr/>
        </p:nvSpPr>
        <p:spPr>
          <a:xfrm>
            <a:off x="8449056" y="3355848"/>
            <a:ext cx="2834640" cy="640080"/>
          </a:xfrm>
          <a:prstGeom prst="rect">
            <a:avLst/>
          </a:prstGeom>
          <a:noFill/>
          <a:ln/>
        </p:spPr>
        <p:txBody>
          <a:bodyPr wrap="square" lIns="0" tIns="0" rIns="0" bIns="0" rtlCol="0" anchor="ctr"/>
          <a:lstStyle/>
          <a:p>
            <a:pPr algn="ctr" indent="0" marL="0">
              <a:buNone/>
            </a:pPr>
            <a:r>
              <a:rPr lang="en-US" sz="1200" dirty="0">
                <a:solidFill>
                  <a:srgbClr val="64748B"/>
                </a:solidFill>
                <a:latin typeface="Arial" pitchFamily="34" charset="0"/>
                <a:ea typeface="Arial" pitchFamily="34" charset="-122"/>
                <a:cs typeface="Arial" pitchFamily="34" charset="-120"/>
              </a:rPr>
              <a:t>Diversity (MMR), dedupe, stock, promos, policy.</a:t>
            </a:r>
            <a:endParaRPr lang="en-US" sz="1200" dirty="0"/>
          </a:p>
        </p:txBody>
      </p:sp>
      <p:sp>
        <p:nvSpPr>
          <p:cNvPr id="28" name="Shape 21"/>
          <p:cNvSpPr/>
          <p:nvPr/>
        </p:nvSpPr>
        <p:spPr>
          <a:xfrm>
            <a:off x="8622792" y="3931920"/>
            <a:ext cx="2487168" cy="329184"/>
          </a:xfrm>
          <a:prstGeom prst="roundRect">
            <a:avLst>
              <a:gd name="adj" fmla="val 50000"/>
            </a:avLst>
          </a:prstGeom>
          <a:solidFill>
            <a:srgbClr val="FFFFFF"/>
          </a:solidFill>
          <a:ln w="12700">
            <a:solidFill>
              <a:srgbClr val="DCE3EC"/>
            </a:solidFill>
            <a:prstDash val="solid"/>
          </a:ln>
        </p:spPr>
      </p:sp>
      <p:sp>
        <p:nvSpPr>
          <p:cNvPr id="29" name="Text 22"/>
          <p:cNvSpPr/>
          <p:nvPr/>
        </p:nvSpPr>
        <p:spPr>
          <a:xfrm>
            <a:off x="8622792" y="3931920"/>
            <a:ext cx="2487168" cy="329184"/>
          </a:xfrm>
          <a:prstGeom prst="rect">
            <a:avLst/>
          </a:prstGeom>
          <a:noFill/>
          <a:ln/>
        </p:spPr>
        <p:txBody>
          <a:bodyPr wrap="square" lIns="0" tIns="0" rIns="0" bIns="0" rtlCol="0" anchor="ctr"/>
          <a:lstStyle/>
          <a:p>
            <a:pPr algn="ctr" indent="0" marL="0">
              <a:buNone/>
            </a:pPr>
            <a:r>
              <a:rPr lang="en-US" sz="1050" b="1" dirty="0">
                <a:solidFill>
                  <a:srgbClr val="1E293B"/>
                </a:solidFill>
                <a:latin typeface="Arial" pitchFamily="34" charset="0"/>
                <a:ea typeface="Arial" pitchFamily="34" charset="-122"/>
                <a:cs typeface="Arial" pitchFamily="34" charset="-120"/>
              </a:rPr>
              <a:t>~10² → top-K</a:t>
            </a:r>
            <a:endParaRPr lang="en-US" sz="1050" dirty="0"/>
          </a:p>
        </p:txBody>
      </p:sp>
      <p:sp>
        <p:nvSpPr>
          <p:cNvPr id="30" name="Shape 23"/>
          <p:cNvSpPr/>
          <p:nvPr/>
        </p:nvSpPr>
        <p:spPr>
          <a:xfrm>
            <a:off x="640080" y="4645152"/>
            <a:ext cx="10927080" cy="841248"/>
          </a:xfrm>
          <a:prstGeom prst="roundRect">
            <a:avLst>
              <a:gd name="adj" fmla="val 13043"/>
            </a:avLst>
          </a:prstGeom>
          <a:solidFill>
            <a:srgbClr val="ECFEFF"/>
          </a:solidFill>
          <a:ln/>
          <a:effectLst>
            <a:outerShdw sx="100000" sy="100000" kx="0" ky="0" algn="bl" rotWithShape="0" blurRad="127000" dist="50800" dir="5400000">
              <a:srgbClr val="8A93A6">
                <a:alpha val="13000"/>
              </a:srgbClr>
            </a:outerShdw>
          </a:effectLst>
        </p:spPr>
      </p:sp>
      <p:sp>
        <p:nvSpPr>
          <p:cNvPr id="31" name="Shape 24"/>
          <p:cNvSpPr/>
          <p:nvPr/>
        </p:nvSpPr>
        <p:spPr>
          <a:xfrm>
            <a:off x="896112" y="4800600"/>
            <a:ext cx="530352" cy="530352"/>
          </a:xfrm>
          <a:prstGeom prst="ellipse">
            <a:avLst/>
          </a:prstGeom>
          <a:solidFill>
            <a:srgbClr val="F59E0B"/>
          </a:solidFill>
          <a:ln/>
          <a:effectLst>
            <a:outerShdw sx="100000" sy="100000" kx="0" ky="0" algn="bl" rotWithShape="0" blurRad="127000" dist="50800" dir="5400000">
              <a:srgbClr val="8A93A6">
                <a:alpha val="13000"/>
              </a:srgbClr>
            </a:outerShdw>
          </a:effectLst>
        </p:spPr>
      </p:sp>
      <p:pic>
        <p:nvPicPr>
          <p:cNvPr id="32" name="Image 5" descr="preencoded.png">    </p:cNvPr>
          <p:cNvPicPr>
            <a:picLocks noChangeAspect="1"/>
          </p:cNvPicPr>
          <p:nvPr/>
        </p:nvPicPr>
        <p:blipFill>
          <a:blip r:embed="rId6"/>
          <a:stretch>
            <a:fillRect/>
          </a:stretch>
        </p:blipFill>
        <p:spPr>
          <a:xfrm>
            <a:off x="1039307" y="4943795"/>
            <a:ext cx="243962" cy="243962"/>
          </a:xfrm>
          <a:prstGeom prst="rect">
            <a:avLst/>
          </a:prstGeom>
        </p:spPr>
      </p:pic>
      <p:sp>
        <p:nvSpPr>
          <p:cNvPr id="33" name="Text 25"/>
          <p:cNvSpPr/>
          <p:nvPr/>
        </p:nvSpPr>
        <p:spPr>
          <a:xfrm>
            <a:off x="1691640" y="4645152"/>
            <a:ext cx="9692640" cy="841248"/>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Batch: embeddings, ANN indexes, candidate lists. Real-time: feature fetch, ranking, and re-ranking per request.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CHALLENGES &amp; ETHICS</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Relevance is not the only thing that matters</a:t>
            </a:r>
            <a:endParaRPr lang="en-US" sz="2700" dirty="0"/>
          </a:p>
        </p:txBody>
      </p:sp>
      <p:sp>
        <p:nvSpPr>
          <p:cNvPr id="4" name="Shape 2"/>
          <p:cNvSpPr/>
          <p:nvPr/>
        </p:nvSpPr>
        <p:spPr>
          <a:xfrm>
            <a:off x="640080" y="1627632"/>
            <a:ext cx="3456432" cy="1828800"/>
          </a:xfrm>
          <a:prstGeom prst="roundRect">
            <a:avLst>
              <a:gd name="adj" fmla="val 6000"/>
            </a:avLst>
          </a:prstGeom>
          <a:solidFill>
            <a:srgbClr val="F1F5F9"/>
          </a:solidFill>
          <a:ln/>
          <a:effectLst>
            <a:outerShdw sx="100000" sy="100000" kx="0" ky="0" algn="bl" rotWithShape="0" blurRad="127000" dist="50800" dir="5400000">
              <a:srgbClr val="8A93A6">
                <a:alpha val="13000"/>
              </a:srgbClr>
            </a:outerShdw>
          </a:effectLst>
        </p:spPr>
      </p:sp>
      <p:sp>
        <p:nvSpPr>
          <p:cNvPr id="5" name="Shape 3"/>
          <p:cNvSpPr/>
          <p:nvPr/>
        </p:nvSpPr>
        <p:spPr>
          <a:xfrm>
            <a:off x="932688" y="1920240"/>
            <a:ext cx="621792" cy="621792"/>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6" name="Image 0" descr="preencoded.png">    </p:cNvPr>
          <p:cNvPicPr>
            <a:picLocks noChangeAspect="1"/>
          </p:cNvPicPr>
          <p:nvPr/>
        </p:nvPicPr>
        <p:blipFill>
          <a:blip r:embed="rId1"/>
          <a:stretch>
            <a:fillRect/>
          </a:stretch>
        </p:blipFill>
        <p:spPr>
          <a:xfrm>
            <a:off x="1100572" y="2088124"/>
            <a:ext cx="286024" cy="286024"/>
          </a:xfrm>
          <a:prstGeom prst="rect">
            <a:avLst/>
          </a:prstGeom>
        </p:spPr>
      </p:pic>
      <p:sp>
        <p:nvSpPr>
          <p:cNvPr id="7" name="Text 4"/>
          <p:cNvSpPr/>
          <p:nvPr/>
        </p:nvSpPr>
        <p:spPr>
          <a:xfrm>
            <a:off x="932688" y="2651760"/>
            <a:ext cx="2907792" cy="347472"/>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Filter bubbles</a:t>
            </a:r>
            <a:endParaRPr lang="en-US" sz="1450" dirty="0"/>
          </a:p>
        </p:txBody>
      </p:sp>
      <p:sp>
        <p:nvSpPr>
          <p:cNvPr id="8" name="Text 5"/>
          <p:cNvSpPr/>
          <p:nvPr/>
        </p:nvSpPr>
        <p:spPr>
          <a:xfrm>
            <a:off x="932688" y="2999232"/>
            <a:ext cx="2907792" cy="41148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Feedback loops over-narrow exposure; inject exploration.</a:t>
            </a:r>
            <a:endParaRPr lang="en-US" sz="1150" dirty="0"/>
          </a:p>
        </p:txBody>
      </p:sp>
      <p:sp>
        <p:nvSpPr>
          <p:cNvPr id="9" name="Shape 6"/>
          <p:cNvSpPr/>
          <p:nvPr/>
        </p:nvSpPr>
        <p:spPr>
          <a:xfrm>
            <a:off x="4379976" y="1627632"/>
            <a:ext cx="3456432" cy="1828800"/>
          </a:xfrm>
          <a:prstGeom prst="roundRect">
            <a:avLst>
              <a:gd name="adj" fmla="val 6000"/>
            </a:avLst>
          </a:prstGeom>
          <a:solidFill>
            <a:srgbClr val="F1F5F9"/>
          </a:solidFill>
          <a:ln/>
          <a:effectLst>
            <a:outerShdw sx="100000" sy="100000" kx="0" ky="0" algn="bl" rotWithShape="0" blurRad="127000" dist="50800" dir="5400000">
              <a:srgbClr val="8A93A6">
                <a:alpha val="13000"/>
              </a:srgbClr>
            </a:outerShdw>
          </a:effectLst>
        </p:spPr>
      </p:sp>
      <p:sp>
        <p:nvSpPr>
          <p:cNvPr id="10" name="Shape 7"/>
          <p:cNvSpPr/>
          <p:nvPr/>
        </p:nvSpPr>
        <p:spPr>
          <a:xfrm>
            <a:off x="4672584" y="1920240"/>
            <a:ext cx="621792" cy="621792"/>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11" name="Image 1" descr="preencoded.png">    </p:cNvPr>
          <p:cNvPicPr>
            <a:picLocks noChangeAspect="1"/>
          </p:cNvPicPr>
          <p:nvPr/>
        </p:nvPicPr>
        <p:blipFill>
          <a:blip r:embed="rId2"/>
          <a:stretch>
            <a:fillRect/>
          </a:stretch>
        </p:blipFill>
        <p:spPr>
          <a:xfrm>
            <a:off x="4840468" y="2088124"/>
            <a:ext cx="286024" cy="286024"/>
          </a:xfrm>
          <a:prstGeom prst="rect">
            <a:avLst/>
          </a:prstGeom>
        </p:spPr>
      </p:pic>
      <p:sp>
        <p:nvSpPr>
          <p:cNvPr id="12" name="Text 8"/>
          <p:cNvSpPr/>
          <p:nvPr/>
        </p:nvSpPr>
        <p:spPr>
          <a:xfrm>
            <a:off x="4672584" y="2651760"/>
            <a:ext cx="2907792" cy="347472"/>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Popularity bias</a:t>
            </a:r>
            <a:endParaRPr lang="en-US" sz="1450" dirty="0"/>
          </a:p>
        </p:txBody>
      </p:sp>
      <p:sp>
        <p:nvSpPr>
          <p:cNvPr id="13" name="Text 9"/>
          <p:cNvSpPr/>
          <p:nvPr/>
        </p:nvSpPr>
        <p:spPr>
          <a:xfrm>
            <a:off x="4672584" y="2999232"/>
            <a:ext cx="2907792" cy="41148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Exposure bias inflates head items; debias or re-weight.</a:t>
            </a:r>
            <a:endParaRPr lang="en-US" sz="1150" dirty="0"/>
          </a:p>
        </p:txBody>
      </p:sp>
      <p:sp>
        <p:nvSpPr>
          <p:cNvPr id="14" name="Shape 10"/>
          <p:cNvSpPr/>
          <p:nvPr/>
        </p:nvSpPr>
        <p:spPr>
          <a:xfrm>
            <a:off x="8119872" y="1627632"/>
            <a:ext cx="3456432" cy="1828800"/>
          </a:xfrm>
          <a:prstGeom prst="roundRect">
            <a:avLst>
              <a:gd name="adj" fmla="val 6000"/>
            </a:avLst>
          </a:prstGeom>
          <a:solidFill>
            <a:srgbClr val="F1F5F9"/>
          </a:solidFill>
          <a:ln/>
          <a:effectLst>
            <a:outerShdw sx="100000" sy="100000" kx="0" ky="0" algn="bl" rotWithShape="0" blurRad="127000" dist="50800" dir="5400000">
              <a:srgbClr val="8A93A6">
                <a:alpha val="13000"/>
              </a:srgbClr>
            </a:outerShdw>
          </a:effectLst>
        </p:spPr>
      </p:sp>
      <p:sp>
        <p:nvSpPr>
          <p:cNvPr id="15" name="Shape 11"/>
          <p:cNvSpPr/>
          <p:nvPr/>
        </p:nvSpPr>
        <p:spPr>
          <a:xfrm>
            <a:off x="8412480" y="1920240"/>
            <a:ext cx="621792" cy="621792"/>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16" name="Image 2" descr="preencoded.png">    </p:cNvPr>
          <p:cNvPicPr>
            <a:picLocks noChangeAspect="1"/>
          </p:cNvPicPr>
          <p:nvPr/>
        </p:nvPicPr>
        <p:blipFill>
          <a:blip r:embed="rId3"/>
          <a:stretch>
            <a:fillRect/>
          </a:stretch>
        </p:blipFill>
        <p:spPr>
          <a:xfrm>
            <a:off x="8580364" y="2088124"/>
            <a:ext cx="286024" cy="286024"/>
          </a:xfrm>
          <a:prstGeom prst="rect">
            <a:avLst/>
          </a:prstGeom>
        </p:spPr>
      </p:pic>
      <p:sp>
        <p:nvSpPr>
          <p:cNvPr id="17" name="Text 12"/>
          <p:cNvSpPr/>
          <p:nvPr/>
        </p:nvSpPr>
        <p:spPr>
          <a:xfrm>
            <a:off x="8412480" y="2651760"/>
            <a:ext cx="2907792" cy="347472"/>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Diversity vs. relevance</a:t>
            </a:r>
            <a:endParaRPr lang="en-US" sz="1450" dirty="0"/>
          </a:p>
        </p:txBody>
      </p:sp>
      <p:sp>
        <p:nvSpPr>
          <p:cNvPr id="18" name="Text 13"/>
          <p:cNvSpPr/>
          <p:nvPr/>
        </p:nvSpPr>
        <p:spPr>
          <a:xfrm>
            <a:off x="8412480" y="2999232"/>
            <a:ext cx="2907792" cy="41148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Trade pure relevance for coverage (MMR, DPP).</a:t>
            </a:r>
            <a:endParaRPr lang="en-US" sz="1150" dirty="0"/>
          </a:p>
        </p:txBody>
      </p:sp>
      <p:sp>
        <p:nvSpPr>
          <p:cNvPr id="19" name="Shape 14"/>
          <p:cNvSpPr/>
          <p:nvPr/>
        </p:nvSpPr>
        <p:spPr>
          <a:xfrm>
            <a:off x="2510028" y="3730752"/>
            <a:ext cx="3456432" cy="1828800"/>
          </a:xfrm>
          <a:prstGeom prst="roundRect">
            <a:avLst>
              <a:gd name="adj" fmla="val 6000"/>
            </a:avLst>
          </a:prstGeom>
          <a:solidFill>
            <a:srgbClr val="F1F5F9"/>
          </a:solidFill>
          <a:ln/>
          <a:effectLst>
            <a:outerShdw sx="100000" sy="100000" kx="0" ky="0" algn="bl" rotWithShape="0" blurRad="127000" dist="50800" dir="5400000">
              <a:srgbClr val="8A93A6">
                <a:alpha val="13000"/>
              </a:srgbClr>
            </a:outerShdw>
          </a:effectLst>
        </p:spPr>
      </p:sp>
      <p:sp>
        <p:nvSpPr>
          <p:cNvPr id="20" name="Shape 15"/>
          <p:cNvSpPr/>
          <p:nvPr/>
        </p:nvSpPr>
        <p:spPr>
          <a:xfrm>
            <a:off x="2802636" y="4023360"/>
            <a:ext cx="621792" cy="621792"/>
          </a:xfrm>
          <a:prstGeom prst="ellipse">
            <a:avLst/>
          </a:prstGeom>
          <a:solidFill>
            <a:srgbClr val="1E293B"/>
          </a:solidFill>
          <a:ln/>
          <a:effectLst>
            <a:outerShdw sx="100000" sy="100000" kx="0" ky="0" algn="bl" rotWithShape="0" blurRad="127000" dist="50800" dir="5400000">
              <a:srgbClr val="8A93A6">
                <a:alpha val="13000"/>
              </a:srgbClr>
            </a:outerShdw>
          </a:effectLst>
        </p:spPr>
      </p:sp>
      <p:pic>
        <p:nvPicPr>
          <p:cNvPr id="21" name="Image 3" descr="preencoded.png">    </p:cNvPr>
          <p:cNvPicPr>
            <a:picLocks noChangeAspect="1"/>
          </p:cNvPicPr>
          <p:nvPr/>
        </p:nvPicPr>
        <p:blipFill>
          <a:blip r:embed="rId4"/>
          <a:stretch>
            <a:fillRect/>
          </a:stretch>
        </p:blipFill>
        <p:spPr>
          <a:xfrm>
            <a:off x="2970520" y="4191244"/>
            <a:ext cx="286024" cy="286024"/>
          </a:xfrm>
          <a:prstGeom prst="rect">
            <a:avLst/>
          </a:prstGeom>
        </p:spPr>
      </p:pic>
      <p:sp>
        <p:nvSpPr>
          <p:cNvPr id="22" name="Text 16"/>
          <p:cNvSpPr/>
          <p:nvPr/>
        </p:nvSpPr>
        <p:spPr>
          <a:xfrm>
            <a:off x="2802636" y="4754880"/>
            <a:ext cx="2907792" cy="347472"/>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Privacy</a:t>
            </a:r>
            <a:endParaRPr lang="en-US" sz="1450" dirty="0"/>
          </a:p>
        </p:txBody>
      </p:sp>
      <p:sp>
        <p:nvSpPr>
          <p:cNvPr id="23" name="Text 17"/>
          <p:cNvSpPr/>
          <p:nvPr/>
        </p:nvSpPr>
        <p:spPr>
          <a:xfrm>
            <a:off x="2802636" y="5102352"/>
            <a:ext cx="2907792" cy="41148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Consent, minimization, on-device &amp; federated options.</a:t>
            </a:r>
            <a:endParaRPr lang="en-US" sz="1150" dirty="0"/>
          </a:p>
        </p:txBody>
      </p:sp>
      <p:sp>
        <p:nvSpPr>
          <p:cNvPr id="24" name="Shape 18"/>
          <p:cNvSpPr/>
          <p:nvPr/>
        </p:nvSpPr>
        <p:spPr>
          <a:xfrm>
            <a:off x="6249924" y="3730752"/>
            <a:ext cx="3456432" cy="1828800"/>
          </a:xfrm>
          <a:prstGeom prst="roundRect">
            <a:avLst>
              <a:gd name="adj" fmla="val 6000"/>
            </a:avLst>
          </a:prstGeom>
          <a:solidFill>
            <a:srgbClr val="F1F5F9"/>
          </a:solidFill>
          <a:ln/>
          <a:effectLst>
            <a:outerShdw sx="100000" sy="100000" kx="0" ky="0" algn="bl" rotWithShape="0" blurRad="127000" dist="50800" dir="5400000">
              <a:srgbClr val="8A93A6">
                <a:alpha val="13000"/>
              </a:srgbClr>
            </a:outerShdw>
          </a:effectLst>
        </p:spPr>
      </p:sp>
      <p:sp>
        <p:nvSpPr>
          <p:cNvPr id="25" name="Shape 19"/>
          <p:cNvSpPr/>
          <p:nvPr/>
        </p:nvSpPr>
        <p:spPr>
          <a:xfrm>
            <a:off x="6542532" y="4023360"/>
            <a:ext cx="621792" cy="621792"/>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26" name="Image 4" descr="preencoded.png">    </p:cNvPr>
          <p:cNvPicPr>
            <a:picLocks noChangeAspect="1"/>
          </p:cNvPicPr>
          <p:nvPr/>
        </p:nvPicPr>
        <p:blipFill>
          <a:blip r:embed="rId5"/>
          <a:stretch>
            <a:fillRect/>
          </a:stretch>
        </p:blipFill>
        <p:spPr>
          <a:xfrm>
            <a:off x="6710416" y="4191244"/>
            <a:ext cx="286024" cy="286024"/>
          </a:xfrm>
          <a:prstGeom prst="rect">
            <a:avLst/>
          </a:prstGeom>
        </p:spPr>
      </p:pic>
      <p:sp>
        <p:nvSpPr>
          <p:cNvPr id="27" name="Text 20"/>
          <p:cNvSpPr/>
          <p:nvPr/>
        </p:nvSpPr>
        <p:spPr>
          <a:xfrm>
            <a:off x="6542532" y="4754880"/>
            <a:ext cx="2907792" cy="347472"/>
          </a:xfrm>
          <a:prstGeom prst="rect">
            <a:avLst/>
          </a:prstGeom>
          <a:noFill/>
          <a:ln/>
        </p:spPr>
        <p:txBody>
          <a:bodyPr wrap="square" lIns="0" tIns="0" rIns="0" bIns="0" rtlCol="0" anchor="ctr"/>
          <a:lstStyle/>
          <a:p>
            <a:pPr indent="0" marL="0">
              <a:buNone/>
            </a:pPr>
            <a:r>
              <a:rPr lang="en-US" sz="1450" b="1" dirty="0">
                <a:solidFill>
                  <a:srgbClr val="0F172A"/>
                </a:solidFill>
                <a:latin typeface="Arial" pitchFamily="34" charset="0"/>
                <a:ea typeface="Arial" pitchFamily="34" charset="-122"/>
                <a:cs typeface="Arial" pitchFamily="34" charset="-120"/>
              </a:rPr>
              <a:t>Fairness</a:t>
            </a:r>
            <a:endParaRPr lang="en-US" sz="1450" dirty="0"/>
          </a:p>
        </p:txBody>
      </p:sp>
      <p:sp>
        <p:nvSpPr>
          <p:cNvPr id="28" name="Text 21"/>
          <p:cNvSpPr/>
          <p:nvPr/>
        </p:nvSpPr>
        <p:spPr>
          <a:xfrm>
            <a:off x="6542532" y="5102352"/>
            <a:ext cx="2907792" cy="411480"/>
          </a:xfrm>
          <a:prstGeom prst="rect">
            <a:avLst/>
          </a:prstGeom>
          <a:noFill/>
          <a:ln/>
        </p:spPr>
        <p:txBody>
          <a:bodyPr wrap="square" lIns="0" tIns="0" rIns="0" bIns="0" rtlCol="0" anchor="ctr"/>
          <a:lstStyle/>
          <a:p>
            <a:pPr indent="0" marL="0">
              <a:buNone/>
            </a:pPr>
            <a:r>
              <a:rPr lang="en-US" sz="1150" dirty="0">
                <a:solidFill>
                  <a:srgbClr val="64748B"/>
                </a:solidFill>
                <a:latin typeface="Arial" pitchFamily="34" charset="0"/>
                <a:ea typeface="Arial" pitchFamily="34" charset="-122"/>
                <a:cs typeface="Arial" pitchFamily="34" charset="-120"/>
              </a:rPr>
              <a:t>Audit exposure parity across users and sellers.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881360" cy="274320"/>
          </a:xfrm>
          <a:prstGeom prst="rect">
            <a:avLst/>
          </a:prstGeom>
          <a:noFill/>
          <a:ln/>
        </p:spPr>
        <p:txBody>
          <a:bodyPr wrap="square" lIns="0" tIns="0" rIns="0" bIns="0" rtlCol="0" anchor="ctr"/>
          <a:lstStyle/>
          <a:p>
            <a:pPr indent="0" marL="0">
              <a:buNone/>
            </a:pPr>
            <a:r>
              <a:rPr lang="en-US" sz="1200" b="1" spc="200" kern="0" dirty="0">
                <a:solidFill>
                  <a:srgbClr val="06B6D4"/>
                </a:solidFill>
                <a:latin typeface="Arial" pitchFamily="34" charset="0"/>
                <a:ea typeface="Arial" pitchFamily="34" charset="-122"/>
                <a:cs typeface="Arial" pitchFamily="34" charset="-120"/>
              </a:rPr>
              <a:t>CASE STUDY</a:t>
            </a:r>
            <a:endParaRPr lang="en-US" sz="1200" dirty="0"/>
          </a:p>
        </p:txBody>
      </p:sp>
      <p:sp>
        <p:nvSpPr>
          <p:cNvPr id="3" name="Text 1"/>
          <p:cNvSpPr/>
          <p:nvPr/>
        </p:nvSpPr>
        <p:spPr>
          <a:xfrm>
            <a:off x="640080" y="630936"/>
            <a:ext cx="10881360" cy="731520"/>
          </a:xfrm>
          <a:prstGeom prst="rect">
            <a:avLst/>
          </a:prstGeom>
          <a:noFill/>
          <a:ln/>
        </p:spPr>
        <p:txBody>
          <a:bodyPr wrap="square" lIns="0" tIns="0" rIns="0" bIns="0" rtlCol="0" anchor="ctr"/>
          <a:lstStyle/>
          <a:p>
            <a:pPr indent="0" marL="0">
              <a:buNone/>
            </a:pPr>
            <a:r>
              <a:rPr lang="en-US" sz="2700" b="1" dirty="0">
                <a:solidFill>
                  <a:srgbClr val="0F172A"/>
                </a:solidFill>
                <a:latin typeface="Arial" pitchFamily="34" charset="0"/>
                <a:ea typeface="Arial" pitchFamily="34" charset="-122"/>
                <a:cs typeface="Arial" pitchFamily="34" charset="-120"/>
              </a:rPr>
              <a:t>Amazon item-to-item collaborative filtering (Linden et al.)</a:t>
            </a:r>
            <a:endParaRPr lang="en-US" sz="2700" dirty="0"/>
          </a:p>
        </p:txBody>
      </p:sp>
      <p:sp>
        <p:nvSpPr>
          <p:cNvPr id="4" name="Shape 2"/>
          <p:cNvSpPr/>
          <p:nvPr/>
        </p:nvSpPr>
        <p:spPr>
          <a:xfrm>
            <a:off x="640080" y="1691640"/>
            <a:ext cx="5669280" cy="3200400"/>
          </a:xfrm>
          <a:prstGeom prst="roundRect">
            <a:avLst>
              <a:gd name="adj" fmla="val 3429"/>
            </a:avLst>
          </a:prstGeom>
          <a:solidFill>
            <a:srgbClr val="F1F5F9"/>
          </a:solidFill>
          <a:ln/>
          <a:effectLst>
            <a:outerShdw sx="100000" sy="100000" kx="0" ky="0" algn="bl" rotWithShape="0" blurRad="127000" dist="50800" dir="5400000">
              <a:srgbClr val="8A93A6">
                <a:alpha val="13000"/>
              </a:srgbClr>
            </a:outerShdw>
          </a:effectLst>
        </p:spPr>
      </p:sp>
      <p:sp>
        <p:nvSpPr>
          <p:cNvPr id="5" name="Text 3"/>
          <p:cNvSpPr/>
          <p:nvPr/>
        </p:nvSpPr>
        <p:spPr>
          <a:xfrm>
            <a:off x="914400" y="1947672"/>
            <a:ext cx="5120640" cy="365760"/>
          </a:xfrm>
          <a:prstGeom prst="rect">
            <a:avLst/>
          </a:prstGeom>
          <a:noFill/>
          <a:ln/>
        </p:spPr>
        <p:txBody>
          <a:bodyPr wrap="square" lIns="0" tIns="0" rIns="0" bIns="0" rtlCol="0" anchor="ctr"/>
          <a:lstStyle/>
          <a:p>
            <a:pPr indent="0" marL="0">
              <a:buNone/>
            </a:pPr>
            <a:r>
              <a:rPr lang="en-US" sz="1600" b="1" dirty="0">
                <a:solidFill>
                  <a:srgbClr val="0F172A"/>
                </a:solidFill>
                <a:latin typeface="Arial" pitchFamily="34" charset="0"/>
                <a:ea typeface="Arial" pitchFamily="34" charset="-122"/>
                <a:cs typeface="Arial" pitchFamily="34" charset="-120"/>
              </a:rPr>
              <a:t>The approach</a:t>
            </a:r>
            <a:endParaRPr lang="en-US" sz="1600" dirty="0"/>
          </a:p>
        </p:txBody>
      </p:sp>
      <p:sp>
        <p:nvSpPr>
          <p:cNvPr id="6" name="Shape 4"/>
          <p:cNvSpPr/>
          <p:nvPr/>
        </p:nvSpPr>
        <p:spPr>
          <a:xfrm>
            <a:off x="914400" y="2532888"/>
            <a:ext cx="365760" cy="365760"/>
          </a:xfrm>
          <a:prstGeom prst="ellipse">
            <a:avLst/>
          </a:prstGeom>
          <a:solidFill>
            <a:srgbClr val="1E293B"/>
          </a:solidFill>
          <a:ln/>
        </p:spPr>
      </p:sp>
      <p:sp>
        <p:nvSpPr>
          <p:cNvPr id="7" name="Text 5"/>
          <p:cNvSpPr/>
          <p:nvPr/>
        </p:nvSpPr>
        <p:spPr>
          <a:xfrm>
            <a:off x="914400" y="25328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417320" y="2487168"/>
            <a:ext cx="4709160" cy="64008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Offline: build an item-to-item similarity matrix from co-occurrence</a:t>
            </a:r>
            <a:endParaRPr lang="en-US" sz="1300" dirty="0"/>
          </a:p>
        </p:txBody>
      </p:sp>
      <p:sp>
        <p:nvSpPr>
          <p:cNvPr id="9" name="Shape 7"/>
          <p:cNvSpPr/>
          <p:nvPr/>
        </p:nvSpPr>
        <p:spPr>
          <a:xfrm>
            <a:off x="914400" y="3310128"/>
            <a:ext cx="365760" cy="365760"/>
          </a:xfrm>
          <a:prstGeom prst="ellipse">
            <a:avLst/>
          </a:prstGeom>
          <a:solidFill>
            <a:srgbClr val="1E293B"/>
          </a:solidFill>
          <a:ln/>
        </p:spPr>
      </p:sp>
      <p:sp>
        <p:nvSpPr>
          <p:cNvPr id="10" name="Text 8"/>
          <p:cNvSpPr/>
          <p:nvPr/>
        </p:nvSpPr>
        <p:spPr>
          <a:xfrm>
            <a:off x="914400" y="33101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1417320" y="3264408"/>
            <a:ext cx="4709160" cy="64008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Online: O(1)-style lookups of neighbors for the user's recent items</a:t>
            </a:r>
            <a:endParaRPr lang="en-US" sz="1300" dirty="0"/>
          </a:p>
        </p:txBody>
      </p:sp>
      <p:sp>
        <p:nvSpPr>
          <p:cNvPr id="12" name="Shape 10"/>
          <p:cNvSpPr/>
          <p:nvPr/>
        </p:nvSpPr>
        <p:spPr>
          <a:xfrm>
            <a:off x="914400" y="4087368"/>
            <a:ext cx="365760" cy="365760"/>
          </a:xfrm>
          <a:prstGeom prst="ellipse">
            <a:avLst/>
          </a:prstGeom>
          <a:solidFill>
            <a:srgbClr val="1E293B"/>
          </a:solidFill>
          <a:ln/>
        </p:spPr>
      </p:sp>
      <p:sp>
        <p:nvSpPr>
          <p:cNvPr id="13" name="Text 11"/>
          <p:cNvSpPr/>
          <p:nvPr/>
        </p:nvSpPr>
        <p:spPr>
          <a:xfrm>
            <a:off x="914400" y="408736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417320" y="4041648"/>
            <a:ext cx="4709160" cy="640080"/>
          </a:xfrm>
          <a:prstGeom prst="rect">
            <a:avLst/>
          </a:prstGeom>
          <a:noFill/>
          <a:ln/>
        </p:spPr>
        <p:txBody>
          <a:bodyPr wrap="square" lIns="0" tIns="0" rIns="0" bIns="0" rtlCol="0" anchor="ctr"/>
          <a:lstStyle/>
          <a:p>
            <a:pPr indent="0" marL="0">
              <a:buNone/>
            </a:pPr>
            <a:r>
              <a:rPr lang="en-US" sz="1300" dirty="0">
                <a:solidFill>
                  <a:srgbClr val="0F172A"/>
                </a:solidFill>
                <a:latin typeface="Arial" pitchFamily="34" charset="0"/>
                <a:ea typeface="Arial" pitchFamily="34" charset="-122"/>
                <a:cs typeface="Arial" pitchFamily="34" charset="-120"/>
              </a:rPr>
              <a:t>Item-based scales where user-based kNN does not (items ≪ users churn)</a:t>
            </a:r>
            <a:endParaRPr lang="en-US" sz="1300" dirty="0"/>
          </a:p>
        </p:txBody>
      </p:sp>
      <p:sp>
        <p:nvSpPr>
          <p:cNvPr id="15" name="Shape 13"/>
          <p:cNvSpPr/>
          <p:nvPr/>
        </p:nvSpPr>
        <p:spPr>
          <a:xfrm>
            <a:off x="6492240" y="1691640"/>
            <a:ext cx="5074920" cy="3200400"/>
          </a:xfrm>
          <a:prstGeom prst="roundRect">
            <a:avLst>
              <a:gd name="adj" fmla="val 3429"/>
            </a:avLst>
          </a:prstGeom>
          <a:solidFill>
            <a:srgbClr val="FFFFFF"/>
          </a:solidFill>
          <a:ln/>
          <a:effectLst>
            <a:outerShdw sx="100000" sy="100000" kx="0" ky="0" algn="bl" rotWithShape="0" blurRad="127000" dist="50800" dir="5400000">
              <a:srgbClr val="8A93A6">
                <a:alpha val="13000"/>
              </a:srgbClr>
            </a:outerShdw>
          </a:effectLst>
        </p:spPr>
      </p:sp>
      <p:sp>
        <p:nvSpPr>
          <p:cNvPr id="16" name="Shape 14"/>
          <p:cNvSpPr/>
          <p:nvPr/>
        </p:nvSpPr>
        <p:spPr>
          <a:xfrm>
            <a:off x="6492240" y="1691640"/>
            <a:ext cx="5074920" cy="3200400"/>
          </a:xfrm>
          <a:prstGeom prst="roundRect">
            <a:avLst>
              <a:gd name="adj" fmla="val 3429"/>
            </a:avLst>
          </a:prstGeom>
          <a:solidFill>
            <a:srgbClr val="FFFFFF">
              <a:alpha val="0"/>
            </a:srgbClr>
          </a:solidFill>
          <a:ln w="12700">
            <a:solidFill>
              <a:srgbClr val="DCE3EC"/>
            </a:solidFill>
            <a:prstDash val="solid"/>
          </a:ln>
        </p:spPr>
      </p:sp>
      <p:sp>
        <p:nvSpPr>
          <p:cNvPr id="17" name="Text 15"/>
          <p:cNvSpPr/>
          <p:nvPr/>
        </p:nvSpPr>
        <p:spPr>
          <a:xfrm>
            <a:off x="6812280" y="1920240"/>
            <a:ext cx="4434840" cy="32004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Why item-based wins (illustrative)</a:t>
            </a:r>
            <a:endParaRPr lang="en-US" sz="1300" dirty="0"/>
          </a:p>
        </p:txBody>
      </p:sp>
      <p:graphicFrame>
        <p:nvGraphicFramePr>
          <p:cNvPr id="18" name="Chart 0" descr=""/>
          <p:cNvGraphicFramePr/>
          <p:nvPr/>
        </p:nvGraphicFramePr>
        <p:xfrm>
          <a:off x="6675120" y="2313432"/>
          <a:ext cx="4709160" cy="242316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640080" y="5001768"/>
            <a:ext cx="10927080" cy="713232"/>
          </a:xfrm>
          <a:prstGeom prst="roundRect">
            <a:avLst>
              <a:gd name="adj" fmla="val 15385"/>
            </a:avLst>
          </a:prstGeom>
          <a:solidFill>
            <a:srgbClr val="1E293B"/>
          </a:solidFill>
          <a:ln/>
          <a:effectLst>
            <a:outerShdw sx="100000" sy="100000" kx="0" ky="0" algn="bl" rotWithShape="0" blurRad="127000" dist="50800" dir="5400000">
              <a:srgbClr val="8A93A6">
                <a:alpha val="13000"/>
              </a:srgbClr>
            </a:outerShdw>
          </a:effectLst>
        </p:spPr>
      </p:sp>
      <p:sp>
        <p:nvSpPr>
          <p:cNvPr id="20" name="Shape 17"/>
          <p:cNvSpPr/>
          <p:nvPr/>
        </p:nvSpPr>
        <p:spPr>
          <a:xfrm>
            <a:off x="868680" y="5111496"/>
            <a:ext cx="493776" cy="493776"/>
          </a:xfrm>
          <a:prstGeom prst="ellipse">
            <a:avLst/>
          </a:prstGeom>
          <a:solidFill>
            <a:srgbClr val="06B6D4"/>
          </a:solidFill>
          <a:ln/>
          <a:effectLst>
            <a:outerShdw sx="100000" sy="100000" kx="0" ky="0" algn="bl" rotWithShape="0" blurRad="127000" dist="50800" dir="5400000">
              <a:srgbClr val="8A93A6">
                <a:alpha val="13000"/>
              </a:srgbClr>
            </a:outerShdw>
          </a:effectLst>
        </p:spPr>
      </p:sp>
      <p:pic>
        <p:nvPicPr>
          <p:cNvPr id="21" name="Image 0" descr="preencoded.png">    </p:cNvPr>
          <p:cNvPicPr>
            <a:picLocks noChangeAspect="1"/>
          </p:cNvPicPr>
          <p:nvPr/>
        </p:nvPicPr>
        <p:blipFill>
          <a:blip r:embed="rId2"/>
          <a:stretch>
            <a:fillRect/>
          </a:stretch>
        </p:blipFill>
        <p:spPr>
          <a:xfrm>
            <a:off x="1002000" y="5244816"/>
            <a:ext cx="227137" cy="227137"/>
          </a:xfrm>
          <a:prstGeom prst="rect">
            <a:avLst/>
          </a:prstGeom>
        </p:spPr>
      </p:pic>
      <p:sp>
        <p:nvSpPr>
          <p:cNvPr id="22" name="Text 18"/>
          <p:cNvSpPr/>
          <p:nvPr/>
        </p:nvSpPr>
        <p:spPr>
          <a:xfrm>
            <a:off x="1554480" y="5001768"/>
            <a:ext cx="9875520" cy="713232"/>
          </a:xfrm>
          <a:prstGeom prst="rect">
            <a:avLst/>
          </a:prstGeom>
          <a:noFill/>
          <a:ln/>
        </p:spPr>
        <p:txBody>
          <a:bodyPr wrap="square" lIns="0" tIns="0" rIns="0" bIns="0" rtlCol="0" anchor="ctr"/>
          <a:lstStyle/>
          <a:p>
            <a:pPr indent="0" marL="0">
              <a:buNone/>
            </a:pPr>
            <a:r>
              <a:rPr lang="en-US" sz="1300" i="1" dirty="0">
                <a:solidFill>
                  <a:srgbClr val="E2E8F0"/>
                </a:solidFill>
                <a:latin typeface="Arial" pitchFamily="34" charset="0"/>
                <a:ea typeface="Arial" pitchFamily="34" charset="-122"/>
                <a:cs typeface="Arial" pitchFamily="34" charset="-120"/>
              </a:rPr>
              <a:t>Decoupling expensive similarity computation (offline) from serving (online) is the enduring lesson.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777240" y="640080"/>
            <a:ext cx="10607040" cy="365760"/>
          </a:xfrm>
          <a:prstGeom prst="rect">
            <a:avLst/>
          </a:prstGeom>
          <a:noFill/>
          <a:ln/>
        </p:spPr>
        <p:txBody>
          <a:bodyPr wrap="square" lIns="0" tIns="0" rIns="0" bIns="0" rtlCol="0" anchor="ctr"/>
          <a:lstStyle/>
          <a:p>
            <a:pPr indent="0" marL="0">
              <a:buNone/>
            </a:pPr>
            <a:r>
              <a:rPr lang="en-US" sz="1400" b="1" spc="300" kern="0" dirty="0">
                <a:solidFill>
                  <a:srgbClr val="06B6D4"/>
                </a:solidFill>
                <a:latin typeface="Arial" pitchFamily="34" charset="0"/>
                <a:ea typeface="Arial" pitchFamily="34" charset="-122"/>
                <a:cs typeface="Arial" pitchFamily="34" charset="-120"/>
              </a:rPr>
              <a:t>KEY TAKEAWAYS</a:t>
            </a:r>
            <a:endParaRPr lang="en-US" sz="1400" dirty="0"/>
          </a:p>
        </p:txBody>
      </p:sp>
      <p:sp>
        <p:nvSpPr>
          <p:cNvPr id="3" name="Text 1"/>
          <p:cNvSpPr/>
          <p:nvPr/>
        </p:nvSpPr>
        <p:spPr>
          <a:xfrm>
            <a:off x="749808" y="960120"/>
            <a:ext cx="10607040" cy="594360"/>
          </a:xfrm>
          <a:prstGeom prst="rect">
            <a:avLst/>
          </a:prstGeom>
          <a:noFill/>
          <a:ln/>
        </p:spPr>
        <p:txBody>
          <a:bodyPr wrap="square" lIns="0" tIns="0" rIns="0" bIns="0" rtlCol="0" anchor="ctr"/>
          <a:lstStyle/>
          <a:p>
            <a:pPr indent="0" marL="0">
              <a:buNone/>
            </a:pPr>
            <a:r>
              <a:rPr lang="en-US" sz="2700" b="1" dirty="0">
                <a:solidFill>
                  <a:srgbClr val="E2E8F0"/>
                </a:solidFill>
                <a:latin typeface="Arial" pitchFamily="34" charset="0"/>
                <a:ea typeface="Arial" pitchFamily="34" charset="-122"/>
                <a:cs typeface="Arial" pitchFamily="34" charset="-120"/>
              </a:rPr>
              <a:t>What to carry out of this session</a:t>
            </a:r>
            <a:endParaRPr lang="en-US" sz="2700" dirty="0"/>
          </a:p>
        </p:txBody>
      </p:sp>
      <p:sp>
        <p:nvSpPr>
          <p:cNvPr id="4" name="Shape 2"/>
          <p:cNvSpPr/>
          <p:nvPr/>
        </p:nvSpPr>
        <p:spPr>
          <a:xfrm>
            <a:off x="777240" y="1920240"/>
            <a:ext cx="457200" cy="457200"/>
          </a:xfrm>
          <a:prstGeom prst="ellipse">
            <a:avLst/>
          </a:prstGeom>
          <a:solidFill>
            <a:srgbClr val="06B6D4"/>
          </a:solidFill>
          <a:ln/>
        </p:spPr>
      </p:sp>
      <p:sp>
        <p:nvSpPr>
          <p:cNvPr id="5" name="Text 3"/>
          <p:cNvSpPr/>
          <p:nvPr/>
        </p:nvSpPr>
        <p:spPr>
          <a:xfrm>
            <a:off x="777240" y="1920240"/>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463040" y="1865376"/>
            <a:ext cx="10058400" cy="566928"/>
          </a:xfrm>
          <a:prstGeom prst="rect">
            <a:avLst/>
          </a:prstGeom>
          <a:noFill/>
          <a:ln/>
        </p:spPr>
        <p:txBody>
          <a:bodyPr wrap="square" lIns="0" tIns="0" rIns="0" bIns="0" rtlCol="0" anchor="ctr"/>
          <a:lstStyle/>
          <a:p>
            <a:pPr indent="0" marL="0">
              <a:buNone/>
            </a:pPr>
            <a:r>
              <a:rPr lang="en-US" sz="1600" dirty="0">
                <a:solidFill>
                  <a:srgbClr val="E2E8F0"/>
                </a:solidFill>
                <a:latin typeface="Arial" pitchFamily="34" charset="0"/>
                <a:ea typeface="Arial" pitchFamily="34" charset="-122"/>
                <a:cs typeface="Arial" pitchFamily="34" charset="-120"/>
              </a:rPr>
              <a:t>Recommendation = top-K over f(user, item, context) at scale</a:t>
            </a:r>
            <a:endParaRPr lang="en-US" sz="1600" dirty="0"/>
          </a:p>
        </p:txBody>
      </p:sp>
      <p:sp>
        <p:nvSpPr>
          <p:cNvPr id="7" name="Shape 5"/>
          <p:cNvSpPr/>
          <p:nvPr/>
        </p:nvSpPr>
        <p:spPr>
          <a:xfrm>
            <a:off x="777240" y="2578608"/>
            <a:ext cx="457200" cy="457200"/>
          </a:xfrm>
          <a:prstGeom prst="ellipse">
            <a:avLst/>
          </a:prstGeom>
          <a:solidFill>
            <a:srgbClr val="06B6D4"/>
          </a:solidFill>
          <a:ln/>
        </p:spPr>
      </p:sp>
      <p:sp>
        <p:nvSpPr>
          <p:cNvPr id="8" name="Text 6"/>
          <p:cNvSpPr/>
          <p:nvPr/>
        </p:nvSpPr>
        <p:spPr>
          <a:xfrm>
            <a:off x="777240" y="2578608"/>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1463040" y="2523744"/>
            <a:ext cx="10058400" cy="566928"/>
          </a:xfrm>
          <a:prstGeom prst="rect">
            <a:avLst/>
          </a:prstGeom>
          <a:noFill/>
          <a:ln/>
        </p:spPr>
        <p:txBody>
          <a:bodyPr wrap="square" lIns="0" tIns="0" rIns="0" bIns="0" rtlCol="0" anchor="ctr"/>
          <a:lstStyle/>
          <a:p>
            <a:pPr indent="0" marL="0">
              <a:buNone/>
            </a:pPr>
            <a:r>
              <a:rPr lang="en-US" sz="1600" dirty="0">
                <a:solidFill>
                  <a:srgbClr val="E2E8F0"/>
                </a:solidFill>
                <a:latin typeface="Arial" pitchFamily="34" charset="0"/>
                <a:ea typeface="Arial" pitchFamily="34" charset="-122"/>
                <a:cs typeface="Arial" pitchFamily="34" charset="-120"/>
              </a:rPr>
              <a:t>Retrieval → ranking → re-ranking is the canonical production shape</a:t>
            </a:r>
            <a:endParaRPr lang="en-US" sz="1600" dirty="0"/>
          </a:p>
        </p:txBody>
      </p:sp>
      <p:sp>
        <p:nvSpPr>
          <p:cNvPr id="10" name="Shape 8"/>
          <p:cNvSpPr/>
          <p:nvPr/>
        </p:nvSpPr>
        <p:spPr>
          <a:xfrm>
            <a:off x="777240" y="3236976"/>
            <a:ext cx="457200" cy="457200"/>
          </a:xfrm>
          <a:prstGeom prst="ellipse">
            <a:avLst/>
          </a:prstGeom>
          <a:solidFill>
            <a:srgbClr val="06B6D4"/>
          </a:solidFill>
          <a:ln/>
        </p:spPr>
      </p:sp>
      <p:sp>
        <p:nvSpPr>
          <p:cNvPr id="11" name="Text 9"/>
          <p:cNvSpPr/>
          <p:nvPr/>
        </p:nvSpPr>
        <p:spPr>
          <a:xfrm>
            <a:off x="777240" y="3236976"/>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Arial" pitchFamily="34" charset="0"/>
                <a:ea typeface="Arial" pitchFamily="34" charset="-122"/>
                <a:cs typeface="Arial" pitchFamily="34" charset="-120"/>
              </a:rPr>
              <a:t>3</a:t>
            </a:r>
            <a:endParaRPr lang="en-US" sz="1600" dirty="0"/>
          </a:p>
        </p:txBody>
      </p:sp>
      <p:sp>
        <p:nvSpPr>
          <p:cNvPr id="12" name="Text 10"/>
          <p:cNvSpPr/>
          <p:nvPr/>
        </p:nvSpPr>
        <p:spPr>
          <a:xfrm>
            <a:off x="1463040" y="3182112"/>
            <a:ext cx="10058400" cy="566928"/>
          </a:xfrm>
          <a:prstGeom prst="rect">
            <a:avLst/>
          </a:prstGeom>
          <a:noFill/>
          <a:ln/>
        </p:spPr>
        <p:txBody>
          <a:bodyPr wrap="square" lIns="0" tIns="0" rIns="0" bIns="0" rtlCol="0" anchor="ctr"/>
          <a:lstStyle/>
          <a:p>
            <a:pPr indent="0" marL="0">
              <a:buNone/>
            </a:pPr>
            <a:r>
              <a:rPr lang="en-US" sz="1600" dirty="0">
                <a:solidFill>
                  <a:srgbClr val="E2E8F0"/>
                </a:solidFill>
                <a:latin typeface="Arial" pitchFamily="34" charset="0"/>
                <a:ea typeface="Arial" pitchFamily="34" charset="-122"/>
                <a:cs typeface="Arial" pitchFamily="34" charset="-120"/>
              </a:rPr>
              <a:t>Embeddings + ANN power candidate generation; rich models rank</a:t>
            </a:r>
            <a:endParaRPr lang="en-US" sz="1600" dirty="0"/>
          </a:p>
        </p:txBody>
      </p:sp>
      <p:sp>
        <p:nvSpPr>
          <p:cNvPr id="13" name="Shape 11"/>
          <p:cNvSpPr/>
          <p:nvPr/>
        </p:nvSpPr>
        <p:spPr>
          <a:xfrm>
            <a:off x="777240" y="3895344"/>
            <a:ext cx="457200" cy="457200"/>
          </a:xfrm>
          <a:prstGeom prst="ellipse">
            <a:avLst/>
          </a:prstGeom>
          <a:solidFill>
            <a:srgbClr val="06B6D4"/>
          </a:solidFill>
          <a:ln/>
        </p:spPr>
      </p:sp>
      <p:sp>
        <p:nvSpPr>
          <p:cNvPr id="14" name="Text 12"/>
          <p:cNvSpPr/>
          <p:nvPr/>
        </p:nvSpPr>
        <p:spPr>
          <a:xfrm>
            <a:off x="777240" y="3895344"/>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Arial" pitchFamily="34" charset="0"/>
                <a:ea typeface="Arial" pitchFamily="34" charset="-122"/>
                <a:cs typeface="Arial" pitchFamily="34" charset="-120"/>
              </a:rPr>
              <a:t>4</a:t>
            </a:r>
            <a:endParaRPr lang="en-US" sz="1600" dirty="0"/>
          </a:p>
        </p:txBody>
      </p:sp>
      <p:sp>
        <p:nvSpPr>
          <p:cNvPr id="15" name="Text 13"/>
          <p:cNvSpPr/>
          <p:nvPr/>
        </p:nvSpPr>
        <p:spPr>
          <a:xfrm>
            <a:off x="1463040" y="3840480"/>
            <a:ext cx="10058400" cy="566928"/>
          </a:xfrm>
          <a:prstGeom prst="rect">
            <a:avLst/>
          </a:prstGeom>
          <a:noFill/>
          <a:ln/>
        </p:spPr>
        <p:txBody>
          <a:bodyPr wrap="square" lIns="0" tIns="0" rIns="0" bIns="0" rtlCol="0" anchor="ctr"/>
          <a:lstStyle/>
          <a:p>
            <a:pPr indent="0" marL="0">
              <a:buNone/>
            </a:pPr>
            <a:r>
              <a:rPr lang="en-US" sz="1600" dirty="0">
                <a:solidFill>
                  <a:srgbClr val="E2E8F0"/>
                </a:solidFill>
                <a:latin typeface="Arial" pitchFamily="34" charset="0"/>
                <a:ea typeface="Arial" pitchFamily="34" charset="-122"/>
                <a:cs typeface="Arial" pitchFamily="34" charset="-120"/>
              </a:rPr>
              <a:t>Treat implicit feedback as biased signal, not ground truth</a:t>
            </a:r>
            <a:endParaRPr lang="en-US" sz="1600" dirty="0"/>
          </a:p>
        </p:txBody>
      </p:sp>
      <p:sp>
        <p:nvSpPr>
          <p:cNvPr id="16" name="Shape 14"/>
          <p:cNvSpPr/>
          <p:nvPr/>
        </p:nvSpPr>
        <p:spPr>
          <a:xfrm>
            <a:off x="777240" y="4553712"/>
            <a:ext cx="457200" cy="457200"/>
          </a:xfrm>
          <a:prstGeom prst="ellipse">
            <a:avLst/>
          </a:prstGeom>
          <a:solidFill>
            <a:srgbClr val="06B6D4"/>
          </a:solidFill>
          <a:ln/>
        </p:spPr>
      </p:sp>
      <p:sp>
        <p:nvSpPr>
          <p:cNvPr id="17" name="Text 15"/>
          <p:cNvSpPr/>
          <p:nvPr/>
        </p:nvSpPr>
        <p:spPr>
          <a:xfrm>
            <a:off x="777240" y="4553712"/>
            <a:ext cx="457200" cy="457200"/>
          </a:xfrm>
          <a:prstGeom prst="rect">
            <a:avLst/>
          </a:prstGeom>
          <a:noFill/>
          <a:ln/>
        </p:spPr>
        <p:txBody>
          <a:bodyPr wrap="square" lIns="0" tIns="0" rIns="0" bIns="0" rtlCol="0" anchor="ctr"/>
          <a:lstStyle/>
          <a:p>
            <a:pPr algn="ctr" indent="0" marL="0">
              <a:buNone/>
            </a:pPr>
            <a:r>
              <a:rPr lang="en-US" sz="1600" b="1" dirty="0">
                <a:solidFill>
                  <a:srgbClr val="0F172A"/>
                </a:solidFill>
                <a:latin typeface="Arial" pitchFamily="34" charset="0"/>
                <a:ea typeface="Arial" pitchFamily="34" charset="-122"/>
                <a:cs typeface="Arial" pitchFamily="34" charset="-120"/>
              </a:rPr>
              <a:t>5</a:t>
            </a:r>
            <a:endParaRPr lang="en-US" sz="1600" dirty="0"/>
          </a:p>
        </p:txBody>
      </p:sp>
      <p:sp>
        <p:nvSpPr>
          <p:cNvPr id="18" name="Text 16"/>
          <p:cNvSpPr/>
          <p:nvPr/>
        </p:nvSpPr>
        <p:spPr>
          <a:xfrm>
            <a:off x="1463040" y="4498848"/>
            <a:ext cx="10058400" cy="566928"/>
          </a:xfrm>
          <a:prstGeom prst="rect">
            <a:avLst/>
          </a:prstGeom>
          <a:noFill/>
          <a:ln/>
        </p:spPr>
        <p:txBody>
          <a:bodyPr wrap="square" lIns="0" tIns="0" rIns="0" bIns="0" rtlCol="0" anchor="ctr"/>
          <a:lstStyle/>
          <a:p>
            <a:pPr indent="0" marL="0">
              <a:buNone/>
            </a:pPr>
            <a:r>
              <a:rPr lang="en-US" sz="1600" dirty="0">
                <a:solidFill>
                  <a:srgbClr val="E2E8F0"/>
                </a:solidFill>
                <a:latin typeface="Arial" pitchFamily="34" charset="0"/>
                <a:ea typeface="Arial" pitchFamily="34" charset="-122"/>
                <a:cs typeface="Arial" pitchFamily="34" charset="-120"/>
              </a:rPr>
              <a:t>Offline metrics gate; online A/B decides — mind the gap</a:t>
            </a:r>
            <a:endParaRPr lang="en-US" sz="1600" dirty="0"/>
          </a:p>
        </p:txBody>
      </p:sp>
      <p:sp>
        <p:nvSpPr>
          <p:cNvPr id="19" name="Shape 17"/>
          <p:cNvSpPr/>
          <p:nvPr/>
        </p:nvSpPr>
        <p:spPr>
          <a:xfrm>
            <a:off x="795528" y="5321808"/>
            <a:ext cx="3657600" cy="0"/>
          </a:xfrm>
          <a:prstGeom prst="line">
            <a:avLst/>
          </a:prstGeom>
          <a:noFill/>
          <a:ln w="9525">
            <a:solidFill>
              <a:srgbClr val="E2E8F0">
                <a:alpha val="45000"/>
              </a:srgbClr>
            </a:solidFill>
            <a:prstDash val="solid"/>
          </a:ln>
        </p:spPr>
      </p:sp>
      <p:sp>
        <p:nvSpPr>
          <p:cNvPr id="20" name="Text 18"/>
          <p:cNvSpPr/>
          <p:nvPr/>
        </p:nvSpPr>
        <p:spPr>
          <a:xfrm>
            <a:off x="749808" y="5468112"/>
            <a:ext cx="10607040" cy="548640"/>
          </a:xfrm>
          <a:prstGeom prst="rect">
            <a:avLst/>
          </a:prstGeom>
          <a:noFill/>
          <a:ln/>
        </p:spPr>
        <p:txBody>
          <a:bodyPr wrap="square" lIns="0" tIns="0" rIns="0" bIns="0" rtlCol="0" anchor="ctr"/>
          <a:lstStyle/>
          <a:p>
            <a:pPr indent="0" marL="0">
              <a:buNone/>
            </a:pPr>
            <a:r>
              <a:rPr lang="en-US" sz="1800" b="1" i="1" dirty="0">
                <a:solidFill>
                  <a:srgbClr val="06B6D4"/>
                </a:solidFill>
                <a:latin typeface="Arial" pitchFamily="34" charset="0"/>
                <a:ea typeface="Arial" pitchFamily="34" charset="-122"/>
                <a:cs typeface="Arial" pitchFamily="34" charset="-120"/>
              </a:rPr>
              <a:t>Questions on architecture, modeling, or evaluation?</a:t>
            </a:r>
            <a:endParaRPr lang="en-US" sz="1800" dirty="0"/>
          </a:p>
        </p:txBody>
      </p:sp>
      <p:sp>
        <p:nvSpPr>
          <p:cNvPr id="21" name="Text 19"/>
          <p:cNvSpPr/>
          <p:nvPr/>
        </p:nvSpPr>
        <p:spPr>
          <a:xfrm>
            <a:off x="749808" y="6080760"/>
            <a:ext cx="5486400" cy="365760"/>
          </a:xfrm>
          <a:prstGeom prst="rect">
            <a:avLst/>
          </a:prstGeom>
          <a:noFill/>
          <a:ln/>
        </p:spPr>
        <p:txBody>
          <a:bodyPr wrap="square" lIns="0" tIns="0" rIns="0" bIns="0" rtlCol="0" anchor="ctr"/>
          <a:lstStyle/>
          <a:p>
            <a:pPr indent="0" marL="0">
              <a:buNone/>
            </a:pPr>
            <a:r>
              <a:rPr lang="en-US" sz="1300" dirty="0">
                <a:solidFill>
                  <a:srgbClr val="E2E8F0"/>
                </a:solidFill>
                <a:latin typeface="Arial" pitchFamily="34" charset="0"/>
                <a:ea typeface="Arial" pitchFamily="34" charset="-122"/>
                <a:cs typeface="Arial" pitchFamily="34" charset="-120"/>
              </a:rPr>
              <a:t>Thank you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Recommendation Systems in E-Commerce — Technical Team</dc:title>
  <dc:subject>PptxGenJS Presentation</dc:subject>
  <dc:creator>Recommendation Systems Briefing</dc:creator>
  <cp:lastModifiedBy>Recommendation Systems Briefing</cp:lastModifiedBy>
  <cp:revision>1</cp:revision>
  <dcterms:created xsi:type="dcterms:W3CDTF">2026-06-29T05:04:48Z</dcterms:created>
  <dcterms:modified xsi:type="dcterms:W3CDTF">2026-06-29T05:04:48Z</dcterms:modified>
</cp:coreProperties>
</file>