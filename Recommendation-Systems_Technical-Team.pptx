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ms</c:v>
                </c:pt>
              </c:strCache>
            </c:strRef>
          </c:tx>
          <c:spPr>
            <a:solidFill>
              <a:srgbClr val="1E293B"/>
            </a:solidFill>
            <a:effectLst/>
          </c:spPr>
          <c:invertIfNegative val="0"/>
          <c:dLbls>
            <c:numFmt formatCode="0&quot; ms&quot;" sourceLinked="0"/>
            <c:txPr>
              <a:bodyPr/>
              <a:lstStyle/>
              <a:p>
                <a:pPr>
                  <a:defRPr b="1" i="0" strike="noStrike" sz="1200" u="none">
                    <a:solidFill>
                      <a:srgbClr val="0F172A"/>
                    </a:solidFill>
                    <a:latin typeface="Arial"/>
                  </a:defRPr>
                </a:pPr>
              </a:p>
            </c:txPr>
            <c:showLegendKey val="0"/>
            <c:showVal val="1"/>
            <c:showCatName val="0"/>
            <c:showSerName val="0"/>
            <c:showPercent val="0"/>
            <c:showBubbleSize val="0"/>
            <c:showLeaderLines val="0"/>
          </c:dLbls>
          <c:cat>
            <c:multiLvlStrRef>
              <c:f>Sheet1!$A$2:$A$5</c:f>
              <c:multiLvlStrCache>
                <c:ptCount val="4"/>
                <c:lvl>
                  <c:pt idx="0">
                    <c:v>Feature fetch</c:v>
                  </c:pt>
                  <c:pt idx="1">
                    <c:v>Candidate gen (ANN)</c:v>
                  </c:pt>
                  <c:pt idx="2">
                    <c:v>Ranking (DNN)</c:v>
                  </c:pt>
                  <c:pt idx="3">
                    <c:v>Re-ranking / rules</c:v>
                  </c:pt>
                </c:lvl>
              </c:multiLvlStrCache>
            </c:multiLvlStrRef>
          </c:cat>
          <c:val>
            <c:numRef>
              <c:f>Sheet1!$B$2:$B$5</c:f>
              <c:numCache>
                <c:formatCode>General</c:formatCode>
                <c:ptCount val="4"/>
                <c:pt idx="0">
                  <c:v>8</c:v>
                </c:pt>
                <c:pt idx="1">
                  <c:v>6</c:v>
                </c:pt>
                <c:pt idx="2">
                  <c:v>18</c:v>
                </c:pt>
                <c:pt idx="3">
                  <c:v>4</c:v>
                </c:pt>
              </c:numCache>
            </c:numRef>
          </c:val>
        </c:ser>
        <c:dLbls>
          <c:numFmt formatCode="0&quot; ms&quot;" sourceLinked="0"/>
          <c:txPr>
            <a:bodyPr/>
            <a:lstStyle/>
            <a:p>
              <a:pPr>
                <a:defRPr b="1" i="0" strike="noStrike" sz="1200" u="none">
                  <a:solidFill>
                    <a:srgbClr val="0F172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2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Audience is engineers and ML practitioners, so we assume fluency and spend our time on system design, modeling choices, infra, and evaluation. The deck mirrors a real production stack: problem framing → reference architecture → retrieval → ranking → data/features → cold start → evaluation → serving/latency → production case studies → challenges → stack/build decisions.
— MODIFIABLE FOR YOUR PLATFORM —
• Swap in presenter name and date.
• Tailor the title to the specific system or service you're proposing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recommendation as constrained top-K retrieval over a scoring function. The four constraints drive every later decision: latency forces multi-stage retrieval (you can't score 10^8 items with a deep net per request); scale forces approximate methods; freshness forces a real-time path alongside batch; and the objective being a business metric is why offline accuracy alone is insufficient. Keep returning to these constraints when justifying architecture choices.
— MODIFIABLE FOR YOUR PLATFORM —
• Replace the catalog size (10⁶–10⁸) and QPS with your platform's actual numbers.
• State your real latency budget (e.g., p99 &lt; 80 ms end-to-end).
— ABBREVIATIONS —
• QPS = Queries Per Second
• K = the number of items returned (top-K)
• ms =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production shape — walk the serving funnel top, supporting planes bottom. Per request: resolve user+context, retrieve ~10^3 candidates via ANN, score them with a heavier ranker, then re-rank with business rules, return top-K. Underneath: a feature store with point-in-time correctness (critical to avoid train/serve skew), an embedding/ANN index built in batch, and a training pipeline with offline eval and gated rollout. The key design principle is decoupling expensive computation (batch) from cheap serving (online lookup).
— MODIFIABLE FOR YOUR PLATFORM —
• Annotate each box with the actual technology you use or propose (e.g., Feast for the feature store, FAISS/ScaNN for ANN).
— ABBREVIATIONS —
• ANN = Approximate Nearest Neighbor (fast similarity search)
• HNSW / IVF-PQ = ANN index structures
• DNN = Deep Neural Network
• GBDT = Gradient-Boosted Decision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 generation is a recall problem: you must not drop good items, but you can tolerate junk because the ranker filters it. Two-tower is the modern default — precompute item embeddings, embed the user/context at request time, ANN lookup. Graph embeddings (Alibaba's EGES is the canonical reference) handle huge sparse catalogs and incorporate side information for cold start. Co-occurrence is the cheap, strong baseline. In practice you blend several recall sources. Backend choice (HNSW/IVF-PQ/ScaNN) is a recall/latency/memory tradeoff.
— ABBREVIATIONS —
• EGES = Enhanced Graph Embedding with Side information (Alibaba/Taobao)
• ANN = Approximate Nearest Neighbor
• HNSW, IVF-PQ, ScaNN = ANN index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trajectory without dismissing the simple options — GBDTs remain competitive and cheap, and are still widely deployed for ranking. Wide &amp; Deep introduced combining memorization with generalization; DIN added attention over user history; DLRM-style models scale sparse embedding tables; SASRec and transformer rankers model the interaction sequence for session intent. The common thread: dense + sparse-embedding inputs, trained on implicit feedback with negative sampling. Pick the simplest model that hits your metric and latency budget.
— ABBREVIATIONS —
• LR = Logistic Regression
• GBDT = Gradient-Boosted Decision Trees
• DIN = Deep Interest Network
• DLRM = Deep Learning Recommendation Model
• SASRec = Self-Attentive Sequential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work is where most of the wins (and bugs) live. Explicit signals are clean but sparse; implicit dominates volume but is biased — users can only click what was shown (exposure/position bias), so treat implicit feedback as weighted positives rather than clean labels. Two infra musts: a shared feature store to eliminate train/serve skew, and point-in-time correctness so you never train on information that wouldn't have been available at prediction time (label leakage).
— MODIFIABLE FOR YOUR PLATFORM —
• List the actual event streams and feature store you use.
• Note your logging of impressions/positions, which is required for debiasing.
— ABBREVIATIONS —
• Train/serve skew = mismatch between features at training vs. inference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cold start as a missing-embedding problem. For new items, side-information aggregation — exactly what EGES does by folding category/brand/price into the graph embedding — gives a usable vector before any interactions exist. Popularity priors are the safe fallback. Exploration (multi-armed/contextual bandits) is the principled way to buy signal on new items rather than waiting passively. For new users, onboarding and context features seed the vector.
— ABBREVIATIONS —
• CF = Collaborative Filtering
• EGES = Enhanced Graph Embedding with Side information
• Bandit = exploration algorithm balancing trying new options vs. exploiting known-good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two-tier evaluation. Offline metrics (precision@k, recall@k, NDCG, MAP, AUC) are cheap and used to gate candidate models, but they're proxies. Online — A/B testing with proper significance, and interleaving for sensitive ranking comparisons — is the ground truth, judged on business metrics with guardrails (latency, diversity, return rate). The headline warning: offline and online frequently disagree, so nothing ships on offline metrics alone.
— ABBREVIATIONS —
• NDCG = Normalized Discounted Cumulative Gain
• MAP = Mean Average Precision
• AUC = Area Under the ROC Curve
• CTR = Click-Through Rate
• CVR = Conversion Rate
• AOV = Average Order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latency concrete with a budget breakdown. Ranking usually dominates, which is why you push everything possible into batch (embeddings, ANN index, candidate lists) and keep the online path lean. Optimization levers when you blow the budget: cache hot results, distill or quantize the ranker, and use early-exit/cascade ranking. The numbers here are illustrative — replace with your traced latencies.
— MODIFIABLE FOR YOUR PLATFORM —
• Replace the per-stage millisecond values with real numbers from your tracing/profiling.
• State your actual latency SLA (e.g., p99).
— ABBREVIATIONS —
• SLA = Service-Level Agreement (latency target)
• ANN = Approximate Nearest Neighbor
• DNN = Deep Neural Network
• Quantization = reducing numeric precision to speed up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architecture in published practice. Alibaba's EGES (KDD 2018) is the reference for graph-embedding retrieval with side-information aggregation to fix sparsity and cold start; it was A/B-validated for CTR gains on Taobao's mobile home feed at billion-item scale. JD.com published deep semantic retrieval plus pairwise deep re-ranking for search, emphasizing millisecond latency at massive GMV. Amazon's item-to-item is the enduring lesson in decoupling offline similarity computation from cheap online lookup. All three reinforce our architecture choices.
— ABBREVIATIONS —
• EGES = Enhanced Graph Embedding with Side information
• CTR = Click-Through Rate
• GMV = Gross Merchandise Value
• kNN = k-Nearest Neighbors
• JD = Jingdong (JD.com)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engineers, name the lever, not just the problem. Feedback loops → exploration/bandits. Popularity and position bias → inverse-propensity weighting and debiased training from logged impressions (which is why impression logging matters). Diversity → MMR or DPP at re-rank. Privacy → consent, data minimization, and on-device/federated approaches. Fairness → exposure-parity audits across users and sellers. Each is an engineering workstream, not a slogan.
— ABBREVIATIONS —
• MMR = Maximal Marginal Relevance
• DPP = Determinantal Point Process (diversity-promoting selection)
• IPW = Inverse-Propensity Weighting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technical body with a decision table, not a tool worship list. For each layer the point is the decision driver, not the brand: retrieval is a recall/latency/ops tradeoff; modeling should match team skill and required complexity (don't reach for transformers if a GBDT hits the metric); features live or die on train/serve parity; serving is a p99/cost problem; experimentation must be trustworthy. Build-vs-buy: buy commodity infra, build where your proprietary data is the moat, and always roll out behind flags with A/B gating.
— MODIFIABLE FOR YOUR PLATFORM —
• Replace the Options column with your actual or proposed stack.
• Add a 'current state' column if this is a migration plan.
— ABBREVIATIONS —
• FAISS / ScaNN / HNSWlib = ANN libraries
• GBDT = Gradient-Boosted Decision Trees
• p99 = 99th-percentile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system view and pivot to action: agree on the reference architecture, the initial retrieval+ranking choices, the evaluation harness, and a phased build plan. Offer to deep-dive any single stage (retrieval, ranking, serving, or eval) in a follow-up working session.
— ABBREVIATIONS —
• ANN = Approximate Nearest Neighbor
• GBDT = Gradient-Boosted Decision Trees
• DNN = Deep Neural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These slides support the deck with each platform's documented recommender history — including the post-GPT (generative/LLM) era — and effectiveness by user class. Every quantitative figure is from a source published after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arc: offline item–item similarity (1998/2003) → deep per-widget personalization (2017) → a custom shopping LLM on Bedrock with RAG over catalog/reviews and the COSMO commonsense knowledge graph (2024), then account-level memory conditioning (2025). Business signal: ~$12B incremental (Q4'25), +60% purchase completion for the engaged cohort.
— ABBREVIATIONS —
• CF = Collaborative Filtering
• RAG = Retrieval-Augmented Generation
• GenAI = Generative AI
— SOURCES —
• Amazon Science (2024); Amazon Q4 2025 earnings; COSMO, ACM SIGMOD 2024; Linden et al., IEEE (2003).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EGES (graph embeddings + side info) and DIN (attention CTR) defined the pre-GPT stack. 2025 shifts: LUM establishes recommendation scaling laws over long user sequences (+2.9% CTR/+1.2% RPM); URM casts retrieval as LLM generation with multi-query representation and semantic IDs, tens-of-ms latency, lifting new-category share 18.8%→46.2%; RecGPT replaces log-fitting with intent reasoning across mining/tagging/retrieval/explanation.
— ABBREVIATIONS —
• EGES = Enhanced Graph Embedding w/ Side info
• DIN = Deep Interest Network
• CTR = Click-Through Rate
• RPM = Revenue Per Mille
• LUM = Large User Model
• URM = Universal Retrieval Model
— SOURCES —
• Yan et al., LUM (2025); Jiang et al., URM (2025, arXiv:2502.03041); Yi et al., RecGPT (2025); Wang et al., EGES (KDD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Telepath (vision-aware DL, 2017) and deep semantic retrieval + pairwise re-ranking (2021) → 2025 generative stack: GenCTR uses generative pretraining then transfers to a discriminative CTR head (mitigating one-epoch overfitting); GRAM is generative retrieval + alignment; CFRAG mixes recall logits with LLM embeddings. Fewer public per-segment metrics than peers.
— ABBREVIATIONS —
• CTR = Click-Through Rate
• RAG = Retrieval-Augmented Generation
• GRAM = Generative Retrieval and Alignment Model
— SOURCES —
• Kong et al., GenCTR (2025, arXiv:2507.11246); JD GRAM &amp; CFRAG (2025); Zhao et al. (2017); Li et al.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Segment-wise: cold-start is where generative/LLM methods dominate classical CF, because semantic features and exploration bootstrap missing embeddings (URM serendipity 18.8%→46.2%; cold-start studies report large Recall@k gains). Mid-tail benefits from intent reasoning and RAG conditioning; head users benefit from long-sequence user models and scaling laws (LUM). Caveat: platform per-segment disclosures are rare; figures are drawn from 2025 papers as directional evidence.
— ABBREVIATIONS —
• CF = Collaborative Filtering
• Recall@k = share of relevant items in top k
• CTR = Click-Through Rate
• RAG = Retrieval-Augmented Generation
• URM = Universal Retrieval Model
• LUM = Large User Model
— SOURCES —
• Jiang et al., URM (2025); Yan et al., LUM (2025); Amazon Q4 2025; Li et al., Nov 2025 (Netflix cold-start); cold-start video study,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Consolidated citations for the appendix. All quantitative effectiveness numbers come from 2024–2026 sources; the only pre-2024 references describe historical milestones.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738360" y="3977640"/>
            <a:ext cx="1828800" cy="-1554480"/>
          </a:xfrm>
          <a:prstGeom prst="line">
            <a:avLst/>
          </a:prstGeom>
          <a:noFill/>
          <a:ln w="15875">
            <a:solidFill>
              <a:srgbClr val="06B6D4">
                <a:alpha val="55000"/>
              </a:srgbClr>
            </a:solidFill>
            <a:prstDash val="solid"/>
          </a:ln>
        </p:spPr>
      </p:sp>
      <p:sp>
        <p:nvSpPr>
          <p:cNvPr id="3" name="Shape 1"/>
          <p:cNvSpPr/>
          <p:nvPr/>
        </p:nvSpPr>
        <p:spPr>
          <a:xfrm>
            <a:off x="9738360" y="3977640"/>
            <a:ext cx="2331720" cy="-91440"/>
          </a:xfrm>
          <a:prstGeom prst="line">
            <a:avLst/>
          </a:prstGeom>
          <a:noFill/>
          <a:ln w="15875">
            <a:solidFill>
              <a:srgbClr val="06B6D4">
                <a:alpha val="55000"/>
              </a:srgbClr>
            </a:solidFill>
            <a:prstDash val="solid"/>
          </a:ln>
        </p:spPr>
      </p:sp>
      <p:sp>
        <p:nvSpPr>
          <p:cNvPr id="4" name="Shape 2"/>
          <p:cNvSpPr/>
          <p:nvPr/>
        </p:nvSpPr>
        <p:spPr>
          <a:xfrm>
            <a:off x="9738360" y="3977640"/>
            <a:ext cx="1737360" cy="1371600"/>
          </a:xfrm>
          <a:prstGeom prst="line">
            <a:avLst/>
          </a:prstGeom>
          <a:noFill/>
          <a:ln w="15875">
            <a:solidFill>
              <a:srgbClr val="06B6D4">
                <a:alpha val="55000"/>
              </a:srgbClr>
            </a:solidFill>
            <a:prstDash val="solid"/>
          </a:ln>
        </p:spPr>
      </p:sp>
      <p:sp>
        <p:nvSpPr>
          <p:cNvPr id="5" name="Shape 3"/>
          <p:cNvSpPr/>
          <p:nvPr/>
        </p:nvSpPr>
        <p:spPr>
          <a:xfrm>
            <a:off x="9738360" y="3977640"/>
            <a:ext cx="-457200" cy="1737360"/>
          </a:xfrm>
          <a:prstGeom prst="line">
            <a:avLst/>
          </a:prstGeom>
          <a:noFill/>
          <a:ln w="15875">
            <a:solidFill>
              <a:srgbClr val="06B6D4">
                <a:alpha val="55000"/>
              </a:srgbClr>
            </a:solidFill>
            <a:prstDash val="solid"/>
          </a:ln>
        </p:spPr>
      </p:sp>
      <p:sp>
        <p:nvSpPr>
          <p:cNvPr id="6" name="Shape 4"/>
          <p:cNvSpPr/>
          <p:nvPr/>
        </p:nvSpPr>
        <p:spPr>
          <a:xfrm>
            <a:off x="9738360" y="3977640"/>
            <a:ext cx="-1554480" cy="548640"/>
          </a:xfrm>
          <a:prstGeom prst="line">
            <a:avLst/>
          </a:prstGeom>
          <a:noFill/>
          <a:ln w="15875">
            <a:solidFill>
              <a:srgbClr val="06B6D4">
                <a:alpha val="55000"/>
              </a:srgbClr>
            </a:solidFill>
            <a:prstDash val="solid"/>
          </a:ln>
        </p:spPr>
      </p:sp>
      <p:sp>
        <p:nvSpPr>
          <p:cNvPr id="7" name="Shape 5"/>
          <p:cNvSpPr/>
          <p:nvPr/>
        </p:nvSpPr>
        <p:spPr>
          <a:xfrm>
            <a:off x="9738360" y="3977640"/>
            <a:ext cx="-1280160" cy="-1280160"/>
          </a:xfrm>
          <a:prstGeom prst="line">
            <a:avLst/>
          </a:prstGeom>
          <a:noFill/>
          <a:ln w="15875">
            <a:solidFill>
              <a:srgbClr val="06B6D4">
                <a:alpha val="55000"/>
              </a:srgbClr>
            </a:solidFill>
            <a:prstDash val="solid"/>
          </a:ln>
        </p:spPr>
      </p:sp>
      <p:sp>
        <p:nvSpPr>
          <p:cNvPr id="8" name="Shape 6"/>
          <p:cNvSpPr/>
          <p:nvPr/>
        </p:nvSpPr>
        <p:spPr>
          <a:xfrm>
            <a:off x="11155680" y="2011680"/>
            <a:ext cx="457200" cy="457200"/>
          </a:xfrm>
          <a:prstGeom prst="ellipse">
            <a:avLst/>
          </a:prstGeom>
          <a:solidFill>
            <a:srgbClr val="E2E8F0">
              <a:alpha val="82000"/>
            </a:srgbClr>
          </a:solidFill>
          <a:ln/>
        </p:spPr>
      </p:sp>
      <p:sp>
        <p:nvSpPr>
          <p:cNvPr id="9" name="Shape 7"/>
          <p:cNvSpPr/>
          <p:nvPr/>
        </p:nvSpPr>
        <p:spPr>
          <a:xfrm>
            <a:off x="11658600" y="3474720"/>
            <a:ext cx="457200" cy="457200"/>
          </a:xfrm>
          <a:prstGeom prst="ellipse">
            <a:avLst/>
          </a:prstGeom>
          <a:solidFill>
            <a:srgbClr val="E2E8F0">
              <a:alpha val="82000"/>
            </a:srgbClr>
          </a:solidFill>
          <a:ln/>
        </p:spPr>
      </p:sp>
      <p:sp>
        <p:nvSpPr>
          <p:cNvPr id="10" name="Shape 8"/>
          <p:cNvSpPr/>
          <p:nvPr/>
        </p:nvSpPr>
        <p:spPr>
          <a:xfrm>
            <a:off x="11064240" y="4937760"/>
            <a:ext cx="457200" cy="457200"/>
          </a:xfrm>
          <a:prstGeom prst="ellipse">
            <a:avLst/>
          </a:prstGeom>
          <a:solidFill>
            <a:srgbClr val="E2E8F0">
              <a:alpha val="82000"/>
            </a:srgbClr>
          </a:solidFill>
          <a:ln/>
        </p:spPr>
      </p:sp>
      <p:sp>
        <p:nvSpPr>
          <p:cNvPr id="11" name="Shape 9"/>
          <p:cNvSpPr/>
          <p:nvPr/>
        </p:nvSpPr>
        <p:spPr>
          <a:xfrm>
            <a:off x="8869680" y="5303520"/>
            <a:ext cx="457200" cy="457200"/>
          </a:xfrm>
          <a:prstGeom prst="ellipse">
            <a:avLst/>
          </a:prstGeom>
          <a:solidFill>
            <a:srgbClr val="E2E8F0">
              <a:alpha val="82000"/>
            </a:srgbClr>
          </a:solidFill>
          <a:ln/>
        </p:spPr>
      </p:sp>
      <p:sp>
        <p:nvSpPr>
          <p:cNvPr id="12" name="Shape 10"/>
          <p:cNvSpPr/>
          <p:nvPr/>
        </p:nvSpPr>
        <p:spPr>
          <a:xfrm>
            <a:off x="7772400" y="4114800"/>
            <a:ext cx="457200" cy="457200"/>
          </a:xfrm>
          <a:prstGeom prst="ellipse">
            <a:avLst/>
          </a:prstGeom>
          <a:solidFill>
            <a:srgbClr val="E2E8F0">
              <a:alpha val="82000"/>
            </a:srgbClr>
          </a:solidFill>
          <a:ln/>
        </p:spPr>
      </p:sp>
      <p:sp>
        <p:nvSpPr>
          <p:cNvPr id="13" name="Shape 11"/>
          <p:cNvSpPr/>
          <p:nvPr/>
        </p:nvSpPr>
        <p:spPr>
          <a:xfrm>
            <a:off x="8046720" y="2286000"/>
            <a:ext cx="457200" cy="457200"/>
          </a:xfrm>
          <a:prstGeom prst="ellipse">
            <a:avLst/>
          </a:prstGeom>
          <a:solidFill>
            <a:srgbClr val="E2E8F0">
              <a:alpha val="82000"/>
            </a:srgbClr>
          </a:solidFill>
          <a:ln/>
        </p:spPr>
      </p:sp>
      <p:sp>
        <p:nvSpPr>
          <p:cNvPr id="14" name="Shape 12"/>
          <p:cNvSpPr/>
          <p:nvPr/>
        </p:nvSpPr>
        <p:spPr>
          <a:xfrm>
            <a:off x="9326880" y="3566160"/>
            <a:ext cx="822960" cy="822960"/>
          </a:xfrm>
          <a:prstGeom prst="ellipse">
            <a:avLst/>
          </a:prstGeom>
          <a:solidFill>
            <a:srgbClr val="06B6D4"/>
          </a:solidFill>
          <a:ln/>
        </p:spPr>
      </p:sp>
      <p:pic>
        <p:nvPicPr>
          <p:cNvPr id="15" name="Image 0" descr="preencoded.png">    </p:cNvPr>
          <p:cNvPicPr>
            <a:picLocks noChangeAspect="1"/>
          </p:cNvPicPr>
          <p:nvPr/>
        </p:nvPicPr>
        <p:blipFill>
          <a:blip r:embed="rId1"/>
          <a:stretch>
            <a:fillRect/>
          </a:stretch>
        </p:blipFill>
        <p:spPr>
          <a:xfrm>
            <a:off x="9546336" y="3767328"/>
            <a:ext cx="384048" cy="420624"/>
          </a:xfrm>
          <a:prstGeom prst="rect">
            <a:avLst/>
          </a:prstGeom>
        </p:spPr>
      </p:pic>
      <p:sp>
        <p:nvSpPr>
          <p:cNvPr id="16" name="Text 13"/>
          <p:cNvSpPr/>
          <p:nvPr/>
        </p:nvSpPr>
        <p:spPr>
          <a:xfrm>
            <a:off x="777240" y="1188720"/>
            <a:ext cx="7315200" cy="274320"/>
          </a:xfrm>
          <a:prstGeom prst="rect">
            <a:avLst/>
          </a:prstGeom>
          <a:noFill/>
          <a:ln/>
        </p:spPr>
        <p:txBody>
          <a:bodyPr wrap="square" lIns="0" tIns="0" rIns="0" bIns="0" rtlCol="0" anchor="ctr"/>
          <a:lstStyle/>
          <a:p>
            <a:pPr indent="0" marL="0">
              <a:buNone/>
            </a:pPr>
            <a:r>
              <a:rPr lang="en-US" sz="1300" b="1" spc="200" kern="0" dirty="0">
                <a:solidFill>
                  <a:srgbClr val="06B6D4"/>
                </a:solidFill>
                <a:latin typeface="Arial" pitchFamily="34" charset="0"/>
                <a:ea typeface="Arial" pitchFamily="34" charset="-122"/>
                <a:cs typeface="Arial" pitchFamily="34" charset="-120"/>
              </a:rPr>
              <a:t>E-COMMERCE  ·  ARCHITECTURE &amp; IMPLEMENTATION</a:t>
            </a:r>
            <a:endParaRPr lang="en-US" sz="1300" dirty="0"/>
          </a:p>
        </p:txBody>
      </p:sp>
      <p:sp>
        <p:nvSpPr>
          <p:cNvPr id="17" name="Text 14"/>
          <p:cNvSpPr/>
          <p:nvPr/>
        </p:nvSpPr>
        <p:spPr>
          <a:xfrm>
            <a:off x="749808" y="1627632"/>
            <a:ext cx="7223760" cy="1737360"/>
          </a:xfrm>
          <a:prstGeom prst="rect">
            <a:avLst/>
          </a:prstGeom>
          <a:noFill/>
          <a:ln/>
        </p:spPr>
        <p:txBody>
          <a:bodyPr wrap="square" lIns="0" tIns="0" rIns="0" bIns="0" rtlCol="0" anchor="ctr"/>
          <a:lstStyle/>
          <a:p>
            <a:pPr indent="0" marL="0">
              <a:lnSpc>
                <a:spcPct val="102000"/>
              </a:lnSpc>
              <a:buNone/>
            </a:pPr>
            <a:r>
              <a:rPr lang="en-US" sz="4000" b="1" dirty="0">
                <a:solidFill>
                  <a:srgbClr val="E2E8F0"/>
                </a:solidFill>
                <a:latin typeface="Arial" pitchFamily="34" charset="0"/>
                <a:ea typeface="Arial" pitchFamily="34" charset="-122"/>
                <a:cs typeface="Arial" pitchFamily="34" charset="-120"/>
              </a:rPr>
              <a:t>Recommendation Systems: Architecture &amp; Implementation</a:t>
            </a:r>
            <a:endParaRPr lang="en-US" sz="4000" dirty="0"/>
          </a:p>
        </p:txBody>
      </p:sp>
      <p:sp>
        <p:nvSpPr>
          <p:cNvPr id="18" name="Text 15"/>
          <p:cNvSpPr/>
          <p:nvPr/>
        </p:nvSpPr>
        <p:spPr>
          <a:xfrm>
            <a:off x="777240" y="3611880"/>
            <a:ext cx="6949440" cy="457200"/>
          </a:xfrm>
          <a:prstGeom prst="rect">
            <a:avLst/>
          </a:prstGeom>
          <a:noFill/>
          <a:ln/>
        </p:spPr>
        <p:txBody>
          <a:bodyPr wrap="square" lIns="0" tIns="0" rIns="0" bIns="0" rtlCol="0" anchor="ctr"/>
          <a:lstStyle/>
          <a:p>
            <a:pPr indent="0" marL="0">
              <a:buNone/>
            </a:pPr>
            <a:r>
              <a:rPr lang="en-US" sz="1900" i="1" dirty="0">
                <a:solidFill>
                  <a:srgbClr val="06B6D4"/>
                </a:solidFill>
                <a:latin typeface="Arial" pitchFamily="34" charset="0"/>
                <a:ea typeface="Arial" pitchFamily="34" charset="-122"/>
                <a:cs typeface="Arial" pitchFamily="34" charset="-120"/>
              </a:rPr>
              <a:t>Retrieval, ranking, serving, and evaluation at scale</a:t>
            </a:r>
            <a:endParaRPr lang="en-US" sz="1900" dirty="0"/>
          </a:p>
        </p:txBody>
      </p:sp>
      <p:sp>
        <p:nvSpPr>
          <p:cNvPr id="19" name="Text 16"/>
          <p:cNvSpPr/>
          <p:nvPr/>
        </p:nvSpPr>
        <p:spPr>
          <a:xfrm>
            <a:off x="777240" y="4160520"/>
            <a:ext cx="6949440" cy="365760"/>
          </a:xfrm>
          <a:prstGeom prst="rect">
            <a:avLst/>
          </a:prstGeom>
          <a:noFill/>
          <a:ln/>
        </p:spPr>
        <p:txBody>
          <a:bodyPr wrap="square" lIns="0" tIns="0" rIns="0" bIns="0" rtlCol="0" anchor="ctr"/>
          <a:lstStyle/>
          <a:p>
            <a:pPr indent="0" marL="0">
              <a:buNone/>
            </a:pPr>
            <a:r>
              <a:rPr lang="en-US" sz="1500" dirty="0">
                <a:solidFill>
                  <a:srgbClr val="E2E8F0"/>
                </a:solidFill>
                <a:latin typeface="Arial" pitchFamily="34" charset="0"/>
                <a:ea typeface="Arial" pitchFamily="34" charset="-122"/>
                <a:cs typeface="Arial" pitchFamily="34" charset="-120"/>
              </a:rPr>
              <a:t>A technical deep-dive for the engineering team</a:t>
            </a:r>
            <a:endParaRPr lang="en-US" sz="1500" dirty="0"/>
          </a:p>
        </p:txBody>
      </p:sp>
      <p:sp>
        <p:nvSpPr>
          <p:cNvPr id="20" name="Shape 17"/>
          <p:cNvSpPr/>
          <p:nvPr/>
        </p:nvSpPr>
        <p:spPr>
          <a:xfrm>
            <a:off x="795528" y="5074920"/>
            <a:ext cx="2926080" cy="0"/>
          </a:xfrm>
          <a:prstGeom prst="line">
            <a:avLst/>
          </a:prstGeom>
          <a:noFill/>
          <a:ln w="9525">
            <a:solidFill>
              <a:srgbClr val="E2E8F0">
                <a:alpha val="45000"/>
              </a:srgbClr>
            </a:solidFill>
            <a:prstDash val="solid"/>
          </a:ln>
        </p:spPr>
      </p:sp>
      <p:sp>
        <p:nvSpPr>
          <p:cNvPr id="21" name="Text 18"/>
          <p:cNvSpPr/>
          <p:nvPr/>
        </p:nvSpPr>
        <p:spPr>
          <a:xfrm>
            <a:off x="777240" y="5212080"/>
            <a:ext cx="6949440" cy="320040"/>
          </a:xfrm>
          <a:prstGeom prst="rect">
            <a:avLst/>
          </a:prstGeom>
          <a:noFill/>
          <a:ln/>
        </p:spPr>
        <p:txBody>
          <a:bodyPr wrap="square" lIns="0" tIns="0" rIns="0" bIns="0" rtlCol="0" anchor="ctr"/>
          <a:lstStyle/>
          <a:p>
            <a:pPr indent="0" marL="0">
              <a:buNone/>
            </a:pPr>
            <a:r>
              <a:rPr lang="en-US" sz="1300" dirty="0">
                <a:solidFill>
                  <a:srgbClr val="E2E8F0"/>
                </a:solidFill>
                <a:latin typeface="Arial" pitchFamily="34" charset="0"/>
                <a:ea typeface="Arial" pitchFamily="34" charset="-122"/>
                <a:cs typeface="Arial" pitchFamily="34" charset="-120"/>
              </a:rPr>
              <a:t>Presented by Your Name   ·   June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PROBLEM FRAMING</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Top-K over f(user, item, context) under tight constraints</a:t>
            </a:r>
            <a:endParaRPr lang="en-US" sz="2700" dirty="0"/>
          </a:p>
        </p:txBody>
      </p:sp>
      <p:sp>
        <p:nvSpPr>
          <p:cNvPr id="4" name="Shape 2"/>
          <p:cNvSpPr/>
          <p:nvPr/>
        </p:nvSpPr>
        <p:spPr>
          <a:xfrm>
            <a:off x="640080" y="1645920"/>
            <a:ext cx="10927080" cy="914400"/>
          </a:xfrm>
          <a:prstGeom prst="roundRect">
            <a:avLst>
              <a:gd name="adj" fmla="val 12000"/>
            </a:avLst>
          </a:prstGeom>
          <a:solidFill>
            <a:srgbClr val="F1F5F9"/>
          </a:solidFill>
          <a:ln/>
          <a:effectLst>
            <a:outerShdw sx="100000" sy="100000" kx="0" ky="0" algn="bl" rotWithShape="0" blurRad="127000" dist="50800" dir="5400000">
              <a:srgbClr val="8A93A6">
                <a:alpha val="13000"/>
              </a:srgbClr>
            </a:outerShdw>
          </a:effectLst>
        </p:spPr>
      </p:sp>
      <p:sp>
        <p:nvSpPr>
          <p:cNvPr id="5" name="Shape 3"/>
          <p:cNvSpPr/>
          <p:nvPr/>
        </p:nvSpPr>
        <p:spPr>
          <a:xfrm>
            <a:off x="896112" y="1792224"/>
            <a:ext cx="548640" cy="548640"/>
          </a:xfrm>
          <a:prstGeom prst="ellipse">
            <a:avLst/>
          </a:prstGeom>
          <a:solidFill>
            <a:srgbClr val="06B6D4"/>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44245" y="1940357"/>
            <a:ext cx="252374" cy="252374"/>
          </a:xfrm>
          <a:prstGeom prst="rect">
            <a:avLst/>
          </a:prstGeom>
        </p:spPr>
      </p:pic>
      <p:sp>
        <p:nvSpPr>
          <p:cNvPr id="7" name="Text 4"/>
          <p:cNvSpPr/>
          <p:nvPr/>
        </p:nvSpPr>
        <p:spPr>
          <a:xfrm>
            <a:off x="1645920" y="1700784"/>
            <a:ext cx="9692640" cy="8229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Goal:  </a:t>
            </a:r>
            <a:pPr indent="0" marL="0">
              <a:buNone/>
            </a:pPr>
            <a:r>
              <a:rPr lang="en-US" sz="1400" dirty="0">
                <a:solidFill>
                  <a:srgbClr val="0F172A"/>
                </a:solidFill>
                <a:latin typeface="Arial" pitchFamily="34" charset="0"/>
                <a:ea typeface="Arial" pitchFamily="34" charset="-122"/>
                <a:cs typeface="Arial" pitchFamily="34" charset="-120"/>
              </a:rPr>
              <a:t>rank the catalog by predicted relevance and return the top-K, where </a:t>
            </a:r>
            <a:pPr indent="0" marL="0">
              <a:buNone/>
            </a:pPr>
            <a:r>
              <a:rPr lang="en-US" sz="1400" b="1" dirty="0">
                <a:solidFill>
                  <a:srgbClr val="1E293B"/>
                </a:solidFill>
                <a:latin typeface="Consolas" pitchFamily="34" charset="0"/>
                <a:ea typeface="Consolas" pitchFamily="34" charset="-122"/>
                <a:cs typeface="Consolas" pitchFamily="34" charset="-120"/>
              </a:rPr>
              <a:t>score = f(user, item, context)</a:t>
            </a:r>
            <a:pPr indent="0" marL="0">
              <a:buNone/>
            </a:pPr>
            <a:r>
              <a:rPr lang="en-US" sz="1400" dirty="0">
                <a:solidFill>
                  <a:srgbClr val="0F172A"/>
                </a:solidFill>
                <a:latin typeface="Arial" pitchFamily="34" charset="0"/>
                <a:ea typeface="Arial" pitchFamily="34" charset="-122"/>
                <a:cs typeface="Arial" pitchFamily="34" charset="-120"/>
              </a:rPr>
              <a:t>.</a:t>
            </a:r>
            <a:endParaRPr lang="en-US" sz="1400" dirty="0"/>
          </a:p>
        </p:txBody>
      </p:sp>
      <p:sp>
        <p:nvSpPr>
          <p:cNvPr id="8" name="Shape 5"/>
          <p:cNvSpPr/>
          <p:nvPr/>
        </p:nvSpPr>
        <p:spPr>
          <a:xfrm>
            <a:off x="640080" y="2788920"/>
            <a:ext cx="5349240" cy="1417320"/>
          </a:xfrm>
          <a:prstGeom prst="roundRect">
            <a:avLst>
              <a:gd name="adj" fmla="val 7742"/>
            </a:avLst>
          </a:prstGeom>
          <a:solidFill>
            <a:srgbClr val="FFFFFF"/>
          </a:solidFill>
          <a:ln/>
          <a:effectLst>
            <a:outerShdw sx="100000" sy="100000" kx="0" ky="0" algn="bl" rotWithShape="0" blurRad="127000" dist="50800" dir="5400000">
              <a:srgbClr val="8A93A6">
                <a:alpha val="13000"/>
              </a:srgbClr>
            </a:outerShdw>
          </a:effectLst>
        </p:spPr>
      </p:sp>
      <p:sp>
        <p:nvSpPr>
          <p:cNvPr id="9" name="Shape 6"/>
          <p:cNvSpPr/>
          <p:nvPr/>
        </p:nvSpPr>
        <p:spPr>
          <a:xfrm>
            <a:off x="640080" y="2788920"/>
            <a:ext cx="5349240" cy="1417320"/>
          </a:xfrm>
          <a:prstGeom prst="roundRect">
            <a:avLst>
              <a:gd name="adj" fmla="val 7742"/>
            </a:avLst>
          </a:prstGeom>
          <a:solidFill>
            <a:srgbClr val="FFFFFF">
              <a:alpha val="0"/>
            </a:srgbClr>
          </a:solidFill>
          <a:ln w="12700">
            <a:solidFill>
              <a:srgbClr val="DCE3EC"/>
            </a:solidFill>
            <a:prstDash val="solid"/>
          </a:ln>
        </p:spPr>
      </p:sp>
      <p:sp>
        <p:nvSpPr>
          <p:cNvPr id="10" name="Shape 7"/>
          <p:cNvSpPr/>
          <p:nvPr/>
        </p:nvSpPr>
        <p:spPr>
          <a:xfrm>
            <a:off x="896112" y="3044952"/>
            <a:ext cx="640080" cy="640080"/>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1068934" y="3217774"/>
            <a:ext cx="294437" cy="294437"/>
          </a:xfrm>
          <a:prstGeom prst="rect">
            <a:avLst/>
          </a:prstGeom>
        </p:spPr>
      </p:pic>
      <p:sp>
        <p:nvSpPr>
          <p:cNvPr id="12" name="Text 8"/>
          <p:cNvSpPr/>
          <p:nvPr/>
        </p:nvSpPr>
        <p:spPr>
          <a:xfrm>
            <a:off x="1737360" y="3008376"/>
            <a:ext cx="4069080" cy="347472"/>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Latency</a:t>
            </a:r>
            <a:endParaRPr lang="en-US" sz="1550" dirty="0"/>
          </a:p>
        </p:txBody>
      </p:sp>
      <p:sp>
        <p:nvSpPr>
          <p:cNvPr id="13" name="Text 9"/>
          <p:cNvSpPr/>
          <p:nvPr/>
        </p:nvSpPr>
        <p:spPr>
          <a:xfrm>
            <a:off x="1737360" y="3392424"/>
            <a:ext cx="4069080" cy="64008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Score &amp; rank within a page-load budget (tens of ms).</a:t>
            </a:r>
            <a:endParaRPr lang="en-US" sz="1250" dirty="0"/>
          </a:p>
        </p:txBody>
      </p:sp>
      <p:sp>
        <p:nvSpPr>
          <p:cNvPr id="14" name="Shape 10"/>
          <p:cNvSpPr/>
          <p:nvPr/>
        </p:nvSpPr>
        <p:spPr>
          <a:xfrm>
            <a:off x="6217920" y="2788920"/>
            <a:ext cx="5349240" cy="1417320"/>
          </a:xfrm>
          <a:prstGeom prst="roundRect">
            <a:avLst>
              <a:gd name="adj" fmla="val 7742"/>
            </a:avLst>
          </a:prstGeom>
          <a:solidFill>
            <a:srgbClr val="FFFFFF"/>
          </a:solidFill>
          <a:ln/>
          <a:effectLst>
            <a:outerShdw sx="100000" sy="100000" kx="0" ky="0" algn="bl" rotWithShape="0" blurRad="127000" dist="50800" dir="5400000">
              <a:srgbClr val="8A93A6">
                <a:alpha val="13000"/>
              </a:srgbClr>
            </a:outerShdw>
          </a:effectLst>
        </p:spPr>
      </p:sp>
      <p:sp>
        <p:nvSpPr>
          <p:cNvPr id="15" name="Shape 11"/>
          <p:cNvSpPr/>
          <p:nvPr/>
        </p:nvSpPr>
        <p:spPr>
          <a:xfrm>
            <a:off x="6217920" y="2788920"/>
            <a:ext cx="5349240" cy="1417320"/>
          </a:xfrm>
          <a:prstGeom prst="roundRect">
            <a:avLst>
              <a:gd name="adj" fmla="val 7742"/>
            </a:avLst>
          </a:prstGeom>
          <a:solidFill>
            <a:srgbClr val="FFFFFF">
              <a:alpha val="0"/>
            </a:srgbClr>
          </a:solidFill>
          <a:ln w="12700">
            <a:solidFill>
              <a:srgbClr val="DCE3EC"/>
            </a:solidFill>
            <a:prstDash val="solid"/>
          </a:ln>
        </p:spPr>
      </p:sp>
      <p:sp>
        <p:nvSpPr>
          <p:cNvPr id="16" name="Shape 12"/>
          <p:cNvSpPr/>
          <p:nvPr/>
        </p:nvSpPr>
        <p:spPr>
          <a:xfrm>
            <a:off x="6473952" y="3044952"/>
            <a:ext cx="640080" cy="640080"/>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17" name="Image 2" descr="preencoded.png">    </p:cNvPr>
          <p:cNvPicPr>
            <a:picLocks noChangeAspect="1"/>
          </p:cNvPicPr>
          <p:nvPr/>
        </p:nvPicPr>
        <p:blipFill>
          <a:blip r:embed="rId3"/>
          <a:stretch>
            <a:fillRect/>
          </a:stretch>
        </p:blipFill>
        <p:spPr>
          <a:xfrm>
            <a:off x="6646774" y="3217774"/>
            <a:ext cx="294437" cy="294437"/>
          </a:xfrm>
          <a:prstGeom prst="rect">
            <a:avLst/>
          </a:prstGeom>
        </p:spPr>
      </p:pic>
      <p:sp>
        <p:nvSpPr>
          <p:cNvPr id="18" name="Text 13"/>
          <p:cNvSpPr/>
          <p:nvPr/>
        </p:nvSpPr>
        <p:spPr>
          <a:xfrm>
            <a:off x="7315200" y="3008376"/>
            <a:ext cx="4069080" cy="347472"/>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Scale</a:t>
            </a:r>
            <a:endParaRPr lang="en-US" sz="1550" dirty="0"/>
          </a:p>
        </p:txBody>
      </p:sp>
      <p:sp>
        <p:nvSpPr>
          <p:cNvPr id="19" name="Text 14"/>
          <p:cNvSpPr/>
          <p:nvPr/>
        </p:nvSpPr>
        <p:spPr>
          <a:xfrm>
            <a:off x="7315200" y="3392424"/>
            <a:ext cx="4069080" cy="64008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Catalogs of 10⁶–10⁸ items; millions of QPS at peak.</a:t>
            </a:r>
            <a:endParaRPr lang="en-US" sz="1250" dirty="0"/>
          </a:p>
        </p:txBody>
      </p:sp>
      <p:sp>
        <p:nvSpPr>
          <p:cNvPr id="20" name="Shape 15"/>
          <p:cNvSpPr/>
          <p:nvPr/>
        </p:nvSpPr>
        <p:spPr>
          <a:xfrm>
            <a:off x="640080" y="4443984"/>
            <a:ext cx="5349240" cy="1417320"/>
          </a:xfrm>
          <a:prstGeom prst="roundRect">
            <a:avLst>
              <a:gd name="adj" fmla="val 7742"/>
            </a:avLst>
          </a:prstGeom>
          <a:solidFill>
            <a:srgbClr val="FFFFFF"/>
          </a:solidFill>
          <a:ln/>
          <a:effectLst>
            <a:outerShdw sx="100000" sy="100000" kx="0" ky="0" algn="bl" rotWithShape="0" blurRad="127000" dist="50800" dir="5400000">
              <a:srgbClr val="8A93A6">
                <a:alpha val="13000"/>
              </a:srgbClr>
            </a:outerShdw>
          </a:effectLst>
        </p:spPr>
      </p:sp>
      <p:sp>
        <p:nvSpPr>
          <p:cNvPr id="21" name="Shape 16"/>
          <p:cNvSpPr/>
          <p:nvPr/>
        </p:nvSpPr>
        <p:spPr>
          <a:xfrm>
            <a:off x="640080" y="4443984"/>
            <a:ext cx="5349240" cy="1417320"/>
          </a:xfrm>
          <a:prstGeom prst="roundRect">
            <a:avLst>
              <a:gd name="adj" fmla="val 7742"/>
            </a:avLst>
          </a:prstGeom>
          <a:solidFill>
            <a:srgbClr val="FFFFFF">
              <a:alpha val="0"/>
            </a:srgbClr>
          </a:solidFill>
          <a:ln w="12700">
            <a:solidFill>
              <a:srgbClr val="DCE3EC"/>
            </a:solidFill>
            <a:prstDash val="solid"/>
          </a:ln>
        </p:spPr>
      </p:sp>
      <p:sp>
        <p:nvSpPr>
          <p:cNvPr id="22" name="Shape 17"/>
          <p:cNvSpPr/>
          <p:nvPr/>
        </p:nvSpPr>
        <p:spPr>
          <a:xfrm>
            <a:off x="896112" y="4700016"/>
            <a:ext cx="640080" cy="640080"/>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23" name="Image 3" descr="preencoded.png">    </p:cNvPr>
          <p:cNvPicPr>
            <a:picLocks noChangeAspect="1"/>
          </p:cNvPicPr>
          <p:nvPr/>
        </p:nvPicPr>
        <p:blipFill>
          <a:blip r:embed="rId4"/>
          <a:stretch>
            <a:fillRect/>
          </a:stretch>
        </p:blipFill>
        <p:spPr>
          <a:xfrm>
            <a:off x="1068934" y="4872838"/>
            <a:ext cx="294437" cy="294437"/>
          </a:xfrm>
          <a:prstGeom prst="rect">
            <a:avLst/>
          </a:prstGeom>
        </p:spPr>
      </p:pic>
      <p:sp>
        <p:nvSpPr>
          <p:cNvPr id="24" name="Text 18"/>
          <p:cNvSpPr/>
          <p:nvPr/>
        </p:nvSpPr>
        <p:spPr>
          <a:xfrm>
            <a:off x="1737360" y="4663440"/>
            <a:ext cx="4069080" cy="347472"/>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Freshness</a:t>
            </a:r>
            <a:endParaRPr lang="en-US" sz="1550" dirty="0"/>
          </a:p>
        </p:txBody>
      </p:sp>
      <p:sp>
        <p:nvSpPr>
          <p:cNvPr id="25" name="Text 19"/>
          <p:cNvSpPr/>
          <p:nvPr/>
        </p:nvSpPr>
        <p:spPr>
          <a:xfrm>
            <a:off x="1737360" y="5047488"/>
            <a:ext cx="4069080" cy="64008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New items, new behavior, and context must propagate fast.</a:t>
            </a:r>
            <a:endParaRPr lang="en-US" sz="1250" dirty="0"/>
          </a:p>
        </p:txBody>
      </p:sp>
      <p:sp>
        <p:nvSpPr>
          <p:cNvPr id="26" name="Shape 20"/>
          <p:cNvSpPr/>
          <p:nvPr/>
        </p:nvSpPr>
        <p:spPr>
          <a:xfrm>
            <a:off x="6217920" y="4443984"/>
            <a:ext cx="5349240" cy="1417320"/>
          </a:xfrm>
          <a:prstGeom prst="roundRect">
            <a:avLst>
              <a:gd name="adj" fmla="val 7742"/>
            </a:avLst>
          </a:prstGeom>
          <a:solidFill>
            <a:srgbClr val="FFFFFF"/>
          </a:solidFill>
          <a:ln/>
          <a:effectLst>
            <a:outerShdw sx="100000" sy="100000" kx="0" ky="0" algn="bl" rotWithShape="0" blurRad="127000" dist="50800" dir="5400000">
              <a:srgbClr val="8A93A6">
                <a:alpha val="13000"/>
              </a:srgbClr>
            </a:outerShdw>
          </a:effectLst>
        </p:spPr>
      </p:sp>
      <p:sp>
        <p:nvSpPr>
          <p:cNvPr id="27" name="Shape 21"/>
          <p:cNvSpPr/>
          <p:nvPr/>
        </p:nvSpPr>
        <p:spPr>
          <a:xfrm>
            <a:off x="6217920" y="4443984"/>
            <a:ext cx="5349240" cy="1417320"/>
          </a:xfrm>
          <a:prstGeom prst="roundRect">
            <a:avLst>
              <a:gd name="adj" fmla="val 7742"/>
            </a:avLst>
          </a:prstGeom>
          <a:solidFill>
            <a:srgbClr val="FFFFFF">
              <a:alpha val="0"/>
            </a:srgbClr>
          </a:solidFill>
          <a:ln w="12700">
            <a:solidFill>
              <a:srgbClr val="DCE3EC"/>
            </a:solidFill>
            <a:prstDash val="solid"/>
          </a:ln>
        </p:spPr>
      </p:sp>
      <p:sp>
        <p:nvSpPr>
          <p:cNvPr id="28" name="Shape 22"/>
          <p:cNvSpPr/>
          <p:nvPr/>
        </p:nvSpPr>
        <p:spPr>
          <a:xfrm>
            <a:off x="6473952" y="4700016"/>
            <a:ext cx="640080" cy="640080"/>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29" name="Image 4" descr="preencoded.png">    </p:cNvPr>
          <p:cNvPicPr>
            <a:picLocks noChangeAspect="1"/>
          </p:cNvPicPr>
          <p:nvPr/>
        </p:nvPicPr>
        <p:blipFill>
          <a:blip r:embed="rId5"/>
          <a:stretch>
            <a:fillRect/>
          </a:stretch>
        </p:blipFill>
        <p:spPr>
          <a:xfrm>
            <a:off x="6646774" y="4872838"/>
            <a:ext cx="294437" cy="294437"/>
          </a:xfrm>
          <a:prstGeom prst="rect">
            <a:avLst/>
          </a:prstGeom>
        </p:spPr>
      </p:pic>
      <p:sp>
        <p:nvSpPr>
          <p:cNvPr id="30" name="Text 23"/>
          <p:cNvSpPr/>
          <p:nvPr/>
        </p:nvSpPr>
        <p:spPr>
          <a:xfrm>
            <a:off x="7315200" y="4663440"/>
            <a:ext cx="4069080" cy="347472"/>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Objective</a:t>
            </a:r>
            <a:endParaRPr lang="en-US" sz="1550" dirty="0"/>
          </a:p>
        </p:txBody>
      </p:sp>
      <p:sp>
        <p:nvSpPr>
          <p:cNvPr id="31" name="Text 24"/>
          <p:cNvSpPr/>
          <p:nvPr/>
        </p:nvSpPr>
        <p:spPr>
          <a:xfrm>
            <a:off x="7315200" y="5047488"/>
            <a:ext cx="4069080" cy="64008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Optimize a business metric, not just offline accuracy.</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REFERENCE ARCHITECTURE</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A multi-stage funnel with separate serving &amp; training planes</a:t>
            </a:r>
            <a:endParaRPr lang="en-US" sz="2700" dirty="0"/>
          </a:p>
        </p:txBody>
      </p:sp>
      <p:sp>
        <p:nvSpPr>
          <p:cNvPr id="4" name="Shape 2"/>
          <p:cNvSpPr/>
          <p:nvPr/>
        </p:nvSpPr>
        <p:spPr>
          <a:xfrm>
            <a:off x="640080" y="1783080"/>
            <a:ext cx="2148840" cy="1234440"/>
          </a:xfrm>
          <a:prstGeom prst="roundRect">
            <a:avLst>
              <a:gd name="adj" fmla="val 8889"/>
            </a:avLst>
          </a:prstGeom>
          <a:solidFill>
            <a:srgbClr val="F1F5F9"/>
          </a:solidFill>
          <a:ln/>
          <a:effectLst>
            <a:outerShdw sx="100000" sy="100000" kx="0" ky="0" algn="bl" rotWithShape="0" blurRad="127000" dist="50800" dir="5400000">
              <a:srgbClr val="8A93A6">
                <a:alpha val="13000"/>
              </a:srgbClr>
            </a:outerShdw>
          </a:effectLst>
        </p:spPr>
      </p:sp>
      <p:sp>
        <p:nvSpPr>
          <p:cNvPr id="5" name="Shape 3"/>
          <p:cNvSpPr/>
          <p:nvPr/>
        </p:nvSpPr>
        <p:spPr>
          <a:xfrm>
            <a:off x="1412748" y="1929384"/>
            <a:ext cx="603504" cy="603504"/>
          </a:xfrm>
          <a:prstGeom prst="ellipse">
            <a:avLst/>
          </a:prstGeom>
          <a:solidFill>
            <a:srgbClr val="64748B"/>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575694" y="2092330"/>
            <a:ext cx="277612" cy="277612"/>
          </a:xfrm>
          <a:prstGeom prst="rect">
            <a:avLst/>
          </a:prstGeom>
        </p:spPr>
      </p:pic>
      <p:sp>
        <p:nvSpPr>
          <p:cNvPr id="7" name="Text 4"/>
          <p:cNvSpPr/>
          <p:nvPr/>
        </p:nvSpPr>
        <p:spPr>
          <a:xfrm>
            <a:off x="731520" y="2532888"/>
            <a:ext cx="19659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Request</a:t>
            </a:r>
            <a:endParaRPr lang="en-US" sz="1300" dirty="0"/>
          </a:p>
        </p:txBody>
      </p:sp>
      <p:sp>
        <p:nvSpPr>
          <p:cNvPr id="8" name="Text 5"/>
          <p:cNvSpPr/>
          <p:nvPr/>
        </p:nvSpPr>
        <p:spPr>
          <a:xfrm>
            <a:off x="731520" y="2770632"/>
            <a:ext cx="1965960" cy="228600"/>
          </a:xfrm>
          <a:prstGeom prst="rect">
            <a:avLst/>
          </a:prstGeom>
          <a:noFill/>
          <a:ln/>
        </p:spPr>
        <p:txBody>
          <a:bodyPr wrap="square" lIns="0" tIns="0" rIns="0" bIns="0" rtlCol="0" anchor="ctr"/>
          <a:lstStyle/>
          <a:p>
            <a:pPr algn="ctr" indent="0" marL="0">
              <a:buNone/>
            </a:pPr>
            <a:r>
              <a:rPr lang="en-US" sz="1000" dirty="0">
                <a:solidFill>
                  <a:srgbClr val="64748B"/>
                </a:solidFill>
                <a:latin typeface="Consolas" pitchFamily="34" charset="0"/>
                <a:ea typeface="Consolas" pitchFamily="34" charset="-122"/>
                <a:cs typeface="Consolas" pitchFamily="34" charset="-120"/>
              </a:rPr>
              <a:t>user + context</a:t>
            </a:r>
            <a:endParaRPr lang="en-US" sz="1000" dirty="0"/>
          </a:p>
        </p:txBody>
      </p:sp>
      <p:pic>
        <p:nvPicPr>
          <p:cNvPr id="9" name="Image 1" descr="preencoded.png">    </p:cNvPr>
          <p:cNvPicPr>
            <a:picLocks noChangeAspect="1"/>
          </p:cNvPicPr>
          <p:nvPr/>
        </p:nvPicPr>
        <p:blipFill>
          <a:blip r:embed="rId2"/>
          <a:stretch>
            <a:fillRect/>
          </a:stretch>
        </p:blipFill>
        <p:spPr>
          <a:xfrm>
            <a:off x="2825496" y="2244852"/>
            <a:ext cx="310896" cy="155448"/>
          </a:xfrm>
          <a:prstGeom prst="rect">
            <a:avLst/>
          </a:prstGeom>
        </p:spPr>
      </p:pic>
      <p:sp>
        <p:nvSpPr>
          <p:cNvPr id="10" name="Shape 6"/>
          <p:cNvSpPr/>
          <p:nvPr/>
        </p:nvSpPr>
        <p:spPr>
          <a:xfrm>
            <a:off x="3081528" y="1783080"/>
            <a:ext cx="2148840" cy="1234440"/>
          </a:xfrm>
          <a:prstGeom prst="roundRect">
            <a:avLst>
              <a:gd name="adj" fmla="val 8889"/>
            </a:avLst>
          </a:prstGeom>
          <a:solidFill>
            <a:srgbClr val="FFFFFF"/>
          </a:solidFill>
          <a:ln/>
          <a:effectLst>
            <a:outerShdw sx="100000" sy="100000" kx="0" ky="0" algn="bl" rotWithShape="0" blurRad="127000" dist="50800" dir="5400000">
              <a:srgbClr val="8A93A6">
                <a:alpha val="13000"/>
              </a:srgbClr>
            </a:outerShdw>
          </a:effectLst>
        </p:spPr>
      </p:sp>
      <p:sp>
        <p:nvSpPr>
          <p:cNvPr id="11" name="Shape 7"/>
          <p:cNvSpPr/>
          <p:nvPr/>
        </p:nvSpPr>
        <p:spPr>
          <a:xfrm>
            <a:off x="3081528" y="1783080"/>
            <a:ext cx="2148840" cy="1234440"/>
          </a:xfrm>
          <a:prstGeom prst="roundRect">
            <a:avLst>
              <a:gd name="adj" fmla="val 8889"/>
            </a:avLst>
          </a:prstGeom>
          <a:solidFill>
            <a:srgbClr val="FFFFFF">
              <a:alpha val="0"/>
            </a:srgbClr>
          </a:solidFill>
          <a:ln w="12700">
            <a:solidFill>
              <a:srgbClr val="DCE3EC"/>
            </a:solidFill>
            <a:prstDash val="solid"/>
          </a:ln>
        </p:spPr>
      </p:sp>
      <p:sp>
        <p:nvSpPr>
          <p:cNvPr id="12" name="Shape 8"/>
          <p:cNvSpPr/>
          <p:nvPr/>
        </p:nvSpPr>
        <p:spPr>
          <a:xfrm>
            <a:off x="3854196" y="1929384"/>
            <a:ext cx="603504" cy="603504"/>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13" name="Image 2" descr="preencoded.png">    </p:cNvPr>
          <p:cNvPicPr>
            <a:picLocks noChangeAspect="1"/>
          </p:cNvPicPr>
          <p:nvPr/>
        </p:nvPicPr>
        <p:blipFill>
          <a:blip r:embed="rId3"/>
          <a:stretch>
            <a:fillRect/>
          </a:stretch>
        </p:blipFill>
        <p:spPr>
          <a:xfrm>
            <a:off x="4017142" y="2092330"/>
            <a:ext cx="277612" cy="277612"/>
          </a:xfrm>
          <a:prstGeom prst="rect">
            <a:avLst/>
          </a:prstGeom>
        </p:spPr>
      </p:pic>
      <p:sp>
        <p:nvSpPr>
          <p:cNvPr id="14" name="Text 9"/>
          <p:cNvSpPr/>
          <p:nvPr/>
        </p:nvSpPr>
        <p:spPr>
          <a:xfrm>
            <a:off x="3172968" y="2532888"/>
            <a:ext cx="19659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Candidate gen</a:t>
            </a:r>
            <a:endParaRPr lang="en-US" sz="1300" dirty="0"/>
          </a:p>
        </p:txBody>
      </p:sp>
      <p:sp>
        <p:nvSpPr>
          <p:cNvPr id="15" name="Text 10"/>
          <p:cNvSpPr/>
          <p:nvPr/>
        </p:nvSpPr>
        <p:spPr>
          <a:xfrm>
            <a:off x="3172968" y="2770632"/>
            <a:ext cx="1965960" cy="228600"/>
          </a:xfrm>
          <a:prstGeom prst="rect">
            <a:avLst/>
          </a:prstGeom>
          <a:noFill/>
          <a:ln/>
        </p:spPr>
        <p:txBody>
          <a:bodyPr wrap="square" lIns="0" tIns="0" rIns="0" bIns="0" rtlCol="0" anchor="ctr"/>
          <a:lstStyle/>
          <a:p>
            <a:pPr algn="ctr" indent="0" marL="0">
              <a:buNone/>
            </a:pPr>
            <a:r>
              <a:rPr lang="en-US" sz="1000" dirty="0">
                <a:solidFill>
                  <a:srgbClr val="64748B"/>
                </a:solidFill>
                <a:latin typeface="Consolas" pitchFamily="34" charset="0"/>
                <a:ea typeface="Consolas" pitchFamily="34" charset="-122"/>
                <a:cs typeface="Consolas" pitchFamily="34" charset="-120"/>
              </a:rPr>
              <a:t>ANN retrieval ~10³</a:t>
            </a:r>
            <a:endParaRPr lang="en-US" sz="1000" dirty="0"/>
          </a:p>
        </p:txBody>
      </p:sp>
      <p:pic>
        <p:nvPicPr>
          <p:cNvPr id="16" name="Image 3" descr="preencoded.png">    </p:cNvPr>
          <p:cNvPicPr>
            <a:picLocks noChangeAspect="1"/>
          </p:cNvPicPr>
          <p:nvPr/>
        </p:nvPicPr>
        <p:blipFill>
          <a:blip r:embed="rId4"/>
          <a:stretch>
            <a:fillRect/>
          </a:stretch>
        </p:blipFill>
        <p:spPr>
          <a:xfrm>
            <a:off x="5266944" y="2244852"/>
            <a:ext cx="310896" cy="155448"/>
          </a:xfrm>
          <a:prstGeom prst="rect">
            <a:avLst/>
          </a:prstGeom>
        </p:spPr>
      </p:pic>
      <p:sp>
        <p:nvSpPr>
          <p:cNvPr id="17" name="Shape 11"/>
          <p:cNvSpPr/>
          <p:nvPr/>
        </p:nvSpPr>
        <p:spPr>
          <a:xfrm>
            <a:off x="5522976" y="1783080"/>
            <a:ext cx="2148840" cy="1234440"/>
          </a:xfrm>
          <a:prstGeom prst="roundRect">
            <a:avLst>
              <a:gd name="adj" fmla="val 8889"/>
            </a:avLst>
          </a:prstGeom>
          <a:solidFill>
            <a:srgbClr val="FFFFFF"/>
          </a:solidFill>
          <a:ln/>
          <a:effectLst>
            <a:outerShdw sx="100000" sy="100000" kx="0" ky="0" algn="bl" rotWithShape="0" blurRad="127000" dist="50800" dir="5400000">
              <a:srgbClr val="8A93A6">
                <a:alpha val="13000"/>
              </a:srgbClr>
            </a:outerShdw>
          </a:effectLst>
        </p:spPr>
      </p:sp>
      <p:sp>
        <p:nvSpPr>
          <p:cNvPr id="18" name="Shape 12"/>
          <p:cNvSpPr/>
          <p:nvPr/>
        </p:nvSpPr>
        <p:spPr>
          <a:xfrm>
            <a:off x="5522976" y="1783080"/>
            <a:ext cx="2148840" cy="1234440"/>
          </a:xfrm>
          <a:prstGeom prst="roundRect">
            <a:avLst>
              <a:gd name="adj" fmla="val 8889"/>
            </a:avLst>
          </a:prstGeom>
          <a:solidFill>
            <a:srgbClr val="FFFFFF">
              <a:alpha val="0"/>
            </a:srgbClr>
          </a:solidFill>
          <a:ln w="12700">
            <a:solidFill>
              <a:srgbClr val="DCE3EC"/>
            </a:solidFill>
            <a:prstDash val="solid"/>
          </a:ln>
        </p:spPr>
      </p:sp>
      <p:sp>
        <p:nvSpPr>
          <p:cNvPr id="19" name="Shape 13"/>
          <p:cNvSpPr/>
          <p:nvPr/>
        </p:nvSpPr>
        <p:spPr>
          <a:xfrm>
            <a:off x="6295644" y="1929384"/>
            <a:ext cx="603504" cy="603504"/>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20" name="Image 4" descr="preencoded.png">    </p:cNvPr>
          <p:cNvPicPr>
            <a:picLocks noChangeAspect="1"/>
          </p:cNvPicPr>
          <p:nvPr/>
        </p:nvPicPr>
        <p:blipFill>
          <a:blip r:embed="rId5"/>
          <a:stretch>
            <a:fillRect/>
          </a:stretch>
        </p:blipFill>
        <p:spPr>
          <a:xfrm>
            <a:off x="6458590" y="2092330"/>
            <a:ext cx="277612" cy="277612"/>
          </a:xfrm>
          <a:prstGeom prst="rect">
            <a:avLst/>
          </a:prstGeom>
        </p:spPr>
      </p:pic>
      <p:sp>
        <p:nvSpPr>
          <p:cNvPr id="21" name="Text 14"/>
          <p:cNvSpPr/>
          <p:nvPr/>
        </p:nvSpPr>
        <p:spPr>
          <a:xfrm>
            <a:off x="5614416" y="2532888"/>
            <a:ext cx="19659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Ranking</a:t>
            </a:r>
            <a:endParaRPr lang="en-US" sz="1300" dirty="0"/>
          </a:p>
        </p:txBody>
      </p:sp>
      <p:sp>
        <p:nvSpPr>
          <p:cNvPr id="22" name="Text 15"/>
          <p:cNvSpPr/>
          <p:nvPr/>
        </p:nvSpPr>
        <p:spPr>
          <a:xfrm>
            <a:off x="5614416" y="2770632"/>
            <a:ext cx="1965960" cy="228600"/>
          </a:xfrm>
          <a:prstGeom prst="rect">
            <a:avLst/>
          </a:prstGeom>
          <a:noFill/>
          <a:ln/>
        </p:spPr>
        <p:txBody>
          <a:bodyPr wrap="square" lIns="0" tIns="0" rIns="0" bIns="0" rtlCol="0" anchor="ctr"/>
          <a:lstStyle/>
          <a:p>
            <a:pPr algn="ctr" indent="0" marL="0">
              <a:buNone/>
            </a:pPr>
            <a:r>
              <a:rPr lang="en-US" sz="1000" dirty="0">
                <a:solidFill>
                  <a:srgbClr val="64748B"/>
                </a:solidFill>
                <a:latin typeface="Consolas" pitchFamily="34" charset="0"/>
                <a:ea typeface="Consolas" pitchFamily="34" charset="-122"/>
                <a:cs typeface="Consolas" pitchFamily="34" charset="-120"/>
              </a:rPr>
              <a:t>DNN / GBDT scorer</a:t>
            </a:r>
            <a:endParaRPr lang="en-US" sz="1000" dirty="0"/>
          </a:p>
        </p:txBody>
      </p:sp>
      <p:pic>
        <p:nvPicPr>
          <p:cNvPr id="23" name="Image 5" descr="preencoded.png">    </p:cNvPr>
          <p:cNvPicPr>
            <a:picLocks noChangeAspect="1"/>
          </p:cNvPicPr>
          <p:nvPr/>
        </p:nvPicPr>
        <p:blipFill>
          <a:blip r:embed="rId6"/>
          <a:stretch>
            <a:fillRect/>
          </a:stretch>
        </p:blipFill>
        <p:spPr>
          <a:xfrm>
            <a:off x="7708392" y="2244852"/>
            <a:ext cx="310896" cy="155448"/>
          </a:xfrm>
          <a:prstGeom prst="rect">
            <a:avLst/>
          </a:prstGeom>
        </p:spPr>
      </p:pic>
      <p:sp>
        <p:nvSpPr>
          <p:cNvPr id="24" name="Shape 16"/>
          <p:cNvSpPr/>
          <p:nvPr/>
        </p:nvSpPr>
        <p:spPr>
          <a:xfrm>
            <a:off x="7964424" y="1783080"/>
            <a:ext cx="2148840" cy="1234440"/>
          </a:xfrm>
          <a:prstGeom prst="roundRect">
            <a:avLst>
              <a:gd name="adj" fmla="val 8889"/>
            </a:avLst>
          </a:prstGeom>
          <a:solidFill>
            <a:srgbClr val="FFFFFF"/>
          </a:solidFill>
          <a:ln/>
          <a:effectLst>
            <a:outerShdw sx="100000" sy="100000" kx="0" ky="0" algn="bl" rotWithShape="0" blurRad="127000" dist="50800" dir="5400000">
              <a:srgbClr val="8A93A6">
                <a:alpha val="13000"/>
              </a:srgbClr>
            </a:outerShdw>
          </a:effectLst>
        </p:spPr>
      </p:sp>
      <p:sp>
        <p:nvSpPr>
          <p:cNvPr id="25" name="Shape 17"/>
          <p:cNvSpPr/>
          <p:nvPr/>
        </p:nvSpPr>
        <p:spPr>
          <a:xfrm>
            <a:off x="7964424" y="1783080"/>
            <a:ext cx="2148840" cy="1234440"/>
          </a:xfrm>
          <a:prstGeom prst="roundRect">
            <a:avLst>
              <a:gd name="adj" fmla="val 8889"/>
            </a:avLst>
          </a:prstGeom>
          <a:solidFill>
            <a:srgbClr val="FFFFFF">
              <a:alpha val="0"/>
            </a:srgbClr>
          </a:solidFill>
          <a:ln w="12700">
            <a:solidFill>
              <a:srgbClr val="DCE3EC"/>
            </a:solidFill>
            <a:prstDash val="solid"/>
          </a:ln>
        </p:spPr>
      </p:sp>
      <p:sp>
        <p:nvSpPr>
          <p:cNvPr id="26" name="Shape 18"/>
          <p:cNvSpPr/>
          <p:nvPr/>
        </p:nvSpPr>
        <p:spPr>
          <a:xfrm>
            <a:off x="8737092" y="1929384"/>
            <a:ext cx="603504" cy="603504"/>
          </a:xfrm>
          <a:prstGeom prst="ellipse">
            <a:avLst/>
          </a:prstGeom>
          <a:solidFill>
            <a:srgbClr val="06B6D4"/>
          </a:solidFill>
          <a:ln/>
          <a:effectLst>
            <a:outerShdw sx="100000" sy="100000" kx="0" ky="0" algn="bl" rotWithShape="0" blurRad="127000" dist="50800" dir="5400000">
              <a:srgbClr val="8A93A6">
                <a:alpha val="13000"/>
              </a:srgbClr>
            </a:outerShdw>
          </a:effectLst>
        </p:spPr>
      </p:sp>
      <p:pic>
        <p:nvPicPr>
          <p:cNvPr id="27" name="Image 6" descr="preencoded.png">    </p:cNvPr>
          <p:cNvPicPr>
            <a:picLocks noChangeAspect="1"/>
          </p:cNvPicPr>
          <p:nvPr/>
        </p:nvPicPr>
        <p:blipFill>
          <a:blip r:embed="rId7"/>
          <a:stretch>
            <a:fillRect/>
          </a:stretch>
        </p:blipFill>
        <p:spPr>
          <a:xfrm>
            <a:off x="8900038" y="2092330"/>
            <a:ext cx="277612" cy="277612"/>
          </a:xfrm>
          <a:prstGeom prst="rect">
            <a:avLst/>
          </a:prstGeom>
        </p:spPr>
      </p:pic>
      <p:sp>
        <p:nvSpPr>
          <p:cNvPr id="28" name="Text 19"/>
          <p:cNvSpPr/>
          <p:nvPr/>
        </p:nvSpPr>
        <p:spPr>
          <a:xfrm>
            <a:off x="8055864" y="2532888"/>
            <a:ext cx="19659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Re-ranking</a:t>
            </a:r>
            <a:endParaRPr lang="en-US" sz="1300" dirty="0"/>
          </a:p>
        </p:txBody>
      </p:sp>
      <p:sp>
        <p:nvSpPr>
          <p:cNvPr id="29" name="Text 20"/>
          <p:cNvSpPr/>
          <p:nvPr/>
        </p:nvSpPr>
        <p:spPr>
          <a:xfrm>
            <a:off x="8055864" y="2770632"/>
            <a:ext cx="1965960" cy="228600"/>
          </a:xfrm>
          <a:prstGeom prst="rect">
            <a:avLst/>
          </a:prstGeom>
          <a:noFill/>
          <a:ln/>
        </p:spPr>
        <p:txBody>
          <a:bodyPr wrap="square" lIns="0" tIns="0" rIns="0" bIns="0" rtlCol="0" anchor="ctr"/>
          <a:lstStyle/>
          <a:p>
            <a:pPr algn="ctr" indent="0" marL="0">
              <a:buNone/>
            </a:pPr>
            <a:r>
              <a:rPr lang="en-US" sz="1000" dirty="0">
                <a:solidFill>
                  <a:srgbClr val="64748B"/>
                </a:solidFill>
                <a:latin typeface="Consolas" pitchFamily="34" charset="0"/>
                <a:ea typeface="Consolas" pitchFamily="34" charset="-122"/>
                <a:cs typeface="Consolas" pitchFamily="34" charset="-120"/>
              </a:rPr>
              <a:t>rules · diversity</a:t>
            </a:r>
            <a:endParaRPr lang="en-US" sz="1000" dirty="0"/>
          </a:p>
        </p:txBody>
      </p:sp>
      <p:sp>
        <p:nvSpPr>
          <p:cNvPr id="30" name="Shape 21"/>
          <p:cNvSpPr/>
          <p:nvPr/>
        </p:nvSpPr>
        <p:spPr>
          <a:xfrm>
            <a:off x="10314432" y="2144268"/>
            <a:ext cx="1371600" cy="512064"/>
          </a:xfrm>
          <a:prstGeom prst="roundRect">
            <a:avLst>
              <a:gd name="adj" fmla="val 50000"/>
            </a:avLst>
          </a:prstGeom>
          <a:solidFill>
            <a:srgbClr val="1E293B"/>
          </a:solidFill>
          <a:ln/>
        </p:spPr>
      </p:sp>
      <p:sp>
        <p:nvSpPr>
          <p:cNvPr id="31" name="Text 22"/>
          <p:cNvSpPr/>
          <p:nvPr/>
        </p:nvSpPr>
        <p:spPr>
          <a:xfrm>
            <a:off x="10314432" y="2144268"/>
            <a:ext cx="1371600" cy="51206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Top-K → UI</a:t>
            </a:r>
            <a:endParaRPr lang="en-US" sz="1200" dirty="0"/>
          </a:p>
        </p:txBody>
      </p:sp>
      <p:sp>
        <p:nvSpPr>
          <p:cNvPr id="32" name="Shape 23"/>
          <p:cNvSpPr/>
          <p:nvPr/>
        </p:nvSpPr>
        <p:spPr>
          <a:xfrm>
            <a:off x="640080" y="3657600"/>
            <a:ext cx="3566160" cy="1783080"/>
          </a:xfrm>
          <a:prstGeom prst="roundRect">
            <a:avLst>
              <a:gd name="adj" fmla="val 6154"/>
            </a:avLst>
          </a:prstGeom>
          <a:solidFill>
            <a:srgbClr val="F1F5F9"/>
          </a:solidFill>
          <a:ln/>
          <a:effectLst>
            <a:outerShdw sx="100000" sy="100000" kx="0" ky="0" algn="bl" rotWithShape="0" blurRad="127000" dist="50800" dir="5400000">
              <a:srgbClr val="8A93A6">
                <a:alpha val="13000"/>
              </a:srgbClr>
            </a:outerShdw>
          </a:effectLst>
        </p:spPr>
      </p:sp>
      <p:sp>
        <p:nvSpPr>
          <p:cNvPr id="33" name="Shape 24"/>
          <p:cNvSpPr/>
          <p:nvPr/>
        </p:nvSpPr>
        <p:spPr>
          <a:xfrm>
            <a:off x="896112" y="3913632"/>
            <a:ext cx="603504" cy="603504"/>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34" name="Image 7" descr="preencoded.png">    </p:cNvPr>
          <p:cNvPicPr>
            <a:picLocks noChangeAspect="1"/>
          </p:cNvPicPr>
          <p:nvPr/>
        </p:nvPicPr>
        <p:blipFill>
          <a:blip r:embed="rId8"/>
          <a:stretch>
            <a:fillRect/>
          </a:stretch>
        </p:blipFill>
        <p:spPr>
          <a:xfrm>
            <a:off x="1059058" y="4076578"/>
            <a:ext cx="277612" cy="277612"/>
          </a:xfrm>
          <a:prstGeom prst="rect">
            <a:avLst/>
          </a:prstGeom>
        </p:spPr>
      </p:pic>
      <p:sp>
        <p:nvSpPr>
          <p:cNvPr id="35" name="Text 25"/>
          <p:cNvSpPr/>
          <p:nvPr/>
        </p:nvSpPr>
        <p:spPr>
          <a:xfrm>
            <a:off x="1627632" y="3968496"/>
            <a:ext cx="2423160"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Feature store</a:t>
            </a:r>
            <a:endParaRPr lang="en-US" sz="1400" dirty="0"/>
          </a:p>
        </p:txBody>
      </p:sp>
      <p:sp>
        <p:nvSpPr>
          <p:cNvPr id="36" name="Text 26"/>
          <p:cNvSpPr/>
          <p:nvPr/>
        </p:nvSpPr>
        <p:spPr>
          <a:xfrm>
            <a:off x="914400" y="4572000"/>
            <a:ext cx="3017520" cy="77724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Online + offline features with point-in-time correctness; serves both training and inference.</a:t>
            </a:r>
            <a:endParaRPr lang="en-US" sz="1150" dirty="0"/>
          </a:p>
        </p:txBody>
      </p:sp>
      <p:sp>
        <p:nvSpPr>
          <p:cNvPr id="37" name="Shape 27"/>
          <p:cNvSpPr/>
          <p:nvPr/>
        </p:nvSpPr>
        <p:spPr>
          <a:xfrm>
            <a:off x="4370832" y="3657600"/>
            <a:ext cx="3566160" cy="1783080"/>
          </a:xfrm>
          <a:prstGeom prst="roundRect">
            <a:avLst>
              <a:gd name="adj" fmla="val 6154"/>
            </a:avLst>
          </a:prstGeom>
          <a:solidFill>
            <a:srgbClr val="F1F5F9"/>
          </a:solidFill>
          <a:ln/>
          <a:effectLst>
            <a:outerShdw sx="100000" sy="100000" kx="0" ky="0" algn="bl" rotWithShape="0" blurRad="127000" dist="50800" dir="5400000">
              <a:srgbClr val="8A93A6">
                <a:alpha val="13000"/>
              </a:srgbClr>
            </a:outerShdw>
          </a:effectLst>
        </p:spPr>
      </p:sp>
      <p:sp>
        <p:nvSpPr>
          <p:cNvPr id="38" name="Shape 28"/>
          <p:cNvSpPr/>
          <p:nvPr/>
        </p:nvSpPr>
        <p:spPr>
          <a:xfrm>
            <a:off x="4626864" y="3913632"/>
            <a:ext cx="603504" cy="603504"/>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39" name="Image 8" descr="preencoded.png">    </p:cNvPr>
          <p:cNvPicPr>
            <a:picLocks noChangeAspect="1"/>
          </p:cNvPicPr>
          <p:nvPr/>
        </p:nvPicPr>
        <p:blipFill>
          <a:blip r:embed="rId9"/>
          <a:stretch>
            <a:fillRect/>
          </a:stretch>
        </p:blipFill>
        <p:spPr>
          <a:xfrm>
            <a:off x="4789810" y="4076578"/>
            <a:ext cx="277612" cy="277612"/>
          </a:xfrm>
          <a:prstGeom prst="rect">
            <a:avLst/>
          </a:prstGeom>
        </p:spPr>
      </p:pic>
      <p:sp>
        <p:nvSpPr>
          <p:cNvPr id="40" name="Text 29"/>
          <p:cNvSpPr/>
          <p:nvPr/>
        </p:nvSpPr>
        <p:spPr>
          <a:xfrm>
            <a:off x="5358384" y="3968496"/>
            <a:ext cx="2423160"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Embedding / ANN index</a:t>
            </a:r>
            <a:endParaRPr lang="en-US" sz="1400" dirty="0"/>
          </a:p>
        </p:txBody>
      </p:sp>
      <p:sp>
        <p:nvSpPr>
          <p:cNvPr id="41" name="Text 30"/>
          <p:cNvSpPr/>
          <p:nvPr/>
        </p:nvSpPr>
        <p:spPr>
          <a:xfrm>
            <a:off x="4645152" y="4572000"/>
            <a:ext cx="3017520" cy="77724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Item &amp; user vectors built in batch, loaded into an ANN index (HNSW / IVF-PQ) for retrieval.</a:t>
            </a:r>
            <a:endParaRPr lang="en-US" sz="1150" dirty="0"/>
          </a:p>
        </p:txBody>
      </p:sp>
      <p:sp>
        <p:nvSpPr>
          <p:cNvPr id="42" name="Shape 31"/>
          <p:cNvSpPr/>
          <p:nvPr/>
        </p:nvSpPr>
        <p:spPr>
          <a:xfrm>
            <a:off x="8101584" y="3657600"/>
            <a:ext cx="3566160" cy="1783080"/>
          </a:xfrm>
          <a:prstGeom prst="roundRect">
            <a:avLst>
              <a:gd name="adj" fmla="val 6154"/>
            </a:avLst>
          </a:prstGeom>
          <a:solidFill>
            <a:srgbClr val="F1F5F9"/>
          </a:solidFill>
          <a:ln/>
          <a:effectLst>
            <a:outerShdw sx="100000" sy="100000" kx="0" ky="0" algn="bl" rotWithShape="0" blurRad="127000" dist="50800" dir="5400000">
              <a:srgbClr val="8A93A6">
                <a:alpha val="13000"/>
              </a:srgbClr>
            </a:outerShdw>
          </a:effectLst>
        </p:spPr>
      </p:sp>
      <p:sp>
        <p:nvSpPr>
          <p:cNvPr id="43" name="Shape 32"/>
          <p:cNvSpPr/>
          <p:nvPr/>
        </p:nvSpPr>
        <p:spPr>
          <a:xfrm>
            <a:off x="8357616" y="3913632"/>
            <a:ext cx="603504" cy="603504"/>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44" name="Image 9" descr="preencoded.png">    </p:cNvPr>
          <p:cNvPicPr>
            <a:picLocks noChangeAspect="1"/>
          </p:cNvPicPr>
          <p:nvPr/>
        </p:nvPicPr>
        <p:blipFill>
          <a:blip r:embed="rId10"/>
          <a:stretch>
            <a:fillRect/>
          </a:stretch>
        </p:blipFill>
        <p:spPr>
          <a:xfrm>
            <a:off x="8520562" y="4076578"/>
            <a:ext cx="277612" cy="277612"/>
          </a:xfrm>
          <a:prstGeom prst="rect">
            <a:avLst/>
          </a:prstGeom>
        </p:spPr>
      </p:pic>
      <p:sp>
        <p:nvSpPr>
          <p:cNvPr id="45" name="Text 33"/>
          <p:cNvSpPr/>
          <p:nvPr/>
        </p:nvSpPr>
        <p:spPr>
          <a:xfrm>
            <a:off x="9089136" y="3968496"/>
            <a:ext cx="2423160"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Training pipeline</a:t>
            </a:r>
            <a:endParaRPr lang="en-US" sz="1400" dirty="0"/>
          </a:p>
        </p:txBody>
      </p:sp>
      <p:sp>
        <p:nvSpPr>
          <p:cNvPr id="46" name="Text 34"/>
          <p:cNvSpPr/>
          <p:nvPr/>
        </p:nvSpPr>
        <p:spPr>
          <a:xfrm>
            <a:off x="8375904" y="4572000"/>
            <a:ext cx="3017520" cy="77724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Scheduled retraining, offline eval, model registry, and gated rollout to serving.</a:t>
            </a:r>
            <a:endParaRPr lang="en-US" sz="1150" dirty="0"/>
          </a:p>
        </p:txBody>
      </p:sp>
      <p:sp>
        <p:nvSpPr>
          <p:cNvPr id="47" name="Text 35"/>
          <p:cNvSpPr/>
          <p:nvPr/>
        </p:nvSpPr>
        <p:spPr>
          <a:xfrm>
            <a:off x="640080" y="3127248"/>
            <a:ext cx="5486400" cy="274320"/>
          </a:xfrm>
          <a:prstGeom prst="rect">
            <a:avLst/>
          </a:prstGeom>
          <a:noFill/>
          <a:ln/>
        </p:spPr>
        <p:txBody>
          <a:bodyPr wrap="square" lIns="0" tIns="0" rIns="0" bIns="0" rtlCol="0" anchor="ctr"/>
          <a:lstStyle/>
          <a:p>
            <a:pPr indent="0" marL="0">
              <a:buNone/>
            </a:pPr>
            <a:r>
              <a:rPr lang="en-US" sz="1100" i="1" dirty="0">
                <a:solidFill>
                  <a:srgbClr val="64748B"/>
                </a:solidFill>
                <a:latin typeface="Arial" pitchFamily="34" charset="0"/>
                <a:ea typeface="Arial" pitchFamily="34" charset="-122"/>
                <a:cs typeface="Arial" pitchFamily="34" charset="-120"/>
              </a:rPr>
              <a:t>Serving plane (per request, real-time)</a:t>
            </a:r>
            <a:endParaRPr lang="en-US" sz="1100" dirty="0"/>
          </a:p>
        </p:txBody>
      </p:sp>
      <p:sp>
        <p:nvSpPr>
          <p:cNvPr id="48" name="Text 36"/>
          <p:cNvSpPr/>
          <p:nvPr/>
        </p:nvSpPr>
        <p:spPr>
          <a:xfrm>
            <a:off x="640080" y="3346704"/>
            <a:ext cx="5486400" cy="274320"/>
          </a:xfrm>
          <a:prstGeom prst="rect">
            <a:avLst/>
          </a:prstGeom>
          <a:noFill/>
          <a:ln/>
        </p:spPr>
        <p:txBody>
          <a:bodyPr wrap="square" lIns="0" tIns="0" rIns="0" bIns="0" rtlCol="0" anchor="ctr"/>
          <a:lstStyle/>
          <a:p>
            <a:pPr indent="0" marL="0">
              <a:buNone/>
            </a:pPr>
            <a:r>
              <a:rPr lang="en-US" sz="1100" i="1" dirty="0">
                <a:solidFill>
                  <a:srgbClr val="64748B"/>
                </a:solidFill>
                <a:latin typeface="Arial" pitchFamily="34" charset="0"/>
                <a:ea typeface="Arial" pitchFamily="34" charset="-122"/>
                <a:cs typeface="Arial" pitchFamily="34" charset="-120"/>
              </a:rPr>
              <a:t>Supporting planes (mostly batch)</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STAGE 1 — CANDIDATE GENERATION</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High-recall retrieval, cheap per item</a:t>
            </a:r>
            <a:endParaRPr lang="en-US" sz="2700" dirty="0"/>
          </a:p>
        </p:txBody>
      </p:sp>
      <p:sp>
        <p:nvSpPr>
          <p:cNvPr id="4" name="Text 2"/>
          <p:cNvSpPr/>
          <p:nvPr/>
        </p:nvSpPr>
        <p:spPr>
          <a:xfrm>
            <a:off x="640080" y="1371600"/>
            <a:ext cx="10927080" cy="292608"/>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Reduce 10⁶–10⁸ items to ~10³ candidates in milliseconds. Optimize recall; precision is the ranker's job.</a:t>
            </a:r>
            <a:endParaRPr lang="en-US" sz="1300" dirty="0"/>
          </a:p>
        </p:txBody>
      </p:sp>
      <p:sp>
        <p:nvSpPr>
          <p:cNvPr id="5" name="Shape 3"/>
          <p:cNvSpPr/>
          <p:nvPr/>
        </p:nvSpPr>
        <p:spPr>
          <a:xfrm>
            <a:off x="640080" y="1783080"/>
            <a:ext cx="534924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6" name="Shape 4"/>
          <p:cNvSpPr/>
          <p:nvPr/>
        </p:nvSpPr>
        <p:spPr>
          <a:xfrm>
            <a:off x="914400" y="2075688"/>
            <a:ext cx="713232" cy="713232"/>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7" name="Image 0" descr="preencoded.png">    </p:cNvPr>
          <p:cNvPicPr>
            <a:picLocks noChangeAspect="1"/>
          </p:cNvPicPr>
          <p:nvPr/>
        </p:nvPicPr>
        <p:blipFill>
          <a:blip r:embed="rId1"/>
          <a:stretch>
            <a:fillRect/>
          </a:stretch>
        </p:blipFill>
        <p:spPr>
          <a:xfrm>
            <a:off x="1106973" y="2268261"/>
            <a:ext cx="328087" cy="328087"/>
          </a:xfrm>
          <a:prstGeom prst="rect">
            <a:avLst/>
          </a:prstGeom>
        </p:spPr>
      </p:pic>
      <p:sp>
        <p:nvSpPr>
          <p:cNvPr id="8" name="Text 5"/>
          <p:cNvSpPr/>
          <p:nvPr/>
        </p:nvSpPr>
        <p:spPr>
          <a:xfrm>
            <a:off x="1810512" y="2039112"/>
            <a:ext cx="3977640" cy="36576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Two-tower retrieval</a:t>
            </a:r>
            <a:endParaRPr lang="en-US" sz="1600" dirty="0"/>
          </a:p>
        </p:txBody>
      </p:sp>
      <p:sp>
        <p:nvSpPr>
          <p:cNvPr id="9" name="Text 6"/>
          <p:cNvSpPr/>
          <p:nvPr/>
        </p:nvSpPr>
        <p:spPr>
          <a:xfrm>
            <a:off x="1810512" y="2441448"/>
            <a:ext cx="3977640" cy="82296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Separate user &amp; item encoders; dot-product in shared space; ANN at serve time.</a:t>
            </a:r>
            <a:endParaRPr lang="en-US" sz="1250" dirty="0"/>
          </a:p>
        </p:txBody>
      </p:sp>
      <p:sp>
        <p:nvSpPr>
          <p:cNvPr id="10" name="Shape 7"/>
          <p:cNvSpPr/>
          <p:nvPr/>
        </p:nvSpPr>
        <p:spPr>
          <a:xfrm>
            <a:off x="6217920" y="1783080"/>
            <a:ext cx="534924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11" name="Shape 8"/>
          <p:cNvSpPr/>
          <p:nvPr/>
        </p:nvSpPr>
        <p:spPr>
          <a:xfrm>
            <a:off x="6492240" y="2075688"/>
            <a:ext cx="713232" cy="713232"/>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12" name="Image 1" descr="preencoded.png">    </p:cNvPr>
          <p:cNvPicPr>
            <a:picLocks noChangeAspect="1"/>
          </p:cNvPicPr>
          <p:nvPr/>
        </p:nvPicPr>
        <p:blipFill>
          <a:blip r:embed="rId2"/>
          <a:stretch>
            <a:fillRect/>
          </a:stretch>
        </p:blipFill>
        <p:spPr>
          <a:xfrm>
            <a:off x="6684813" y="2268261"/>
            <a:ext cx="328087" cy="328087"/>
          </a:xfrm>
          <a:prstGeom prst="rect">
            <a:avLst/>
          </a:prstGeom>
        </p:spPr>
      </p:pic>
      <p:sp>
        <p:nvSpPr>
          <p:cNvPr id="13" name="Text 9"/>
          <p:cNvSpPr/>
          <p:nvPr/>
        </p:nvSpPr>
        <p:spPr>
          <a:xfrm>
            <a:off x="7388352" y="2039112"/>
            <a:ext cx="3977640" cy="36576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Graph embeddings</a:t>
            </a:r>
            <a:endParaRPr lang="en-US" sz="1600" dirty="0"/>
          </a:p>
        </p:txBody>
      </p:sp>
      <p:sp>
        <p:nvSpPr>
          <p:cNvPr id="14" name="Text 10"/>
          <p:cNvSpPr/>
          <p:nvPr/>
        </p:nvSpPr>
        <p:spPr>
          <a:xfrm>
            <a:off x="7388352" y="2441448"/>
            <a:ext cx="3977640" cy="82296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Item graph from behavior sequences (e.g., Alibaba EGES) with side info for cold start.</a:t>
            </a:r>
            <a:endParaRPr lang="en-US" sz="1250" dirty="0"/>
          </a:p>
        </p:txBody>
      </p:sp>
      <p:sp>
        <p:nvSpPr>
          <p:cNvPr id="15" name="Shape 11"/>
          <p:cNvSpPr/>
          <p:nvPr/>
        </p:nvSpPr>
        <p:spPr>
          <a:xfrm>
            <a:off x="640080" y="3648456"/>
            <a:ext cx="534924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16" name="Shape 12"/>
          <p:cNvSpPr/>
          <p:nvPr/>
        </p:nvSpPr>
        <p:spPr>
          <a:xfrm>
            <a:off x="914400" y="3941064"/>
            <a:ext cx="713232" cy="713232"/>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17" name="Image 2" descr="preencoded.png">    </p:cNvPr>
          <p:cNvPicPr>
            <a:picLocks noChangeAspect="1"/>
          </p:cNvPicPr>
          <p:nvPr/>
        </p:nvPicPr>
        <p:blipFill>
          <a:blip r:embed="rId3"/>
          <a:stretch>
            <a:fillRect/>
          </a:stretch>
        </p:blipFill>
        <p:spPr>
          <a:xfrm>
            <a:off x="1106973" y="4133637"/>
            <a:ext cx="328087" cy="328087"/>
          </a:xfrm>
          <a:prstGeom prst="rect">
            <a:avLst/>
          </a:prstGeom>
        </p:spPr>
      </p:pic>
      <p:sp>
        <p:nvSpPr>
          <p:cNvPr id="18" name="Text 13"/>
          <p:cNvSpPr/>
          <p:nvPr/>
        </p:nvSpPr>
        <p:spPr>
          <a:xfrm>
            <a:off x="1810512" y="3904488"/>
            <a:ext cx="3977640" cy="36576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Co-occurrence</a:t>
            </a:r>
            <a:endParaRPr lang="en-US" sz="1600" dirty="0"/>
          </a:p>
        </p:txBody>
      </p:sp>
      <p:sp>
        <p:nvSpPr>
          <p:cNvPr id="19" name="Text 14"/>
          <p:cNvSpPr/>
          <p:nvPr/>
        </p:nvSpPr>
        <p:spPr>
          <a:xfrm>
            <a:off x="1810512" y="4306824"/>
            <a:ext cx="3977640" cy="82296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Market-basket / item-to-item from co-purchase &amp; co-view logs.</a:t>
            </a:r>
            <a:endParaRPr lang="en-US" sz="1250" dirty="0"/>
          </a:p>
        </p:txBody>
      </p:sp>
      <p:sp>
        <p:nvSpPr>
          <p:cNvPr id="20" name="Shape 15"/>
          <p:cNvSpPr/>
          <p:nvPr/>
        </p:nvSpPr>
        <p:spPr>
          <a:xfrm>
            <a:off x="6217920" y="3648456"/>
            <a:ext cx="534924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21" name="Shape 16"/>
          <p:cNvSpPr/>
          <p:nvPr/>
        </p:nvSpPr>
        <p:spPr>
          <a:xfrm>
            <a:off x="6492240" y="3941064"/>
            <a:ext cx="713232" cy="713232"/>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22" name="Image 3" descr="preencoded.png">    </p:cNvPr>
          <p:cNvPicPr>
            <a:picLocks noChangeAspect="1"/>
          </p:cNvPicPr>
          <p:nvPr/>
        </p:nvPicPr>
        <p:blipFill>
          <a:blip r:embed="rId4"/>
          <a:stretch>
            <a:fillRect/>
          </a:stretch>
        </p:blipFill>
        <p:spPr>
          <a:xfrm>
            <a:off x="6684813" y="4133637"/>
            <a:ext cx="328087" cy="328087"/>
          </a:xfrm>
          <a:prstGeom prst="rect">
            <a:avLst/>
          </a:prstGeom>
        </p:spPr>
      </p:pic>
      <p:sp>
        <p:nvSpPr>
          <p:cNvPr id="23" name="Text 17"/>
          <p:cNvSpPr/>
          <p:nvPr/>
        </p:nvSpPr>
        <p:spPr>
          <a:xfrm>
            <a:off x="7388352" y="3904488"/>
            <a:ext cx="3977640" cy="36576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Sources &amp; blending</a:t>
            </a:r>
            <a:endParaRPr lang="en-US" sz="1600" dirty="0"/>
          </a:p>
        </p:txBody>
      </p:sp>
      <p:sp>
        <p:nvSpPr>
          <p:cNvPr id="24" name="Text 18"/>
          <p:cNvSpPr/>
          <p:nvPr/>
        </p:nvSpPr>
        <p:spPr>
          <a:xfrm>
            <a:off x="7388352" y="4306824"/>
            <a:ext cx="3977640" cy="82296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Multiple recall sources (recent, popular, personalized) merged and de-duped.</a:t>
            </a:r>
            <a:endParaRPr lang="en-US" sz="1250" dirty="0"/>
          </a:p>
        </p:txBody>
      </p:sp>
      <p:sp>
        <p:nvSpPr>
          <p:cNvPr id="25" name="Text 19"/>
          <p:cNvSpPr/>
          <p:nvPr/>
        </p:nvSpPr>
        <p:spPr>
          <a:xfrm>
            <a:off x="640080" y="5385816"/>
            <a:ext cx="10927080" cy="365760"/>
          </a:xfrm>
          <a:prstGeom prst="rect">
            <a:avLst/>
          </a:prstGeom>
          <a:noFill/>
          <a:ln/>
        </p:spPr>
        <p:txBody>
          <a:bodyPr wrap="square" lIns="0" tIns="0" rIns="0" bIns="0" rtlCol="0" anchor="ctr"/>
          <a:lstStyle/>
          <a:p>
            <a:pPr indent="0" marL="0">
              <a:buNone/>
            </a:pPr>
            <a:r>
              <a:rPr lang="en-US" sz="1200" i="1" dirty="0">
                <a:solidFill>
                  <a:srgbClr val="1E293B"/>
                </a:solidFill>
                <a:latin typeface="Arial" pitchFamily="34" charset="0"/>
                <a:ea typeface="Arial" pitchFamily="34" charset="-122"/>
                <a:cs typeface="Arial" pitchFamily="34" charset="-120"/>
              </a:rPr>
              <a:t>ANN backends: HNSW, IVF-PQ, ScaNN — tune recall vs. latency vs. memory.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STAGE 2 — RANKING MODELS</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From linear models to sequence-aware deep nets</a:t>
            </a:r>
            <a:endParaRPr lang="en-US" sz="2700" dirty="0"/>
          </a:p>
        </p:txBody>
      </p:sp>
      <p:sp>
        <p:nvSpPr>
          <p:cNvPr id="4" name="Shape 2"/>
          <p:cNvSpPr/>
          <p:nvPr/>
        </p:nvSpPr>
        <p:spPr>
          <a:xfrm>
            <a:off x="640080" y="2011680"/>
            <a:ext cx="2560320" cy="2468880"/>
          </a:xfrm>
          <a:prstGeom prst="roundRect">
            <a:avLst>
              <a:gd name="adj" fmla="val 4444"/>
            </a:avLst>
          </a:prstGeom>
          <a:solidFill>
            <a:srgbClr val="F1F5F9"/>
          </a:solidFill>
          <a:ln/>
          <a:effectLst>
            <a:outerShdw sx="100000" sy="100000" kx="0" ky="0" algn="bl" rotWithShape="0" blurRad="127000" dist="50800" dir="5400000">
              <a:srgbClr val="8A93A6">
                <a:alpha val="13000"/>
              </a:srgbClr>
            </a:outerShdw>
          </a:effectLst>
        </p:spPr>
      </p:sp>
      <p:sp>
        <p:nvSpPr>
          <p:cNvPr id="5" name="Shape 3"/>
          <p:cNvSpPr/>
          <p:nvPr/>
        </p:nvSpPr>
        <p:spPr>
          <a:xfrm>
            <a:off x="1554480" y="2267712"/>
            <a:ext cx="731520" cy="731520"/>
          </a:xfrm>
          <a:prstGeom prst="ellipse">
            <a:avLst/>
          </a:prstGeom>
          <a:solidFill>
            <a:srgbClr val="1E293B"/>
          </a:solidFill>
          <a:ln/>
        </p:spPr>
      </p:sp>
      <p:sp>
        <p:nvSpPr>
          <p:cNvPr id="6" name="Text 4"/>
          <p:cNvSpPr/>
          <p:nvPr/>
        </p:nvSpPr>
        <p:spPr>
          <a:xfrm>
            <a:off x="1554480" y="226771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7" name="Text 5"/>
          <p:cNvSpPr/>
          <p:nvPr/>
        </p:nvSpPr>
        <p:spPr>
          <a:xfrm>
            <a:off x="777240" y="3108960"/>
            <a:ext cx="2286000" cy="502920"/>
          </a:xfrm>
          <a:prstGeom prst="rect">
            <a:avLst/>
          </a:prstGeom>
          <a:noFill/>
          <a:ln/>
        </p:spPr>
        <p:txBody>
          <a:bodyPr wrap="square" lIns="0" tIns="0" rIns="0" bIns="0" rtlCol="0" anchor="ctr"/>
          <a:lstStyle/>
          <a:p>
            <a:pPr algn="ctr" indent="0" marL="0">
              <a:buNone/>
            </a:pPr>
            <a:r>
              <a:rPr lang="en-US" sz="1450" b="1" dirty="0">
                <a:solidFill>
                  <a:srgbClr val="0F172A"/>
                </a:solidFill>
                <a:latin typeface="Arial" pitchFamily="34" charset="0"/>
                <a:ea typeface="Arial" pitchFamily="34" charset="-122"/>
                <a:cs typeface="Arial" pitchFamily="34" charset="-120"/>
              </a:rPr>
              <a:t>LR / GBDT</a:t>
            </a:r>
            <a:endParaRPr lang="en-US" sz="1450" dirty="0"/>
          </a:p>
        </p:txBody>
      </p:sp>
      <p:sp>
        <p:nvSpPr>
          <p:cNvPr id="8" name="Text 6"/>
          <p:cNvSpPr/>
          <p:nvPr/>
        </p:nvSpPr>
        <p:spPr>
          <a:xfrm>
            <a:off x="822960" y="3639312"/>
            <a:ext cx="2194560" cy="777240"/>
          </a:xfrm>
          <a:prstGeom prst="rect">
            <a:avLst/>
          </a:prstGeom>
          <a:noFill/>
          <a:ln/>
        </p:spPr>
        <p:txBody>
          <a:bodyPr wrap="square" lIns="0" tIns="0" rIns="0" bIns="0" rtlCol="0" anchor="ctr"/>
          <a:lstStyle/>
          <a:p>
            <a:pPr algn="ctr" indent="0" marL="0">
              <a:buNone/>
            </a:pPr>
            <a:r>
              <a:rPr lang="en-US" sz="1150" dirty="0">
                <a:solidFill>
                  <a:srgbClr val="64748B"/>
                </a:solidFill>
                <a:latin typeface="Arial" pitchFamily="34" charset="0"/>
                <a:ea typeface="Arial" pitchFamily="34" charset="-122"/>
                <a:cs typeface="Arial" pitchFamily="34" charset="-120"/>
              </a:rPr>
              <a:t>Hand-crafted features; strong, cheap baselines still in production today.</a:t>
            </a:r>
            <a:endParaRPr lang="en-US" sz="1150" dirty="0"/>
          </a:p>
        </p:txBody>
      </p:sp>
      <p:pic>
        <p:nvPicPr>
          <p:cNvPr id="9" name="Image 0" descr="preencoded.png">    </p:cNvPr>
          <p:cNvPicPr>
            <a:picLocks noChangeAspect="1"/>
          </p:cNvPicPr>
          <p:nvPr/>
        </p:nvPicPr>
        <p:blipFill>
          <a:blip r:embed="rId1"/>
          <a:stretch>
            <a:fillRect/>
          </a:stretch>
        </p:blipFill>
        <p:spPr>
          <a:xfrm>
            <a:off x="3200400" y="3017520"/>
            <a:ext cx="274320" cy="137160"/>
          </a:xfrm>
          <a:prstGeom prst="rect">
            <a:avLst/>
          </a:prstGeom>
        </p:spPr>
      </p:pic>
      <p:sp>
        <p:nvSpPr>
          <p:cNvPr id="10" name="Shape 7"/>
          <p:cNvSpPr/>
          <p:nvPr/>
        </p:nvSpPr>
        <p:spPr>
          <a:xfrm>
            <a:off x="3493008" y="2011680"/>
            <a:ext cx="2560320" cy="2468880"/>
          </a:xfrm>
          <a:prstGeom prst="roundRect">
            <a:avLst>
              <a:gd name="adj" fmla="val 4444"/>
            </a:avLst>
          </a:prstGeom>
          <a:solidFill>
            <a:srgbClr val="F1F5F9"/>
          </a:solidFill>
          <a:ln/>
          <a:effectLst>
            <a:outerShdw sx="100000" sy="100000" kx="0" ky="0" algn="bl" rotWithShape="0" blurRad="127000" dist="50800" dir="5400000">
              <a:srgbClr val="8A93A6">
                <a:alpha val="13000"/>
              </a:srgbClr>
            </a:outerShdw>
          </a:effectLst>
        </p:spPr>
      </p:sp>
      <p:sp>
        <p:nvSpPr>
          <p:cNvPr id="11" name="Shape 8"/>
          <p:cNvSpPr/>
          <p:nvPr/>
        </p:nvSpPr>
        <p:spPr>
          <a:xfrm>
            <a:off x="4407408" y="2267712"/>
            <a:ext cx="731520" cy="731520"/>
          </a:xfrm>
          <a:prstGeom prst="ellipse">
            <a:avLst/>
          </a:prstGeom>
          <a:solidFill>
            <a:srgbClr val="1E293B"/>
          </a:solidFill>
          <a:ln/>
        </p:spPr>
      </p:sp>
      <p:sp>
        <p:nvSpPr>
          <p:cNvPr id="12" name="Text 9"/>
          <p:cNvSpPr/>
          <p:nvPr/>
        </p:nvSpPr>
        <p:spPr>
          <a:xfrm>
            <a:off x="4407408" y="226771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3" name="Text 10"/>
          <p:cNvSpPr/>
          <p:nvPr/>
        </p:nvSpPr>
        <p:spPr>
          <a:xfrm>
            <a:off x="3630168" y="3108960"/>
            <a:ext cx="2286000" cy="502920"/>
          </a:xfrm>
          <a:prstGeom prst="rect">
            <a:avLst/>
          </a:prstGeom>
          <a:noFill/>
          <a:ln/>
        </p:spPr>
        <p:txBody>
          <a:bodyPr wrap="square" lIns="0" tIns="0" rIns="0" bIns="0" rtlCol="0" anchor="ctr"/>
          <a:lstStyle/>
          <a:p>
            <a:pPr algn="ctr" indent="0" marL="0">
              <a:buNone/>
            </a:pPr>
            <a:r>
              <a:rPr lang="en-US" sz="1450" b="1" dirty="0">
                <a:solidFill>
                  <a:srgbClr val="0F172A"/>
                </a:solidFill>
                <a:latin typeface="Arial" pitchFamily="34" charset="0"/>
                <a:ea typeface="Arial" pitchFamily="34" charset="-122"/>
                <a:cs typeface="Arial" pitchFamily="34" charset="-120"/>
              </a:rPr>
              <a:t>Wide &amp; Deep</a:t>
            </a:r>
            <a:endParaRPr lang="en-US" sz="1450" dirty="0"/>
          </a:p>
        </p:txBody>
      </p:sp>
      <p:sp>
        <p:nvSpPr>
          <p:cNvPr id="14" name="Text 11"/>
          <p:cNvSpPr/>
          <p:nvPr/>
        </p:nvSpPr>
        <p:spPr>
          <a:xfrm>
            <a:off x="3675888" y="3639312"/>
            <a:ext cx="2194560" cy="777240"/>
          </a:xfrm>
          <a:prstGeom prst="rect">
            <a:avLst/>
          </a:prstGeom>
          <a:noFill/>
          <a:ln/>
        </p:spPr>
        <p:txBody>
          <a:bodyPr wrap="square" lIns="0" tIns="0" rIns="0" bIns="0" rtlCol="0" anchor="ctr"/>
          <a:lstStyle/>
          <a:p>
            <a:pPr algn="ctr" indent="0" marL="0">
              <a:buNone/>
            </a:pPr>
            <a:r>
              <a:rPr lang="en-US" sz="1150" dirty="0">
                <a:solidFill>
                  <a:srgbClr val="64748B"/>
                </a:solidFill>
                <a:latin typeface="Arial" pitchFamily="34" charset="0"/>
                <a:ea typeface="Arial" pitchFamily="34" charset="-122"/>
                <a:cs typeface="Arial" pitchFamily="34" charset="-120"/>
              </a:rPr>
              <a:t>Memorization (wide) + generalization (deep) over sparse embeddings.</a:t>
            </a:r>
            <a:endParaRPr lang="en-US" sz="1150" dirty="0"/>
          </a:p>
        </p:txBody>
      </p:sp>
      <p:pic>
        <p:nvPicPr>
          <p:cNvPr id="15" name="Image 1" descr="preencoded.png">    </p:cNvPr>
          <p:cNvPicPr>
            <a:picLocks noChangeAspect="1"/>
          </p:cNvPicPr>
          <p:nvPr/>
        </p:nvPicPr>
        <p:blipFill>
          <a:blip r:embed="rId2"/>
          <a:stretch>
            <a:fillRect/>
          </a:stretch>
        </p:blipFill>
        <p:spPr>
          <a:xfrm>
            <a:off x="6053328" y="3017520"/>
            <a:ext cx="274320" cy="137160"/>
          </a:xfrm>
          <a:prstGeom prst="rect">
            <a:avLst/>
          </a:prstGeom>
        </p:spPr>
      </p:pic>
      <p:sp>
        <p:nvSpPr>
          <p:cNvPr id="16" name="Shape 12"/>
          <p:cNvSpPr/>
          <p:nvPr/>
        </p:nvSpPr>
        <p:spPr>
          <a:xfrm>
            <a:off x="6345936" y="2011680"/>
            <a:ext cx="2560320" cy="2468880"/>
          </a:xfrm>
          <a:prstGeom prst="roundRect">
            <a:avLst>
              <a:gd name="adj" fmla="val 4444"/>
            </a:avLst>
          </a:prstGeom>
          <a:solidFill>
            <a:srgbClr val="F1F5F9"/>
          </a:solidFill>
          <a:ln/>
          <a:effectLst>
            <a:outerShdw sx="100000" sy="100000" kx="0" ky="0" algn="bl" rotWithShape="0" blurRad="127000" dist="50800" dir="5400000">
              <a:srgbClr val="8A93A6">
                <a:alpha val="13000"/>
              </a:srgbClr>
            </a:outerShdw>
          </a:effectLst>
        </p:spPr>
      </p:sp>
      <p:sp>
        <p:nvSpPr>
          <p:cNvPr id="17" name="Shape 13"/>
          <p:cNvSpPr/>
          <p:nvPr/>
        </p:nvSpPr>
        <p:spPr>
          <a:xfrm>
            <a:off x="7260336" y="2267712"/>
            <a:ext cx="731520" cy="731520"/>
          </a:xfrm>
          <a:prstGeom prst="ellipse">
            <a:avLst/>
          </a:prstGeom>
          <a:solidFill>
            <a:srgbClr val="F59E0B"/>
          </a:solidFill>
          <a:ln/>
        </p:spPr>
      </p:sp>
      <p:sp>
        <p:nvSpPr>
          <p:cNvPr id="18" name="Text 14"/>
          <p:cNvSpPr/>
          <p:nvPr/>
        </p:nvSpPr>
        <p:spPr>
          <a:xfrm>
            <a:off x="7260336" y="226771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9" name="Text 15"/>
          <p:cNvSpPr/>
          <p:nvPr/>
        </p:nvSpPr>
        <p:spPr>
          <a:xfrm>
            <a:off x="6483096" y="3108960"/>
            <a:ext cx="2286000" cy="502920"/>
          </a:xfrm>
          <a:prstGeom prst="rect">
            <a:avLst/>
          </a:prstGeom>
          <a:noFill/>
          <a:ln/>
        </p:spPr>
        <p:txBody>
          <a:bodyPr wrap="square" lIns="0" tIns="0" rIns="0" bIns="0" rtlCol="0" anchor="ctr"/>
          <a:lstStyle/>
          <a:p>
            <a:pPr algn="ctr" indent="0" marL="0">
              <a:buNone/>
            </a:pPr>
            <a:r>
              <a:rPr lang="en-US" sz="1450" b="1" dirty="0">
                <a:solidFill>
                  <a:srgbClr val="0F172A"/>
                </a:solidFill>
                <a:latin typeface="Arial" pitchFamily="34" charset="0"/>
                <a:ea typeface="Arial" pitchFamily="34" charset="-122"/>
                <a:cs typeface="Arial" pitchFamily="34" charset="-120"/>
              </a:rPr>
              <a:t>DIN / DLRM</a:t>
            </a:r>
            <a:endParaRPr lang="en-US" sz="1450" dirty="0"/>
          </a:p>
        </p:txBody>
      </p:sp>
      <p:sp>
        <p:nvSpPr>
          <p:cNvPr id="20" name="Text 16"/>
          <p:cNvSpPr/>
          <p:nvPr/>
        </p:nvSpPr>
        <p:spPr>
          <a:xfrm>
            <a:off x="6528816" y="3639312"/>
            <a:ext cx="2194560" cy="777240"/>
          </a:xfrm>
          <a:prstGeom prst="rect">
            <a:avLst/>
          </a:prstGeom>
          <a:noFill/>
          <a:ln/>
        </p:spPr>
        <p:txBody>
          <a:bodyPr wrap="square" lIns="0" tIns="0" rIns="0" bIns="0" rtlCol="0" anchor="ctr"/>
          <a:lstStyle/>
          <a:p>
            <a:pPr algn="ctr" indent="0" marL="0">
              <a:buNone/>
            </a:pPr>
            <a:r>
              <a:rPr lang="en-US" sz="1150" dirty="0">
                <a:solidFill>
                  <a:srgbClr val="64748B"/>
                </a:solidFill>
                <a:latin typeface="Arial" pitchFamily="34" charset="0"/>
                <a:ea typeface="Arial" pitchFamily="34" charset="-122"/>
                <a:cs typeface="Arial" pitchFamily="34" charset="-120"/>
              </a:rPr>
              <a:t>Attention over user history; large embedding tables for sparse features.</a:t>
            </a:r>
            <a:endParaRPr lang="en-US" sz="1150" dirty="0"/>
          </a:p>
        </p:txBody>
      </p:sp>
      <p:pic>
        <p:nvPicPr>
          <p:cNvPr id="21" name="Image 2" descr="preencoded.png">    </p:cNvPr>
          <p:cNvPicPr>
            <a:picLocks noChangeAspect="1"/>
          </p:cNvPicPr>
          <p:nvPr/>
        </p:nvPicPr>
        <p:blipFill>
          <a:blip r:embed="rId3"/>
          <a:stretch>
            <a:fillRect/>
          </a:stretch>
        </p:blipFill>
        <p:spPr>
          <a:xfrm>
            <a:off x="8906256" y="3017520"/>
            <a:ext cx="274320" cy="137160"/>
          </a:xfrm>
          <a:prstGeom prst="rect">
            <a:avLst/>
          </a:prstGeom>
        </p:spPr>
      </p:pic>
      <p:sp>
        <p:nvSpPr>
          <p:cNvPr id="22" name="Shape 17"/>
          <p:cNvSpPr/>
          <p:nvPr/>
        </p:nvSpPr>
        <p:spPr>
          <a:xfrm>
            <a:off x="9198864" y="2011680"/>
            <a:ext cx="2560320" cy="2468880"/>
          </a:xfrm>
          <a:prstGeom prst="roundRect">
            <a:avLst>
              <a:gd name="adj" fmla="val 4444"/>
            </a:avLst>
          </a:prstGeom>
          <a:solidFill>
            <a:srgbClr val="ECFEFF"/>
          </a:solidFill>
          <a:ln/>
          <a:effectLst>
            <a:outerShdw sx="100000" sy="100000" kx="0" ky="0" algn="bl" rotWithShape="0" blurRad="127000" dist="50800" dir="5400000">
              <a:srgbClr val="8A93A6">
                <a:alpha val="13000"/>
              </a:srgbClr>
            </a:outerShdw>
          </a:effectLst>
        </p:spPr>
      </p:sp>
      <p:sp>
        <p:nvSpPr>
          <p:cNvPr id="23" name="Shape 18"/>
          <p:cNvSpPr/>
          <p:nvPr/>
        </p:nvSpPr>
        <p:spPr>
          <a:xfrm>
            <a:off x="10113264" y="2267712"/>
            <a:ext cx="731520" cy="731520"/>
          </a:xfrm>
          <a:prstGeom prst="ellipse">
            <a:avLst/>
          </a:prstGeom>
          <a:solidFill>
            <a:srgbClr val="F59E0B"/>
          </a:solidFill>
          <a:ln/>
        </p:spPr>
      </p:sp>
      <p:sp>
        <p:nvSpPr>
          <p:cNvPr id="24" name="Text 19"/>
          <p:cNvSpPr/>
          <p:nvPr/>
        </p:nvSpPr>
        <p:spPr>
          <a:xfrm>
            <a:off x="10113264" y="226771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5" name="Text 20"/>
          <p:cNvSpPr/>
          <p:nvPr/>
        </p:nvSpPr>
        <p:spPr>
          <a:xfrm>
            <a:off x="9336024" y="3108960"/>
            <a:ext cx="2286000" cy="502920"/>
          </a:xfrm>
          <a:prstGeom prst="rect">
            <a:avLst/>
          </a:prstGeom>
          <a:noFill/>
          <a:ln/>
        </p:spPr>
        <p:txBody>
          <a:bodyPr wrap="square" lIns="0" tIns="0" rIns="0" bIns="0" rtlCol="0" anchor="ctr"/>
          <a:lstStyle/>
          <a:p>
            <a:pPr algn="ctr" indent="0" marL="0">
              <a:buNone/>
            </a:pPr>
            <a:r>
              <a:rPr lang="en-US" sz="1450" b="1" dirty="0">
                <a:solidFill>
                  <a:srgbClr val="0F172A"/>
                </a:solidFill>
                <a:latin typeface="Arial" pitchFamily="34" charset="0"/>
                <a:ea typeface="Arial" pitchFamily="34" charset="-122"/>
                <a:cs typeface="Arial" pitchFamily="34" charset="-120"/>
              </a:rPr>
              <a:t>SASRec / Transformers</a:t>
            </a:r>
            <a:endParaRPr lang="en-US" sz="1450" dirty="0"/>
          </a:p>
        </p:txBody>
      </p:sp>
      <p:sp>
        <p:nvSpPr>
          <p:cNvPr id="26" name="Text 21"/>
          <p:cNvSpPr/>
          <p:nvPr/>
        </p:nvSpPr>
        <p:spPr>
          <a:xfrm>
            <a:off x="9381744" y="3639312"/>
            <a:ext cx="2194560" cy="777240"/>
          </a:xfrm>
          <a:prstGeom prst="rect">
            <a:avLst/>
          </a:prstGeom>
          <a:noFill/>
          <a:ln/>
        </p:spPr>
        <p:txBody>
          <a:bodyPr wrap="square" lIns="0" tIns="0" rIns="0" bIns="0" rtlCol="0" anchor="ctr"/>
          <a:lstStyle/>
          <a:p>
            <a:pPr algn="ctr" indent="0" marL="0">
              <a:buNone/>
            </a:pPr>
            <a:r>
              <a:rPr lang="en-US" sz="1150" dirty="0">
                <a:solidFill>
                  <a:srgbClr val="64748B"/>
                </a:solidFill>
                <a:latin typeface="Arial" pitchFamily="34" charset="0"/>
                <a:ea typeface="Arial" pitchFamily="34" charset="-122"/>
                <a:cs typeface="Arial" pitchFamily="34" charset="-120"/>
              </a:rPr>
              <a:t>Self-attention over interaction sequences for session intent.</a:t>
            </a:r>
            <a:endParaRPr lang="en-US" sz="1150" dirty="0"/>
          </a:p>
        </p:txBody>
      </p:sp>
      <p:sp>
        <p:nvSpPr>
          <p:cNvPr id="27" name="Text 22"/>
          <p:cNvSpPr/>
          <p:nvPr/>
        </p:nvSpPr>
        <p:spPr>
          <a:xfrm>
            <a:off x="640080" y="4800600"/>
            <a:ext cx="10927080" cy="457200"/>
          </a:xfrm>
          <a:prstGeom prst="rect">
            <a:avLst/>
          </a:prstGeom>
          <a:noFill/>
          <a:ln/>
        </p:spPr>
        <p:txBody>
          <a:bodyPr wrap="square" lIns="0" tIns="0" rIns="0" bIns="0" rtlCol="0" anchor="ctr"/>
          <a:lstStyle/>
          <a:p>
            <a:pPr indent="0" marL="0">
              <a:buNone/>
            </a:pPr>
            <a:r>
              <a:rPr lang="en-US" sz="1250" i="1" dirty="0">
                <a:solidFill>
                  <a:srgbClr val="1E293B"/>
                </a:solidFill>
                <a:latin typeface="Arial" pitchFamily="34" charset="0"/>
                <a:ea typeface="Arial" pitchFamily="34" charset="-122"/>
                <a:cs typeface="Arial" pitchFamily="34" charset="-120"/>
              </a:rPr>
              <a:t>Inputs: dense features + sparse-ID embeddings. Train on implicit feedback (clicks/purchases) with negative sampling.</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DATA &amp; FEATURE PIPELINE</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Garbage in, garbage ranked</a:t>
            </a:r>
            <a:endParaRPr lang="en-US" sz="2700" dirty="0"/>
          </a:p>
        </p:txBody>
      </p:sp>
      <p:sp>
        <p:nvSpPr>
          <p:cNvPr id="4" name="Shape 2"/>
          <p:cNvSpPr/>
          <p:nvPr/>
        </p:nvSpPr>
        <p:spPr>
          <a:xfrm>
            <a:off x="640080" y="1691640"/>
            <a:ext cx="5120640" cy="2743200"/>
          </a:xfrm>
          <a:prstGeom prst="roundRect">
            <a:avLst>
              <a:gd name="adj" fmla="val 4667"/>
            </a:avLst>
          </a:prstGeom>
          <a:solidFill>
            <a:srgbClr val="F1F5F9"/>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65960"/>
            <a:ext cx="566928" cy="566928"/>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85759" y="2119031"/>
            <a:ext cx="260787" cy="260787"/>
          </a:xfrm>
          <a:prstGeom prst="rect">
            <a:avLst/>
          </a:prstGeom>
        </p:spPr>
      </p:pic>
      <p:sp>
        <p:nvSpPr>
          <p:cNvPr id="7" name="Text 4"/>
          <p:cNvSpPr/>
          <p:nvPr/>
        </p:nvSpPr>
        <p:spPr>
          <a:xfrm>
            <a:off x="1645920" y="1965960"/>
            <a:ext cx="3840480" cy="32004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Explicit</a:t>
            </a:r>
            <a:endParaRPr lang="en-US" sz="1700" dirty="0"/>
          </a:p>
        </p:txBody>
      </p:sp>
      <p:sp>
        <p:nvSpPr>
          <p:cNvPr id="8" name="Text 5"/>
          <p:cNvSpPr/>
          <p:nvPr/>
        </p:nvSpPr>
        <p:spPr>
          <a:xfrm>
            <a:off x="1645920" y="2331720"/>
            <a:ext cx="3840480" cy="274320"/>
          </a:xfrm>
          <a:prstGeom prst="rect">
            <a:avLst/>
          </a:prstGeom>
          <a:noFill/>
          <a:ln/>
        </p:spPr>
        <p:txBody>
          <a:bodyPr wrap="square" lIns="0" tIns="0" rIns="0" bIns="0" rtlCol="0" anchor="ctr"/>
          <a:lstStyle/>
          <a:p>
            <a:pPr indent="0" marL="0">
              <a:buNone/>
            </a:pPr>
            <a:r>
              <a:rPr lang="en-US" sz="1150" i="1" dirty="0">
                <a:solidFill>
                  <a:srgbClr val="64748B"/>
                </a:solidFill>
                <a:latin typeface="Consolas" pitchFamily="34" charset="0"/>
                <a:ea typeface="Consolas" pitchFamily="34" charset="-122"/>
                <a:cs typeface="Consolas" pitchFamily="34" charset="-120"/>
              </a:rPr>
              <a:t>sparse, low-noise</a:t>
            </a:r>
            <a:endParaRPr lang="en-US" sz="1150" dirty="0"/>
          </a:p>
        </p:txBody>
      </p:sp>
      <p:pic>
        <p:nvPicPr>
          <p:cNvPr id="9" name="Image 1" descr="preencoded.png">    </p:cNvPr>
          <p:cNvPicPr>
            <a:picLocks noChangeAspect="1"/>
          </p:cNvPicPr>
          <p:nvPr/>
        </p:nvPicPr>
        <p:blipFill>
          <a:blip r:embed="rId2"/>
          <a:stretch>
            <a:fillRect/>
          </a:stretch>
        </p:blipFill>
        <p:spPr>
          <a:xfrm>
            <a:off x="1005840" y="2816352"/>
            <a:ext cx="201168" cy="201168"/>
          </a:xfrm>
          <a:prstGeom prst="rect">
            <a:avLst/>
          </a:prstGeom>
        </p:spPr>
      </p:pic>
      <p:sp>
        <p:nvSpPr>
          <p:cNvPr id="10" name="Text 6"/>
          <p:cNvSpPr/>
          <p:nvPr/>
        </p:nvSpPr>
        <p:spPr>
          <a:xfrm>
            <a:off x="1316736" y="2788920"/>
            <a:ext cx="4160520" cy="292608"/>
          </a:xfrm>
          <a:prstGeom prst="rect">
            <a:avLst/>
          </a:prstGeom>
          <a:noFill/>
          <a:ln/>
        </p:spPr>
        <p:txBody>
          <a:bodyPr wrap="square" lIns="0" tIns="0" rIns="0" bIns="0" rtlCol="0" anchor="ctr"/>
          <a:lstStyle/>
          <a:p>
            <a:pPr indent="0" marL="0">
              <a:buNone/>
            </a:pPr>
            <a:r>
              <a:rPr lang="en-US" sz="1250" dirty="0">
                <a:solidFill>
                  <a:srgbClr val="0F172A"/>
                </a:solidFill>
                <a:latin typeface="Arial" pitchFamily="34" charset="0"/>
                <a:ea typeface="Arial" pitchFamily="34" charset="-122"/>
                <a:cs typeface="Arial" pitchFamily="34" charset="-120"/>
              </a:rPr>
              <a:t>Ratings, reviews</a:t>
            </a:r>
            <a:endParaRPr lang="en-US" sz="1250" dirty="0"/>
          </a:p>
        </p:txBody>
      </p:sp>
      <p:pic>
        <p:nvPicPr>
          <p:cNvPr id="11" name="Image 2" descr="preencoded.png">    </p:cNvPr>
          <p:cNvPicPr>
            <a:picLocks noChangeAspect="1"/>
          </p:cNvPicPr>
          <p:nvPr/>
        </p:nvPicPr>
        <p:blipFill>
          <a:blip r:embed="rId3"/>
          <a:stretch>
            <a:fillRect/>
          </a:stretch>
        </p:blipFill>
        <p:spPr>
          <a:xfrm>
            <a:off x="1005840" y="3236976"/>
            <a:ext cx="201168" cy="201168"/>
          </a:xfrm>
          <a:prstGeom prst="rect">
            <a:avLst/>
          </a:prstGeom>
        </p:spPr>
      </p:pic>
      <p:sp>
        <p:nvSpPr>
          <p:cNvPr id="12" name="Text 7"/>
          <p:cNvSpPr/>
          <p:nvPr/>
        </p:nvSpPr>
        <p:spPr>
          <a:xfrm>
            <a:off x="1316736" y="3209544"/>
            <a:ext cx="4160520" cy="292608"/>
          </a:xfrm>
          <a:prstGeom prst="rect">
            <a:avLst/>
          </a:prstGeom>
          <a:noFill/>
          <a:ln/>
        </p:spPr>
        <p:txBody>
          <a:bodyPr wrap="square" lIns="0" tIns="0" rIns="0" bIns="0" rtlCol="0" anchor="ctr"/>
          <a:lstStyle/>
          <a:p>
            <a:pPr indent="0" marL="0">
              <a:buNone/>
            </a:pPr>
            <a:r>
              <a:rPr lang="en-US" sz="1250" dirty="0">
                <a:solidFill>
                  <a:srgbClr val="0F172A"/>
                </a:solidFill>
                <a:latin typeface="Arial" pitchFamily="34" charset="0"/>
                <a:ea typeface="Arial" pitchFamily="34" charset="-122"/>
                <a:cs typeface="Arial" pitchFamily="34" charset="-120"/>
              </a:rPr>
              <a:t>Likes, wishlists</a:t>
            </a:r>
            <a:endParaRPr lang="en-US" sz="1250" dirty="0"/>
          </a:p>
        </p:txBody>
      </p:sp>
      <p:pic>
        <p:nvPicPr>
          <p:cNvPr id="13" name="Image 3" descr="preencoded.png">    </p:cNvPr>
          <p:cNvPicPr>
            <a:picLocks noChangeAspect="1"/>
          </p:cNvPicPr>
          <p:nvPr/>
        </p:nvPicPr>
        <p:blipFill>
          <a:blip r:embed="rId4"/>
          <a:stretch>
            <a:fillRect/>
          </a:stretch>
        </p:blipFill>
        <p:spPr>
          <a:xfrm>
            <a:off x="1005840" y="3657600"/>
            <a:ext cx="201168" cy="201168"/>
          </a:xfrm>
          <a:prstGeom prst="rect">
            <a:avLst/>
          </a:prstGeom>
        </p:spPr>
      </p:pic>
      <p:sp>
        <p:nvSpPr>
          <p:cNvPr id="14" name="Text 8"/>
          <p:cNvSpPr/>
          <p:nvPr/>
        </p:nvSpPr>
        <p:spPr>
          <a:xfrm>
            <a:off x="1316736" y="3630168"/>
            <a:ext cx="4160520" cy="292608"/>
          </a:xfrm>
          <a:prstGeom prst="rect">
            <a:avLst/>
          </a:prstGeom>
          <a:noFill/>
          <a:ln/>
        </p:spPr>
        <p:txBody>
          <a:bodyPr wrap="square" lIns="0" tIns="0" rIns="0" bIns="0" rtlCol="0" anchor="ctr"/>
          <a:lstStyle/>
          <a:p>
            <a:pPr indent="0" marL="0">
              <a:buNone/>
            </a:pPr>
            <a:r>
              <a:rPr lang="en-US" sz="1250" dirty="0">
                <a:solidFill>
                  <a:srgbClr val="0F172A"/>
                </a:solidFill>
                <a:latin typeface="Arial" pitchFamily="34" charset="0"/>
                <a:ea typeface="Arial" pitchFamily="34" charset="-122"/>
                <a:cs typeface="Arial" pitchFamily="34" charset="-120"/>
              </a:rPr>
              <a:t>Stated preferences</a:t>
            </a:r>
            <a:endParaRPr lang="en-US" sz="1250" dirty="0"/>
          </a:p>
        </p:txBody>
      </p:sp>
      <p:sp>
        <p:nvSpPr>
          <p:cNvPr id="15" name="Shape 9"/>
          <p:cNvSpPr/>
          <p:nvPr/>
        </p:nvSpPr>
        <p:spPr>
          <a:xfrm>
            <a:off x="6263640" y="1691640"/>
            <a:ext cx="5120640" cy="2743200"/>
          </a:xfrm>
          <a:prstGeom prst="roundRect">
            <a:avLst>
              <a:gd name="adj" fmla="val 4667"/>
            </a:avLst>
          </a:prstGeom>
          <a:solidFill>
            <a:srgbClr val="F1F5F9"/>
          </a:solidFill>
          <a:ln/>
          <a:effectLst>
            <a:outerShdw sx="100000" sy="100000" kx="0" ky="0" algn="bl" rotWithShape="0" blurRad="127000" dist="50800" dir="5400000">
              <a:srgbClr val="8A93A6">
                <a:alpha val="13000"/>
              </a:srgbClr>
            </a:outerShdw>
          </a:effectLst>
        </p:spPr>
      </p:sp>
      <p:sp>
        <p:nvSpPr>
          <p:cNvPr id="16" name="Shape 10"/>
          <p:cNvSpPr/>
          <p:nvPr/>
        </p:nvSpPr>
        <p:spPr>
          <a:xfrm>
            <a:off x="6556248" y="1965960"/>
            <a:ext cx="566928" cy="566928"/>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17" name="Image 4" descr="preencoded.png">    </p:cNvPr>
          <p:cNvPicPr>
            <a:picLocks noChangeAspect="1"/>
          </p:cNvPicPr>
          <p:nvPr/>
        </p:nvPicPr>
        <p:blipFill>
          <a:blip r:embed="rId5"/>
          <a:stretch>
            <a:fillRect/>
          </a:stretch>
        </p:blipFill>
        <p:spPr>
          <a:xfrm>
            <a:off x="6709319" y="2119031"/>
            <a:ext cx="260787" cy="260787"/>
          </a:xfrm>
          <a:prstGeom prst="rect">
            <a:avLst/>
          </a:prstGeom>
        </p:spPr>
      </p:pic>
      <p:sp>
        <p:nvSpPr>
          <p:cNvPr id="18" name="Text 11"/>
          <p:cNvSpPr/>
          <p:nvPr/>
        </p:nvSpPr>
        <p:spPr>
          <a:xfrm>
            <a:off x="7269480" y="1965960"/>
            <a:ext cx="3840480" cy="32004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Implicit</a:t>
            </a:r>
            <a:endParaRPr lang="en-US" sz="1700" dirty="0"/>
          </a:p>
        </p:txBody>
      </p:sp>
      <p:sp>
        <p:nvSpPr>
          <p:cNvPr id="19" name="Text 12"/>
          <p:cNvSpPr/>
          <p:nvPr/>
        </p:nvSpPr>
        <p:spPr>
          <a:xfrm>
            <a:off x="7269480" y="2331720"/>
            <a:ext cx="3840480" cy="274320"/>
          </a:xfrm>
          <a:prstGeom prst="rect">
            <a:avLst/>
          </a:prstGeom>
          <a:noFill/>
          <a:ln/>
        </p:spPr>
        <p:txBody>
          <a:bodyPr wrap="square" lIns="0" tIns="0" rIns="0" bIns="0" rtlCol="0" anchor="ctr"/>
          <a:lstStyle/>
          <a:p>
            <a:pPr indent="0" marL="0">
              <a:buNone/>
            </a:pPr>
            <a:r>
              <a:rPr lang="en-US" sz="1150" i="1" dirty="0">
                <a:solidFill>
                  <a:srgbClr val="64748B"/>
                </a:solidFill>
                <a:latin typeface="Consolas" pitchFamily="34" charset="0"/>
                <a:ea typeface="Consolas" pitchFamily="34" charset="-122"/>
                <a:cs typeface="Consolas" pitchFamily="34" charset="-120"/>
              </a:rPr>
              <a:t>abundant, biased</a:t>
            </a:r>
            <a:endParaRPr lang="en-US" sz="1150" dirty="0"/>
          </a:p>
        </p:txBody>
      </p:sp>
      <p:pic>
        <p:nvPicPr>
          <p:cNvPr id="20" name="Image 5" descr="preencoded.png">    </p:cNvPr>
          <p:cNvPicPr>
            <a:picLocks noChangeAspect="1"/>
          </p:cNvPicPr>
          <p:nvPr/>
        </p:nvPicPr>
        <p:blipFill>
          <a:blip r:embed="rId6"/>
          <a:stretch>
            <a:fillRect/>
          </a:stretch>
        </p:blipFill>
        <p:spPr>
          <a:xfrm>
            <a:off x="6629400" y="2816352"/>
            <a:ext cx="201168" cy="201168"/>
          </a:xfrm>
          <a:prstGeom prst="rect">
            <a:avLst/>
          </a:prstGeom>
        </p:spPr>
      </p:pic>
      <p:sp>
        <p:nvSpPr>
          <p:cNvPr id="21" name="Text 13"/>
          <p:cNvSpPr/>
          <p:nvPr/>
        </p:nvSpPr>
        <p:spPr>
          <a:xfrm>
            <a:off x="6940296" y="2788920"/>
            <a:ext cx="4160520" cy="292608"/>
          </a:xfrm>
          <a:prstGeom prst="rect">
            <a:avLst/>
          </a:prstGeom>
          <a:noFill/>
          <a:ln/>
        </p:spPr>
        <p:txBody>
          <a:bodyPr wrap="square" lIns="0" tIns="0" rIns="0" bIns="0" rtlCol="0" anchor="ctr"/>
          <a:lstStyle/>
          <a:p>
            <a:pPr indent="0" marL="0">
              <a:buNone/>
            </a:pPr>
            <a:r>
              <a:rPr lang="en-US" sz="1250" dirty="0">
                <a:solidFill>
                  <a:srgbClr val="0F172A"/>
                </a:solidFill>
                <a:latin typeface="Arial" pitchFamily="34" charset="0"/>
                <a:ea typeface="Arial" pitchFamily="34" charset="-122"/>
                <a:cs typeface="Arial" pitchFamily="34" charset="-120"/>
              </a:rPr>
              <a:t>Clicks, impressions</a:t>
            </a:r>
            <a:endParaRPr lang="en-US" sz="1250" dirty="0"/>
          </a:p>
        </p:txBody>
      </p:sp>
      <p:pic>
        <p:nvPicPr>
          <p:cNvPr id="22" name="Image 6" descr="preencoded.png">    </p:cNvPr>
          <p:cNvPicPr>
            <a:picLocks noChangeAspect="1"/>
          </p:cNvPicPr>
          <p:nvPr/>
        </p:nvPicPr>
        <p:blipFill>
          <a:blip r:embed="rId7"/>
          <a:stretch>
            <a:fillRect/>
          </a:stretch>
        </p:blipFill>
        <p:spPr>
          <a:xfrm>
            <a:off x="6629400" y="3236976"/>
            <a:ext cx="201168" cy="201168"/>
          </a:xfrm>
          <a:prstGeom prst="rect">
            <a:avLst/>
          </a:prstGeom>
        </p:spPr>
      </p:pic>
      <p:sp>
        <p:nvSpPr>
          <p:cNvPr id="23" name="Text 14"/>
          <p:cNvSpPr/>
          <p:nvPr/>
        </p:nvSpPr>
        <p:spPr>
          <a:xfrm>
            <a:off x="6940296" y="3209544"/>
            <a:ext cx="4160520" cy="292608"/>
          </a:xfrm>
          <a:prstGeom prst="rect">
            <a:avLst/>
          </a:prstGeom>
          <a:noFill/>
          <a:ln/>
        </p:spPr>
        <p:txBody>
          <a:bodyPr wrap="square" lIns="0" tIns="0" rIns="0" bIns="0" rtlCol="0" anchor="ctr"/>
          <a:lstStyle/>
          <a:p>
            <a:pPr indent="0" marL="0">
              <a:buNone/>
            </a:pPr>
            <a:r>
              <a:rPr lang="en-US" sz="1250" dirty="0">
                <a:solidFill>
                  <a:srgbClr val="0F172A"/>
                </a:solidFill>
                <a:latin typeface="Arial" pitchFamily="34" charset="0"/>
                <a:ea typeface="Arial" pitchFamily="34" charset="-122"/>
                <a:cs typeface="Arial" pitchFamily="34" charset="-120"/>
              </a:rPr>
              <a:t>Purchases, returns</a:t>
            </a:r>
            <a:endParaRPr lang="en-US" sz="1250" dirty="0"/>
          </a:p>
        </p:txBody>
      </p:sp>
      <p:pic>
        <p:nvPicPr>
          <p:cNvPr id="24" name="Image 7" descr="preencoded.png">    </p:cNvPr>
          <p:cNvPicPr>
            <a:picLocks noChangeAspect="1"/>
          </p:cNvPicPr>
          <p:nvPr/>
        </p:nvPicPr>
        <p:blipFill>
          <a:blip r:embed="rId8"/>
          <a:stretch>
            <a:fillRect/>
          </a:stretch>
        </p:blipFill>
        <p:spPr>
          <a:xfrm>
            <a:off x="6629400" y="3657600"/>
            <a:ext cx="201168" cy="201168"/>
          </a:xfrm>
          <a:prstGeom prst="rect">
            <a:avLst/>
          </a:prstGeom>
        </p:spPr>
      </p:pic>
      <p:sp>
        <p:nvSpPr>
          <p:cNvPr id="25" name="Text 15"/>
          <p:cNvSpPr/>
          <p:nvPr/>
        </p:nvSpPr>
        <p:spPr>
          <a:xfrm>
            <a:off x="6940296" y="3630168"/>
            <a:ext cx="4160520" cy="292608"/>
          </a:xfrm>
          <a:prstGeom prst="rect">
            <a:avLst/>
          </a:prstGeom>
          <a:noFill/>
          <a:ln/>
        </p:spPr>
        <p:txBody>
          <a:bodyPr wrap="square" lIns="0" tIns="0" rIns="0" bIns="0" rtlCol="0" anchor="ctr"/>
          <a:lstStyle/>
          <a:p>
            <a:pPr indent="0" marL="0">
              <a:buNone/>
            </a:pPr>
            <a:r>
              <a:rPr lang="en-US" sz="1250" dirty="0">
                <a:solidFill>
                  <a:srgbClr val="0F172A"/>
                </a:solidFill>
                <a:latin typeface="Arial" pitchFamily="34" charset="0"/>
                <a:ea typeface="Arial" pitchFamily="34" charset="-122"/>
                <a:cs typeface="Arial" pitchFamily="34" charset="-120"/>
              </a:rPr>
              <a:t>Dwell, scroll depth, cart events</a:t>
            </a:r>
            <a:endParaRPr lang="en-US" sz="1250" dirty="0"/>
          </a:p>
        </p:txBody>
      </p:sp>
      <p:sp>
        <p:nvSpPr>
          <p:cNvPr id="26" name="Shape 16"/>
          <p:cNvSpPr/>
          <p:nvPr/>
        </p:nvSpPr>
        <p:spPr>
          <a:xfrm>
            <a:off x="640080" y="4617720"/>
            <a:ext cx="10927080" cy="1234440"/>
          </a:xfrm>
          <a:prstGeom prst="roundRect">
            <a:avLst>
              <a:gd name="adj" fmla="val 8889"/>
            </a:avLst>
          </a:prstGeom>
          <a:solidFill>
            <a:srgbClr val="ECFEFF"/>
          </a:solidFill>
          <a:ln/>
          <a:effectLst>
            <a:outerShdw sx="100000" sy="100000" kx="0" ky="0" algn="bl" rotWithShape="0" blurRad="127000" dist="50800" dir="5400000">
              <a:srgbClr val="8A93A6">
                <a:alpha val="13000"/>
              </a:srgbClr>
            </a:outerShdw>
          </a:effectLst>
        </p:spPr>
      </p:sp>
      <p:sp>
        <p:nvSpPr>
          <p:cNvPr id="27" name="Shape 17"/>
          <p:cNvSpPr/>
          <p:nvPr/>
        </p:nvSpPr>
        <p:spPr>
          <a:xfrm>
            <a:off x="896112" y="4846320"/>
            <a:ext cx="566928" cy="566928"/>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28" name="Image 8" descr="preencoded.png">    </p:cNvPr>
          <p:cNvPicPr>
            <a:picLocks noChangeAspect="1"/>
          </p:cNvPicPr>
          <p:nvPr/>
        </p:nvPicPr>
        <p:blipFill>
          <a:blip r:embed="rId9"/>
          <a:stretch>
            <a:fillRect/>
          </a:stretch>
        </p:blipFill>
        <p:spPr>
          <a:xfrm>
            <a:off x="1049183" y="4999391"/>
            <a:ext cx="260787" cy="260787"/>
          </a:xfrm>
          <a:prstGeom prst="rect">
            <a:avLst/>
          </a:prstGeom>
        </p:spPr>
      </p:pic>
      <p:sp>
        <p:nvSpPr>
          <p:cNvPr id="29" name="Text 18"/>
          <p:cNvSpPr/>
          <p:nvPr/>
        </p:nvSpPr>
        <p:spPr>
          <a:xfrm>
            <a:off x="1691640" y="4617720"/>
            <a:ext cx="9692640" cy="1234440"/>
          </a:xfrm>
          <a:prstGeom prst="rect">
            <a:avLst/>
          </a:prstGeom>
          <a:noFill/>
          <a:ln/>
        </p:spPr>
        <p:txBody>
          <a:bodyPr wrap="square" lIns="0" tIns="0" rIns="0" bIns="0" rtlCol="0" anchor="ctr"/>
          <a:lstStyle/>
          <a:p>
            <a:pPr indent="0" marL="0">
              <a:buNone/>
            </a:pPr>
            <a:r>
              <a:rPr lang="en-US" sz="1300" b="1" dirty="0">
                <a:solidFill>
                  <a:srgbClr val="0F172A"/>
                </a:solidFill>
                <a:latin typeface="Arial" pitchFamily="34" charset="0"/>
                <a:ea typeface="Arial" pitchFamily="34" charset="-122"/>
                <a:cs typeface="Arial" pitchFamily="34" charset="-120"/>
              </a:rPr>
              <a:t>Watch for:  </a:t>
            </a:r>
            <a:pPr indent="0" marL="0">
              <a:buNone/>
            </a:pPr>
            <a:r>
              <a:rPr lang="en-US" sz="1300" dirty="0">
                <a:solidFill>
                  <a:srgbClr val="0F172A"/>
                </a:solidFill>
                <a:latin typeface="Arial" pitchFamily="34" charset="0"/>
                <a:ea typeface="Arial" pitchFamily="34" charset="-122"/>
                <a:cs typeface="Arial" pitchFamily="34" charset="-120"/>
              </a:rPr>
              <a:t>exposure &amp; position bias in implicit logs (model as weighted positives, not absent negatives) · train/serve skew (shared feature store) · point-in-time correctness to prevent label leakage.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COLD START, TECHNICALLY</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Bootstrap entities with no interaction vector</a:t>
            </a:r>
            <a:endParaRPr lang="en-US" sz="2700" dirty="0"/>
          </a:p>
        </p:txBody>
      </p:sp>
      <p:sp>
        <p:nvSpPr>
          <p:cNvPr id="4" name="Shape 2"/>
          <p:cNvSpPr/>
          <p:nvPr/>
        </p:nvSpPr>
        <p:spPr>
          <a:xfrm>
            <a:off x="640080" y="1691640"/>
            <a:ext cx="5349240" cy="1554480"/>
          </a:xfrm>
          <a:prstGeom prst="roundRect">
            <a:avLst>
              <a:gd name="adj" fmla="val 7059"/>
            </a:avLst>
          </a:prstGeom>
          <a:solidFill>
            <a:srgbClr val="F1F5F9"/>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65960"/>
            <a:ext cx="640080" cy="640080"/>
          </a:xfrm>
          <a:prstGeom prst="ellipse">
            <a:avLst/>
          </a:prstGeom>
          <a:solidFill>
            <a:srgbClr val="06B6D4"/>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105510" y="2138782"/>
            <a:ext cx="294437" cy="294437"/>
          </a:xfrm>
          <a:prstGeom prst="rect">
            <a:avLst/>
          </a:prstGeom>
        </p:spPr>
      </p:pic>
      <p:sp>
        <p:nvSpPr>
          <p:cNvPr id="7" name="Text 4"/>
          <p:cNvSpPr/>
          <p:nvPr/>
        </p:nvSpPr>
        <p:spPr>
          <a:xfrm>
            <a:off x="1755648" y="1947672"/>
            <a:ext cx="4069080" cy="36576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New user</a:t>
            </a:r>
            <a:endParaRPr lang="en-US" sz="1600" dirty="0"/>
          </a:p>
        </p:txBody>
      </p:sp>
      <p:sp>
        <p:nvSpPr>
          <p:cNvPr id="8" name="Text 5"/>
          <p:cNvSpPr/>
          <p:nvPr/>
        </p:nvSpPr>
        <p:spPr>
          <a:xfrm>
            <a:off x="1755648" y="2350008"/>
            <a:ext cx="4023360" cy="77724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No interaction history → CF cannot place them in latent space.</a:t>
            </a:r>
            <a:endParaRPr lang="en-US" sz="1250" dirty="0"/>
          </a:p>
        </p:txBody>
      </p:sp>
      <p:sp>
        <p:nvSpPr>
          <p:cNvPr id="9" name="Shape 6"/>
          <p:cNvSpPr/>
          <p:nvPr/>
        </p:nvSpPr>
        <p:spPr>
          <a:xfrm>
            <a:off x="6217920" y="1691640"/>
            <a:ext cx="5349240" cy="1554480"/>
          </a:xfrm>
          <a:prstGeom prst="roundRect">
            <a:avLst>
              <a:gd name="adj" fmla="val 7059"/>
            </a:avLst>
          </a:prstGeom>
          <a:solidFill>
            <a:srgbClr val="F1F5F9"/>
          </a:solidFill>
          <a:ln/>
          <a:effectLst>
            <a:outerShdw sx="100000" sy="100000" kx="0" ky="0" algn="bl" rotWithShape="0" blurRad="127000" dist="50800" dir="5400000">
              <a:srgbClr val="8A93A6">
                <a:alpha val="13000"/>
              </a:srgbClr>
            </a:outerShdw>
          </a:effectLst>
        </p:spPr>
      </p:sp>
      <p:sp>
        <p:nvSpPr>
          <p:cNvPr id="10" name="Shape 7"/>
          <p:cNvSpPr/>
          <p:nvPr/>
        </p:nvSpPr>
        <p:spPr>
          <a:xfrm>
            <a:off x="6510528" y="1965960"/>
            <a:ext cx="640080" cy="640080"/>
          </a:xfrm>
          <a:prstGeom prst="ellipse">
            <a:avLst/>
          </a:prstGeom>
          <a:solidFill>
            <a:srgbClr val="06B6D4"/>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6683350" y="2138782"/>
            <a:ext cx="294437" cy="294437"/>
          </a:xfrm>
          <a:prstGeom prst="rect">
            <a:avLst/>
          </a:prstGeom>
        </p:spPr>
      </p:pic>
      <p:sp>
        <p:nvSpPr>
          <p:cNvPr id="12" name="Text 8"/>
          <p:cNvSpPr/>
          <p:nvPr/>
        </p:nvSpPr>
        <p:spPr>
          <a:xfrm>
            <a:off x="7333488" y="1947672"/>
            <a:ext cx="4069080" cy="36576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New item</a:t>
            </a:r>
            <a:endParaRPr lang="en-US" sz="1600" dirty="0"/>
          </a:p>
        </p:txBody>
      </p:sp>
      <p:sp>
        <p:nvSpPr>
          <p:cNvPr id="13" name="Text 9"/>
          <p:cNvSpPr/>
          <p:nvPr/>
        </p:nvSpPr>
        <p:spPr>
          <a:xfrm>
            <a:off x="7333488" y="2350008"/>
            <a:ext cx="4023360" cy="777240"/>
          </a:xfrm>
          <a:prstGeom prst="rect">
            <a:avLst/>
          </a:prstGeom>
          <a:noFill/>
          <a:ln/>
        </p:spPr>
        <p:txBody>
          <a:bodyPr wrap="square" lIns="0" tIns="0" rIns="0" bIns="0" rtlCol="0" anchor="ctr"/>
          <a:lstStyle/>
          <a:p>
            <a:pPr indent="0" marL="0">
              <a:buNone/>
            </a:pPr>
            <a:r>
              <a:rPr lang="en-US" sz="1250" dirty="0">
                <a:solidFill>
                  <a:srgbClr val="64748B"/>
                </a:solidFill>
                <a:latin typeface="Arial" pitchFamily="34" charset="0"/>
                <a:ea typeface="Arial" pitchFamily="34" charset="-122"/>
                <a:cs typeface="Arial" pitchFamily="34" charset="-120"/>
              </a:rPr>
              <a:t>No interactions → embedding untrained and unreachable by retrieval.</a:t>
            </a:r>
            <a:endParaRPr lang="en-US" sz="1250" dirty="0"/>
          </a:p>
        </p:txBody>
      </p:sp>
      <p:sp>
        <p:nvSpPr>
          <p:cNvPr id="14" name="Shape 10"/>
          <p:cNvSpPr/>
          <p:nvPr/>
        </p:nvSpPr>
        <p:spPr>
          <a:xfrm>
            <a:off x="640080" y="3502152"/>
            <a:ext cx="5349240" cy="1280160"/>
          </a:xfrm>
          <a:prstGeom prst="roundRect">
            <a:avLst>
              <a:gd name="adj" fmla="val 8571"/>
            </a:avLst>
          </a:prstGeom>
          <a:solidFill>
            <a:srgbClr val="FFFFFF"/>
          </a:solidFill>
          <a:ln/>
          <a:effectLst>
            <a:outerShdw sx="100000" sy="100000" kx="0" ky="0" algn="bl" rotWithShape="0" blurRad="127000" dist="50800" dir="5400000">
              <a:srgbClr val="8A93A6">
                <a:alpha val="13000"/>
              </a:srgbClr>
            </a:outerShdw>
          </a:effectLst>
        </p:spPr>
      </p:sp>
      <p:sp>
        <p:nvSpPr>
          <p:cNvPr id="15" name="Shape 11"/>
          <p:cNvSpPr/>
          <p:nvPr/>
        </p:nvSpPr>
        <p:spPr>
          <a:xfrm>
            <a:off x="640080" y="3502152"/>
            <a:ext cx="5349240" cy="1280160"/>
          </a:xfrm>
          <a:prstGeom prst="roundRect">
            <a:avLst>
              <a:gd name="adj" fmla="val 8571"/>
            </a:avLst>
          </a:prstGeom>
          <a:solidFill>
            <a:srgbClr val="FFFFFF">
              <a:alpha val="0"/>
            </a:srgbClr>
          </a:solidFill>
          <a:ln w="12700">
            <a:solidFill>
              <a:srgbClr val="DCE3EC"/>
            </a:solidFill>
            <a:prstDash val="solid"/>
          </a:ln>
        </p:spPr>
      </p:sp>
      <p:sp>
        <p:nvSpPr>
          <p:cNvPr id="16" name="Shape 12"/>
          <p:cNvSpPr/>
          <p:nvPr/>
        </p:nvSpPr>
        <p:spPr>
          <a:xfrm>
            <a:off x="877824" y="3758184"/>
            <a:ext cx="566928" cy="566928"/>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17" name="Image 2" descr="preencoded.png">    </p:cNvPr>
          <p:cNvPicPr>
            <a:picLocks noChangeAspect="1"/>
          </p:cNvPicPr>
          <p:nvPr/>
        </p:nvPicPr>
        <p:blipFill>
          <a:blip r:embed="rId3"/>
          <a:stretch>
            <a:fillRect/>
          </a:stretch>
        </p:blipFill>
        <p:spPr>
          <a:xfrm>
            <a:off x="1030895" y="3911255"/>
            <a:ext cx="260787" cy="260787"/>
          </a:xfrm>
          <a:prstGeom prst="rect">
            <a:avLst/>
          </a:prstGeom>
        </p:spPr>
      </p:pic>
      <p:sp>
        <p:nvSpPr>
          <p:cNvPr id="18" name="Text 13"/>
          <p:cNvSpPr/>
          <p:nvPr/>
        </p:nvSpPr>
        <p:spPr>
          <a:xfrm>
            <a:off x="1600200" y="3703320"/>
            <a:ext cx="4206240" cy="329184"/>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Content / side features</a:t>
            </a:r>
            <a:endParaRPr lang="en-US" sz="1400" dirty="0"/>
          </a:p>
        </p:txBody>
      </p:sp>
      <p:sp>
        <p:nvSpPr>
          <p:cNvPr id="19" name="Text 14"/>
          <p:cNvSpPr/>
          <p:nvPr/>
        </p:nvSpPr>
        <p:spPr>
          <a:xfrm>
            <a:off x="1600200" y="4069080"/>
            <a:ext cx="4206240" cy="64008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Bootstrap item vectors from attributes; EGES-style side-info aggregation.</a:t>
            </a:r>
            <a:endParaRPr lang="en-US" sz="1150" dirty="0"/>
          </a:p>
        </p:txBody>
      </p:sp>
      <p:sp>
        <p:nvSpPr>
          <p:cNvPr id="20" name="Shape 15"/>
          <p:cNvSpPr/>
          <p:nvPr/>
        </p:nvSpPr>
        <p:spPr>
          <a:xfrm>
            <a:off x="6217920" y="3502152"/>
            <a:ext cx="5349240" cy="1280160"/>
          </a:xfrm>
          <a:prstGeom prst="roundRect">
            <a:avLst>
              <a:gd name="adj" fmla="val 8571"/>
            </a:avLst>
          </a:prstGeom>
          <a:solidFill>
            <a:srgbClr val="FFFFFF"/>
          </a:solidFill>
          <a:ln/>
          <a:effectLst>
            <a:outerShdw sx="100000" sy="100000" kx="0" ky="0" algn="bl" rotWithShape="0" blurRad="127000" dist="50800" dir="5400000">
              <a:srgbClr val="8A93A6">
                <a:alpha val="13000"/>
              </a:srgbClr>
            </a:outerShdw>
          </a:effectLst>
        </p:spPr>
      </p:sp>
      <p:sp>
        <p:nvSpPr>
          <p:cNvPr id="21" name="Shape 16"/>
          <p:cNvSpPr/>
          <p:nvPr/>
        </p:nvSpPr>
        <p:spPr>
          <a:xfrm>
            <a:off x="6217920" y="3502152"/>
            <a:ext cx="5349240" cy="1280160"/>
          </a:xfrm>
          <a:prstGeom prst="roundRect">
            <a:avLst>
              <a:gd name="adj" fmla="val 8571"/>
            </a:avLst>
          </a:prstGeom>
          <a:solidFill>
            <a:srgbClr val="FFFFFF">
              <a:alpha val="0"/>
            </a:srgbClr>
          </a:solidFill>
          <a:ln w="12700">
            <a:solidFill>
              <a:srgbClr val="DCE3EC"/>
            </a:solidFill>
            <a:prstDash val="solid"/>
          </a:ln>
        </p:spPr>
      </p:sp>
      <p:sp>
        <p:nvSpPr>
          <p:cNvPr id="22" name="Shape 17"/>
          <p:cNvSpPr/>
          <p:nvPr/>
        </p:nvSpPr>
        <p:spPr>
          <a:xfrm>
            <a:off x="6455664" y="3758184"/>
            <a:ext cx="566928" cy="566928"/>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23" name="Image 3" descr="preencoded.png">    </p:cNvPr>
          <p:cNvPicPr>
            <a:picLocks noChangeAspect="1"/>
          </p:cNvPicPr>
          <p:nvPr/>
        </p:nvPicPr>
        <p:blipFill>
          <a:blip r:embed="rId4"/>
          <a:stretch>
            <a:fillRect/>
          </a:stretch>
        </p:blipFill>
        <p:spPr>
          <a:xfrm>
            <a:off x="6608735" y="3911255"/>
            <a:ext cx="260787" cy="260787"/>
          </a:xfrm>
          <a:prstGeom prst="rect">
            <a:avLst/>
          </a:prstGeom>
        </p:spPr>
      </p:pic>
      <p:sp>
        <p:nvSpPr>
          <p:cNvPr id="24" name="Text 18"/>
          <p:cNvSpPr/>
          <p:nvPr/>
        </p:nvSpPr>
        <p:spPr>
          <a:xfrm>
            <a:off x="7178040" y="3703320"/>
            <a:ext cx="4206240" cy="329184"/>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Popularity priors</a:t>
            </a:r>
            <a:endParaRPr lang="en-US" sz="1400" dirty="0"/>
          </a:p>
        </p:txBody>
      </p:sp>
      <p:sp>
        <p:nvSpPr>
          <p:cNvPr id="25" name="Text 19"/>
          <p:cNvSpPr/>
          <p:nvPr/>
        </p:nvSpPr>
        <p:spPr>
          <a:xfrm>
            <a:off x="7178040" y="4069080"/>
            <a:ext cx="4206240" cy="64008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Time-decayed popularity as a fallback recall source.</a:t>
            </a:r>
            <a:endParaRPr lang="en-US" sz="1150" dirty="0"/>
          </a:p>
        </p:txBody>
      </p:sp>
      <p:sp>
        <p:nvSpPr>
          <p:cNvPr id="26" name="Shape 20"/>
          <p:cNvSpPr/>
          <p:nvPr/>
        </p:nvSpPr>
        <p:spPr>
          <a:xfrm>
            <a:off x="640080" y="4983480"/>
            <a:ext cx="5349240" cy="1280160"/>
          </a:xfrm>
          <a:prstGeom prst="roundRect">
            <a:avLst>
              <a:gd name="adj" fmla="val 8571"/>
            </a:avLst>
          </a:prstGeom>
          <a:solidFill>
            <a:srgbClr val="FFFFFF"/>
          </a:solidFill>
          <a:ln/>
          <a:effectLst>
            <a:outerShdw sx="100000" sy="100000" kx="0" ky="0" algn="bl" rotWithShape="0" blurRad="127000" dist="50800" dir="5400000">
              <a:srgbClr val="8A93A6">
                <a:alpha val="13000"/>
              </a:srgbClr>
            </a:outerShdw>
          </a:effectLst>
        </p:spPr>
      </p:sp>
      <p:sp>
        <p:nvSpPr>
          <p:cNvPr id="27" name="Shape 21"/>
          <p:cNvSpPr/>
          <p:nvPr/>
        </p:nvSpPr>
        <p:spPr>
          <a:xfrm>
            <a:off x="640080" y="4983480"/>
            <a:ext cx="5349240" cy="1280160"/>
          </a:xfrm>
          <a:prstGeom prst="roundRect">
            <a:avLst>
              <a:gd name="adj" fmla="val 8571"/>
            </a:avLst>
          </a:prstGeom>
          <a:solidFill>
            <a:srgbClr val="FFFFFF">
              <a:alpha val="0"/>
            </a:srgbClr>
          </a:solidFill>
          <a:ln w="12700">
            <a:solidFill>
              <a:srgbClr val="DCE3EC"/>
            </a:solidFill>
            <a:prstDash val="solid"/>
          </a:ln>
        </p:spPr>
      </p:sp>
      <p:sp>
        <p:nvSpPr>
          <p:cNvPr id="28" name="Shape 22"/>
          <p:cNvSpPr/>
          <p:nvPr/>
        </p:nvSpPr>
        <p:spPr>
          <a:xfrm>
            <a:off x="877824" y="5239512"/>
            <a:ext cx="566928" cy="566928"/>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29" name="Image 4" descr="preencoded.png">    </p:cNvPr>
          <p:cNvPicPr>
            <a:picLocks noChangeAspect="1"/>
          </p:cNvPicPr>
          <p:nvPr/>
        </p:nvPicPr>
        <p:blipFill>
          <a:blip r:embed="rId5"/>
          <a:stretch>
            <a:fillRect/>
          </a:stretch>
        </p:blipFill>
        <p:spPr>
          <a:xfrm>
            <a:off x="1030895" y="5392583"/>
            <a:ext cx="260787" cy="260787"/>
          </a:xfrm>
          <a:prstGeom prst="rect">
            <a:avLst/>
          </a:prstGeom>
        </p:spPr>
      </p:pic>
      <p:sp>
        <p:nvSpPr>
          <p:cNvPr id="30" name="Text 23"/>
          <p:cNvSpPr/>
          <p:nvPr/>
        </p:nvSpPr>
        <p:spPr>
          <a:xfrm>
            <a:off x="1600200" y="5184648"/>
            <a:ext cx="4206240" cy="329184"/>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Exploration (bandits)</a:t>
            </a:r>
            <a:endParaRPr lang="en-US" sz="1400" dirty="0"/>
          </a:p>
        </p:txBody>
      </p:sp>
      <p:sp>
        <p:nvSpPr>
          <p:cNvPr id="31" name="Text 24"/>
          <p:cNvSpPr/>
          <p:nvPr/>
        </p:nvSpPr>
        <p:spPr>
          <a:xfrm>
            <a:off x="1600200" y="5550408"/>
            <a:ext cx="4206240" cy="64008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Deliberately allocate impressions to gather signal on new items.</a:t>
            </a:r>
            <a:endParaRPr lang="en-US" sz="1150" dirty="0"/>
          </a:p>
        </p:txBody>
      </p:sp>
      <p:sp>
        <p:nvSpPr>
          <p:cNvPr id="32" name="Shape 25"/>
          <p:cNvSpPr/>
          <p:nvPr/>
        </p:nvSpPr>
        <p:spPr>
          <a:xfrm>
            <a:off x="6217920" y="4983480"/>
            <a:ext cx="5349240" cy="1280160"/>
          </a:xfrm>
          <a:prstGeom prst="roundRect">
            <a:avLst>
              <a:gd name="adj" fmla="val 8571"/>
            </a:avLst>
          </a:prstGeom>
          <a:solidFill>
            <a:srgbClr val="FFFFFF"/>
          </a:solidFill>
          <a:ln/>
          <a:effectLst>
            <a:outerShdw sx="100000" sy="100000" kx="0" ky="0" algn="bl" rotWithShape="0" blurRad="127000" dist="50800" dir="5400000">
              <a:srgbClr val="8A93A6">
                <a:alpha val="13000"/>
              </a:srgbClr>
            </a:outerShdw>
          </a:effectLst>
        </p:spPr>
      </p:sp>
      <p:sp>
        <p:nvSpPr>
          <p:cNvPr id="33" name="Shape 26"/>
          <p:cNvSpPr/>
          <p:nvPr/>
        </p:nvSpPr>
        <p:spPr>
          <a:xfrm>
            <a:off x="6217920" y="4983480"/>
            <a:ext cx="5349240" cy="1280160"/>
          </a:xfrm>
          <a:prstGeom prst="roundRect">
            <a:avLst>
              <a:gd name="adj" fmla="val 8571"/>
            </a:avLst>
          </a:prstGeom>
          <a:solidFill>
            <a:srgbClr val="FFFFFF">
              <a:alpha val="0"/>
            </a:srgbClr>
          </a:solidFill>
          <a:ln w="12700">
            <a:solidFill>
              <a:srgbClr val="DCE3EC"/>
            </a:solidFill>
            <a:prstDash val="solid"/>
          </a:ln>
        </p:spPr>
      </p:sp>
      <p:sp>
        <p:nvSpPr>
          <p:cNvPr id="34" name="Shape 27"/>
          <p:cNvSpPr/>
          <p:nvPr/>
        </p:nvSpPr>
        <p:spPr>
          <a:xfrm>
            <a:off x="6455664" y="5239512"/>
            <a:ext cx="566928" cy="566928"/>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35" name="Image 5" descr="preencoded.png">    </p:cNvPr>
          <p:cNvPicPr>
            <a:picLocks noChangeAspect="1"/>
          </p:cNvPicPr>
          <p:nvPr/>
        </p:nvPicPr>
        <p:blipFill>
          <a:blip r:embed="rId6"/>
          <a:stretch>
            <a:fillRect/>
          </a:stretch>
        </p:blipFill>
        <p:spPr>
          <a:xfrm>
            <a:off x="6608735" y="5392583"/>
            <a:ext cx="260787" cy="260787"/>
          </a:xfrm>
          <a:prstGeom prst="rect">
            <a:avLst/>
          </a:prstGeom>
        </p:spPr>
      </p:pic>
      <p:sp>
        <p:nvSpPr>
          <p:cNvPr id="36" name="Text 28"/>
          <p:cNvSpPr/>
          <p:nvPr/>
        </p:nvSpPr>
        <p:spPr>
          <a:xfrm>
            <a:off x="7178040" y="5184648"/>
            <a:ext cx="4206240" cy="329184"/>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Onboarding &amp; context</a:t>
            </a:r>
            <a:endParaRPr lang="en-US" sz="1400" dirty="0"/>
          </a:p>
        </p:txBody>
      </p:sp>
      <p:sp>
        <p:nvSpPr>
          <p:cNvPr id="37" name="Text 29"/>
          <p:cNvSpPr/>
          <p:nvPr/>
        </p:nvSpPr>
        <p:spPr>
          <a:xfrm>
            <a:off x="7178040" y="5550408"/>
            <a:ext cx="4206240" cy="64008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Seed explicit preferences; use device, geo, and session context.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EVALUATION METHODOLOGY</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Offline gates; online decides</a:t>
            </a:r>
            <a:endParaRPr lang="en-US" sz="2700" dirty="0"/>
          </a:p>
        </p:txBody>
      </p:sp>
      <p:sp>
        <p:nvSpPr>
          <p:cNvPr id="4" name="Shape 2"/>
          <p:cNvSpPr/>
          <p:nvPr/>
        </p:nvSpPr>
        <p:spPr>
          <a:xfrm>
            <a:off x="640080" y="1691640"/>
            <a:ext cx="5440680" cy="3657600"/>
          </a:xfrm>
          <a:prstGeom prst="roundRect">
            <a:avLst>
              <a:gd name="adj" fmla="val 3500"/>
            </a:avLst>
          </a:prstGeom>
          <a:solidFill>
            <a:srgbClr val="F1F5F9"/>
          </a:solidFill>
          <a:ln/>
          <a:effectLst>
            <a:outerShdw sx="100000" sy="100000" kx="0" ky="0" algn="bl" rotWithShape="0" blurRad="127000" dist="50800" dir="5400000">
              <a:srgbClr val="8A93A6">
                <a:alpha val="13000"/>
              </a:srgbClr>
            </a:outerShdw>
          </a:effectLst>
        </p:spPr>
      </p:sp>
      <p:sp>
        <p:nvSpPr>
          <p:cNvPr id="5" name="Text 3"/>
          <p:cNvSpPr/>
          <p:nvPr/>
        </p:nvSpPr>
        <p:spPr>
          <a:xfrm>
            <a:off x="914400" y="1920240"/>
            <a:ext cx="4846320" cy="32004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Offline (proxy)</a:t>
            </a:r>
            <a:endParaRPr lang="en-US" sz="1600" dirty="0"/>
          </a:p>
        </p:txBody>
      </p:sp>
      <p:pic>
        <p:nvPicPr>
          <p:cNvPr id="6" name="Image 0" descr="preencoded.png">    </p:cNvPr>
          <p:cNvPicPr>
            <a:picLocks noChangeAspect="1"/>
          </p:cNvPicPr>
          <p:nvPr/>
        </p:nvPicPr>
        <p:blipFill>
          <a:blip r:embed="rId1"/>
          <a:stretch>
            <a:fillRect/>
          </a:stretch>
        </p:blipFill>
        <p:spPr>
          <a:xfrm>
            <a:off x="960120" y="2441448"/>
            <a:ext cx="128016" cy="128016"/>
          </a:xfrm>
          <a:prstGeom prst="rect">
            <a:avLst/>
          </a:prstGeom>
        </p:spPr>
      </p:pic>
      <p:sp>
        <p:nvSpPr>
          <p:cNvPr id="7" name="Text 4"/>
          <p:cNvSpPr/>
          <p:nvPr/>
        </p:nvSpPr>
        <p:spPr>
          <a:xfrm>
            <a:off x="1234440" y="2340864"/>
            <a:ext cx="4663440" cy="411480"/>
          </a:xfrm>
          <a:prstGeom prst="rect">
            <a:avLst/>
          </a:prstGeom>
          <a:noFill/>
          <a:ln/>
        </p:spPr>
        <p:txBody>
          <a:bodyPr wrap="square" lIns="0" tIns="0" rIns="0" bIns="0" rtlCol="0" anchor="t"/>
          <a:lstStyle/>
          <a:p>
            <a:pPr indent="0" marL="0">
              <a:buNone/>
            </a:pPr>
            <a:r>
              <a:rPr lang="en-US" sz="1250" dirty="0">
                <a:solidFill>
                  <a:srgbClr val="0F172A"/>
                </a:solidFill>
                <a:latin typeface="Arial" pitchFamily="34" charset="0"/>
                <a:ea typeface="Arial" pitchFamily="34" charset="-122"/>
                <a:cs typeface="Arial" pitchFamily="34" charset="-120"/>
              </a:rPr>
              <a:t>Precision@k, Recall@k — retrieval quality</a:t>
            </a:r>
            <a:endParaRPr lang="en-US" sz="1250" dirty="0"/>
          </a:p>
        </p:txBody>
      </p:sp>
      <p:pic>
        <p:nvPicPr>
          <p:cNvPr id="8" name="Image 1" descr="preencoded.png">    </p:cNvPr>
          <p:cNvPicPr>
            <a:picLocks noChangeAspect="1"/>
          </p:cNvPicPr>
          <p:nvPr/>
        </p:nvPicPr>
        <p:blipFill>
          <a:blip r:embed="rId2"/>
          <a:stretch>
            <a:fillRect/>
          </a:stretch>
        </p:blipFill>
        <p:spPr>
          <a:xfrm>
            <a:off x="960120" y="3008376"/>
            <a:ext cx="128016" cy="128016"/>
          </a:xfrm>
          <a:prstGeom prst="rect">
            <a:avLst/>
          </a:prstGeom>
        </p:spPr>
      </p:pic>
      <p:sp>
        <p:nvSpPr>
          <p:cNvPr id="9" name="Text 5"/>
          <p:cNvSpPr/>
          <p:nvPr/>
        </p:nvSpPr>
        <p:spPr>
          <a:xfrm>
            <a:off x="1234440" y="2907792"/>
            <a:ext cx="4663440" cy="411480"/>
          </a:xfrm>
          <a:prstGeom prst="rect">
            <a:avLst/>
          </a:prstGeom>
          <a:noFill/>
          <a:ln/>
        </p:spPr>
        <p:txBody>
          <a:bodyPr wrap="square" lIns="0" tIns="0" rIns="0" bIns="0" rtlCol="0" anchor="t"/>
          <a:lstStyle/>
          <a:p>
            <a:pPr indent="0" marL="0">
              <a:buNone/>
            </a:pPr>
            <a:r>
              <a:rPr lang="en-US" sz="1250" dirty="0">
                <a:solidFill>
                  <a:srgbClr val="0F172A"/>
                </a:solidFill>
                <a:latin typeface="Arial" pitchFamily="34" charset="0"/>
                <a:ea typeface="Arial" pitchFamily="34" charset="-122"/>
                <a:cs typeface="Arial" pitchFamily="34" charset="-120"/>
              </a:rPr>
              <a:t>NDCG, MAP — ranking quality (top-weighted)</a:t>
            </a:r>
            <a:endParaRPr lang="en-US" sz="1250" dirty="0"/>
          </a:p>
        </p:txBody>
      </p:sp>
      <p:pic>
        <p:nvPicPr>
          <p:cNvPr id="10" name="Image 2" descr="preencoded.png">    </p:cNvPr>
          <p:cNvPicPr>
            <a:picLocks noChangeAspect="1"/>
          </p:cNvPicPr>
          <p:nvPr/>
        </p:nvPicPr>
        <p:blipFill>
          <a:blip r:embed="rId3"/>
          <a:stretch>
            <a:fillRect/>
          </a:stretch>
        </p:blipFill>
        <p:spPr>
          <a:xfrm>
            <a:off x="960120" y="3575304"/>
            <a:ext cx="128016" cy="128016"/>
          </a:xfrm>
          <a:prstGeom prst="rect">
            <a:avLst/>
          </a:prstGeom>
        </p:spPr>
      </p:pic>
      <p:sp>
        <p:nvSpPr>
          <p:cNvPr id="11" name="Text 6"/>
          <p:cNvSpPr/>
          <p:nvPr/>
        </p:nvSpPr>
        <p:spPr>
          <a:xfrm>
            <a:off x="1234440" y="3474720"/>
            <a:ext cx="4663440" cy="411480"/>
          </a:xfrm>
          <a:prstGeom prst="rect">
            <a:avLst/>
          </a:prstGeom>
          <a:noFill/>
          <a:ln/>
        </p:spPr>
        <p:txBody>
          <a:bodyPr wrap="square" lIns="0" tIns="0" rIns="0" bIns="0" rtlCol="0" anchor="t"/>
          <a:lstStyle/>
          <a:p>
            <a:pPr indent="0" marL="0">
              <a:buNone/>
            </a:pPr>
            <a:r>
              <a:rPr lang="en-US" sz="1250" dirty="0">
                <a:solidFill>
                  <a:srgbClr val="0F172A"/>
                </a:solidFill>
                <a:latin typeface="Arial" pitchFamily="34" charset="0"/>
                <a:ea typeface="Arial" pitchFamily="34" charset="-122"/>
                <a:cs typeface="Arial" pitchFamily="34" charset="-120"/>
              </a:rPr>
              <a:t>AUC — pairwise ranking / CTR calibration</a:t>
            </a:r>
            <a:endParaRPr lang="en-US" sz="1250" dirty="0"/>
          </a:p>
        </p:txBody>
      </p:sp>
      <p:pic>
        <p:nvPicPr>
          <p:cNvPr id="12" name="Image 3" descr="preencoded.png">    </p:cNvPr>
          <p:cNvPicPr>
            <a:picLocks noChangeAspect="1"/>
          </p:cNvPicPr>
          <p:nvPr/>
        </p:nvPicPr>
        <p:blipFill>
          <a:blip r:embed="rId4"/>
          <a:stretch>
            <a:fillRect/>
          </a:stretch>
        </p:blipFill>
        <p:spPr>
          <a:xfrm>
            <a:off x="960120" y="4142232"/>
            <a:ext cx="128016" cy="128016"/>
          </a:xfrm>
          <a:prstGeom prst="rect">
            <a:avLst/>
          </a:prstGeom>
        </p:spPr>
      </p:pic>
      <p:sp>
        <p:nvSpPr>
          <p:cNvPr id="13" name="Text 7"/>
          <p:cNvSpPr/>
          <p:nvPr/>
        </p:nvSpPr>
        <p:spPr>
          <a:xfrm>
            <a:off x="1234440" y="4041648"/>
            <a:ext cx="4663440" cy="411480"/>
          </a:xfrm>
          <a:prstGeom prst="rect">
            <a:avLst/>
          </a:prstGeom>
          <a:noFill/>
          <a:ln/>
        </p:spPr>
        <p:txBody>
          <a:bodyPr wrap="square" lIns="0" tIns="0" rIns="0" bIns="0" rtlCol="0" anchor="t"/>
          <a:lstStyle/>
          <a:p>
            <a:pPr indent="0" marL="0">
              <a:buNone/>
            </a:pPr>
            <a:r>
              <a:rPr lang="en-US" sz="1250" dirty="0">
                <a:solidFill>
                  <a:srgbClr val="0F172A"/>
                </a:solidFill>
                <a:latin typeface="Arial" pitchFamily="34" charset="0"/>
                <a:ea typeface="Arial" pitchFamily="34" charset="-122"/>
                <a:cs typeface="Arial" pitchFamily="34" charset="-120"/>
              </a:rPr>
              <a:t>Fast &amp; cheap, but only a proxy for impact</a:t>
            </a:r>
            <a:endParaRPr lang="en-US" sz="1250" dirty="0"/>
          </a:p>
        </p:txBody>
      </p:sp>
      <p:sp>
        <p:nvSpPr>
          <p:cNvPr id="14" name="Shape 8"/>
          <p:cNvSpPr/>
          <p:nvPr/>
        </p:nvSpPr>
        <p:spPr>
          <a:xfrm>
            <a:off x="6309360" y="1691640"/>
            <a:ext cx="5257800" cy="3657600"/>
          </a:xfrm>
          <a:prstGeom prst="roundRect">
            <a:avLst>
              <a:gd name="adj" fmla="val 3500"/>
            </a:avLst>
          </a:prstGeom>
          <a:solidFill>
            <a:srgbClr val="FFFFFF"/>
          </a:solidFill>
          <a:ln/>
          <a:effectLst>
            <a:outerShdw sx="100000" sy="100000" kx="0" ky="0" algn="bl" rotWithShape="0" blurRad="127000" dist="50800" dir="5400000">
              <a:srgbClr val="8A93A6">
                <a:alpha val="13000"/>
              </a:srgbClr>
            </a:outerShdw>
          </a:effectLst>
        </p:spPr>
      </p:sp>
      <p:sp>
        <p:nvSpPr>
          <p:cNvPr id="15" name="Shape 9"/>
          <p:cNvSpPr/>
          <p:nvPr/>
        </p:nvSpPr>
        <p:spPr>
          <a:xfrm>
            <a:off x="6309360" y="1691640"/>
            <a:ext cx="5257800" cy="3657600"/>
          </a:xfrm>
          <a:prstGeom prst="roundRect">
            <a:avLst>
              <a:gd name="adj" fmla="val 3500"/>
            </a:avLst>
          </a:prstGeom>
          <a:solidFill>
            <a:srgbClr val="FFFFFF">
              <a:alpha val="0"/>
            </a:srgbClr>
          </a:solidFill>
          <a:ln w="12700">
            <a:solidFill>
              <a:srgbClr val="DCE3EC"/>
            </a:solidFill>
            <a:prstDash val="solid"/>
          </a:ln>
        </p:spPr>
      </p:sp>
      <p:sp>
        <p:nvSpPr>
          <p:cNvPr id="16" name="Text 10"/>
          <p:cNvSpPr/>
          <p:nvPr/>
        </p:nvSpPr>
        <p:spPr>
          <a:xfrm>
            <a:off x="6583680" y="1920240"/>
            <a:ext cx="4663440" cy="32004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Online (ground truth)</a:t>
            </a:r>
            <a:endParaRPr lang="en-US" sz="1600" dirty="0"/>
          </a:p>
        </p:txBody>
      </p:sp>
      <p:pic>
        <p:nvPicPr>
          <p:cNvPr id="17" name="Image 4" descr="preencoded.png">    </p:cNvPr>
          <p:cNvPicPr>
            <a:picLocks noChangeAspect="1"/>
          </p:cNvPicPr>
          <p:nvPr/>
        </p:nvPicPr>
        <p:blipFill>
          <a:blip r:embed="rId5"/>
          <a:stretch>
            <a:fillRect/>
          </a:stretch>
        </p:blipFill>
        <p:spPr>
          <a:xfrm>
            <a:off x="6629400" y="2441448"/>
            <a:ext cx="128016" cy="128016"/>
          </a:xfrm>
          <a:prstGeom prst="rect">
            <a:avLst/>
          </a:prstGeom>
        </p:spPr>
      </p:pic>
      <p:sp>
        <p:nvSpPr>
          <p:cNvPr id="18" name="Text 11"/>
          <p:cNvSpPr/>
          <p:nvPr/>
        </p:nvSpPr>
        <p:spPr>
          <a:xfrm>
            <a:off x="6903720" y="2340864"/>
            <a:ext cx="4572000" cy="411480"/>
          </a:xfrm>
          <a:prstGeom prst="rect">
            <a:avLst/>
          </a:prstGeom>
          <a:noFill/>
          <a:ln/>
        </p:spPr>
        <p:txBody>
          <a:bodyPr wrap="square" lIns="0" tIns="0" rIns="0" bIns="0" rtlCol="0" anchor="t"/>
          <a:lstStyle/>
          <a:p>
            <a:pPr indent="0" marL="0">
              <a:buNone/>
            </a:pPr>
            <a:r>
              <a:rPr lang="en-US" sz="1250" dirty="0">
                <a:solidFill>
                  <a:srgbClr val="0F172A"/>
                </a:solidFill>
                <a:latin typeface="Arial" pitchFamily="34" charset="0"/>
                <a:ea typeface="Arial" pitchFamily="34" charset="-122"/>
                <a:cs typeface="Arial" pitchFamily="34" charset="-120"/>
              </a:rPr>
              <a:t>A/B tests with statistical significance</a:t>
            </a:r>
            <a:endParaRPr lang="en-US" sz="1250" dirty="0"/>
          </a:p>
        </p:txBody>
      </p:sp>
      <p:pic>
        <p:nvPicPr>
          <p:cNvPr id="19" name="Image 5" descr="preencoded.png">    </p:cNvPr>
          <p:cNvPicPr>
            <a:picLocks noChangeAspect="1"/>
          </p:cNvPicPr>
          <p:nvPr/>
        </p:nvPicPr>
        <p:blipFill>
          <a:blip r:embed="rId6"/>
          <a:stretch>
            <a:fillRect/>
          </a:stretch>
        </p:blipFill>
        <p:spPr>
          <a:xfrm>
            <a:off x="6629400" y="3008376"/>
            <a:ext cx="128016" cy="128016"/>
          </a:xfrm>
          <a:prstGeom prst="rect">
            <a:avLst/>
          </a:prstGeom>
        </p:spPr>
      </p:pic>
      <p:sp>
        <p:nvSpPr>
          <p:cNvPr id="20" name="Text 12"/>
          <p:cNvSpPr/>
          <p:nvPr/>
        </p:nvSpPr>
        <p:spPr>
          <a:xfrm>
            <a:off x="6903720" y="2907792"/>
            <a:ext cx="4572000" cy="411480"/>
          </a:xfrm>
          <a:prstGeom prst="rect">
            <a:avLst/>
          </a:prstGeom>
          <a:noFill/>
          <a:ln/>
        </p:spPr>
        <p:txBody>
          <a:bodyPr wrap="square" lIns="0" tIns="0" rIns="0" bIns="0" rtlCol="0" anchor="t"/>
          <a:lstStyle/>
          <a:p>
            <a:pPr indent="0" marL="0">
              <a:buNone/>
            </a:pPr>
            <a:r>
              <a:rPr lang="en-US" sz="1250" dirty="0">
                <a:solidFill>
                  <a:srgbClr val="0F172A"/>
                </a:solidFill>
                <a:latin typeface="Arial" pitchFamily="34" charset="0"/>
                <a:ea typeface="Arial" pitchFamily="34" charset="-122"/>
                <a:cs typeface="Arial" pitchFamily="34" charset="-120"/>
              </a:rPr>
              <a:t>Interleaving for sensitive ranking comparisons</a:t>
            </a:r>
            <a:endParaRPr lang="en-US" sz="1250" dirty="0"/>
          </a:p>
        </p:txBody>
      </p:sp>
      <p:pic>
        <p:nvPicPr>
          <p:cNvPr id="21" name="Image 6" descr="preencoded.png">    </p:cNvPr>
          <p:cNvPicPr>
            <a:picLocks noChangeAspect="1"/>
          </p:cNvPicPr>
          <p:nvPr/>
        </p:nvPicPr>
        <p:blipFill>
          <a:blip r:embed="rId7"/>
          <a:stretch>
            <a:fillRect/>
          </a:stretch>
        </p:blipFill>
        <p:spPr>
          <a:xfrm>
            <a:off x="6629400" y="3575304"/>
            <a:ext cx="128016" cy="128016"/>
          </a:xfrm>
          <a:prstGeom prst="rect">
            <a:avLst/>
          </a:prstGeom>
        </p:spPr>
      </p:pic>
      <p:sp>
        <p:nvSpPr>
          <p:cNvPr id="22" name="Text 13"/>
          <p:cNvSpPr/>
          <p:nvPr/>
        </p:nvSpPr>
        <p:spPr>
          <a:xfrm>
            <a:off x="6903720" y="3474720"/>
            <a:ext cx="4572000" cy="411480"/>
          </a:xfrm>
          <a:prstGeom prst="rect">
            <a:avLst/>
          </a:prstGeom>
          <a:noFill/>
          <a:ln/>
        </p:spPr>
        <p:txBody>
          <a:bodyPr wrap="square" lIns="0" tIns="0" rIns="0" bIns="0" rtlCol="0" anchor="t"/>
          <a:lstStyle/>
          <a:p>
            <a:pPr indent="0" marL="0">
              <a:buNone/>
            </a:pPr>
            <a:r>
              <a:rPr lang="en-US" sz="1250" dirty="0">
                <a:solidFill>
                  <a:srgbClr val="0F172A"/>
                </a:solidFill>
                <a:latin typeface="Arial" pitchFamily="34" charset="0"/>
                <a:ea typeface="Arial" pitchFamily="34" charset="-122"/>
                <a:cs typeface="Arial" pitchFamily="34" charset="-120"/>
              </a:rPr>
              <a:t>Primary: CTR, CVR, revenue / AOV</a:t>
            </a:r>
            <a:endParaRPr lang="en-US" sz="1250" dirty="0"/>
          </a:p>
        </p:txBody>
      </p:sp>
      <p:pic>
        <p:nvPicPr>
          <p:cNvPr id="23" name="Image 7" descr="preencoded.png">    </p:cNvPr>
          <p:cNvPicPr>
            <a:picLocks noChangeAspect="1"/>
          </p:cNvPicPr>
          <p:nvPr/>
        </p:nvPicPr>
        <p:blipFill>
          <a:blip r:embed="rId8"/>
          <a:stretch>
            <a:fillRect/>
          </a:stretch>
        </p:blipFill>
        <p:spPr>
          <a:xfrm>
            <a:off x="6629400" y="4142232"/>
            <a:ext cx="128016" cy="128016"/>
          </a:xfrm>
          <a:prstGeom prst="rect">
            <a:avLst/>
          </a:prstGeom>
        </p:spPr>
      </p:pic>
      <p:sp>
        <p:nvSpPr>
          <p:cNvPr id="24" name="Text 14"/>
          <p:cNvSpPr/>
          <p:nvPr/>
        </p:nvSpPr>
        <p:spPr>
          <a:xfrm>
            <a:off x="6903720" y="4041648"/>
            <a:ext cx="4572000" cy="411480"/>
          </a:xfrm>
          <a:prstGeom prst="rect">
            <a:avLst/>
          </a:prstGeom>
          <a:noFill/>
          <a:ln/>
        </p:spPr>
        <p:txBody>
          <a:bodyPr wrap="square" lIns="0" tIns="0" rIns="0" bIns="0" rtlCol="0" anchor="t"/>
          <a:lstStyle/>
          <a:p>
            <a:pPr indent="0" marL="0">
              <a:buNone/>
            </a:pPr>
            <a:r>
              <a:rPr lang="en-US" sz="1250" dirty="0">
                <a:solidFill>
                  <a:srgbClr val="0F172A"/>
                </a:solidFill>
                <a:latin typeface="Arial" pitchFamily="34" charset="0"/>
                <a:ea typeface="Arial" pitchFamily="34" charset="-122"/>
                <a:cs typeface="Arial" pitchFamily="34" charset="-120"/>
              </a:rPr>
              <a:t>Guardrails: latency, diversity, returns</a:t>
            </a:r>
            <a:endParaRPr lang="en-US" sz="1250" dirty="0"/>
          </a:p>
        </p:txBody>
      </p:sp>
      <p:sp>
        <p:nvSpPr>
          <p:cNvPr id="25" name="Text 15"/>
          <p:cNvSpPr/>
          <p:nvPr/>
        </p:nvSpPr>
        <p:spPr>
          <a:xfrm>
            <a:off x="6583680" y="4709160"/>
            <a:ext cx="4754880" cy="548640"/>
          </a:xfrm>
          <a:prstGeom prst="rect">
            <a:avLst/>
          </a:prstGeom>
          <a:noFill/>
          <a:ln/>
        </p:spPr>
        <p:txBody>
          <a:bodyPr wrap="square" lIns="0" tIns="0" rIns="0" bIns="0" rtlCol="0" anchor="ctr"/>
          <a:lstStyle/>
          <a:p>
            <a:pPr indent="0" marL="0">
              <a:buNone/>
            </a:pPr>
            <a:r>
              <a:rPr lang="en-US" sz="1150" i="1" dirty="0">
                <a:solidFill>
                  <a:srgbClr val="06B6D4"/>
                </a:solidFill>
                <a:latin typeface="Arial" pitchFamily="34" charset="0"/>
                <a:ea typeface="Arial" pitchFamily="34" charset="-122"/>
                <a:cs typeface="Arial" pitchFamily="34" charset="-120"/>
              </a:rPr>
              <a:t>Mind the offline/online gap: better NDCG ≠ better revenue. Validate every launch online.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SERVING &amp; LATENCY</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Where the milliseconds go (and how to save them)</a:t>
            </a:r>
            <a:endParaRPr lang="en-US" sz="2700" dirty="0"/>
          </a:p>
        </p:txBody>
      </p:sp>
      <p:sp>
        <p:nvSpPr>
          <p:cNvPr id="4" name="Text 2"/>
          <p:cNvSpPr/>
          <p:nvPr/>
        </p:nvSpPr>
        <p:spPr>
          <a:xfrm>
            <a:off x="640080" y="1371600"/>
            <a:ext cx="10927080" cy="292608"/>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Illustrative per-request budget within a page-load SLA. Heavy compute is precomputed in batch.</a:t>
            </a:r>
            <a:endParaRPr lang="en-US" sz="1300" dirty="0"/>
          </a:p>
        </p:txBody>
      </p:sp>
      <p:graphicFrame>
        <p:nvGraphicFramePr>
          <p:cNvPr id="5" name="Chart 0" descr=""/>
          <p:cNvGraphicFramePr/>
          <p:nvPr/>
        </p:nvGraphicFramePr>
        <p:xfrm>
          <a:off x="640080" y="1828800"/>
          <a:ext cx="6766560" cy="3291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80960" y="1828800"/>
            <a:ext cx="3886200" cy="3291840"/>
          </a:xfrm>
          <a:prstGeom prst="roundRect">
            <a:avLst>
              <a:gd name="adj" fmla="val 3889"/>
            </a:avLst>
          </a:prstGeom>
          <a:solidFill>
            <a:srgbClr val="F1F5F9"/>
          </a:solidFill>
          <a:ln/>
          <a:effectLst>
            <a:outerShdw sx="100000" sy="100000" kx="0" ky="0" algn="bl" rotWithShape="0" blurRad="127000" dist="50800" dir="5400000">
              <a:srgbClr val="8A93A6">
                <a:alpha val="13000"/>
              </a:srgbClr>
            </a:outerShdw>
          </a:effectLst>
        </p:spPr>
      </p:sp>
      <p:sp>
        <p:nvSpPr>
          <p:cNvPr id="7" name="Text 4"/>
          <p:cNvSpPr/>
          <p:nvPr/>
        </p:nvSpPr>
        <p:spPr>
          <a:xfrm>
            <a:off x="7955280" y="2029968"/>
            <a:ext cx="3383280" cy="32004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Batch vs. real-time</a:t>
            </a:r>
            <a:endParaRPr lang="en-US" sz="1400" dirty="0"/>
          </a:p>
        </p:txBody>
      </p:sp>
      <p:sp>
        <p:nvSpPr>
          <p:cNvPr id="8" name="Shape 5"/>
          <p:cNvSpPr/>
          <p:nvPr/>
        </p:nvSpPr>
        <p:spPr>
          <a:xfrm>
            <a:off x="7955280" y="2468880"/>
            <a:ext cx="512064" cy="512064"/>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9" name="Image 0" descr="preencoded.png">    </p:cNvPr>
          <p:cNvPicPr>
            <a:picLocks noChangeAspect="1"/>
          </p:cNvPicPr>
          <p:nvPr/>
        </p:nvPicPr>
        <p:blipFill>
          <a:blip r:embed="rId2"/>
          <a:stretch>
            <a:fillRect/>
          </a:stretch>
        </p:blipFill>
        <p:spPr>
          <a:xfrm>
            <a:off x="8093537" y="2607137"/>
            <a:ext cx="235549" cy="235549"/>
          </a:xfrm>
          <a:prstGeom prst="rect">
            <a:avLst/>
          </a:prstGeom>
        </p:spPr>
      </p:pic>
      <p:sp>
        <p:nvSpPr>
          <p:cNvPr id="10" name="Text 6"/>
          <p:cNvSpPr/>
          <p:nvPr/>
        </p:nvSpPr>
        <p:spPr>
          <a:xfrm>
            <a:off x="8595360" y="2450592"/>
            <a:ext cx="2834640" cy="292608"/>
          </a:xfrm>
          <a:prstGeom prst="rect">
            <a:avLst/>
          </a:prstGeom>
          <a:noFill/>
          <a:ln/>
        </p:spPr>
        <p:txBody>
          <a:bodyPr wrap="square" lIns="0" tIns="0" rIns="0" bIns="0" rtlCol="0" anchor="ctr"/>
          <a:lstStyle/>
          <a:p>
            <a:pPr indent="0" marL="0">
              <a:buNone/>
            </a:pPr>
            <a:r>
              <a:rPr lang="en-US" sz="1350" b="1" dirty="0">
                <a:solidFill>
                  <a:srgbClr val="0F172A"/>
                </a:solidFill>
                <a:latin typeface="Arial" pitchFamily="34" charset="0"/>
                <a:ea typeface="Arial" pitchFamily="34" charset="-122"/>
                <a:cs typeface="Arial" pitchFamily="34" charset="-120"/>
              </a:rPr>
              <a:t>Batch</a:t>
            </a:r>
            <a:endParaRPr lang="en-US" sz="1350" dirty="0"/>
          </a:p>
        </p:txBody>
      </p:sp>
      <p:sp>
        <p:nvSpPr>
          <p:cNvPr id="11" name="Text 7"/>
          <p:cNvSpPr/>
          <p:nvPr/>
        </p:nvSpPr>
        <p:spPr>
          <a:xfrm>
            <a:off x="8595360" y="2761488"/>
            <a:ext cx="2834640" cy="548640"/>
          </a:xfrm>
          <a:prstGeom prst="rect">
            <a:avLst/>
          </a:prstGeom>
          <a:noFill/>
          <a:ln/>
        </p:spPr>
        <p:txBody>
          <a:bodyPr wrap="square" lIns="0" tIns="0" rIns="0" bIns="0" rtlCol="0" anchor="ctr"/>
          <a:lstStyle/>
          <a:p>
            <a:pPr indent="0" marL="0">
              <a:buNone/>
            </a:pPr>
            <a:r>
              <a:rPr lang="en-US" sz="1100" dirty="0">
                <a:solidFill>
                  <a:srgbClr val="64748B"/>
                </a:solidFill>
                <a:latin typeface="Arial" pitchFamily="34" charset="0"/>
                <a:ea typeface="Arial" pitchFamily="34" charset="-122"/>
                <a:cs typeface="Arial" pitchFamily="34" charset="-120"/>
              </a:rPr>
              <a:t>Embeddings, ANN index, candidate lists, features</a:t>
            </a:r>
            <a:endParaRPr lang="en-US" sz="1100" dirty="0"/>
          </a:p>
        </p:txBody>
      </p:sp>
      <p:sp>
        <p:nvSpPr>
          <p:cNvPr id="12" name="Shape 8"/>
          <p:cNvSpPr/>
          <p:nvPr/>
        </p:nvSpPr>
        <p:spPr>
          <a:xfrm>
            <a:off x="7955280" y="3364992"/>
            <a:ext cx="512064" cy="512064"/>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13" name="Image 1" descr="preencoded.png">    </p:cNvPr>
          <p:cNvPicPr>
            <a:picLocks noChangeAspect="1"/>
          </p:cNvPicPr>
          <p:nvPr/>
        </p:nvPicPr>
        <p:blipFill>
          <a:blip r:embed="rId3"/>
          <a:stretch>
            <a:fillRect/>
          </a:stretch>
        </p:blipFill>
        <p:spPr>
          <a:xfrm>
            <a:off x="8093537" y="3503249"/>
            <a:ext cx="235549" cy="235549"/>
          </a:xfrm>
          <a:prstGeom prst="rect">
            <a:avLst/>
          </a:prstGeom>
        </p:spPr>
      </p:pic>
      <p:sp>
        <p:nvSpPr>
          <p:cNvPr id="14" name="Text 9"/>
          <p:cNvSpPr/>
          <p:nvPr/>
        </p:nvSpPr>
        <p:spPr>
          <a:xfrm>
            <a:off x="8595360" y="3346704"/>
            <a:ext cx="2834640" cy="292608"/>
          </a:xfrm>
          <a:prstGeom prst="rect">
            <a:avLst/>
          </a:prstGeom>
          <a:noFill/>
          <a:ln/>
        </p:spPr>
        <p:txBody>
          <a:bodyPr wrap="square" lIns="0" tIns="0" rIns="0" bIns="0" rtlCol="0" anchor="ctr"/>
          <a:lstStyle/>
          <a:p>
            <a:pPr indent="0" marL="0">
              <a:buNone/>
            </a:pPr>
            <a:r>
              <a:rPr lang="en-US" sz="1350" b="1" dirty="0">
                <a:solidFill>
                  <a:srgbClr val="0F172A"/>
                </a:solidFill>
                <a:latin typeface="Arial" pitchFamily="34" charset="0"/>
                <a:ea typeface="Arial" pitchFamily="34" charset="-122"/>
                <a:cs typeface="Arial" pitchFamily="34" charset="-120"/>
              </a:rPr>
              <a:t>Real-time</a:t>
            </a:r>
            <a:endParaRPr lang="en-US" sz="1350" dirty="0"/>
          </a:p>
        </p:txBody>
      </p:sp>
      <p:sp>
        <p:nvSpPr>
          <p:cNvPr id="15" name="Text 10"/>
          <p:cNvSpPr/>
          <p:nvPr/>
        </p:nvSpPr>
        <p:spPr>
          <a:xfrm>
            <a:off x="8595360" y="3657600"/>
            <a:ext cx="2834640" cy="548640"/>
          </a:xfrm>
          <a:prstGeom prst="rect">
            <a:avLst/>
          </a:prstGeom>
          <a:noFill/>
          <a:ln/>
        </p:spPr>
        <p:txBody>
          <a:bodyPr wrap="square" lIns="0" tIns="0" rIns="0" bIns="0" rtlCol="0" anchor="ctr"/>
          <a:lstStyle/>
          <a:p>
            <a:pPr indent="0" marL="0">
              <a:buNone/>
            </a:pPr>
            <a:r>
              <a:rPr lang="en-US" sz="1100" dirty="0">
                <a:solidFill>
                  <a:srgbClr val="64748B"/>
                </a:solidFill>
                <a:latin typeface="Arial" pitchFamily="34" charset="0"/>
                <a:ea typeface="Arial" pitchFamily="34" charset="-122"/>
                <a:cs typeface="Arial" pitchFamily="34" charset="-120"/>
              </a:rPr>
              <a:t>Feature fetch, ranking, re-ranking, fallback</a:t>
            </a:r>
            <a:endParaRPr lang="en-US" sz="1100" dirty="0"/>
          </a:p>
        </p:txBody>
      </p:sp>
      <p:sp>
        <p:nvSpPr>
          <p:cNvPr id="16" name="Shape 11"/>
          <p:cNvSpPr/>
          <p:nvPr/>
        </p:nvSpPr>
        <p:spPr>
          <a:xfrm>
            <a:off x="7955280" y="4261104"/>
            <a:ext cx="512064" cy="512064"/>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17" name="Image 2" descr="preencoded.png">    </p:cNvPr>
          <p:cNvPicPr>
            <a:picLocks noChangeAspect="1"/>
          </p:cNvPicPr>
          <p:nvPr/>
        </p:nvPicPr>
        <p:blipFill>
          <a:blip r:embed="rId4"/>
          <a:stretch>
            <a:fillRect/>
          </a:stretch>
        </p:blipFill>
        <p:spPr>
          <a:xfrm>
            <a:off x="8093537" y="4399361"/>
            <a:ext cx="235549" cy="235549"/>
          </a:xfrm>
          <a:prstGeom prst="rect">
            <a:avLst/>
          </a:prstGeom>
        </p:spPr>
      </p:pic>
      <p:sp>
        <p:nvSpPr>
          <p:cNvPr id="18" name="Text 12"/>
          <p:cNvSpPr/>
          <p:nvPr/>
        </p:nvSpPr>
        <p:spPr>
          <a:xfrm>
            <a:off x="8595360" y="4242816"/>
            <a:ext cx="2834640" cy="292608"/>
          </a:xfrm>
          <a:prstGeom prst="rect">
            <a:avLst/>
          </a:prstGeom>
          <a:noFill/>
          <a:ln/>
        </p:spPr>
        <p:txBody>
          <a:bodyPr wrap="square" lIns="0" tIns="0" rIns="0" bIns="0" rtlCol="0" anchor="ctr"/>
          <a:lstStyle/>
          <a:p>
            <a:pPr indent="0" marL="0">
              <a:buNone/>
            </a:pPr>
            <a:r>
              <a:rPr lang="en-US" sz="1350" b="1" dirty="0">
                <a:solidFill>
                  <a:srgbClr val="0F172A"/>
                </a:solidFill>
                <a:latin typeface="Arial" pitchFamily="34" charset="0"/>
                <a:ea typeface="Arial" pitchFamily="34" charset="-122"/>
                <a:cs typeface="Arial" pitchFamily="34" charset="-120"/>
              </a:rPr>
              <a:t>Levers</a:t>
            </a:r>
            <a:endParaRPr lang="en-US" sz="1350" dirty="0"/>
          </a:p>
        </p:txBody>
      </p:sp>
      <p:sp>
        <p:nvSpPr>
          <p:cNvPr id="19" name="Text 13"/>
          <p:cNvSpPr/>
          <p:nvPr/>
        </p:nvSpPr>
        <p:spPr>
          <a:xfrm>
            <a:off x="8595360" y="4553712"/>
            <a:ext cx="2834640" cy="548640"/>
          </a:xfrm>
          <a:prstGeom prst="rect">
            <a:avLst/>
          </a:prstGeom>
          <a:noFill/>
          <a:ln/>
        </p:spPr>
        <p:txBody>
          <a:bodyPr wrap="square" lIns="0" tIns="0" rIns="0" bIns="0" rtlCol="0" anchor="ctr"/>
          <a:lstStyle/>
          <a:p>
            <a:pPr indent="0" marL="0">
              <a:buNone/>
            </a:pPr>
            <a:r>
              <a:rPr lang="en-US" sz="1100" dirty="0">
                <a:solidFill>
                  <a:srgbClr val="64748B"/>
                </a:solidFill>
                <a:latin typeface="Arial" pitchFamily="34" charset="0"/>
                <a:ea typeface="Arial" pitchFamily="34" charset="-122"/>
                <a:cs typeface="Arial" pitchFamily="34" charset="-120"/>
              </a:rPr>
              <a:t>Caching, model distillation, quantization, early-exit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PRODUCTION CASE STUDIES</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How leaders solved scale, sparsity &amp; cold start</a:t>
            </a:r>
            <a:endParaRPr lang="en-US" sz="2700" dirty="0"/>
          </a:p>
        </p:txBody>
      </p:sp>
      <p:sp>
        <p:nvSpPr>
          <p:cNvPr id="4" name="Shape 2"/>
          <p:cNvSpPr/>
          <p:nvPr/>
        </p:nvSpPr>
        <p:spPr>
          <a:xfrm>
            <a:off x="640080" y="1691640"/>
            <a:ext cx="3566160" cy="3703320"/>
          </a:xfrm>
          <a:prstGeom prst="roundRect">
            <a:avLst>
              <a:gd name="adj" fmla="val 3590"/>
            </a:avLst>
          </a:prstGeom>
          <a:solidFill>
            <a:srgbClr val="ECFEFF"/>
          </a:solidFill>
          <a:ln/>
          <a:effectLst>
            <a:outerShdw sx="100000" sy="100000" kx="0" ky="0" algn="bl" rotWithShape="0" blurRad="127000" dist="50800" dir="5400000">
              <a:srgbClr val="8A93A6">
                <a:alpha val="13000"/>
              </a:srgbClr>
            </a:outerShdw>
          </a:effectLst>
        </p:spPr>
      </p:sp>
      <p:sp>
        <p:nvSpPr>
          <p:cNvPr id="5" name="Shape 3"/>
          <p:cNvSpPr/>
          <p:nvPr/>
        </p:nvSpPr>
        <p:spPr>
          <a:xfrm>
            <a:off x="914400" y="1965960"/>
            <a:ext cx="713232" cy="713232"/>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106973" y="2158533"/>
            <a:ext cx="328087" cy="328087"/>
          </a:xfrm>
          <a:prstGeom prst="rect">
            <a:avLst/>
          </a:prstGeom>
        </p:spPr>
      </p:pic>
      <p:sp>
        <p:nvSpPr>
          <p:cNvPr id="7" name="Text 4"/>
          <p:cNvSpPr/>
          <p:nvPr/>
        </p:nvSpPr>
        <p:spPr>
          <a:xfrm>
            <a:off x="1719072" y="2020824"/>
            <a:ext cx="2331720" cy="457200"/>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Taobao / Alibaba</a:t>
            </a:r>
            <a:endParaRPr lang="en-US" sz="1550" dirty="0"/>
          </a:p>
        </p:txBody>
      </p:sp>
      <p:sp>
        <p:nvSpPr>
          <p:cNvPr id="8" name="Text 5"/>
          <p:cNvSpPr/>
          <p:nvPr/>
        </p:nvSpPr>
        <p:spPr>
          <a:xfrm>
            <a:off x="932688" y="2880360"/>
            <a:ext cx="2980944" cy="1554480"/>
          </a:xfrm>
          <a:prstGeom prst="rect">
            <a:avLst/>
          </a:prstGeom>
          <a:noFill/>
          <a:ln/>
        </p:spPr>
        <p:txBody>
          <a:bodyPr wrap="square" lIns="0" tIns="0" rIns="0" bIns="0" rtlCol="0" anchor="ctr"/>
          <a:lstStyle/>
          <a:p>
            <a:pPr indent="0" marL="0">
              <a:buNone/>
            </a:pPr>
            <a:r>
              <a:rPr lang="en-US" sz="1200" dirty="0">
                <a:solidFill>
                  <a:srgbClr val="64748B"/>
                </a:solidFill>
                <a:latin typeface="Arial" pitchFamily="34" charset="0"/>
                <a:ea typeface="Arial" pitchFamily="34" charset="-122"/>
                <a:cs typeface="Arial" pitchFamily="34" charset="-120"/>
              </a:rPr>
              <a:t>EGES: build an item graph from behavior, learn embeddings, fold in side info (category, brand, price) for cold start.</a:t>
            </a:r>
            <a:endParaRPr lang="en-US" sz="1200" dirty="0"/>
          </a:p>
        </p:txBody>
      </p:sp>
      <p:sp>
        <p:nvSpPr>
          <p:cNvPr id="9" name="Shape 6"/>
          <p:cNvSpPr/>
          <p:nvPr/>
        </p:nvSpPr>
        <p:spPr>
          <a:xfrm>
            <a:off x="932688" y="4526280"/>
            <a:ext cx="2980944" cy="0"/>
          </a:xfrm>
          <a:prstGeom prst="line">
            <a:avLst/>
          </a:prstGeom>
          <a:noFill/>
          <a:ln w="12700">
            <a:solidFill>
              <a:srgbClr val="DCE3EC"/>
            </a:solidFill>
            <a:prstDash val="solid"/>
          </a:ln>
        </p:spPr>
      </p:sp>
      <p:sp>
        <p:nvSpPr>
          <p:cNvPr id="10" name="Text 7"/>
          <p:cNvSpPr/>
          <p:nvPr/>
        </p:nvSpPr>
        <p:spPr>
          <a:xfrm>
            <a:off x="932688" y="4617720"/>
            <a:ext cx="2980944" cy="731520"/>
          </a:xfrm>
          <a:prstGeom prst="rect">
            <a:avLst/>
          </a:prstGeom>
          <a:noFill/>
          <a:ln/>
        </p:spPr>
        <p:txBody>
          <a:bodyPr wrap="square" lIns="0" tIns="0" rIns="0" bIns="0" rtlCol="0" anchor="ctr"/>
          <a:lstStyle/>
          <a:p>
            <a:pPr indent="0" marL="0">
              <a:buNone/>
            </a:pPr>
            <a:r>
              <a:rPr lang="en-US" sz="1150" i="1" dirty="0">
                <a:solidFill>
                  <a:srgbClr val="1E293B"/>
                </a:solidFill>
                <a:latin typeface="Arial" pitchFamily="34" charset="0"/>
                <a:ea typeface="Arial" pitchFamily="34" charset="-122"/>
                <a:cs typeface="Arial" pitchFamily="34" charset="-120"/>
              </a:rPr>
              <a:t>A/B tested CTR gains on the Mobile Taobao home feed at billion-item scale.</a:t>
            </a:r>
            <a:endParaRPr lang="en-US" sz="1150" dirty="0"/>
          </a:p>
        </p:txBody>
      </p:sp>
      <p:sp>
        <p:nvSpPr>
          <p:cNvPr id="11" name="Shape 8"/>
          <p:cNvSpPr/>
          <p:nvPr/>
        </p:nvSpPr>
        <p:spPr>
          <a:xfrm>
            <a:off x="4370832" y="1691640"/>
            <a:ext cx="3566160" cy="3703320"/>
          </a:xfrm>
          <a:prstGeom prst="roundRect">
            <a:avLst>
              <a:gd name="adj" fmla="val 3590"/>
            </a:avLst>
          </a:prstGeom>
          <a:solidFill>
            <a:srgbClr val="F1F5F9"/>
          </a:solidFill>
          <a:ln/>
          <a:effectLst>
            <a:outerShdw sx="100000" sy="100000" kx="0" ky="0" algn="bl" rotWithShape="0" blurRad="127000" dist="50800" dir="5400000">
              <a:srgbClr val="8A93A6">
                <a:alpha val="13000"/>
              </a:srgbClr>
            </a:outerShdw>
          </a:effectLst>
        </p:spPr>
      </p:sp>
      <p:sp>
        <p:nvSpPr>
          <p:cNvPr id="12" name="Shape 9"/>
          <p:cNvSpPr/>
          <p:nvPr/>
        </p:nvSpPr>
        <p:spPr>
          <a:xfrm>
            <a:off x="4645152" y="1965960"/>
            <a:ext cx="713232" cy="713232"/>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13" name="Image 1" descr="preencoded.png">    </p:cNvPr>
          <p:cNvPicPr>
            <a:picLocks noChangeAspect="1"/>
          </p:cNvPicPr>
          <p:nvPr/>
        </p:nvPicPr>
        <p:blipFill>
          <a:blip r:embed="rId2"/>
          <a:stretch>
            <a:fillRect/>
          </a:stretch>
        </p:blipFill>
        <p:spPr>
          <a:xfrm>
            <a:off x="4837725" y="2158533"/>
            <a:ext cx="328087" cy="328087"/>
          </a:xfrm>
          <a:prstGeom prst="rect">
            <a:avLst/>
          </a:prstGeom>
        </p:spPr>
      </p:pic>
      <p:sp>
        <p:nvSpPr>
          <p:cNvPr id="14" name="Text 10"/>
          <p:cNvSpPr/>
          <p:nvPr/>
        </p:nvSpPr>
        <p:spPr>
          <a:xfrm>
            <a:off x="5449824" y="2020824"/>
            <a:ext cx="2331720" cy="457200"/>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JD.com (Jingdong)</a:t>
            </a:r>
            <a:endParaRPr lang="en-US" sz="1550" dirty="0"/>
          </a:p>
        </p:txBody>
      </p:sp>
      <p:sp>
        <p:nvSpPr>
          <p:cNvPr id="15" name="Text 11"/>
          <p:cNvSpPr/>
          <p:nvPr/>
        </p:nvSpPr>
        <p:spPr>
          <a:xfrm>
            <a:off x="4663440" y="2880360"/>
            <a:ext cx="2980944" cy="1554480"/>
          </a:xfrm>
          <a:prstGeom prst="rect">
            <a:avLst/>
          </a:prstGeom>
          <a:noFill/>
          <a:ln/>
        </p:spPr>
        <p:txBody>
          <a:bodyPr wrap="square" lIns="0" tIns="0" rIns="0" bIns="0" rtlCol="0" anchor="ctr"/>
          <a:lstStyle/>
          <a:p>
            <a:pPr indent="0" marL="0">
              <a:buNone/>
            </a:pPr>
            <a:r>
              <a:rPr lang="en-US" sz="1200" dirty="0">
                <a:solidFill>
                  <a:srgbClr val="64748B"/>
                </a:solidFill>
                <a:latin typeface="Arial" pitchFamily="34" charset="0"/>
                <a:ea typeface="Arial" pitchFamily="34" charset="-122"/>
                <a:cs typeface="Arial" pitchFamily="34" charset="-120"/>
              </a:rPr>
              <a:t>Deep semantic retrieval + a pairwise deep re-ranker for product search and recommendations.</a:t>
            </a:r>
            <a:endParaRPr lang="en-US" sz="1200" dirty="0"/>
          </a:p>
        </p:txBody>
      </p:sp>
      <p:sp>
        <p:nvSpPr>
          <p:cNvPr id="16" name="Shape 12"/>
          <p:cNvSpPr/>
          <p:nvPr/>
        </p:nvSpPr>
        <p:spPr>
          <a:xfrm>
            <a:off x="4663440" y="4526280"/>
            <a:ext cx="2980944" cy="0"/>
          </a:xfrm>
          <a:prstGeom prst="line">
            <a:avLst/>
          </a:prstGeom>
          <a:noFill/>
          <a:ln w="12700">
            <a:solidFill>
              <a:srgbClr val="DCE3EC"/>
            </a:solidFill>
            <a:prstDash val="solid"/>
          </a:ln>
        </p:spPr>
      </p:sp>
      <p:sp>
        <p:nvSpPr>
          <p:cNvPr id="17" name="Text 13"/>
          <p:cNvSpPr/>
          <p:nvPr/>
        </p:nvSpPr>
        <p:spPr>
          <a:xfrm>
            <a:off x="4663440" y="4617720"/>
            <a:ext cx="2980944" cy="731520"/>
          </a:xfrm>
          <a:prstGeom prst="rect">
            <a:avLst/>
          </a:prstGeom>
          <a:noFill/>
          <a:ln/>
        </p:spPr>
        <p:txBody>
          <a:bodyPr wrap="square" lIns="0" tIns="0" rIns="0" bIns="0" rtlCol="0" anchor="ctr"/>
          <a:lstStyle/>
          <a:p>
            <a:pPr indent="0" marL="0">
              <a:buNone/>
            </a:pPr>
            <a:r>
              <a:rPr lang="en-US" sz="1150" i="1" dirty="0">
                <a:solidFill>
                  <a:srgbClr val="1E293B"/>
                </a:solidFill>
                <a:latin typeface="Arial" pitchFamily="34" charset="0"/>
                <a:ea typeface="Arial" pitchFamily="34" charset="-122"/>
                <a:cs typeface="Arial" pitchFamily="34" charset="-120"/>
              </a:rPr>
              <a:t>Millisecond retrieval and personalized ranking across a $100B+ GMV catalog.</a:t>
            </a:r>
            <a:endParaRPr lang="en-US" sz="1150" dirty="0"/>
          </a:p>
        </p:txBody>
      </p:sp>
      <p:sp>
        <p:nvSpPr>
          <p:cNvPr id="18" name="Shape 14"/>
          <p:cNvSpPr/>
          <p:nvPr/>
        </p:nvSpPr>
        <p:spPr>
          <a:xfrm>
            <a:off x="8101584" y="1691640"/>
            <a:ext cx="3566160" cy="3703320"/>
          </a:xfrm>
          <a:prstGeom prst="roundRect">
            <a:avLst>
              <a:gd name="adj" fmla="val 3590"/>
            </a:avLst>
          </a:prstGeom>
          <a:solidFill>
            <a:srgbClr val="F1F5F9"/>
          </a:solidFill>
          <a:ln/>
          <a:effectLst>
            <a:outerShdw sx="100000" sy="100000" kx="0" ky="0" algn="bl" rotWithShape="0" blurRad="127000" dist="50800" dir="5400000">
              <a:srgbClr val="8A93A6">
                <a:alpha val="13000"/>
              </a:srgbClr>
            </a:outerShdw>
          </a:effectLst>
        </p:spPr>
      </p:sp>
      <p:sp>
        <p:nvSpPr>
          <p:cNvPr id="19" name="Shape 15"/>
          <p:cNvSpPr/>
          <p:nvPr/>
        </p:nvSpPr>
        <p:spPr>
          <a:xfrm>
            <a:off x="8375904" y="1965960"/>
            <a:ext cx="713232" cy="713232"/>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20" name="Image 2" descr="preencoded.png">    </p:cNvPr>
          <p:cNvPicPr>
            <a:picLocks noChangeAspect="1"/>
          </p:cNvPicPr>
          <p:nvPr/>
        </p:nvPicPr>
        <p:blipFill>
          <a:blip r:embed="rId3"/>
          <a:stretch>
            <a:fillRect/>
          </a:stretch>
        </p:blipFill>
        <p:spPr>
          <a:xfrm>
            <a:off x="8568477" y="2158533"/>
            <a:ext cx="328087" cy="328087"/>
          </a:xfrm>
          <a:prstGeom prst="rect">
            <a:avLst/>
          </a:prstGeom>
        </p:spPr>
      </p:pic>
      <p:sp>
        <p:nvSpPr>
          <p:cNvPr id="21" name="Text 16"/>
          <p:cNvSpPr/>
          <p:nvPr/>
        </p:nvSpPr>
        <p:spPr>
          <a:xfrm>
            <a:off x="9180576" y="2020824"/>
            <a:ext cx="2331720" cy="457200"/>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Amazon</a:t>
            </a:r>
            <a:endParaRPr lang="en-US" sz="1550" dirty="0"/>
          </a:p>
        </p:txBody>
      </p:sp>
      <p:sp>
        <p:nvSpPr>
          <p:cNvPr id="22" name="Text 17"/>
          <p:cNvSpPr/>
          <p:nvPr/>
        </p:nvSpPr>
        <p:spPr>
          <a:xfrm>
            <a:off x="8394192" y="2880360"/>
            <a:ext cx="2980944" cy="1554480"/>
          </a:xfrm>
          <a:prstGeom prst="rect">
            <a:avLst/>
          </a:prstGeom>
          <a:noFill/>
          <a:ln/>
        </p:spPr>
        <p:txBody>
          <a:bodyPr wrap="square" lIns="0" tIns="0" rIns="0" bIns="0" rtlCol="0" anchor="ctr"/>
          <a:lstStyle/>
          <a:p>
            <a:pPr indent="0" marL="0">
              <a:buNone/>
            </a:pPr>
            <a:r>
              <a:rPr lang="en-US" sz="1200" dirty="0">
                <a:solidFill>
                  <a:srgbClr val="64748B"/>
                </a:solidFill>
                <a:latin typeface="Arial" pitchFamily="34" charset="0"/>
                <a:ea typeface="Arial" pitchFamily="34" charset="-122"/>
                <a:cs typeface="Arial" pitchFamily="34" charset="-120"/>
              </a:rPr>
              <a:t>Item-to-item collaborative filtering: precompute an item-item similarity matrix offline.</a:t>
            </a:r>
            <a:endParaRPr lang="en-US" sz="1200" dirty="0"/>
          </a:p>
        </p:txBody>
      </p:sp>
      <p:sp>
        <p:nvSpPr>
          <p:cNvPr id="23" name="Shape 18"/>
          <p:cNvSpPr/>
          <p:nvPr/>
        </p:nvSpPr>
        <p:spPr>
          <a:xfrm>
            <a:off x="8394192" y="4526280"/>
            <a:ext cx="2980944" cy="0"/>
          </a:xfrm>
          <a:prstGeom prst="line">
            <a:avLst/>
          </a:prstGeom>
          <a:noFill/>
          <a:ln w="12700">
            <a:solidFill>
              <a:srgbClr val="DCE3EC"/>
            </a:solidFill>
            <a:prstDash val="solid"/>
          </a:ln>
        </p:spPr>
      </p:sp>
      <p:sp>
        <p:nvSpPr>
          <p:cNvPr id="24" name="Text 19"/>
          <p:cNvSpPr/>
          <p:nvPr/>
        </p:nvSpPr>
        <p:spPr>
          <a:xfrm>
            <a:off x="8394192" y="4617720"/>
            <a:ext cx="2980944" cy="731520"/>
          </a:xfrm>
          <a:prstGeom prst="rect">
            <a:avLst/>
          </a:prstGeom>
          <a:noFill/>
          <a:ln/>
        </p:spPr>
        <p:txBody>
          <a:bodyPr wrap="square" lIns="0" tIns="0" rIns="0" bIns="0" rtlCol="0" anchor="ctr"/>
          <a:lstStyle/>
          <a:p>
            <a:pPr indent="0" marL="0">
              <a:buNone/>
            </a:pPr>
            <a:r>
              <a:rPr lang="en-US" sz="1150" i="1" dirty="0">
                <a:solidFill>
                  <a:srgbClr val="1E293B"/>
                </a:solidFill>
                <a:latin typeface="Arial" pitchFamily="34" charset="0"/>
                <a:ea typeface="Arial" pitchFamily="34" charset="-122"/>
                <a:cs typeface="Arial" pitchFamily="34" charset="-120"/>
              </a:rPr>
              <a:t>O(1)-style online lookups; scales where user-based kNN does not.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CHALLENGES &amp; MITIGATIONS</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The hard problems, with concrete levers</a:t>
            </a:r>
            <a:endParaRPr lang="en-US" sz="2700" dirty="0"/>
          </a:p>
        </p:txBody>
      </p:sp>
      <p:sp>
        <p:nvSpPr>
          <p:cNvPr id="4" name="Shape 2"/>
          <p:cNvSpPr/>
          <p:nvPr/>
        </p:nvSpPr>
        <p:spPr>
          <a:xfrm>
            <a:off x="640080" y="1691640"/>
            <a:ext cx="356616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5" name="Shape 3"/>
          <p:cNvSpPr/>
          <p:nvPr/>
        </p:nvSpPr>
        <p:spPr>
          <a:xfrm>
            <a:off x="896112" y="1965960"/>
            <a:ext cx="603504" cy="603504"/>
          </a:xfrm>
          <a:prstGeom prst="ellipse">
            <a:avLst/>
          </a:prstGeom>
          <a:solidFill>
            <a:srgbClr val="06B6D4"/>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59058" y="2128906"/>
            <a:ext cx="277612" cy="277612"/>
          </a:xfrm>
          <a:prstGeom prst="rect">
            <a:avLst/>
          </a:prstGeom>
        </p:spPr>
      </p:pic>
      <p:sp>
        <p:nvSpPr>
          <p:cNvPr id="7" name="Text 4"/>
          <p:cNvSpPr/>
          <p:nvPr/>
        </p:nvSpPr>
        <p:spPr>
          <a:xfrm>
            <a:off x="1627632" y="1947672"/>
            <a:ext cx="2423160" cy="365760"/>
          </a:xfrm>
          <a:prstGeom prst="rect">
            <a:avLst/>
          </a:prstGeom>
          <a:noFill/>
          <a:ln/>
        </p:spPr>
        <p:txBody>
          <a:bodyPr wrap="square" lIns="0" tIns="0" rIns="0" bIns="0" rtlCol="0" anchor="ctr"/>
          <a:lstStyle/>
          <a:p>
            <a:pPr indent="0" marL="0">
              <a:buNone/>
            </a:pPr>
            <a:r>
              <a:rPr lang="en-US" sz="1450" b="1" dirty="0">
                <a:solidFill>
                  <a:srgbClr val="0F172A"/>
                </a:solidFill>
                <a:latin typeface="Arial" pitchFamily="34" charset="0"/>
                <a:ea typeface="Arial" pitchFamily="34" charset="-122"/>
                <a:cs typeface="Arial" pitchFamily="34" charset="-120"/>
              </a:rPr>
              <a:t>Feedback loops</a:t>
            </a:r>
            <a:endParaRPr lang="en-US" sz="1450" dirty="0"/>
          </a:p>
        </p:txBody>
      </p:sp>
      <p:sp>
        <p:nvSpPr>
          <p:cNvPr id="8" name="Text 5"/>
          <p:cNvSpPr/>
          <p:nvPr/>
        </p:nvSpPr>
        <p:spPr>
          <a:xfrm>
            <a:off x="1627632" y="2350008"/>
            <a:ext cx="2423160" cy="77724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Exploration / bandits to break self-reinforcement.</a:t>
            </a:r>
            <a:endParaRPr lang="en-US" sz="1150" dirty="0"/>
          </a:p>
        </p:txBody>
      </p:sp>
      <p:sp>
        <p:nvSpPr>
          <p:cNvPr id="9" name="Shape 6"/>
          <p:cNvSpPr/>
          <p:nvPr/>
        </p:nvSpPr>
        <p:spPr>
          <a:xfrm>
            <a:off x="4329684" y="1691640"/>
            <a:ext cx="356616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10" name="Shape 7"/>
          <p:cNvSpPr/>
          <p:nvPr/>
        </p:nvSpPr>
        <p:spPr>
          <a:xfrm>
            <a:off x="4585716" y="1965960"/>
            <a:ext cx="603504" cy="603504"/>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4748662" y="2128906"/>
            <a:ext cx="277612" cy="277612"/>
          </a:xfrm>
          <a:prstGeom prst="rect">
            <a:avLst/>
          </a:prstGeom>
        </p:spPr>
      </p:pic>
      <p:sp>
        <p:nvSpPr>
          <p:cNvPr id="12" name="Text 8"/>
          <p:cNvSpPr/>
          <p:nvPr/>
        </p:nvSpPr>
        <p:spPr>
          <a:xfrm>
            <a:off x="5317236" y="1947672"/>
            <a:ext cx="2423160" cy="365760"/>
          </a:xfrm>
          <a:prstGeom prst="rect">
            <a:avLst/>
          </a:prstGeom>
          <a:noFill/>
          <a:ln/>
        </p:spPr>
        <p:txBody>
          <a:bodyPr wrap="square" lIns="0" tIns="0" rIns="0" bIns="0" rtlCol="0" anchor="ctr"/>
          <a:lstStyle/>
          <a:p>
            <a:pPr indent="0" marL="0">
              <a:buNone/>
            </a:pPr>
            <a:r>
              <a:rPr lang="en-US" sz="1450" b="1" dirty="0">
                <a:solidFill>
                  <a:srgbClr val="0F172A"/>
                </a:solidFill>
                <a:latin typeface="Arial" pitchFamily="34" charset="0"/>
                <a:ea typeface="Arial" pitchFamily="34" charset="-122"/>
                <a:cs typeface="Arial" pitchFamily="34" charset="-120"/>
              </a:rPr>
              <a:t>Popularity bias</a:t>
            </a:r>
            <a:endParaRPr lang="en-US" sz="1450" dirty="0"/>
          </a:p>
        </p:txBody>
      </p:sp>
      <p:sp>
        <p:nvSpPr>
          <p:cNvPr id="13" name="Text 9"/>
          <p:cNvSpPr/>
          <p:nvPr/>
        </p:nvSpPr>
        <p:spPr>
          <a:xfrm>
            <a:off x="5317236" y="2350008"/>
            <a:ext cx="2423160" cy="77724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Inverse-propensity weighting; debiased training.</a:t>
            </a:r>
            <a:endParaRPr lang="en-US" sz="1150" dirty="0"/>
          </a:p>
        </p:txBody>
      </p:sp>
      <p:sp>
        <p:nvSpPr>
          <p:cNvPr id="14" name="Shape 10"/>
          <p:cNvSpPr/>
          <p:nvPr/>
        </p:nvSpPr>
        <p:spPr>
          <a:xfrm>
            <a:off x="8019288" y="1691640"/>
            <a:ext cx="356616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15" name="Shape 11"/>
          <p:cNvSpPr/>
          <p:nvPr/>
        </p:nvSpPr>
        <p:spPr>
          <a:xfrm>
            <a:off x="8275320" y="1965960"/>
            <a:ext cx="603504" cy="603504"/>
          </a:xfrm>
          <a:prstGeom prst="ellipse">
            <a:avLst/>
          </a:prstGeom>
          <a:solidFill>
            <a:srgbClr val="06B6D4"/>
          </a:solidFill>
          <a:ln/>
          <a:effectLst>
            <a:outerShdw sx="100000" sy="100000" kx="0" ky="0" algn="bl" rotWithShape="0" blurRad="127000" dist="50800" dir="5400000">
              <a:srgbClr val="8A93A6">
                <a:alpha val="13000"/>
              </a:srgbClr>
            </a:outerShdw>
          </a:effectLst>
        </p:spPr>
      </p:sp>
      <p:pic>
        <p:nvPicPr>
          <p:cNvPr id="16" name="Image 2" descr="preencoded.png">    </p:cNvPr>
          <p:cNvPicPr>
            <a:picLocks noChangeAspect="1"/>
          </p:cNvPicPr>
          <p:nvPr/>
        </p:nvPicPr>
        <p:blipFill>
          <a:blip r:embed="rId3"/>
          <a:stretch>
            <a:fillRect/>
          </a:stretch>
        </p:blipFill>
        <p:spPr>
          <a:xfrm>
            <a:off x="8438266" y="2128906"/>
            <a:ext cx="277612" cy="277612"/>
          </a:xfrm>
          <a:prstGeom prst="rect">
            <a:avLst/>
          </a:prstGeom>
        </p:spPr>
      </p:pic>
      <p:sp>
        <p:nvSpPr>
          <p:cNvPr id="17" name="Text 12"/>
          <p:cNvSpPr/>
          <p:nvPr/>
        </p:nvSpPr>
        <p:spPr>
          <a:xfrm>
            <a:off x="9006840" y="1947672"/>
            <a:ext cx="2423160" cy="365760"/>
          </a:xfrm>
          <a:prstGeom prst="rect">
            <a:avLst/>
          </a:prstGeom>
          <a:noFill/>
          <a:ln/>
        </p:spPr>
        <p:txBody>
          <a:bodyPr wrap="square" lIns="0" tIns="0" rIns="0" bIns="0" rtlCol="0" anchor="ctr"/>
          <a:lstStyle/>
          <a:p>
            <a:pPr indent="0" marL="0">
              <a:buNone/>
            </a:pPr>
            <a:r>
              <a:rPr lang="en-US" sz="1450" b="1" dirty="0">
                <a:solidFill>
                  <a:srgbClr val="0F172A"/>
                </a:solidFill>
                <a:latin typeface="Arial" pitchFamily="34" charset="0"/>
                <a:ea typeface="Arial" pitchFamily="34" charset="-122"/>
                <a:cs typeface="Arial" pitchFamily="34" charset="-120"/>
              </a:rPr>
              <a:t>Diversity</a:t>
            </a:r>
            <a:endParaRPr lang="en-US" sz="1450" dirty="0"/>
          </a:p>
        </p:txBody>
      </p:sp>
      <p:sp>
        <p:nvSpPr>
          <p:cNvPr id="18" name="Text 13"/>
          <p:cNvSpPr/>
          <p:nvPr/>
        </p:nvSpPr>
        <p:spPr>
          <a:xfrm>
            <a:off x="9006840" y="2350008"/>
            <a:ext cx="2423160" cy="77724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MMR or DPP re-ranking for coverage vs. relevance.</a:t>
            </a:r>
            <a:endParaRPr lang="en-US" sz="1150" dirty="0"/>
          </a:p>
        </p:txBody>
      </p:sp>
      <p:sp>
        <p:nvSpPr>
          <p:cNvPr id="19" name="Shape 14"/>
          <p:cNvSpPr/>
          <p:nvPr/>
        </p:nvSpPr>
        <p:spPr>
          <a:xfrm>
            <a:off x="640080" y="3538728"/>
            <a:ext cx="356616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20" name="Shape 15"/>
          <p:cNvSpPr/>
          <p:nvPr/>
        </p:nvSpPr>
        <p:spPr>
          <a:xfrm>
            <a:off x="896112" y="3813048"/>
            <a:ext cx="603504" cy="603504"/>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21" name="Image 3" descr="preencoded.png">    </p:cNvPr>
          <p:cNvPicPr>
            <a:picLocks noChangeAspect="1"/>
          </p:cNvPicPr>
          <p:nvPr/>
        </p:nvPicPr>
        <p:blipFill>
          <a:blip r:embed="rId4"/>
          <a:stretch>
            <a:fillRect/>
          </a:stretch>
        </p:blipFill>
        <p:spPr>
          <a:xfrm>
            <a:off x="1059058" y="3975994"/>
            <a:ext cx="277612" cy="277612"/>
          </a:xfrm>
          <a:prstGeom prst="rect">
            <a:avLst/>
          </a:prstGeom>
        </p:spPr>
      </p:pic>
      <p:sp>
        <p:nvSpPr>
          <p:cNvPr id="22" name="Text 16"/>
          <p:cNvSpPr/>
          <p:nvPr/>
        </p:nvSpPr>
        <p:spPr>
          <a:xfrm>
            <a:off x="1627632" y="3794760"/>
            <a:ext cx="2423160" cy="365760"/>
          </a:xfrm>
          <a:prstGeom prst="rect">
            <a:avLst/>
          </a:prstGeom>
          <a:noFill/>
          <a:ln/>
        </p:spPr>
        <p:txBody>
          <a:bodyPr wrap="square" lIns="0" tIns="0" rIns="0" bIns="0" rtlCol="0" anchor="ctr"/>
          <a:lstStyle/>
          <a:p>
            <a:pPr indent="0" marL="0">
              <a:buNone/>
            </a:pPr>
            <a:r>
              <a:rPr lang="en-US" sz="1450" b="1" dirty="0">
                <a:solidFill>
                  <a:srgbClr val="0F172A"/>
                </a:solidFill>
                <a:latin typeface="Arial" pitchFamily="34" charset="0"/>
                <a:ea typeface="Arial" pitchFamily="34" charset="-122"/>
                <a:cs typeface="Arial" pitchFamily="34" charset="-120"/>
              </a:rPr>
              <a:t>Privacy</a:t>
            </a:r>
            <a:endParaRPr lang="en-US" sz="1450" dirty="0"/>
          </a:p>
        </p:txBody>
      </p:sp>
      <p:sp>
        <p:nvSpPr>
          <p:cNvPr id="23" name="Text 17"/>
          <p:cNvSpPr/>
          <p:nvPr/>
        </p:nvSpPr>
        <p:spPr>
          <a:xfrm>
            <a:off x="1627632" y="4197096"/>
            <a:ext cx="2423160" cy="77724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Consent, minimization, on-device / federated options.</a:t>
            </a:r>
            <a:endParaRPr lang="en-US" sz="1150" dirty="0"/>
          </a:p>
        </p:txBody>
      </p:sp>
      <p:sp>
        <p:nvSpPr>
          <p:cNvPr id="24" name="Shape 18"/>
          <p:cNvSpPr/>
          <p:nvPr/>
        </p:nvSpPr>
        <p:spPr>
          <a:xfrm>
            <a:off x="4329684" y="3538728"/>
            <a:ext cx="356616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25" name="Shape 19"/>
          <p:cNvSpPr/>
          <p:nvPr/>
        </p:nvSpPr>
        <p:spPr>
          <a:xfrm>
            <a:off x="4585716" y="3813048"/>
            <a:ext cx="603504" cy="603504"/>
          </a:xfrm>
          <a:prstGeom prst="ellipse">
            <a:avLst/>
          </a:prstGeom>
          <a:solidFill>
            <a:srgbClr val="06B6D4"/>
          </a:solidFill>
          <a:ln/>
          <a:effectLst>
            <a:outerShdw sx="100000" sy="100000" kx="0" ky="0" algn="bl" rotWithShape="0" blurRad="127000" dist="50800" dir="5400000">
              <a:srgbClr val="8A93A6">
                <a:alpha val="13000"/>
              </a:srgbClr>
            </a:outerShdw>
          </a:effectLst>
        </p:spPr>
      </p:sp>
      <p:pic>
        <p:nvPicPr>
          <p:cNvPr id="26" name="Image 4" descr="preencoded.png">    </p:cNvPr>
          <p:cNvPicPr>
            <a:picLocks noChangeAspect="1"/>
          </p:cNvPicPr>
          <p:nvPr/>
        </p:nvPicPr>
        <p:blipFill>
          <a:blip r:embed="rId5"/>
          <a:stretch>
            <a:fillRect/>
          </a:stretch>
        </p:blipFill>
        <p:spPr>
          <a:xfrm>
            <a:off x="4748662" y="3975994"/>
            <a:ext cx="277612" cy="277612"/>
          </a:xfrm>
          <a:prstGeom prst="rect">
            <a:avLst/>
          </a:prstGeom>
        </p:spPr>
      </p:pic>
      <p:sp>
        <p:nvSpPr>
          <p:cNvPr id="27" name="Text 20"/>
          <p:cNvSpPr/>
          <p:nvPr/>
        </p:nvSpPr>
        <p:spPr>
          <a:xfrm>
            <a:off x="5317236" y="3794760"/>
            <a:ext cx="2423160" cy="365760"/>
          </a:xfrm>
          <a:prstGeom prst="rect">
            <a:avLst/>
          </a:prstGeom>
          <a:noFill/>
          <a:ln/>
        </p:spPr>
        <p:txBody>
          <a:bodyPr wrap="square" lIns="0" tIns="0" rIns="0" bIns="0" rtlCol="0" anchor="ctr"/>
          <a:lstStyle/>
          <a:p>
            <a:pPr indent="0" marL="0">
              <a:buNone/>
            </a:pPr>
            <a:r>
              <a:rPr lang="en-US" sz="1450" b="1" dirty="0">
                <a:solidFill>
                  <a:srgbClr val="0F172A"/>
                </a:solidFill>
                <a:latin typeface="Arial" pitchFamily="34" charset="0"/>
                <a:ea typeface="Arial" pitchFamily="34" charset="-122"/>
                <a:cs typeface="Arial" pitchFamily="34" charset="-120"/>
              </a:rPr>
              <a:t>Fairness</a:t>
            </a:r>
            <a:endParaRPr lang="en-US" sz="1450" dirty="0"/>
          </a:p>
        </p:txBody>
      </p:sp>
      <p:sp>
        <p:nvSpPr>
          <p:cNvPr id="28" name="Text 21"/>
          <p:cNvSpPr/>
          <p:nvPr/>
        </p:nvSpPr>
        <p:spPr>
          <a:xfrm>
            <a:off x="5317236" y="4197096"/>
            <a:ext cx="2423160" cy="77724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Audit exposure parity across users and sellers.</a:t>
            </a:r>
            <a:endParaRPr lang="en-US" sz="1150" dirty="0"/>
          </a:p>
        </p:txBody>
      </p:sp>
      <p:sp>
        <p:nvSpPr>
          <p:cNvPr id="29" name="Shape 22"/>
          <p:cNvSpPr/>
          <p:nvPr/>
        </p:nvSpPr>
        <p:spPr>
          <a:xfrm>
            <a:off x="8019288" y="3538728"/>
            <a:ext cx="3566160" cy="1627632"/>
          </a:xfrm>
          <a:prstGeom prst="roundRect">
            <a:avLst>
              <a:gd name="adj" fmla="val 6742"/>
            </a:avLst>
          </a:prstGeom>
          <a:solidFill>
            <a:srgbClr val="F1F5F9"/>
          </a:solidFill>
          <a:ln/>
          <a:effectLst>
            <a:outerShdw sx="100000" sy="100000" kx="0" ky="0" algn="bl" rotWithShape="0" blurRad="127000" dist="50800" dir="5400000">
              <a:srgbClr val="8A93A6">
                <a:alpha val="13000"/>
              </a:srgbClr>
            </a:outerShdw>
          </a:effectLst>
        </p:spPr>
      </p:sp>
      <p:sp>
        <p:nvSpPr>
          <p:cNvPr id="30" name="Shape 23"/>
          <p:cNvSpPr/>
          <p:nvPr/>
        </p:nvSpPr>
        <p:spPr>
          <a:xfrm>
            <a:off x="8275320" y="3813048"/>
            <a:ext cx="603504" cy="603504"/>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31" name="Image 5" descr="preencoded.png">    </p:cNvPr>
          <p:cNvPicPr>
            <a:picLocks noChangeAspect="1"/>
          </p:cNvPicPr>
          <p:nvPr/>
        </p:nvPicPr>
        <p:blipFill>
          <a:blip r:embed="rId6"/>
          <a:stretch>
            <a:fillRect/>
          </a:stretch>
        </p:blipFill>
        <p:spPr>
          <a:xfrm>
            <a:off x="8438266" y="3975994"/>
            <a:ext cx="277612" cy="277612"/>
          </a:xfrm>
          <a:prstGeom prst="rect">
            <a:avLst/>
          </a:prstGeom>
        </p:spPr>
      </p:pic>
      <p:sp>
        <p:nvSpPr>
          <p:cNvPr id="32" name="Text 24"/>
          <p:cNvSpPr/>
          <p:nvPr/>
        </p:nvSpPr>
        <p:spPr>
          <a:xfrm>
            <a:off x="9006840" y="3794760"/>
            <a:ext cx="2423160" cy="365760"/>
          </a:xfrm>
          <a:prstGeom prst="rect">
            <a:avLst/>
          </a:prstGeom>
          <a:noFill/>
          <a:ln/>
        </p:spPr>
        <p:txBody>
          <a:bodyPr wrap="square" lIns="0" tIns="0" rIns="0" bIns="0" rtlCol="0" anchor="ctr"/>
          <a:lstStyle/>
          <a:p>
            <a:pPr indent="0" marL="0">
              <a:buNone/>
            </a:pPr>
            <a:r>
              <a:rPr lang="en-US" sz="1450" b="1" dirty="0">
                <a:solidFill>
                  <a:srgbClr val="0F172A"/>
                </a:solidFill>
                <a:latin typeface="Arial" pitchFamily="34" charset="0"/>
                <a:ea typeface="Arial" pitchFamily="34" charset="-122"/>
                <a:cs typeface="Arial" pitchFamily="34" charset="-120"/>
              </a:rPr>
              <a:t>Position bias</a:t>
            </a:r>
            <a:endParaRPr lang="en-US" sz="1450" dirty="0"/>
          </a:p>
        </p:txBody>
      </p:sp>
      <p:sp>
        <p:nvSpPr>
          <p:cNvPr id="33" name="Text 25"/>
          <p:cNvSpPr/>
          <p:nvPr/>
        </p:nvSpPr>
        <p:spPr>
          <a:xfrm>
            <a:off x="9006840" y="4197096"/>
            <a:ext cx="2423160" cy="777240"/>
          </a:xfrm>
          <a:prstGeom prst="rect">
            <a:avLst/>
          </a:prstGeom>
          <a:noFill/>
          <a:ln/>
        </p:spPr>
        <p:txBody>
          <a:bodyPr wrap="square" lIns="0" tIns="0" rIns="0" bIns="0" rtlCol="0" anchor="ctr"/>
          <a:lstStyle/>
          <a:p>
            <a:pPr indent="0" marL="0">
              <a:buNone/>
            </a:pPr>
            <a:r>
              <a:rPr lang="en-US" sz="1150" dirty="0">
                <a:solidFill>
                  <a:srgbClr val="64748B"/>
                </a:solidFill>
                <a:latin typeface="Arial" pitchFamily="34" charset="0"/>
                <a:ea typeface="Arial" pitchFamily="34" charset="-122"/>
                <a:cs typeface="Arial" pitchFamily="34" charset="-120"/>
              </a:rPr>
              <a:t>Model click position; debias from logged impressions.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STACK &amp; BUILD DECISIONS</a:t>
            </a:r>
            <a:endParaRPr lang="en-US" sz="1200" dirty="0"/>
          </a:p>
        </p:txBody>
      </p:sp>
      <p:sp>
        <p:nvSpPr>
          <p:cNvPr id="3" name="Text 1"/>
          <p:cNvSpPr/>
          <p:nvPr/>
        </p:nvSpPr>
        <p:spPr>
          <a:xfrm>
            <a:off x="640080" y="630936"/>
            <a:ext cx="10927080" cy="731520"/>
          </a:xfrm>
          <a:prstGeom prst="rect">
            <a:avLst/>
          </a:prstGeom>
          <a:noFill/>
          <a:ln/>
        </p:spPr>
        <p:txBody>
          <a:bodyPr wrap="square" lIns="0" tIns="0" rIns="0" bIns="0" rtlCol="0" anchor="ctr"/>
          <a:lstStyle/>
          <a:p>
            <a:pPr indent="0" marL="0">
              <a:buNone/>
            </a:pPr>
            <a:r>
              <a:rPr lang="en-US" sz="2700" b="1" dirty="0">
                <a:solidFill>
                  <a:srgbClr val="0F172A"/>
                </a:solidFill>
                <a:latin typeface="Arial" pitchFamily="34" charset="0"/>
                <a:ea typeface="Arial" pitchFamily="34" charset="-122"/>
                <a:cs typeface="Arial" pitchFamily="34" charset="-120"/>
              </a:rPr>
              <a:t>A reference toolkit and the choices that matter</a:t>
            </a:r>
            <a:endParaRPr lang="en-US" sz="27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27080" cy="914400"/>
        </p:xfrm>
        <a:graphic>
          <a:graphicData uri="http://schemas.openxmlformats.org/drawingml/2006/table">
            <a:tbl>
              <a:tblPr/>
              <a:tblGrid>
                <a:gridCol w="2651760"/>
                <a:gridCol w="4892040"/>
                <a:gridCol w="3383280"/>
              </a:tblGrid>
              <a:tr h="457200">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Layer</a:t>
                      </a:r>
                      <a:endParaRPr lang="en-US" sz="12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1E293B"/>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Options</a:t>
                      </a:r>
                      <a:endParaRPr lang="en-US" sz="12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1E293B"/>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Decision driver</a:t>
                      </a:r>
                      <a:endParaRPr lang="en-US" sz="12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1E293B"/>
                    </a:solidFill>
                  </a:tcPr>
                </a:tc>
              </a:tr>
              <a:tr h="566928">
                <a:tc>
                  <a:txBody>
                    <a:bodyPr/>
                    <a:lstStyle/>
                    <a:p>
                      <a:pPr algn="l" indent="0" marL="0">
                        <a:buNone/>
                      </a:pPr>
                      <a:r>
                        <a:rPr lang="en-US" sz="1150" b="1" dirty="0">
                          <a:solidFill>
                            <a:srgbClr val="0F172A"/>
                          </a:solidFill>
                          <a:latin typeface="Arial" pitchFamily="34" charset="0"/>
                          <a:ea typeface="Arial" pitchFamily="34" charset="-122"/>
                          <a:cs typeface="Arial" pitchFamily="34" charset="-120"/>
                        </a:rPr>
                        <a:t>Retrieval / ANN</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1F5F9"/>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FAISS · ScaNN · HNSWlib · vector DB</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1F5F9"/>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recall vs. latency vs. ops cost</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1F5F9"/>
                    </a:solidFill>
                  </a:tcPr>
                </a:tc>
              </a:tr>
              <a:tr h="566928">
                <a:tc>
                  <a:txBody>
                    <a:bodyPr/>
                    <a:lstStyle/>
                    <a:p>
                      <a:pPr algn="l" indent="0" marL="0">
                        <a:buNone/>
                      </a:pPr>
                      <a:r>
                        <a:rPr lang="en-US" sz="1150" b="1" dirty="0">
                          <a:solidFill>
                            <a:srgbClr val="0F172A"/>
                          </a:solidFill>
                          <a:latin typeface="Arial" pitchFamily="34" charset="0"/>
                          <a:ea typeface="Arial" pitchFamily="34" charset="-122"/>
                          <a:cs typeface="Arial" pitchFamily="34" charset="-120"/>
                        </a:rPr>
                        <a:t>Modeling</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GBDT (XGBoost/LightGBM) · TensorFlow · PyTorch</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team skills · model complexity</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0F172A"/>
                          </a:solidFill>
                          <a:latin typeface="Arial" pitchFamily="34" charset="0"/>
                          <a:ea typeface="Arial" pitchFamily="34" charset="-122"/>
                          <a:cs typeface="Arial" pitchFamily="34" charset="-120"/>
                        </a:rPr>
                        <a:t>Features</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1F5F9"/>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Feature store (e.g. Feast) · streaming</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1F5F9"/>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train/serve parity · freshness</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1F5F9"/>
                    </a:solidFill>
                  </a:tcPr>
                </a:tc>
              </a:tr>
              <a:tr h="566928">
                <a:tc>
                  <a:txBody>
                    <a:bodyPr/>
                    <a:lstStyle/>
                    <a:p>
                      <a:pPr algn="l" indent="0" marL="0">
                        <a:buNone/>
                      </a:pPr>
                      <a:r>
                        <a:rPr lang="en-US" sz="1150" b="1" dirty="0">
                          <a:solidFill>
                            <a:srgbClr val="0F172A"/>
                          </a:solidFill>
                          <a:latin typeface="Arial" pitchFamily="34" charset="0"/>
                          <a:ea typeface="Arial" pitchFamily="34" charset="-122"/>
                          <a:cs typeface="Arial" pitchFamily="34" charset="-120"/>
                        </a:rPr>
                        <a:t>Serving</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Model server · cache · autoscaling</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p99 latency · cost</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0F172A"/>
                          </a:solidFill>
                          <a:latin typeface="Arial" pitchFamily="34" charset="0"/>
                          <a:ea typeface="Arial" pitchFamily="34" charset="-122"/>
                          <a:cs typeface="Arial" pitchFamily="34" charset="-120"/>
                        </a:rPr>
                        <a:t>Experimentation</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1F5F9"/>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A/B platform · interleaving · metrics</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1F5F9"/>
                    </a:solidFill>
                  </a:tcPr>
                </a:tc>
                <a:tc>
                  <a:txBody>
                    <a:bodyPr/>
                    <a:lstStyle/>
                    <a:p>
                      <a:pPr algn="l" indent="0" marL="0">
                        <a:buNone/>
                      </a:pPr>
                      <a:r>
                        <a:rPr lang="en-US" sz="1150" dirty="0">
                          <a:solidFill>
                            <a:srgbClr val="64748B"/>
                          </a:solidFill>
                          <a:latin typeface="Arial" pitchFamily="34" charset="0"/>
                          <a:ea typeface="Arial" pitchFamily="34" charset="-122"/>
                          <a:cs typeface="Arial" pitchFamily="34" charset="-120"/>
                        </a:rPr>
                        <a:t>trustworthy decisions</a:t>
                      </a:r>
                      <a:endParaRPr lang="en-US" sz="1150" dirty="0">
                        <a:latin typeface="Arial" charset="0"/>
                        <a:ea typeface="Arial" charset="0"/>
                        <a:cs typeface="Arial" charset="0"/>
                      </a:endParaRPr>
                    </a:p>
                  </a:txBody>
                  <a:tcPr marL="50800" marR="50800" marT="50800" marB="50800" anchor="ctr">
                    <a:lnL w="12700" cap="flat" cmpd="sng" algn="ctr">
                      <a:solidFill>
                        <a:srgbClr val="DCE3EC"/>
                      </a:solidFill>
                      <a:prstDash val="solid"/>
                      <a:round/>
                      <a:headEnd type="none" w="med" len="med"/>
                      <a:tailEnd type="none" w="med" len="med"/>
                    </a:lnL>
                    <a:lnR w="12700" cap="flat" cmpd="sng" algn="ctr">
                      <a:solidFill>
                        <a:srgbClr val="DCE3EC"/>
                      </a:solidFill>
                      <a:prstDash val="solid"/>
                      <a:round/>
                      <a:headEnd type="none" w="med" len="med"/>
                      <a:tailEnd type="none" w="med" len="med"/>
                    </a:lnR>
                    <a:lnT w="12700" cap="flat" cmpd="sng" algn="ctr">
                      <a:solidFill>
                        <a:srgbClr val="DCE3EC"/>
                      </a:solidFill>
                      <a:prstDash val="solid"/>
                      <a:round/>
                      <a:headEnd type="none" w="med" len="med"/>
                      <a:tailEnd type="none" w="med" len="med"/>
                    </a:lnT>
                    <a:lnB w="12700" cap="flat" cmpd="sng" algn="ctr">
                      <a:solidFill>
                        <a:srgbClr val="DCE3EC"/>
                      </a:solidFill>
                      <a:prstDash val="solid"/>
                      <a:round/>
                      <a:headEnd type="none" w="med" len="med"/>
                      <a:tailEnd type="none" w="med" len="med"/>
                    </a:lnB>
                    <a:solidFill>
                      <a:srgbClr val="F1F5F9"/>
                    </a:solidFill>
                  </a:tcPr>
                </a:tc>
              </a:tr>
            </a:tbl>
          </a:graphicData>
        </a:graphic>
      </p:graphicFrame>
      <p:sp>
        <p:nvSpPr>
          <p:cNvPr id="5" name="Text 2"/>
          <p:cNvSpPr/>
          <p:nvPr/>
        </p:nvSpPr>
        <p:spPr>
          <a:xfrm>
            <a:off x="640080" y="5349240"/>
            <a:ext cx="10927080" cy="457200"/>
          </a:xfrm>
          <a:prstGeom prst="rect">
            <a:avLst/>
          </a:prstGeom>
          <a:noFill/>
          <a:ln/>
        </p:spPr>
        <p:txBody>
          <a:bodyPr wrap="square" lIns="0" tIns="0" rIns="0" bIns="0" rtlCol="0" anchor="ctr"/>
          <a:lstStyle/>
          <a:p>
            <a:pPr indent="0" marL="0">
              <a:buNone/>
            </a:pPr>
            <a:r>
              <a:rPr lang="en-US" sz="1250" i="1" dirty="0">
                <a:solidFill>
                  <a:srgbClr val="1E293B"/>
                </a:solidFill>
                <a:latin typeface="Arial" pitchFamily="34" charset="0"/>
                <a:ea typeface="Arial" pitchFamily="34" charset="-122"/>
                <a:cs typeface="Arial" pitchFamily="34" charset="-120"/>
              </a:rPr>
              <a:t>Build vs. buy: buy retrieval/feature infra to start; build the ranker where domain data is your edge. Roll out behind flags with A/B gating.</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77240" y="640080"/>
            <a:ext cx="10607040" cy="365760"/>
          </a:xfrm>
          <a:prstGeom prst="rect">
            <a:avLst/>
          </a:prstGeom>
          <a:noFill/>
          <a:ln/>
        </p:spPr>
        <p:txBody>
          <a:bodyPr wrap="square" lIns="0" tIns="0" rIns="0" bIns="0" rtlCol="0" anchor="ctr"/>
          <a:lstStyle/>
          <a:p>
            <a:pPr indent="0" marL="0">
              <a:buNone/>
            </a:pPr>
            <a:r>
              <a:rPr lang="en-US" sz="1400" b="1" spc="300" kern="0" dirty="0">
                <a:solidFill>
                  <a:srgbClr val="06B6D4"/>
                </a:solidFill>
                <a:latin typeface="Arial" pitchFamily="34" charset="0"/>
                <a:ea typeface="Arial" pitchFamily="34" charset="-122"/>
                <a:cs typeface="Arial" pitchFamily="34" charset="-120"/>
              </a:rPr>
              <a:t>KEY TAKEAWAYS</a:t>
            </a:r>
            <a:endParaRPr lang="en-US" sz="1400" dirty="0"/>
          </a:p>
        </p:txBody>
      </p:sp>
      <p:sp>
        <p:nvSpPr>
          <p:cNvPr id="3" name="Text 1"/>
          <p:cNvSpPr/>
          <p:nvPr/>
        </p:nvSpPr>
        <p:spPr>
          <a:xfrm>
            <a:off x="749808" y="960120"/>
            <a:ext cx="10607040" cy="594360"/>
          </a:xfrm>
          <a:prstGeom prst="rect">
            <a:avLst/>
          </a:prstGeom>
          <a:noFill/>
          <a:ln/>
        </p:spPr>
        <p:txBody>
          <a:bodyPr wrap="square" lIns="0" tIns="0" rIns="0" bIns="0" rtlCol="0" anchor="ctr"/>
          <a:lstStyle/>
          <a:p>
            <a:pPr indent="0" marL="0">
              <a:buNone/>
            </a:pPr>
            <a:r>
              <a:rPr lang="en-US" sz="2700" b="1" dirty="0">
                <a:solidFill>
                  <a:srgbClr val="E2E8F0"/>
                </a:solidFill>
                <a:latin typeface="Arial" pitchFamily="34" charset="0"/>
                <a:ea typeface="Arial" pitchFamily="34" charset="-122"/>
                <a:cs typeface="Arial" pitchFamily="34" charset="-120"/>
              </a:rPr>
              <a:t>Engineering takeaways</a:t>
            </a:r>
            <a:endParaRPr lang="en-US" sz="2700" dirty="0"/>
          </a:p>
        </p:txBody>
      </p:sp>
      <p:sp>
        <p:nvSpPr>
          <p:cNvPr id="4" name="Shape 2"/>
          <p:cNvSpPr/>
          <p:nvPr/>
        </p:nvSpPr>
        <p:spPr>
          <a:xfrm>
            <a:off x="777240" y="1874520"/>
            <a:ext cx="438912" cy="438912"/>
          </a:xfrm>
          <a:prstGeom prst="ellipse">
            <a:avLst/>
          </a:prstGeom>
          <a:solidFill>
            <a:srgbClr val="06B6D4"/>
          </a:solidFill>
          <a:ln/>
        </p:spPr>
      </p:sp>
      <p:sp>
        <p:nvSpPr>
          <p:cNvPr id="5" name="Text 3"/>
          <p:cNvSpPr/>
          <p:nvPr/>
        </p:nvSpPr>
        <p:spPr>
          <a:xfrm>
            <a:off x="777240" y="1874520"/>
            <a:ext cx="438912" cy="438912"/>
          </a:xfrm>
          <a:prstGeom prst="rect">
            <a:avLst/>
          </a:prstGeom>
          <a:noFill/>
          <a:ln/>
        </p:spPr>
        <p:txBody>
          <a:bodyPr wrap="square" lIns="0" tIns="0" rIns="0" bIns="0" rtlCol="0" anchor="ctr"/>
          <a:lstStyle/>
          <a:p>
            <a:pPr algn="ctr" indent="0" marL="0">
              <a:buNone/>
            </a:pPr>
            <a:r>
              <a:rPr lang="en-US" sz="1500" b="1" dirty="0">
                <a:solidFill>
                  <a:srgbClr val="0F172A"/>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17320" y="1828800"/>
            <a:ext cx="10058400" cy="548640"/>
          </a:xfrm>
          <a:prstGeom prst="rect">
            <a:avLst/>
          </a:prstGeom>
          <a:noFill/>
          <a:ln/>
        </p:spPr>
        <p:txBody>
          <a:bodyPr wrap="square" lIns="0" tIns="0" rIns="0" bIns="0" rtlCol="0" anchor="ctr"/>
          <a:lstStyle/>
          <a:p>
            <a:pPr indent="0" marL="0">
              <a:buNone/>
            </a:pPr>
            <a:r>
              <a:rPr lang="en-US" sz="1550" dirty="0">
                <a:solidFill>
                  <a:srgbClr val="E2E8F0"/>
                </a:solidFill>
                <a:latin typeface="Arial" pitchFamily="34" charset="0"/>
                <a:ea typeface="Arial" pitchFamily="34" charset="-122"/>
                <a:cs typeface="Arial" pitchFamily="34" charset="-120"/>
              </a:rPr>
              <a:t>Recommendation = constrained top-K over f(user, item, context)</a:t>
            </a:r>
            <a:endParaRPr lang="en-US" sz="1550" dirty="0"/>
          </a:p>
        </p:txBody>
      </p:sp>
      <p:sp>
        <p:nvSpPr>
          <p:cNvPr id="7" name="Shape 5"/>
          <p:cNvSpPr/>
          <p:nvPr/>
        </p:nvSpPr>
        <p:spPr>
          <a:xfrm>
            <a:off x="777240" y="2532888"/>
            <a:ext cx="438912" cy="438912"/>
          </a:xfrm>
          <a:prstGeom prst="ellipse">
            <a:avLst/>
          </a:prstGeom>
          <a:solidFill>
            <a:srgbClr val="06B6D4"/>
          </a:solidFill>
          <a:ln/>
        </p:spPr>
      </p:sp>
      <p:sp>
        <p:nvSpPr>
          <p:cNvPr id="8" name="Text 6"/>
          <p:cNvSpPr/>
          <p:nvPr/>
        </p:nvSpPr>
        <p:spPr>
          <a:xfrm>
            <a:off x="777240" y="2532888"/>
            <a:ext cx="438912" cy="438912"/>
          </a:xfrm>
          <a:prstGeom prst="rect">
            <a:avLst/>
          </a:prstGeom>
          <a:noFill/>
          <a:ln/>
        </p:spPr>
        <p:txBody>
          <a:bodyPr wrap="square" lIns="0" tIns="0" rIns="0" bIns="0" rtlCol="0" anchor="ctr"/>
          <a:lstStyle/>
          <a:p>
            <a:pPr algn="ctr" indent="0" marL="0">
              <a:buNone/>
            </a:pPr>
            <a:r>
              <a:rPr lang="en-US" sz="1500" b="1" dirty="0">
                <a:solidFill>
                  <a:srgbClr val="0F172A"/>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17320" y="2487168"/>
            <a:ext cx="10058400" cy="548640"/>
          </a:xfrm>
          <a:prstGeom prst="rect">
            <a:avLst/>
          </a:prstGeom>
          <a:noFill/>
          <a:ln/>
        </p:spPr>
        <p:txBody>
          <a:bodyPr wrap="square" lIns="0" tIns="0" rIns="0" bIns="0" rtlCol="0" anchor="ctr"/>
          <a:lstStyle/>
          <a:p>
            <a:pPr indent="0" marL="0">
              <a:buNone/>
            </a:pPr>
            <a:r>
              <a:rPr lang="en-US" sz="1550" dirty="0">
                <a:solidFill>
                  <a:srgbClr val="E2E8F0"/>
                </a:solidFill>
                <a:latin typeface="Arial" pitchFamily="34" charset="0"/>
                <a:ea typeface="Arial" pitchFamily="34" charset="-122"/>
                <a:cs typeface="Arial" pitchFamily="34" charset="-120"/>
              </a:rPr>
              <a:t>Retrieval → ranking → re-ranking, with batch/real-time decoupling</a:t>
            </a:r>
            <a:endParaRPr lang="en-US" sz="1550" dirty="0"/>
          </a:p>
        </p:txBody>
      </p:sp>
      <p:sp>
        <p:nvSpPr>
          <p:cNvPr id="10" name="Shape 8"/>
          <p:cNvSpPr/>
          <p:nvPr/>
        </p:nvSpPr>
        <p:spPr>
          <a:xfrm>
            <a:off x="777240" y="3191256"/>
            <a:ext cx="438912" cy="438912"/>
          </a:xfrm>
          <a:prstGeom prst="ellipse">
            <a:avLst/>
          </a:prstGeom>
          <a:solidFill>
            <a:srgbClr val="06B6D4"/>
          </a:solidFill>
          <a:ln/>
        </p:spPr>
      </p:sp>
      <p:sp>
        <p:nvSpPr>
          <p:cNvPr id="11" name="Text 9"/>
          <p:cNvSpPr/>
          <p:nvPr/>
        </p:nvSpPr>
        <p:spPr>
          <a:xfrm>
            <a:off x="777240" y="3191256"/>
            <a:ext cx="438912" cy="438912"/>
          </a:xfrm>
          <a:prstGeom prst="rect">
            <a:avLst/>
          </a:prstGeom>
          <a:noFill/>
          <a:ln/>
        </p:spPr>
        <p:txBody>
          <a:bodyPr wrap="square" lIns="0" tIns="0" rIns="0" bIns="0" rtlCol="0" anchor="ctr"/>
          <a:lstStyle/>
          <a:p>
            <a:pPr algn="ctr" indent="0" marL="0">
              <a:buNone/>
            </a:pPr>
            <a:r>
              <a:rPr lang="en-US" sz="1500" b="1" dirty="0">
                <a:solidFill>
                  <a:srgbClr val="0F172A"/>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17320" y="3145536"/>
            <a:ext cx="10058400" cy="548640"/>
          </a:xfrm>
          <a:prstGeom prst="rect">
            <a:avLst/>
          </a:prstGeom>
          <a:noFill/>
          <a:ln/>
        </p:spPr>
        <p:txBody>
          <a:bodyPr wrap="square" lIns="0" tIns="0" rIns="0" bIns="0" rtlCol="0" anchor="ctr"/>
          <a:lstStyle/>
          <a:p>
            <a:pPr indent="0" marL="0">
              <a:buNone/>
            </a:pPr>
            <a:r>
              <a:rPr lang="en-US" sz="1550" dirty="0">
                <a:solidFill>
                  <a:srgbClr val="E2E8F0"/>
                </a:solidFill>
                <a:latin typeface="Arial" pitchFamily="34" charset="0"/>
                <a:ea typeface="Arial" pitchFamily="34" charset="-122"/>
                <a:cs typeface="Arial" pitchFamily="34" charset="-120"/>
              </a:rPr>
              <a:t>Embeddings + ANN for recall; GBDT/DNN/sequence models for ranking</a:t>
            </a:r>
            <a:endParaRPr lang="en-US" sz="1550" dirty="0"/>
          </a:p>
        </p:txBody>
      </p:sp>
      <p:sp>
        <p:nvSpPr>
          <p:cNvPr id="13" name="Shape 11"/>
          <p:cNvSpPr/>
          <p:nvPr/>
        </p:nvSpPr>
        <p:spPr>
          <a:xfrm>
            <a:off x="777240" y="3849624"/>
            <a:ext cx="438912" cy="438912"/>
          </a:xfrm>
          <a:prstGeom prst="ellipse">
            <a:avLst/>
          </a:prstGeom>
          <a:solidFill>
            <a:srgbClr val="06B6D4"/>
          </a:solidFill>
          <a:ln/>
        </p:spPr>
      </p:sp>
      <p:sp>
        <p:nvSpPr>
          <p:cNvPr id="14" name="Text 12"/>
          <p:cNvSpPr/>
          <p:nvPr/>
        </p:nvSpPr>
        <p:spPr>
          <a:xfrm>
            <a:off x="777240" y="3849624"/>
            <a:ext cx="438912" cy="438912"/>
          </a:xfrm>
          <a:prstGeom prst="rect">
            <a:avLst/>
          </a:prstGeom>
          <a:noFill/>
          <a:ln/>
        </p:spPr>
        <p:txBody>
          <a:bodyPr wrap="square" lIns="0" tIns="0" rIns="0" bIns="0" rtlCol="0" anchor="ctr"/>
          <a:lstStyle/>
          <a:p>
            <a:pPr algn="ctr" indent="0" marL="0">
              <a:buNone/>
            </a:pPr>
            <a:r>
              <a:rPr lang="en-US" sz="1500" b="1" dirty="0">
                <a:solidFill>
                  <a:srgbClr val="0F172A"/>
                </a:solidFill>
                <a:latin typeface="Arial" pitchFamily="34" charset="0"/>
                <a:ea typeface="Arial" pitchFamily="34" charset="-122"/>
                <a:cs typeface="Arial" pitchFamily="34" charset="-120"/>
              </a:rPr>
              <a:t>4</a:t>
            </a:r>
            <a:endParaRPr lang="en-US" sz="1500" dirty="0"/>
          </a:p>
        </p:txBody>
      </p:sp>
      <p:sp>
        <p:nvSpPr>
          <p:cNvPr id="15" name="Text 13"/>
          <p:cNvSpPr/>
          <p:nvPr/>
        </p:nvSpPr>
        <p:spPr>
          <a:xfrm>
            <a:off x="1417320" y="3803904"/>
            <a:ext cx="10058400" cy="548640"/>
          </a:xfrm>
          <a:prstGeom prst="rect">
            <a:avLst/>
          </a:prstGeom>
          <a:noFill/>
          <a:ln/>
        </p:spPr>
        <p:txBody>
          <a:bodyPr wrap="square" lIns="0" tIns="0" rIns="0" bIns="0" rtlCol="0" anchor="ctr"/>
          <a:lstStyle/>
          <a:p>
            <a:pPr indent="0" marL="0">
              <a:buNone/>
            </a:pPr>
            <a:r>
              <a:rPr lang="en-US" sz="1550" dirty="0">
                <a:solidFill>
                  <a:srgbClr val="E2E8F0"/>
                </a:solidFill>
                <a:latin typeface="Arial" pitchFamily="34" charset="0"/>
                <a:ea typeface="Arial" pitchFamily="34" charset="-122"/>
                <a:cs typeface="Arial" pitchFamily="34" charset="-120"/>
              </a:rPr>
              <a:t>Treat implicit feedback as biased signal; fix train/serve skew</a:t>
            </a:r>
            <a:endParaRPr lang="en-US" sz="1550" dirty="0"/>
          </a:p>
        </p:txBody>
      </p:sp>
      <p:sp>
        <p:nvSpPr>
          <p:cNvPr id="16" name="Shape 14"/>
          <p:cNvSpPr/>
          <p:nvPr/>
        </p:nvSpPr>
        <p:spPr>
          <a:xfrm>
            <a:off x="777240" y="4507992"/>
            <a:ext cx="438912" cy="438912"/>
          </a:xfrm>
          <a:prstGeom prst="ellipse">
            <a:avLst/>
          </a:prstGeom>
          <a:solidFill>
            <a:srgbClr val="06B6D4"/>
          </a:solidFill>
          <a:ln/>
        </p:spPr>
      </p:sp>
      <p:sp>
        <p:nvSpPr>
          <p:cNvPr id="17" name="Text 15"/>
          <p:cNvSpPr/>
          <p:nvPr/>
        </p:nvSpPr>
        <p:spPr>
          <a:xfrm>
            <a:off x="777240" y="4507992"/>
            <a:ext cx="438912" cy="438912"/>
          </a:xfrm>
          <a:prstGeom prst="rect">
            <a:avLst/>
          </a:prstGeom>
          <a:noFill/>
          <a:ln/>
        </p:spPr>
        <p:txBody>
          <a:bodyPr wrap="square" lIns="0" tIns="0" rIns="0" bIns="0" rtlCol="0" anchor="ctr"/>
          <a:lstStyle/>
          <a:p>
            <a:pPr algn="ctr" indent="0" marL="0">
              <a:buNone/>
            </a:pPr>
            <a:r>
              <a:rPr lang="en-US" sz="1500" b="1" dirty="0">
                <a:solidFill>
                  <a:srgbClr val="0F172A"/>
                </a:solidFill>
                <a:latin typeface="Arial" pitchFamily="34" charset="0"/>
                <a:ea typeface="Arial" pitchFamily="34" charset="-122"/>
                <a:cs typeface="Arial" pitchFamily="34" charset="-120"/>
              </a:rPr>
              <a:t>5</a:t>
            </a:r>
            <a:endParaRPr lang="en-US" sz="1500" dirty="0"/>
          </a:p>
        </p:txBody>
      </p:sp>
      <p:sp>
        <p:nvSpPr>
          <p:cNvPr id="18" name="Text 16"/>
          <p:cNvSpPr/>
          <p:nvPr/>
        </p:nvSpPr>
        <p:spPr>
          <a:xfrm>
            <a:off x="1417320" y="4462272"/>
            <a:ext cx="10058400" cy="548640"/>
          </a:xfrm>
          <a:prstGeom prst="rect">
            <a:avLst/>
          </a:prstGeom>
          <a:noFill/>
          <a:ln/>
        </p:spPr>
        <p:txBody>
          <a:bodyPr wrap="square" lIns="0" tIns="0" rIns="0" bIns="0" rtlCol="0" anchor="ctr"/>
          <a:lstStyle/>
          <a:p>
            <a:pPr indent="0" marL="0">
              <a:buNone/>
            </a:pPr>
            <a:r>
              <a:rPr lang="en-US" sz="1550" dirty="0">
                <a:solidFill>
                  <a:srgbClr val="E2E8F0"/>
                </a:solidFill>
                <a:latin typeface="Arial" pitchFamily="34" charset="0"/>
                <a:ea typeface="Arial" pitchFamily="34" charset="-122"/>
                <a:cs typeface="Arial" pitchFamily="34" charset="-120"/>
              </a:rPr>
              <a:t>Offline metrics gate; online A/B decides — design for the gap</a:t>
            </a:r>
            <a:endParaRPr lang="en-US" sz="1550" dirty="0"/>
          </a:p>
        </p:txBody>
      </p:sp>
      <p:sp>
        <p:nvSpPr>
          <p:cNvPr id="19" name="Shape 17"/>
          <p:cNvSpPr/>
          <p:nvPr/>
        </p:nvSpPr>
        <p:spPr>
          <a:xfrm>
            <a:off x="795528" y="5239512"/>
            <a:ext cx="3657600" cy="0"/>
          </a:xfrm>
          <a:prstGeom prst="line">
            <a:avLst/>
          </a:prstGeom>
          <a:noFill/>
          <a:ln w="9525">
            <a:solidFill>
              <a:srgbClr val="E2E8F0">
                <a:alpha val="45000"/>
              </a:srgbClr>
            </a:solidFill>
            <a:prstDash val="solid"/>
          </a:ln>
        </p:spPr>
      </p:sp>
      <p:sp>
        <p:nvSpPr>
          <p:cNvPr id="20" name="Text 18"/>
          <p:cNvSpPr/>
          <p:nvPr/>
        </p:nvSpPr>
        <p:spPr>
          <a:xfrm>
            <a:off x="749808" y="5367528"/>
            <a:ext cx="10607040" cy="548640"/>
          </a:xfrm>
          <a:prstGeom prst="rect">
            <a:avLst/>
          </a:prstGeom>
          <a:noFill/>
          <a:ln/>
        </p:spPr>
        <p:txBody>
          <a:bodyPr wrap="square" lIns="0" tIns="0" rIns="0" bIns="0" rtlCol="0" anchor="ctr"/>
          <a:lstStyle/>
          <a:p>
            <a:pPr indent="0" marL="0">
              <a:buNone/>
            </a:pPr>
            <a:r>
              <a:rPr lang="en-US" sz="1800" b="1" i="1" dirty="0">
                <a:solidFill>
                  <a:srgbClr val="06B6D4"/>
                </a:solidFill>
                <a:latin typeface="Arial" pitchFamily="34" charset="0"/>
                <a:ea typeface="Arial" pitchFamily="34" charset="-122"/>
                <a:cs typeface="Arial" pitchFamily="34" charset="-120"/>
              </a:rPr>
              <a:t>Let's align on the reference architecture and a build plan.</a:t>
            </a:r>
            <a:endParaRPr lang="en-US" sz="1800" dirty="0"/>
          </a:p>
        </p:txBody>
      </p:sp>
      <p:sp>
        <p:nvSpPr>
          <p:cNvPr id="21" name="Text 19"/>
          <p:cNvSpPr/>
          <p:nvPr/>
        </p:nvSpPr>
        <p:spPr>
          <a:xfrm>
            <a:off x="749808" y="5952744"/>
            <a:ext cx="5486400" cy="365760"/>
          </a:xfrm>
          <a:prstGeom prst="rect">
            <a:avLst/>
          </a:prstGeom>
          <a:noFill/>
          <a:ln/>
        </p:spPr>
        <p:txBody>
          <a:bodyPr wrap="square" lIns="0" tIns="0" rIns="0" bIns="0" rtlCol="0" anchor="ctr"/>
          <a:lstStyle/>
          <a:p>
            <a:pPr indent="0" marL="0">
              <a:buNone/>
            </a:pPr>
            <a:r>
              <a:rPr lang="en-US" sz="1300" dirty="0">
                <a:solidFill>
                  <a:srgbClr val="E2E8F0"/>
                </a:solidFill>
                <a:latin typeface="Arial" pitchFamily="34" charset="0"/>
                <a:ea typeface="Arial" pitchFamily="34" charset="-122"/>
                <a:cs typeface="Arial" pitchFamily="34" charset="-120"/>
              </a:rPr>
              <a:t>Thank you</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77240" y="2651760"/>
            <a:ext cx="10607040" cy="457200"/>
          </a:xfrm>
          <a:prstGeom prst="rect">
            <a:avLst/>
          </a:prstGeom>
          <a:noFill/>
          <a:ln/>
        </p:spPr>
        <p:txBody>
          <a:bodyPr wrap="square" lIns="0" tIns="0" rIns="0" bIns="0" rtlCol="0" anchor="ctr"/>
          <a:lstStyle/>
          <a:p>
            <a:pPr indent="0" marL="0">
              <a:buNone/>
            </a:pPr>
            <a:r>
              <a:rPr lang="en-US" sz="1500" b="1" spc="400" kern="0" dirty="0">
                <a:solidFill>
                  <a:srgbClr val="06B6D4"/>
                </a:solidFill>
                <a:latin typeface="Arial" pitchFamily="34" charset="0"/>
                <a:ea typeface="Arial" pitchFamily="34" charset="-122"/>
                <a:cs typeface="Arial" pitchFamily="34" charset="-120"/>
              </a:rPr>
              <a:t>APPENDIX</a:t>
            </a:r>
            <a:endParaRPr lang="en-US" sz="1500" dirty="0"/>
          </a:p>
        </p:txBody>
      </p:sp>
      <p:sp>
        <p:nvSpPr>
          <p:cNvPr id="3" name="Text 1"/>
          <p:cNvSpPr/>
          <p:nvPr/>
        </p:nvSpPr>
        <p:spPr>
          <a:xfrm>
            <a:off x="749808" y="3063240"/>
            <a:ext cx="10607040" cy="731520"/>
          </a:xfrm>
          <a:prstGeom prst="rect">
            <a:avLst/>
          </a:prstGeom>
          <a:noFill/>
          <a:ln/>
        </p:spPr>
        <p:txBody>
          <a:bodyPr wrap="square" lIns="0" tIns="0" rIns="0" bIns="0" rtlCol="0" anchor="ctr"/>
          <a:lstStyle/>
          <a:p>
            <a:pPr indent="0" marL="0">
              <a:buNone/>
            </a:pPr>
            <a:r>
              <a:rPr lang="en-US" sz="3400" b="1" dirty="0">
                <a:solidFill>
                  <a:srgbClr val="E2E8F0"/>
                </a:solidFill>
                <a:latin typeface="Arial" pitchFamily="34" charset="0"/>
                <a:ea typeface="Arial" pitchFamily="34" charset="-122"/>
                <a:cs typeface="Arial" pitchFamily="34" charset="-120"/>
              </a:rPr>
              <a:t>Production systems deep-dive</a:t>
            </a:r>
            <a:endParaRPr lang="en-US" sz="3400" dirty="0"/>
          </a:p>
        </p:txBody>
      </p:sp>
      <p:sp>
        <p:nvSpPr>
          <p:cNvPr id="4" name="Text 2"/>
          <p:cNvSpPr/>
          <p:nvPr/>
        </p:nvSpPr>
        <p:spPr>
          <a:xfrm>
            <a:off x="777240" y="3886200"/>
            <a:ext cx="10058400" cy="914400"/>
          </a:xfrm>
          <a:prstGeom prst="rect">
            <a:avLst/>
          </a:prstGeom>
          <a:noFill/>
          <a:ln/>
        </p:spPr>
        <p:txBody>
          <a:bodyPr wrap="square" lIns="0" tIns="0" rIns="0" bIns="0" rtlCol="0" anchor="ctr"/>
          <a:lstStyle/>
          <a:p>
            <a:pPr indent="0" marL="0">
              <a:buNone/>
            </a:pPr>
            <a:r>
              <a:rPr lang="en-US" sz="1400" i="1" dirty="0">
                <a:solidFill>
                  <a:srgbClr val="E2E8F0"/>
                </a:solidFill>
                <a:latin typeface="Arial" pitchFamily="34" charset="0"/>
                <a:ea typeface="Arial" pitchFamily="34" charset="-122"/>
                <a:cs typeface="Arial" pitchFamily="34" charset="-120"/>
              </a:rPr>
              <a:t>R&amp;D history (pre- vs post-GPT) and per-segment effectiveness for Amazon, Taobao / Alibaba, and JD.com. All quantitative figures from 2024–2026 publications.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APPENDIX · PRODUCTION SYSTEMS</a:t>
            </a:r>
            <a:endParaRPr lang="en-US" sz="1200" dirty="0"/>
          </a:p>
        </p:txBody>
      </p:sp>
      <p:sp>
        <p:nvSpPr>
          <p:cNvPr id="3" name="Text 1"/>
          <p:cNvSpPr/>
          <p:nvPr/>
        </p:nvSpPr>
        <p:spPr>
          <a:xfrm>
            <a:off x="640080" y="630936"/>
            <a:ext cx="8778240" cy="548640"/>
          </a:xfrm>
          <a:prstGeom prst="rect">
            <a:avLst/>
          </a:prstGeom>
          <a:noFill/>
          <a:ln/>
        </p:spPr>
        <p:txBody>
          <a:bodyPr wrap="square" lIns="0" tIns="0" rIns="0" bIns="0" rtlCol="0" anchor="ctr"/>
          <a:lstStyle/>
          <a:p>
            <a:pPr indent="0" marL="0">
              <a:buNone/>
            </a:pPr>
            <a:r>
              <a:rPr lang="en-US" sz="2500" b="1" dirty="0">
                <a:solidFill>
                  <a:srgbClr val="0F172A"/>
                </a:solidFill>
                <a:latin typeface="Arial" pitchFamily="34" charset="0"/>
                <a:ea typeface="Arial" pitchFamily="34" charset="-122"/>
                <a:cs typeface="Arial" pitchFamily="34" charset="-120"/>
              </a:rPr>
              <a:t>Amazon — recommendation system history</a:t>
            </a:r>
            <a:endParaRPr lang="en-US" sz="2500" dirty="0"/>
          </a:p>
        </p:txBody>
      </p:sp>
      <p:sp>
        <p:nvSpPr>
          <p:cNvPr id="4" name="Shape 2"/>
          <p:cNvSpPr/>
          <p:nvPr/>
        </p:nvSpPr>
        <p:spPr>
          <a:xfrm>
            <a:off x="10698480" y="566928"/>
            <a:ext cx="777240" cy="777240"/>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5" name="Image 0" descr="preencoded.png">    </p:cNvPr>
          <p:cNvPicPr>
            <a:picLocks noChangeAspect="1"/>
          </p:cNvPicPr>
          <p:nvPr/>
        </p:nvPicPr>
        <p:blipFill>
          <a:blip r:embed="rId1"/>
          <a:stretch>
            <a:fillRect/>
          </a:stretch>
        </p:blipFill>
        <p:spPr>
          <a:xfrm>
            <a:off x="10908335" y="776783"/>
            <a:ext cx="357530" cy="357530"/>
          </a:xfrm>
          <a:prstGeom prst="rect">
            <a:avLst/>
          </a:prstGeom>
        </p:spPr>
      </p:pic>
      <p:sp>
        <p:nvSpPr>
          <p:cNvPr id="6" name="Text 3"/>
          <p:cNvSpPr/>
          <p:nvPr/>
        </p:nvSpPr>
        <p:spPr>
          <a:xfrm>
            <a:off x="640080" y="1298448"/>
            <a:ext cx="10927080" cy="292608"/>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From item-to-item CF to a RAG-based generative assistant + commonsense knowledge graph.</a:t>
            </a:r>
            <a:endParaRPr lang="en-US" sz="1300" dirty="0"/>
          </a:p>
        </p:txBody>
      </p:sp>
      <p:sp>
        <p:nvSpPr>
          <p:cNvPr id="7" name="Text 4"/>
          <p:cNvSpPr/>
          <p:nvPr/>
        </p:nvSpPr>
        <p:spPr>
          <a:xfrm>
            <a:off x="640080" y="1947672"/>
            <a:ext cx="6490411" cy="274320"/>
          </a:xfrm>
          <a:prstGeom prst="rect">
            <a:avLst/>
          </a:prstGeom>
          <a:noFill/>
          <a:ln/>
        </p:spPr>
        <p:txBody>
          <a:bodyPr wrap="square" lIns="0" tIns="0" rIns="0" bIns="0" rtlCol="0" anchor="ctr"/>
          <a:lstStyle/>
          <a:p>
            <a:pPr algn="ctr" indent="0" marL="0">
              <a:buNone/>
            </a:pPr>
            <a:r>
              <a:rPr lang="en-US" sz="1100" b="1" spc="100" kern="0" dirty="0">
                <a:solidFill>
                  <a:srgbClr val="64748B"/>
                </a:solidFill>
                <a:latin typeface="Arial" pitchFamily="34" charset="0"/>
                <a:ea typeface="Arial" pitchFamily="34" charset="-122"/>
                <a:cs typeface="Arial" pitchFamily="34" charset="-120"/>
              </a:rPr>
              <a:t>PRE-GPT ERA</a:t>
            </a:r>
            <a:endParaRPr lang="en-US" sz="1100" dirty="0"/>
          </a:p>
        </p:txBody>
      </p:sp>
      <p:sp>
        <p:nvSpPr>
          <p:cNvPr id="8" name="Text 5"/>
          <p:cNvSpPr/>
          <p:nvPr/>
        </p:nvSpPr>
        <p:spPr>
          <a:xfrm>
            <a:off x="7295083" y="1947672"/>
            <a:ext cx="4272077" cy="274320"/>
          </a:xfrm>
          <a:prstGeom prst="rect">
            <a:avLst/>
          </a:prstGeom>
          <a:noFill/>
          <a:ln/>
        </p:spPr>
        <p:txBody>
          <a:bodyPr wrap="square" lIns="0" tIns="0" rIns="0" bIns="0" rtlCol="0" anchor="ctr"/>
          <a:lstStyle/>
          <a:p>
            <a:pPr algn="ctr" indent="0" marL="0">
              <a:buNone/>
            </a:pPr>
            <a:r>
              <a:rPr lang="en-US" sz="1100" b="1" spc="100" kern="0" dirty="0">
                <a:solidFill>
                  <a:srgbClr val="0E7490"/>
                </a:solidFill>
                <a:latin typeface="Arial" pitchFamily="34" charset="0"/>
                <a:ea typeface="Arial" pitchFamily="34" charset="-122"/>
                <a:cs typeface="Arial" pitchFamily="34" charset="-120"/>
              </a:rPr>
              <a:t>GPT / LLM ERA</a:t>
            </a:r>
            <a:endParaRPr lang="en-US" sz="1100" dirty="0"/>
          </a:p>
        </p:txBody>
      </p:sp>
      <p:sp>
        <p:nvSpPr>
          <p:cNvPr id="9" name="Shape 6"/>
          <p:cNvSpPr/>
          <p:nvPr/>
        </p:nvSpPr>
        <p:spPr>
          <a:xfrm>
            <a:off x="7212787" y="1874520"/>
            <a:ext cx="0" cy="2606040"/>
          </a:xfrm>
          <a:prstGeom prst="line">
            <a:avLst/>
          </a:prstGeom>
          <a:noFill/>
          <a:ln w="15875">
            <a:solidFill>
              <a:srgbClr val="0E7490"/>
            </a:solidFill>
            <a:prstDash val="dash"/>
          </a:ln>
        </p:spPr>
      </p:sp>
      <p:sp>
        <p:nvSpPr>
          <p:cNvPr id="10" name="Shape 7"/>
          <p:cNvSpPr/>
          <p:nvPr/>
        </p:nvSpPr>
        <p:spPr>
          <a:xfrm>
            <a:off x="640080" y="2331720"/>
            <a:ext cx="2053742" cy="1965960"/>
          </a:xfrm>
          <a:prstGeom prst="roundRect">
            <a:avLst>
              <a:gd name="adj" fmla="val 5581"/>
            </a:avLst>
          </a:prstGeom>
          <a:solidFill>
            <a:srgbClr val="F1F5F9"/>
          </a:solidFill>
          <a:ln/>
          <a:effectLst>
            <a:outerShdw sx="100000" sy="100000" kx="0" ky="0" algn="bl" rotWithShape="0" blurRad="127000" dist="50800" dir="5400000">
              <a:srgbClr val="8A93A6">
                <a:alpha val="13000"/>
              </a:srgbClr>
            </a:outerShdw>
          </a:effectLst>
        </p:spPr>
      </p:sp>
      <p:sp>
        <p:nvSpPr>
          <p:cNvPr id="11" name="Shape 8"/>
          <p:cNvSpPr/>
          <p:nvPr/>
        </p:nvSpPr>
        <p:spPr>
          <a:xfrm>
            <a:off x="804672" y="2496312"/>
            <a:ext cx="1724558" cy="365760"/>
          </a:xfrm>
          <a:prstGeom prst="roundRect">
            <a:avLst>
              <a:gd name="adj" fmla="val 50000"/>
            </a:avLst>
          </a:prstGeom>
          <a:solidFill>
            <a:srgbClr val="1E293B"/>
          </a:solidFill>
          <a:ln/>
        </p:spPr>
      </p:sp>
      <p:sp>
        <p:nvSpPr>
          <p:cNvPr id="12" name="Text 9"/>
          <p:cNvSpPr/>
          <p:nvPr/>
        </p:nvSpPr>
        <p:spPr>
          <a:xfrm>
            <a:off x="804672"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1998</a:t>
            </a:r>
            <a:endParaRPr lang="en-US" sz="1200" dirty="0"/>
          </a:p>
        </p:txBody>
      </p:sp>
      <p:sp>
        <p:nvSpPr>
          <p:cNvPr id="13" name="Text 10"/>
          <p:cNvSpPr/>
          <p:nvPr/>
        </p:nvSpPr>
        <p:spPr>
          <a:xfrm>
            <a:off x="777240"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Item-to-item CF</a:t>
            </a:r>
            <a:endParaRPr lang="en-US" sz="1200" dirty="0"/>
          </a:p>
        </p:txBody>
      </p:sp>
      <p:sp>
        <p:nvSpPr>
          <p:cNvPr id="14" name="Text 11"/>
          <p:cNvSpPr/>
          <p:nvPr/>
        </p:nvSpPr>
        <p:spPr>
          <a:xfrm>
            <a:off x="786384"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Offline item–item similarity matrix; O(1) online lookup.</a:t>
            </a:r>
            <a:endParaRPr lang="en-US" sz="960" dirty="0"/>
          </a:p>
        </p:txBody>
      </p:sp>
      <p:sp>
        <p:nvSpPr>
          <p:cNvPr id="15" name="Shape 12"/>
          <p:cNvSpPr/>
          <p:nvPr/>
        </p:nvSpPr>
        <p:spPr>
          <a:xfrm>
            <a:off x="2858414" y="2331720"/>
            <a:ext cx="2053742" cy="1965960"/>
          </a:xfrm>
          <a:prstGeom prst="roundRect">
            <a:avLst>
              <a:gd name="adj" fmla="val 5581"/>
            </a:avLst>
          </a:prstGeom>
          <a:solidFill>
            <a:srgbClr val="F1F5F9"/>
          </a:solidFill>
          <a:ln/>
          <a:effectLst>
            <a:outerShdw sx="100000" sy="100000" kx="0" ky="0" algn="bl" rotWithShape="0" blurRad="127000" dist="50800" dir="5400000">
              <a:srgbClr val="8A93A6">
                <a:alpha val="13000"/>
              </a:srgbClr>
            </a:outerShdw>
          </a:effectLst>
        </p:spPr>
      </p:sp>
      <p:sp>
        <p:nvSpPr>
          <p:cNvPr id="16" name="Shape 13"/>
          <p:cNvSpPr/>
          <p:nvPr/>
        </p:nvSpPr>
        <p:spPr>
          <a:xfrm>
            <a:off x="3023006" y="2496312"/>
            <a:ext cx="1724558" cy="365760"/>
          </a:xfrm>
          <a:prstGeom prst="roundRect">
            <a:avLst>
              <a:gd name="adj" fmla="val 50000"/>
            </a:avLst>
          </a:prstGeom>
          <a:solidFill>
            <a:srgbClr val="1E293B"/>
          </a:solidFill>
          <a:ln/>
        </p:spPr>
      </p:sp>
      <p:sp>
        <p:nvSpPr>
          <p:cNvPr id="17" name="Text 14"/>
          <p:cNvSpPr/>
          <p:nvPr/>
        </p:nvSpPr>
        <p:spPr>
          <a:xfrm>
            <a:off x="3023006"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2003</a:t>
            </a:r>
            <a:endParaRPr lang="en-US" sz="1200" dirty="0"/>
          </a:p>
        </p:txBody>
      </p:sp>
      <p:sp>
        <p:nvSpPr>
          <p:cNvPr id="18" name="Text 15"/>
          <p:cNvSpPr/>
          <p:nvPr/>
        </p:nvSpPr>
        <p:spPr>
          <a:xfrm>
            <a:off x="2995574"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Published (IEEE)</a:t>
            </a:r>
            <a:endParaRPr lang="en-US" sz="1200" dirty="0"/>
          </a:p>
        </p:txBody>
      </p:sp>
      <p:sp>
        <p:nvSpPr>
          <p:cNvPr id="19" name="Text 16"/>
          <p:cNvSpPr/>
          <p:nvPr/>
        </p:nvSpPr>
        <p:spPr>
          <a:xfrm>
            <a:off x="3004718"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Linden et al., IEEE IC; scales since items ≪ users.</a:t>
            </a:r>
            <a:endParaRPr lang="en-US" sz="960" dirty="0"/>
          </a:p>
        </p:txBody>
      </p:sp>
      <p:sp>
        <p:nvSpPr>
          <p:cNvPr id="20" name="Shape 17"/>
          <p:cNvSpPr/>
          <p:nvPr/>
        </p:nvSpPr>
        <p:spPr>
          <a:xfrm>
            <a:off x="5076749" y="2331720"/>
            <a:ext cx="2053742" cy="1965960"/>
          </a:xfrm>
          <a:prstGeom prst="roundRect">
            <a:avLst>
              <a:gd name="adj" fmla="val 5581"/>
            </a:avLst>
          </a:prstGeom>
          <a:solidFill>
            <a:srgbClr val="F1F5F9"/>
          </a:solidFill>
          <a:ln/>
          <a:effectLst>
            <a:outerShdw sx="100000" sy="100000" kx="0" ky="0" algn="bl" rotWithShape="0" blurRad="127000" dist="50800" dir="5400000">
              <a:srgbClr val="8A93A6">
                <a:alpha val="13000"/>
              </a:srgbClr>
            </a:outerShdw>
          </a:effectLst>
        </p:spPr>
      </p:sp>
      <p:sp>
        <p:nvSpPr>
          <p:cNvPr id="21" name="Shape 18"/>
          <p:cNvSpPr/>
          <p:nvPr/>
        </p:nvSpPr>
        <p:spPr>
          <a:xfrm>
            <a:off x="5241341" y="2496312"/>
            <a:ext cx="1724558" cy="365760"/>
          </a:xfrm>
          <a:prstGeom prst="roundRect">
            <a:avLst>
              <a:gd name="adj" fmla="val 50000"/>
            </a:avLst>
          </a:prstGeom>
          <a:solidFill>
            <a:srgbClr val="1E293B"/>
          </a:solidFill>
          <a:ln/>
        </p:spPr>
      </p:sp>
      <p:sp>
        <p:nvSpPr>
          <p:cNvPr id="22" name="Text 19"/>
          <p:cNvSpPr/>
          <p:nvPr/>
        </p:nvSpPr>
        <p:spPr>
          <a:xfrm>
            <a:off x="5241341"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2017</a:t>
            </a:r>
            <a:endParaRPr lang="en-US" sz="1200" dirty="0"/>
          </a:p>
        </p:txBody>
      </p:sp>
      <p:sp>
        <p:nvSpPr>
          <p:cNvPr id="23" name="Text 20"/>
          <p:cNvSpPr/>
          <p:nvPr/>
        </p:nvSpPr>
        <p:spPr>
          <a:xfrm>
            <a:off x="5213909"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Whole-store personalization</a:t>
            </a:r>
            <a:endParaRPr lang="en-US" sz="1200" dirty="0"/>
          </a:p>
        </p:txBody>
      </p:sp>
      <p:sp>
        <p:nvSpPr>
          <p:cNvPr id="24" name="Text 21"/>
          <p:cNvSpPr/>
          <p:nvPr/>
        </p:nvSpPr>
        <p:spPr>
          <a:xfrm>
            <a:off x="5223053"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Deep models; per-widget personalization, A/B-tested.</a:t>
            </a:r>
            <a:endParaRPr lang="en-US" sz="960" dirty="0"/>
          </a:p>
        </p:txBody>
      </p:sp>
      <p:sp>
        <p:nvSpPr>
          <p:cNvPr id="25" name="Shape 22"/>
          <p:cNvSpPr/>
          <p:nvPr/>
        </p:nvSpPr>
        <p:spPr>
          <a:xfrm>
            <a:off x="7295083" y="2331720"/>
            <a:ext cx="2053742" cy="1965960"/>
          </a:xfrm>
          <a:prstGeom prst="roundRect">
            <a:avLst>
              <a:gd name="adj" fmla="val 5581"/>
            </a:avLst>
          </a:prstGeom>
          <a:solidFill>
            <a:srgbClr val="ECFEFF"/>
          </a:solidFill>
          <a:ln/>
          <a:effectLst>
            <a:outerShdw sx="100000" sy="100000" kx="0" ky="0" algn="bl" rotWithShape="0" blurRad="127000" dist="50800" dir="5400000">
              <a:srgbClr val="8A93A6">
                <a:alpha val="13000"/>
              </a:srgbClr>
            </a:outerShdw>
          </a:effectLst>
        </p:spPr>
      </p:sp>
      <p:sp>
        <p:nvSpPr>
          <p:cNvPr id="26" name="Shape 23"/>
          <p:cNvSpPr/>
          <p:nvPr/>
        </p:nvSpPr>
        <p:spPr>
          <a:xfrm>
            <a:off x="7459675" y="2496312"/>
            <a:ext cx="1724558" cy="365760"/>
          </a:xfrm>
          <a:prstGeom prst="roundRect">
            <a:avLst>
              <a:gd name="adj" fmla="val 50000"/>
            </a:avLst>
          </a:prstGeom>
          <a:solidFill>
            <a:srgbClr val="0E7490"/>
          </a:solidFill>
          <a:ln/>
        </p:spPr>
      </p:sp>
      <p:sp>
        <p:nvSpPr>
          <p:cNvPr id="27" name="Text 24"/>
          <p:cNvSpPr/>
          <p:nvPr/>
        </p:nvSpPr>
        <p:spPr>
          <a:xfrm>
            <a:off x="7459675"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2024</a:t>
            </a:r>
            <a:endParaRPr lang="en-US" sz="1200" dirty="0"/>
          </a:p>
        </p:txBody>
      </p:sp>
      <p:sp>
        <p:nvSpPr>
          <p:cNvPr id="28" name="Text 25"/>
          <p:cNvSpPr/>
          <p:nvPr/>
        </p:nvSpPr>
        <p:spPr>
          <a:xfrm>
            <a:off x="7432243"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Rufus + COSMO</a:t>
            </a:r>
            <a:endParaRPr lang="en-US" sz="1200" dirty="0"/>
          </a:p>
        </p:txBody>
      </p:sp>
      <p:sp>
        <p:nvSpPr>
          <p:cNvPr id="29" name="Text 26"/>
          <p:cNvSpPr/>
          <p:nvPr/>
        </p:nvSpPr>
        <p:spPr>
          <a:xfrm>
            <a:off x="7441387"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Custom shopping LLM on Bedrock; RAG + COSMO knowledge graph.</a:t>
            </a:r>
            <a:endParaRPr lang="en-US" sz="960" dirty="0"/>
          </a:p>
        </p:txBody>
      </p:sp>
      <p:sp>
        <p:nvSpPr>
          <p:cNvPr id="30" name="Shape 27"/>
          <p:cNvSpPr/>
          <p:nvPr/>
        </p:nvSpPr>
        <p:spPr>
          <a:xfrm>
            <a:off x="9513418" y="2331720"/>
            <a:ext cx="2053742" cy="1965960"/>
          </a:xfrm>
          <a:prstGeom prst="roundRect">
            <a:avLst>
              <a:gd name="adj" fmla="val 5581"/>
            </a:avLst>
          </a:prstGeom>
          <a:solidFill>
            <a:srgbClr val="ECFEFF"/>
          </a:solidFill>
          <a:ln/>
          <a:effectLst>
            <a:outerShdw sx="100000" sy="100000" kx="0" ky="0" algn="bl" rotWithShape="0" blurRad="127000" dist="50800" dir="5400000">
              <a:srgbClr val="8A93A6">
                <a:alpha val="13000"/>
              </a:srgbClr>
            </a:outerShdw>
          </a:effectLst>
        </p:spPr>
      </p:sp>
      <p:sp>
        <p:nvSpPr>
          <p:cNvPr id="31" name="Shape 28"/>
          <p:cNvSpPr/>
          <p:nvPr/>
        </p:nvSpPr>
        <p:spPr>
          <a:xfrm>
            <a:off x="9678010" y="2496312"/>
            <a:ext cx="1724558" cy="365760"/>
          </a:xfrm>
          <a:prstGeom prst="roundRect">
            <a:avLst>
              <a:gd name="adj" fmla="val 50000"/>
            </a:avLst>
          </a:prstGeom>
          <a:solidFill>
            <a:srgbClr val="0E7490"/>
          </a:solidFill>
          <a:ln/>
        </p:spPr>
      </p:sp>
      <p:sp>
        <p:nvSpPr>
          <p:cNvPr id="32" name="Text 29"/>
          <p:cNvSpPr/>
          <p:nvPr/>
        </p:nvSpPr>
        <p:spPr>
          <a:xfrm>
            <a:off x="9678010"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2025</a:t>
            </a:r>
            <a:endParaRPr lang="en-US" sz="1200" dirty="0"/>
          </a:p>
        </p:txBody>
      </p:sp>
      <p:sp>
        <p:nvSpPr>
          <p:cNvPr id="33" name="Text 30"/>
          <p:cNvSpPr/>
          <p:nvPr/>
        </p:nvSpPr>
        <p:spPr>
          <a:xfrm>
            <a:off x="9650578"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Rufus at scale</a:t>
            </a:r>
            <a:endParaRPr lang="en-US" sz="1200" dirty="0"/>
          </a:p>
        </p:txBody>
      </p:sp>
      <p:sp>
        <p:nvSpPr>
          <p:cNvPr id="34" name="Text 31"/>
          <p:cNvSpPr/>
          <p:nvPr/>
        </p:nvSpPr>
        <p:spPr>
          <a:xfrm>
            <a:off x="9659722"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Account-level memory across Kindle/Prime/Audible; per-user conditioning.</a:t>
            </a:r>
            <a:endParaRPr lang="en-US" sz="960" dirty="0"/>
          </a:p>
        </p:txBody>
      </p:sp>
      <p:sp>
        <p:nvSpPr>
          <p:cNvPr id="35" name="Text 32"/>
          <p:cNvSpPr/>
          <p:nvPr/>
        </p:nvSpPr>
        <p:spPr>
          <a:xfrm>
            <a:off x="640080" y="4599432"/>
            <a:ext cx="2103120" cy="822960"/>
          </a:xfrm>
          <a:prstGeom prst="rect">
            <a:avLst/>
          </a:prstGeom>
          <a:noFill/>
          <a:ln/>
        </p:spPr>
        <p:txBody>
          <a:bodyPr wrap="square" lIns="0" tIns="0" rIns="0" bIns="0" rtlCol="0" anchor="ctr"/>
          <a:lstStyle/>
          <a:p>
            <a:pPr indent="0" marL="0">
              <a:buNone/>
            </a:pPr>
            <a:r>
              <a:rPr lang="en-US" sz="1300" b="1" dirty="0">
                <a:solidFill>
                  <a:srgbClr val="0E7490"/>
                </a:solidFill>
                <a:latin typeface="Arial" pitchFamily="34" charset="0"/>
                <a:ea typeface="Arial" pitchFamily="34" charset="-122"/>
                <a:cs typeface="Arial" pitchFamily="34" charset="-120"/>
              </a:rPr>
              <a:t>GPT-era impact</a:t>
            </a:r>
            <a:endParaRPr lang="en-US" sz="1300" dirty="0"/>
          </a:p>
        </p:txBody>
      </p:sp>
      <p:sp>
        <p:nvSpPr>
          <p:cNvPr id="36" name="Shape 33"/>
          <p:cNvSpPr/>
          <p:nvPr/>
        </p:nvSpPr>
        <p:spPr>
          <a:xfrm>
            <a:off x="2743200" y="4617720"/>
            <a:ext cx="2819400" cy="822960"/>
          </a:xfrm>
          <a:prstGeom prst="roundRect">
            <a:avLst>
              <a:gd name="adj" fmla="val 11111"/>
            </a:avLst>
          </a:prstGeom>
          <a:solidFill>
            <a:srgbClr val="FFFFFF"/>
          </a:solidFill>
          <a:ln/>
          <a:effectLst>
            <a:outerShdw sx="100000" sy="100000" kx="0" ky="0" algn="bl" rotWithShape="0" blurRad="127000" dist="50800" dir="5400000">
              <a:srgbClr val="8A93A6">
                <a:alpha val="13000"/>
              </a:srgbClr>
            </a:outerShdw>
          </a:effectLst>
        </p:spPr>
      </p:sp>
      <p:sp>
        <p:nvSpPr>
          <p:cNvPr id="37" name="Shape 34"/>
          <p:cNvSpPr/>
          <p:nvPr/>
        </p:nvSpPr>
        <p:spPr>
          <a:xfrm>
            <a:off x="2743200" y="4617720"/>
            <a:ext cx="2819400" cy="822960"/>
          </a:xfrm>
          <a:prstGeom prst="roundRect">
            <a:avLst>
              <a:gd name="adj" fmla="val 11111"/>
            </a:avLst>
          </a:prstGeom>
          <a:solidFill>
            <a:srgbClr val="FFFFFF">
              <a:alpha val="0"/>
            </a:srgbClr>
          </a:solidFill>
          <a:ln w="12700">
            <a:solidFill>
              <a:srgbClr val="DCE3EC"/>
            </a:solidFill>
            <a:prstDash val="solid"/>
          </a:ln>
        </p:spPr>
      </p:sp>
      <p:sp>
        <p:nvSpPr>
          <p:cNvPr id="38" name="Text 35"/>
          <p:cNvSpPr/>
          <p:nvPr/>
        </p:nvSpPr>
        <p:spPr>
          <a:xfrm>
            <a:off x="2852928" y="4709160"/>
            <a:ext cx="2599944" cy="365760"/>
          </a:xfrm>
          <a:prstGeom prst="rect">
            <a:avLst/>
          </a:prstGeom>
          <a:noFill/>
          <a:ln/>
        </p:spPr>
        <p:txBody>
          <a:bodyPr wrap="square" lIns="0" tIns="0" rIns="0" bIns="0" rtlCol="0" anchor="ctr"/>
          <a:lstStyle/>
          <a:p>
            <a:pPr algn="ctr" indent="0" marL="0">
              <a:buNone/>
            </a:pPr>
            <a:r>
              <a:rPr lang="en-US" sz="1600" b="1" dirty="0">
                <a:solidFill>
                  <a:srgbClr val="0E7490"/>
                </a:solidFill>
                <a:latin typeface="Arial" pitchFamily="34" charset="0"/>
                <a:ea typeface="Arial" pitchFamily="34" charset="-122"/>
                <a:cs typeface="Arial" pitchFamily="34" charset="-120"/>
              </a:rPr>
              <a:t>~$12B</a:t>
            </a:r>
            <a:endParaRPr lang="en-US" sz="1600" dirty="0"/>
          </a:p>
        </p:txBody>
      </p:sp>
      <p:sp>
        <p:nvSpPr>
          <p:cNvPr id="39" name="Text 36"/>
          <p:cNvSpPr/>
          <p:nvPr/>
        </p:nvSpPr>
        <p:spPr>
          <a:xfrm>
            <a:off x="2852928" y="5074920"/>
            <a:ext cx="2599944" cy="329184"/>
          </a:xfrm>
          <a:prstGeom prst="rect">
            <a:avLst/>
          </a:prstGeom>
          <a:noFill/>
          <a:ln/>
        </p:spPr>
        <p:txBody>
          <a:bodyPr wrap="square" lIns="0" tIns="0" rIns="0" bIns="0" rtlCol="0" anchor="ctr"/>
          <a:lstStyle/>
          <a:p>
            <a:pPr algn="ctr" indent="0" marL="0">
              <a:buNone/>
            </a:pPr>
            <a:r>
              <a:rPr lang="en-US" sz="880" dirty="0">
                <a:solidFill>
                  <a:srgbClr val="64748B"/>
                </a:solidFill>
                <a:latin typeface="Arial" pitchFamily="34" charset="0"/>
                <a:ea typeface="Arial" pitchFamily="34" charset="-122"/>
                <a:cs typeface="Arial" pitchFamily="34" charset="-120"/>
              </a:rPr>
              <a:t>incremental annualized sales (Q4'25)</a:t>
            </a:r>
            <a:endParaRPr lang="en-US" sz="880" dirty="0"/>
          </a:p>
        </p:txBody>
      </p:sp>
      <p:sp>
        <p:nvSpPr>
          <p:cNvPr id="40" name="Shape 37"/>
          <p:cNvSpPr/>
          <p:nvPr/>
        </p:nvSpPr>
        <p:spPr>
          <a:xfrm>
            <a:off x="5745480" y="4617720"/>
            <a:ext cx="2819400" cy="822960"/>
          </a:xfrm>
          <a:prstGeom prst="roundRect">
            <a:avLst>
              <a:gd name="adj" fmla="val 11111"/>
            </a:avLst>
          </a:prstGeom>
          <a:solidFill>
            <a:srgbClr val="FFFFFF"/>
          </a:solidFill>
          <a:ln/>
          <a:effectLst>
            <a:outerShdw sx="100000" sy="100000" kx="0" ky="0" algn="bl" rotWithShape="0" blurRad="127000" dist="50800" dir="5400000">
              <a:srgbClr val="8A93A6">
                <a:alpha val="13000"/>
              </a:srgbClr>
            </a:outerShdw>
          </a:effectLst>
        </p:spPr>
      </p:sp>
      <p:sp>
        <p:nvSpPr>
          <p:cNvPr id="41" name="Shape 38"/>
          <p:cNvSpPr/>
          <p:nvPr/>
        </p:nvSpPr>
        <p:spPr>
          <a:xfrm>
            <a:off x="5745480" y="4617720"/>
            <a:ext cx="2819400" cy="822960"/>
          </a:xfrm>
          <a:prstGeom prst="roundRect">
            <a:avLst>
              <a:gd name="adj" fmla="val 11111"/>
            </a:avLst>
          </a:prstGeom>
          <a:solidFill>
            <a:srgbClr val="FFFFFF">
              <a:alpha val="0"/>
            </a:srgbClr>
          </a:solidFill>
          <a:ln w="12700">
            <a:solidFill>
              <a:srgbClr val="DCE3EC"/>
            </a:solidFill>
            <a:prstDash val="solid"/>
          </a:ln>
        </p:spPr>
      </p:sp>
      <p:sp>
        <p:nvSpPr>
          <p:cNvPr id="42" name="Text 39"/>
          <p:cNvSpPr/>
          <p:nvPr/>
        </p:nvSpPr>
        <p:spPr>
          <a:xfrm>
            <a:off x="5855208" y="4709160"/>
            <a:ext cx="2599944" cy="365760"/>
          </a:xfrm>
          <a:prstGeom prst="rect">
            <a:avLst/>
          </a:prstGeom>
          <a:noFill/>
          <a:ln/>
        </p:spPr>
        <p:txBody>
          <a:bodyPr wrap="square" lIns="0" tIns="0" rIns="0" bIns="0" rtlCol="0" anchor="ctr"/>
          <a:lstStyle/>
          <a:p>
            <a:pPr algn="ctr" indent="0" marL="0">
              <a:buNone/>
            </a:pPr>
            <a:r>
              <a:rPr lang="en-US" sz="1600" b="1" dirty="0">
                <a:solidFill>
                  <a:srgbClr val="0E7490"/>
                </a:solidFill>
                <a:latin typeface="Arial" pitchFamily="34" charset="0"/>
                <a:ea typeface="Arial" pitchFamily="34" charset="-122"/>
                <a:cs typeface="Arial" pitchFamily="34" charset="-120"/>
              </a:rPr>
              <a:t>300M+</a:t>
            </a:r>
            <a:endParaRPr lang="en-US" sz="1600" dirty="0"/>
          </a:p>
        </p:txBody>
      </p:sp>
      <p:sp>
        <p:nvSpPr>
          <p:cNvPr id="43" name="Text 40"/>
          <p:cNvSpPr/>
          <p:nvPr/>
        </p:nvSpPr>
        <p:spPr>
          <a:xfrm>
            <a:off x="5855208" y="5074920"/>
            <a:ext cx="2599944" cy="329184"/>
          </a:xfrm>
          <a:prstGeom prst="rect">
            <a:avLst/>
          </a:prstGeom>
          <a:noFill/>
          <a:ln/>
        </p:spPr>
        <p:txBody>
          <a:bodyPr wrap="square" lIns="0" tIns="0" rIns="0" bIns="0" rtlCol="0" anchor="ctr"/>
          <a:lstStyle/>
          <a:p>
            <a:pPr algn="ctr" indent="0" marL="0">
              <a:buNone/>
            </a:pPr>
            <a:r>
              <a:rPr lang="en-US" sz="880" dirty="0">
                <a:solidFill>
                  <a:srgbClr val="64748B"/>
                </a:solidFill>
                <a:latin typeface="Arial" pitchFamily="34" charset="0"/>
                <a:ea typeface="Arial" pitchFamily="34" charset="-122"/>
                <a:cs typeface="Arial" pitchFamily="34" charset="-120"/>
              </a:rPr>
              <a:t>users · 149% YoY MAU</a:t>
            </a:r>
            <a:endParaRPr lang="en-US" sz="880" dirty="0"/>
          </a:p>
        </p:txBody>
      </p:sp>
      <p:sp>
        <p:nvSpPr>
          <p:cNvPr id="44" name="Shape 41"/>
          <p:cNvSpPr/>
          <p:nvPr/>
        </p:nvSpPr>
        <p:spPr>
          <a:xfrm>
            <a:off x="8747760" y="4617720"/>
            <a:ext cx="2819400" cy="822960"/>
          </a:xfrm>
          <a:prstGeom prst="roundRect">
            <a:avLst>
              <a:gd name="adj" fmla="val 11111"/>
            </a:avLst>
          </a:prstGeom>
          <a:solidFill>
            <a:srgbClr val="FFFFFF"/>
          </a:solidFill>
          <a:ln/>
          <a:effectLst>
            <a:outerShdw sx="100000" sy="100000" kx="0" ky="0" algn="bl" rotWithShape="0" blurRad="127000" dist="50800" dir="5400000">
              <a:srgbClr val="8A93A6">
                <a:alpha val="13000"/>
              </a:srgbClr>
            </a:outerShdw>
          </a:effectLst>
        </p:spPr>
      </p:sp>
      <p:sp>
        <p:nvSpPr>
          <p:cNvPr id="45" name="Shape 42"/>
          <p:cNvSpPr/>
          <p:nvPr/>
        </p:nvSpPr>
        <p:spPr>
          <a:xfrm>
            <a:off x="8747760" y="4617720"/>
            <a:ext cx="2819400" cy="822960"/>
          </a:xfrm>
          <a:prstGeom prst="roundRect">
            <a:avLst>
              <a:gd name="adj" fmla="val 11111"/>
            </a:avLst>
          </a:prstGeom>
          <a:solidFill>
            <a:srgbClr val="FFFFFF">
              <a:alpha val="0"/>
            </a:srgbClr>
          </a:solidFill>
          <a:ln w="12700">
            <a:solidFill>
              <a:srgbClr val="DCE3EC"/>
            </a:solidFill>
            <a:prstDash val="solid"/>
          </a:ln>
        </p:spPr>
      </p:sp>
      <p:sp>
        <p:nvSpPr>
          <p:cNvPr id="46" name="Text 43"/>
          <p:cNvSpPr/>
          <p:nvPr/>
        </p:nvSpPr>
        <p:spPr>
          <a:xfrm>
            <a:off x="8857488" y="4709160"/>
            <a:ext cx="2599944" cy="365760"/>
          </a:xfrm>
          <a:prstGeom prst="rect">
            <a:avLst/>
          </a:prstGeom>
          <a:noFill/>
          <a:ln/>
        </p:spPr>
        <p:txBody>
          <a:bodyPr wrap="square" lIns="0" tIns="0" rIns="0" bIns="0" rtlCol="0" anchor="ctr"/>
          <a:lstStyle/>
          <a:p>
            <a:pPr algn="ctr" indent="0" marL="0">
              <a:buNone/>
            </a:pPr>
            <a:r>
              <a:rPr lang="en-US" sz="1600" b="1" dirty="0">
                <a:solidFill>
                  <a:srgbClr val="0E7490"/>
                </a:solidFill>
                <a:latin typeface="Arial" pitchFamily="34" charset="0"/>
                <a:ea typeface="Arial" pitchFamily="34" charset="-122"/>
                <a:cs typeface="Arial" pitchFamily="34" charset="-120"/>
              </a:rPr>
              <a:t>+60%</a:t>
            </a:r>
            <a:endParaRPr lang="en-US" sz="1600" dirty="0"/>
          </a:p>
        </p:txBody>
      </p:sp>
      <p:sp>
        <p:nvSpPr>
          <p:cNvPr id="47" name="Text 44"/>
          <p:cNvSpPr/>
          <p:nvPr/>
        </p:nvSpPr>
        <p:spPr>
          <a:xfrm>
            <a:off x="8857488" y="5074920"/>
            <a:ext cx="2599944" cy="329184"/>
          </a:xfrm>
          <a:prstGeom prst="rect">
            <a:avLst/>
          </a:prstGeom>
          <a:noFill/>
          <a:ln/>
        </p:spPr>
        <p:txBody>
          <a:bodyPr wrap="square" lIns="0" tIns="0" rIns="0" bIns="0" rtlCol="0" anchor="ctr"/>
          <a:lstStyle/>
          <a:p>
            <a:pPr algn="ctr" indent="0" marL="0">
              <a:buNone/>
            </a:pPr>
            <a:r>
              <a:rPr lang="en-US" sz="880" dirty="0">
                <a:solidFill>
                  <a:srgbClr val="64748B"/>
                </a:solidFill>
                <a:latin typeface="Arial" pitchFamily="34" charset="0"/>
                <a:ea typeface="Arial" pitchFamily="34" charset="-122"/>
                <a:cs typeface="Arial" pitchFamily="34" charset="-120"/>
              </a:rPr>
              <a:t>purchase-completion (engaged cohort)</a:t>
            </a:r>
            <a:endParaRPr lang="en-US" sz="880" dirty="0"/>
          </a:p>
        </p:txBody>
      </p:sp>
      <p:sp>
        <p:nvSpPr>
          <p:cNvPr id="48" name="Text 45"/>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Sources: Amazon Science (2024); Amazon Q4 2025 earnings; COSMO — ACM SIGMOD 2024; Linden et al., IEEE Internet Computing (2003, historical).</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APPENDIX · PRODUCTION SYSTEMS</a:t>
            </a:r>
            <a:endParaRPr lang="en-US" sz="1200" dirty="0"/>
          </a:p>
        </p:txBody>
      </p:sp>
      <p:sp>
        <p:nvSpPr>
          <p:cNvPr id="3" name="Text 1"/>
          <p:cNvSpPr/>
          <p:nvPr/>
        </p:nvSpPr>
        <p:spPr>
          <a:xfrm>
            <a:off x="640080" y="630936"/>
            <a:ext cx="8778240" cy="548640"/>
          </a:xfrm>
          <a:prstGeom prst="rect">
            <a:avLst/>
          </a:prstGeom>
          <a:noFill/>
          <a:ln/>
        </p:spPr>
        <p:txBody>
          <a:bodyPr wrap="square" lIns="0" tIns="0" rIns="0" bIns="0" rtlCol="0" anchor="ctr"/>
          <a:lstStyle/>
          <a:p>
            <a:pPr indent="0" marL="0">
              <a:buNone/>
            </a:pPr>
            <a:r>
              <a:rPr lang="en-US" sz="2500" b="1" dirty="0">
                <a:solidFill>
                  <a:srgbClr val="0F172A"/>
                </a:solidFill>
                <a:latin typeface="Arial" pitchFamily="34" charset="0"/>
                <a:ea typeface="Arial" pitchFamily="34" charset="-122"/>
                <a:cs typeface="Arial" pitchFamily="34" charset="-120"/>
              </a:rPr>
              <a:t>Taobao / Alibaba — recommendation system history</a:t>
            </a:r>
            <a:endParaRPr lang="en-US" sz="2500" dirty="0"/>
          </a:p>
        </p:txBody>
      </p:sp>
      <p:sp>
        <p:nvSpPr>
          <p:cNvPr id="4" name="Shape 2"/>
          <p:cNvSpPr/>
          <p:nvPr/>
        </p:nvSpPr>
        <p:spPr>
          <a:xfrm>
            <a:off x="10698480" y="566928"/>
            <a:ext cx="777240" cy="777240"/>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5" name="Image 0" descr="preencoded.png">    </p:cNvPr>
          <p:cNvPicPr>
            <a:picLocks noChangeAspect="1"/>
          </p:cNvPicPr>
          <p:nvPr/>
        </p:nvPicPr>
        <p:blipFill>
          <a:blip r:embed="rId1"/>
          <a:stretch>
            <a:fillRect/>
          </a:stretch>
        </p:blipFill>
        <p:spPr>
          <a:xfrm>
            <a:off x="10908335" y="776783"/>
            <a:ext cx="357530" cy="357530"/>
          </a:xfrm>
          <a:prstGeom prst="rect">
            <a:avLst/>
          </a:prstGeom>
        </p:spPr>
      </p:pic>
      <p:sp>
        <p:nvSpPr>
          <p:cNvPr id="6" name="Text 3"/>
          <p:cNvSpPr/>
          <p:nvPr/>
        </p:nvSpPr>
        <p:spPr>
          <a:xfrm>
            <a:off x="640080" y="1298448"/>
            <a:ext cx="10927080" cy="292608"/>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From graph embeddings/DIN to LLM-based generative retrieval and ranking.</a:t>
            </a:r>
            <a:endParaRPr lang="en-US" sz="1300" dirty="0"/>
          </a:p>
        </p:txBody>
      </p:sp>
      <p:sp>
        <p:nvSpPr>
          <p:cNvPr id="7" name="Text 4"/>
          <p:cNvSpPr/>
          <p:nvPr/>
        </p:nvSpPr>
        <p:spPr>
          <a:xfrm>
            <a:off x="640080" y="1947672"/>
            <a:ext cx="4272077" cy="274320"/>
          </a:xfrm>
          <a:prstGeom prst="rect">
            <a:avLst/>
          </a:prstGeom>
          <a:noFill/>
          <a:ln/>
        </p:spPr>
        <p:txBody>
          <a:bodyPr wrap="square" lIns="0" tIns="0" rIns="0" bIns="0" rtlCol="0" anchor="ctr"/>
          <a:lstStyle/>
          <a:p>
            <a:pPr algn="ctr" indent="0" marL="0">
              <a:buNone/>
            </a:pPr>
            <a:r>
              <a:rPr lang="en-US" sz="1100" b="1" spc="100" kern="0" dirty="0">
                <a:solidFill>
                  <a:srgbClr val="64748B"/>
                </a:solidFill>
                <a:latin typeface="Arial" pitchFamily="34" charset="0"/>
                <a:ea typeface="Arial" pitchFamily="34" charset="-122"/>
                <a:cs typeface="Arial" pitchFamily="34" charset="-120"/>
              </a:rPr>
              <a:t>PRE-GPT ERA</a:t>
            </a:r>
            <a:endParaRPr lang="en-US" sz="1100" dirty="0"/>
          </a:p>
        </p:txBody>
      </p:sp>
      <p:sp>
        <p:nvSpPr>
          <p:cNvPr id="8" name="Text 5"/>
          <p:cNvSpPr/>
          <p:nvPr/>
        </p:nvSpPr>
        <p:spPr>
          <a:xfrm>
            <a:off x="5076749" y="1947672"/>
            <a:ext cx="6490411" cy="274320"/>
          </a:xfrm>
          <a:prstGeom prst="rect">
            <a:avLst/>
          </a:prstGeom>
          <a:noFill/>
          <a:ln/>
        </p:spPr>
        <p:txBody>
          <a:bodyPr wrap="square" lIns="0" tIns="0" rIns="0" bIns="0" rtlCol="0" anchor="ctr"/>
          <a:lstStyle/>
          <a:p>
            <a:pPr algn="ctr" indent="0" marL="0">
              <a:buNone/>
            </a:pPr>
            <a:r>
              <a:rPr lang="en-US" sz="1100" b="1" spc="100" kern="0" dirty="0">
                <a:solidFill>
                  <a:srgbClr val="0E7490"/>
                </a:solidFill>
                <a:latin typeface="Arial" pitchFamily="34" charset="0"/>
                <a:ea typeface="Arial" pitchFamily="34" charset="-122"/>
                <a:cs typeface="Arial" pitchFamily="34" charset="-120"/>
              </a:rPr>
              <a:t>GPT / LLM ERA</a:t>
            </a:r>
            <a:endParaRPr lang="en-US" sz="1100" dirty="0"/>
          </a:p>
        </p:txBody>
      </p:sp>
      <p:sp>
        <p:nvSpPr>
          <p:cNvPr id="9" name="Shape 6"/>
          <p:cNvSpPr/>
          <p:nvPr/>
        </p:nvSpPr>
        <p:spPr>
          <a:xfrm>
            <a:off x="4994453" y="1874520"/>
            <a:ext cx="0" cy="2606040"/>
          </a:xfrm>
          <a:prstGeom prst="line">
            <a:avLst/>
          </a:prstGeom>
          <a:noFill/>
          <a:ln w="15875">
            <a:solidFill>
              <a:srgbClr val="0E7490"/>
            </a:solidFill>
            <a:prstDash val="dash"/>
          </a:ln>
        </p:spPr>
      </p:sp>
      <p:sp>
        <p:nvSpPr>
          <p:cNvPr id="10" name="Shape 7"/>
          <p:cNvSpPr/>
          <p:nvPr/>
        </p:nvSpPr>
        <p:spPr>
          <a:xfrm>
            <a:off x="640080" y="2331720"/>
            <a:ext cx="2053742" cy="1965960"/>
          </a:xfrm>
          <a:prstGeom prst="roundRect">
            <a:avLst>
              <a:gd name="adj" fmla="val 5581"/>
            </a:avLst>
          </a:prstGeom>
          <a:solidFill>
            <a:srgbClr val="F1F5F9"/>
          </a:solidFill>
          <a:ln/>
          <a:effectLst>
            <a:outerShdw sx="100000" sy="100000" kx="0" ky="0" algn="bl" rotWithShape="0" blurRad="127000" dist="50800" dir="5400000">
              <a:srgbClr val="8A93A6">
                <a:alpha val="13000"/>
              </a:srgbClr>
            </a:outerShdw>
          </a:effectLst>
        </p:spPr>
      </p:sp>
      <p:sp>
        <p:nvSpPr>
          <p:cNvPr id="11" name="Shape 8"/>
          <p:cNvSpPr/>
          <p:nvPr/>
        </p:nvSpPr>
        <p:spPr>
          <a:xfrm>
            <a:off x="804672" y="2496312"/>
            <a:ext cx="1724558" cy="365760"/>
          </a:xfrm>
          <a:prstGeom prst="roundRect">
            <a:avLst>
              <a:gd name="adj" fmla="val 50000"/>
            </a:avLst>
          </a:prstGeom>
          <a:solidFill>
            <a:srgbClr val="1E293B"/>
          </a:solidFill>
          <a:ln/>
        </p:spPr>
      </p:sp>
      <p:sp>
        <p:nvSpPr>
          <p:cNvPr id="12" name="Text 9"/>
          <p:cNvSpPr/>
          <p:nvPr/>
        </p:nvSpPr>
        <p:spPr>
          <a:xfrm>
            <a:off x="804672"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2018</a:t>
            </a:r>
            <a:endParaRPr lang="en-US" sz="1200" dirty="0"/>
          </a:p>
        </p:txBody>
      </p:sp>
      <p:sp>
        <p:nvSpPr>
          <p:cNvPr id="13" name="Text 10"/>
          <p:cNvSpPr/>
          <p:nvPr/>
        </p:nvSpPr>
        <p:spPr>
          <a:xfrm>
            <a:off x="777240"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EGES graph embeddings</a:t>
            </a:r>
            <a:endParaRPr lang="en-US" sz="1200" dirty="0"/>
          </a:p>
        </p:txBody>
      </p:sp>
      <p:sp>
        <p:nvSpPr>
          <p:cNvPr id="14" name="Text 11"/>
          <p:cNvSpPr/>
          <p:nvPr/>
        </p:nvSpPr>
        <p:spPr>
          <a:xfrm>
            <a:off x="786384"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Graph embeddings + side info; powers “Guess What You Like.”</a:t>
            </a:r>
            <a:endParaRPr lang="en-US" sz="960" dirty="0"/>
          </a:p>
        </p:txBody>
      </p:sp>
      <p:sp>
        <p:nvSpPr>
          <p:cNvPr id="15" name="Shape 12"/>
          <p:cNvSpPr/>
          <p:nvPr/>
        </p:nvSpPr>
        <p:spPr>
          <a:xfrm>
            <a:off x="2858414" y="2331720"/>
            <a:ext cx="2053742" cy="1965960"/>
          </a:xfrm>
          <a:prstGeom prst="roundRect">
            <a:avLst>
              <a:gd name="adj" fmla="val 5581"/>
            </a:avLst>
          </a:prstGeom>
          <a:solidFill>
            <a:srgbClr val="F1F5F9"/>
          </a:solidFill>
          <a:ln/>
          <a:effectLst>
            <a:outerShdw sx="100000" sy="100000" kx="0" ky="0" algn="bl" rotWithShape="0" blurRad="127000" dist="50800" dir="5400000">
              <a:srgbClr val="8A93A6">
                <a:alpha val="13000"/>
              </a:srgbClr>
            </a:outerShdw>
          </a:effectLst>
        </p:spPr>
      </p:sp>
      <p:sp>
        <p:nvSpPr>
          <p:cNvPr id="16" name="Shape 13"/>
          <p:cNvSpPr/>
          <p:nvPr/>
        </p:nvSpPr>
        <p:spPr>
          <a:xfrm>
            <a:off x="3023006" y="2496312"/>
            <a:ext cx="1724558" cy="365760"/>
          </a:xfrm>
          <a:prstGeom prst="roundRect">
            <a:avLst>
              <a:gd name="adj" fmla="val 50000"/>
            </a:avLst>
          </a:prstGeom>
          <a:solidFill>
            <a:srgbClr val="1E293B"/>
          </a:solidFill>
          <a:ln/>
        </p:spPr>
      </p:sp>
      <p:sp>
        <p:nvSpPr>
          <p:cNvPr id="17" name="Text 14"/>
          <p:cNvSpPr/>
          <p:nvPr/>
        </p:nvSpPr>
        <p:spPr>
          <a:xfrm>
            <a:off x="3023006"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2018</a:t>
            </a:r>
            <a:endParaRPr lang="en-US" sz="1200" dirty="0"/>
          </a:p>
        </p:txBody>
      </p:sp>
      <p:sp>
        <p:nvSpPr>
          <p:cNvPr id="18" name="Text 15"/>
          <p:cNvSpPr/>
          <p:nvPr/>
        </p:nvSpPr>
        <p:spPr>
          <a:xfrm>
            <a:off x="2995574"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Deep Interest Network</a:t>
            </a:r>
            <a:endParaRPr lang="en-US" sz="1200" dirty="0"/>
          </a:p>
        </p:txBody>
      </p:sp>
      <p:sp>
        <p:nvSpPr>
          <p:cNvPr id="19" name="Text 16"/>
          <p:cNvSpPr/>
          <p:nvPr/>
        </p:nvSpPr>
        <p:spPr>
          <a:xfrm>
            <a:off x="3004718"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Attention over behaviour history for CTR (KDD 2018).</a:t>
            </a:r>
            <a:endParaRPr lang="en-US" sz="960" dirty="0"/>
          </a:p>
        </p:txBody>
      </p:sp>
      <p:sp>
        <p:nvSpPr>
          <p:cNvPr id="20" name="Shape 17"/>
          <p:cNvSpPr/>
          <p:nvPr/>
        </p:nvSpPr>
        <p:spPr>
          <a:xfrm>
            <a:off x="5076749" y="2331720"/>
            <a:ext cx="2053742" cy="1965960"/>
          </a:xfrm>
          <a:prstGeom prst="roundRect">
            <a:avLst>
              <a:gd name="adj" fmla="val 5581"/>
            </a:avLst>
          </a:prstGeom>
          <a:solidFill>
            <a:srgbClr val="ECFEFF"/>
          </a:solidFill>
          <a:ln/>
          <a:effectLst>
            <a:outerShdw sx="100000" sy="100000" kx="0" ky="0" algn="bl" rotWithShape="0" blurRad="127000" dist="50800" dir="5400000">
              <a:srgbClr val="8A93A6">
                <a:alpha val="13000"/>
              </a:srgbClr>
            </a:outerShdw>
          </a:effectLst>
        </p:spPr>
      </p:sp>
      <p:sp>
        <p:nvSpPr>
          <p:cNvPr id="21" name="Shape 18"/>
          <p:cNvSpPr/>
          <p:nvPr/>
        </p:nvSpPr>
        <p:spPr>
          <a:xfrm>
            <a:off x="5241341" y="2496312"/>
            <a:ext cx="1724558" cy="365760"/>
          </a:xfrm>
          <a:prstGeom prst="roundRect">
            <a:avLst>
              <a:gd name="adj" fmla="val 50000"/>
            </a:avLst>
          </a:prstGeom>
          <a:solidFill>
            <a:srgbClr val="0E7490"/>
          </a:solidFill>
          <a:ln/>
        </p:spPr>
      </p:sp>
      <p:sp>
        <p:nvSpPr>
          <p:cNvPr id="22" name="Text 19"/>
          <p:cNvSpPr/>
          <p:nvPr/>
        </p:nvSpPr>
        <p:spPr>
          <a:xfrm>
            <a:off x="5241341"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2025</a:t>
            </a:r>
            <a:endParaRPr lang="en-US" sz="1200" dirty="0"/>
          </a:p>
        </p:txBody>
      </p:sp>
      <p:sp>
        <p:nvSpPr>
          <p:cNvPr id="23" name="Text 20"/>
          <p:cNvSpPr/>
          <p:nvPr/>
        </p:nvSpPr>
        <p:spPr>
          <a:xfrm>
            <a:off x="5213909"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LUM — Large User Model</a:t>
            </a:r>
            <a:endParaRPr lang="en-US" sz="1200" dirty="0"/>
          </a:p>
        </p:txBody>
      </p:sp>
      <p:sp>
        <p:nvSpPr>
          <p:cNvPr id="24" name="Text 21"/>
          <p:cNvSpPr/>
          <p:nvPr/>
        </p:nvSpPr>
        <p:spPr>
          <a:xfrm>
            <a:off x="5223053"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Scaling-law user model; +CTR/RPM in Taobao search A/B.</a:t>
            </a:r>
            <a:endParaRPr lang="en-US" sz="960" dirty="0"/>
          </a:p>
        </p:txBody>
      </p:sp>
      <p:sp>
        <p:nvSpPr>
          <p:cNvPr id="25" name="Shape 22"/>
          <p:cNvSpPr/>
          <p:nvPr/>
        </p:nvSpPr>
        <p:spPr>
          <a:xfrm>
            <a:off x="7295083" y="2331720"/>
            <a:ext cx="2053742" cy="1965960"/>
          </a:xfrm>
          <a:prstGeom prst="roundRect">
            <a:avLst>
              <a:gd name="adj" fmla="val 5581"/>
            </a:avLst>
          </a:prstGeom>
          <a:solidFill>
            <a:srgbClr val="ECFEFF"/>
          </a:solidFill>
          <a:ln/>
          <a:effectLst>
            <a:outerShdw sx="100000" sy="100000" kx="0" ky="0" algn="bl" rotWithShape="0" blurRad="127000" dist="50800" dir="5400000">
              <a:srgbClr val="8A93A6">
                <a:alpha val="13000"/>
              </a:srgbClr>
            </a:outerShdw>
          </a:effectLst>
        </p:spPr>
      </p:sp>
      <p:sp>
        <p:nvSpPr>
          <p:cNvPr id="26" name="Shape 23"/>
          <p:cNvSpPr/>
          <p:nvPr/>
        </p:nvSpPr>
        <p:spPr>
          <a:xfrm>
            <a:off x="7459675" y="2496312"/>
            <a:ext cx="1724558" cy="365760"/>
          </a:xfrm>
          <a:prstGeom prst="roundRect">
            <a:avLst>
              <a:gd name="adj" fmla="val 50000"/>
            </a:avLst>
          </a:prstGeom>
          <a:solidFill>
            <a:srgbClr val="0E7490"/>
          </a:solidFill>
          <a:ln/>
        </p:spPr>
      </p:sp>
      <p:sp>
        <p:nvSpPr>
          <p:cNvPr id="27" name="Text 24"/>
          <p:cNvSpPr/>
          <p:nvPr/>
        </p:nvSpPr>
        <p:spPr>
          <a:xfrm>
            <a:off x="7459675"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2025</a:t>
            </a:r>
            <a:endParaRPr lang="en-US" sz="1200" dirty="0"/>
          </a:p>
        </p:txBody>
      </p:sp>
      <p:sp>
        <p:nvSpPr>
          <p:cNvPr id="28" name="Text 25"/>
          <p:cNvSpPr/>
          <p:nvPr/>
        </p:nvSpPr>
        <p:spPr>
          <a:xfrm>
            <a:off x="7432243"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URM universal retriever</a:t>
            </a:r>
            <a:endParaRPr lang="en-US" sz="1200" dirty="0"/>
          </a:p>
        </p:txBody>
      </p:sp>
      <p:sp>
        <p:nvSpPr>
          <p:cNvPr id="29" name="Text 26"/>
          <p:cNvSpPr/>
          <p:nvPr/>
        </p:nvSpPr>
        <p:spPr>
          <a:xfrm>
            <a:off x="7441387"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LLM as universal retriever; tens-of-ms latency.</a:t>
            </a:r>
            <a:endParaRPr lang="en-US" sz="960" dirty="0"/>
          </a:p>
        </p:txBody>
      </p:sp>
      <p:sp>
        <p:nvSpPr>
          <p:cNvPr id="30" name="Shape 27"/>
          <p:cNvSpPr/>
          <p:nvPr/>
        </p:nvSpPr>
        <p:spPr>
          <a:xfrm>
            <a:off x="9513418" y="2331720"/>
            <a:ext cx="2053742" cy="1965960"/>
          </a:xfrm>
          <a:prstGeom prst="roundRect">
            <a:avLst>
              <a:gd name="adj" fmla="val 5581"/>
            </a:avLst>
          </a:prstGeom>
          <a:solidFill>
            <a:srgbClr val="ECFEFF"/>
          </a:solidFill>
          <a:ln/>
          <a:effectLst>
            <a:outerShdw sx="100000" sy="100000" kx="0" ky="0" algn="bl" rotWithShape="0" blurRad="127000" dist="50800" dir="5400000">
              <a:srgbClr val="8A93A6">
                <a:alpha val="13000"/>
              </a:srgbClr>
            </a:outerShdw>
          </a:effectLst>
        </p:spPr>
      </p:sp>
      <p:sp>
        <p:nvSpPr>
          <p:cNvPr id="31" name="Shape 28"/>
          <p:cNvSpPr/>
          <p:nvPr/>
        </p:nvSpPr>
        <p:spPr>
          <a:xfrm>
            <a:off x="9678010" y="2496312"/>
            <a:ext cx="1724558" cy="365760"/>
          </a:xfrm>
          <a:prstGeom prst="roundRect">
            <a:avLst>
              <a:gd name="adj" fmla="val 50000"/>
            </a:avLst>
          </a:prstGeom>
          <a:solidFill>
            <a:srgbClr val="0E7490"/>
          </a:solidFill>
          <a:ln/>
        </p:spPr>
      </p:sp>
      <p:sp>
        <p:nvSpPr>
          <p:cNvPr id="32" name="Text 29"/>
          <p:cNvSpPr/>
          <p:nvPr/>
        </p:nvSpPr>
        <p:spPr>
          <a:xfrm>
            <a:off x="9678010"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2025</a:t>
            </a:r>
            <a:endParaRPr lang="en-US" sz="1200" dirty="0"/>
          </a:p>
        </p:txBody>
      </p:sp>
      <p:sp>
        <p:nvSpPr>
          <p:cNvPr id="33" name="Text 30"/>
          <p:cNvSpPr/>
          <p:nvPr/>
        </p:nvSpPr>
        <p:spPr>
          <a:xfrm>
            <a:off x="9650578"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RecGPT</a:t>
            </a:r>
            <a:endParaRPr lang="en-US" sz="1200" dirty="0"/>
          </a:p>
        </p:txBody>
      </p:sp>
      <p:sp>
        <p:nvSpPr>
          <p:cNvPr id="34" name="Text 31"/>
          <p:cNvSpPr/>
          <p:nvPr/>
        </p:nvSpPr>
        <p:spPr>
          <a:xfrm>
            <a:off x="9659722"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Intent-centric LLM framework; reasoning over log-fitting.</a:t>
            </a:r>
            <a:endParaRPr lang="en-US" sz="960" dirty="0"/>
          </a:p>
        </p:txBody>
      </p:sp>
      <p:sp>
        <p:nvSpPr>
          <p:cNvPr id="35" name="Text 32"/>
          <p:cNvSpPr/>
          <p:nvPr/>
        </p:nvSpPr>
        <p:spPr>
          <a:xfrm>
            <a:off x="640080" y="4599432"/>
            <a:ext cx="2103120" cy="822960"/>
          </a:xfrm>
          <a:prstGeom prst="rect">
            <a:avLst/>
          </a:prstGeom>
          <a:noFill/>
          <a:ln/>
        </p:spPr>
        <p:txBody>
          <a:bodyPr wrap="square" lIns="0" tIns="0" rIns="0" bIns="0" rtlCol="0" anchor="ctr"/>
          <a:lstStyle/>
          <a:p>
            <a:pPr indent="0" marL="0">
              <a:buNone/>
            </a:pPr>
            <a:r>
              <a:rPr lang="en-US" sz="1300" b="1" dirty="0">
                <a:solidFill>
                  <a:srgbClr val="0E7490"/>
                </a:solidFill>
                <a:latin typeface="Arial" pitchFamily="34" charset="0"/>
                <a:ea typeface="Arial" pitchFamily="34" charset="-122"/>
                <a:cs typeface="Arial" pitchFamily="34" charset="-120"/>
              </a:rPr>
              <a:t>GPT-era impact</a:t>
            </a:r>
            <a:endParaRPr lang="en-US" sz="1300" dirty="0"/>
          </a:p>
        </p:txBody>
      </p:sp>
      <p:sp>
        <p:nvSpPr>
          <p:cNvPr id="36" name="Shape 33"/>
          <p:cNvSpPr/>
          <p:nvPr/>
        </p:nvSpPr>
        <p:spPr>
          <a:xfrm>
            <a:off x="2743200" y="4617720"/>
            <a:ext cx="4320540" cy="822960"/>
          </a:xfrm>
          <a:prstGeom prst="roundRect">
            <a:avLst>
              <a:gd name="adj" fmla="val 11111"/>
            </a:avLst>
          </a:prstGeom>
          <a:solidFill>
            <a:srgbClr val="FFFFFF"/>
          </a:solidFill>
          <a:ln/>
          <a:effectLst>
            <a:outerShdw sx="100000" sy="100000" kx="0" ky="0" algn="bl" rotWithShape="0" blurRad="127000" dist="50800" dir="5400000">
              <a:srgbClr val="8A93A6">
                <a:alpha val="13000"/>
              </a:srgbClr>
            </a:outerShdw>
          </a:effectLst>
        </p:spPr>
      </p:sp>
      <p:sp>
        <p:nvSpPr>
          <p:cNvPr id="37" name="Shape 34"/>
          <p:cNvSpPr/>
          <p:nvPr/>
        </p:nvSpPr>
        <p:spPr>
          <a:xfrm>
            <a:off x="2743200" y="4617720"/>
            <a:ext cx="4320540" cy="822960"/>
          </a:xfrm>
          <a:prstGeom prst="roundRect">
            <a:avLst>
              <a:gd name="adj" fmla="val 11111"/>
            </a:avLst>
          </a:prstGeom>
          <a:solidFill>
            <a:srgbClr val="FFFFFF">
              <a:alpha val="0"/>
            </a:srgbClr>
          </a:solidFill>
          <a:ln w="12700">
            <a:solidFill>
              <a:srgbClr val="DCE3EC"/>
            </a:solidFill>
            <a:prstDash val="solid"/>
          </a:ln>
        </p:spPr>
      </p:sp>
      <p:sp>
        <p:nvSpPr>
          <p:cNvPr id="38" name="Text 35"/>
          <p:cNvSpPr/>
          <p:nvPr/>
        </p:nvSpPr>
        <p:spPr>
          <a:xfrm>
            <a:off x="2852928" y="4709160"/>
            <a:ext cx="4101084" cy="365760"/>
          </a:xfrm>
          <a:prstGeom prst="rect">
            <a:avLst/>
          </a:prstGeom>
          <a:noFill/>
          <a:ln/>
        </p:spPr>
        <p:txBody>
          <a:bodyPr wrap="square" lIns="0" tIns="0" rIns="0" bIns="0" rtlCol="0" anchor="ctr"/>
          <a:lstStyle/>
          <a:p>
            <a:pPr algn="ctr" indent="0" marL="0">
              <a:buNone/>
            </a:pPr>
            <a:r>
              <a:rPr lang="en-US" sz="1600" b="1" dirty="0">
                <a:solidFill>
                  <a:srgbClr val="0E7490"/>
                </a:solidFill>
                <a:latin typeface="Arial" pitchFamily="34" charset="0"/>
                <a:ea typeface="Arial" pitchFamily="34" charset="-122"/>
                <a:cs typeface="Arial" pitchFamily="34" charset="-120"/>
              </a:rPr>
              <a:t>+2.9% / +1.2%</a:t>
            </a:r>
            <a:endParaRPr lang="en-US" sz="1600" dirty="0"/>
          </a:p>
        </p:txBody>
      </p:sp>
      <p:sp>
        <p:nvSpPr>
          <p:cNvPr id="39" name="Text 36"/>
          <p:cNvSpPr/>
          <p:nvPr/>
        </p:nvSpPr>
        <p:spPr>
          <a:xfrm>
            <a:off x="2852928" y="5074920"/>
            <a:ext cx="4101084" cy="329184"/>
          </a:xfrm>
          <a:prstGeom prst="rect">
            <a:avLst/>
          </a:prstGeom>
          <a:noFill/>
          <a:ln/>
        </p:spPr>
        <p:txBody>
          <a:bodyPr wrap="square" lIns="0" tIns="0" rIns="0" bIns="0" rtlCol="0" anchor="ctr"/>
          <a:lstStyle/>
          <a:p>
            <a:pPr algn="ctr" indent="0" marL="0">
              <a:buNone/>
            </a:pPr>
            <a:r>
              <a:rPr lang="en-US" sz="880" dirty="0">
                <a:solidFill>
                  <a:srgbClr val="64748B"/>
                </a:solidFill>
                <a:latin typeface="Arial" pitchFamily="34" charset="0"/>
                <a:ea typeface="Arial" pitchFamily="34" charset="-122"/>
                <a:cs typeface="Arial" pitchFamily="34" charset="-120"/>
              </a:rPr>
              <a:t>CTR / RPM · Taobao search A/B — LUM (2025)</a:t>
            </a:r>
            <a:endParaRPr lang="en-US" sz="880" dirty="0"/>
          </a:p>
        </p:txBody>
      </p:sp>
      <p:sp>
        <p:nvSpPr>
          <p:cNvPr id="40" name="Shape 37"/>
          <p:cNvSpPr/>
          <p:nvPr/>
        </p:nvSpPr>
        <p:spPr>
          <a:xfrm>
            <a:off x="7246620" y="4617720"/>
            <a:ext cx="4320540" cy="822960"/>
          </a:xfrm>
          <a:prstGeom prst="roundRect">
            <a:avLst>
              <a:gd name="adj" fmla="val 11111"/>
            </a:avLst>
          </a:prstGeom>
          <a:solidFill>
            <a:srgbClr val="FFFFFF"/>
          </a:solidFill>
          <a:ln/>
          <a:effectLst>
            <a:outerShdw sx="100000" sy="100000" kx="0" ky="0" algn="bl" rotWithShape="0" blurRad="127000" dist="50800" dir="5400000">
              <a:srgbClr val="8A93A6">
                <a:alpha val="13000"/>
              </a:srgbClr>
            </a:outerShdw>
          </a:effectLst>
        </p:spPr>
      </p:sp>
      <p:sp>
        <p:nvSpPr>
          <p:cNvPr id="41" name="Shape 38"/>
          <p:cNvSpPr/>
          <p:nvPr/>
        </p:nvSpPr>
        <p:spPr>
          <a:xfrm>
            <a:off x="7246620" y="4617720"/>
            <a:ext cx="4320540" cy="822960"/>
          </a:xfrm>
          <a:prstGeom prst="roundRect">
            <a:avLst>
              <a:gd name="adj" fmla="val 11111"/>
            </a:avLst>
          </a:prstGeom>
          <a:solidFill>
            <a:srgbClr val="FFFFFF">
              <a:alpha val="0"/>
            </a:srgbClr>
          </a:solidFill>
          <a:ln w="12700">
            <a:solidFill>
              <a:srgbClr val="DCE3EC"/>
            </a:solidFill>
            <a:prstDash val="solid"/>
          </a:ln>
        </p:spPr>
      </p:sp>
      <p:sp>
        <p:nvSpPr>
          <p:cNvPr id="42" name="Text 39"/>
          <p:cNvSpPr/>
          <p:nvPr/>
        </p:nvSpPr>
        <p:spPr>
          <a:xfrm>
            <a:off x="7356348" y="4709160"/>
            <a:ext cx="4101084" cy="365760"/>
          </a:xfrm>
          <a:prstGeom prst="rect">
            <a:avLst/>
          </a:prstGeom>
          <a:noFill/>
          <a:ln/>
        </p:spPr>
        <p:txBody>
          <a:bodyPr wrap="square" lIns="0" tIns="0" rIns="0" bIns="0" rtlCol="0" anchor="ctr"/>
          <a:lstStyle/>
          <a:p>
            <a:pPr algn="ctr" indent="0" marL="0">
              <a:buNone/>
            </a:pPr>
            <a:r>
              <a:rPr lang="en-US" sz="1600" b="1" dirty="0">
                <a:solidFill>
                  <a:srgbClr val="0E7490"/>
                </a:solidFill>
                <a:latin typeface="Arial" pitchFamily="34" charset="0"/>
                <a:ea typeface="Arial" pitchFamily="34" charset="-122"/>
                <a:cs typeface="Arial" pitchFamily="34" charset="-120"/>
              </a:rPr>
              <a:t>18.8% → 46.2%</a:t>
            </a:r>
            <a:endParaRPr lang="en-US" sz="1600" dirty="0"/>
          </a:p>
        </p:txBody>
      </p:sp>
      <p:sp>
        <p:nvSpPr>
          <p:cNvPr id="43" name="Text 40"/>
          <p:cNvSpPr/>
          <p:nvPr/>
        </p:nvSpPr>
        <p:spPr>
          <a:xfrm>
            <a:off x="7356348" y="5074920"/>
            <a:ext cx="4101084" cy="329184"/>
          </a:xfrm>
          <a:prstGeom prst="rect">
            <a:avLst/>
          </a:prstGeom>
          <a:noFill/>
          <a:ln/>
        </p:spPr>
        <p:txBody>
          <a:bodyPr wrap="square" lIns="0" tIns="0" rIns="0" bIns="0" rtlCol="0" anchor="ctr"/>
          <a:lstStyle/>
          <a:p>
            <a:pPr algn="ctr" indent="0" marL="0">
              <a:buNone/>
            </a:pPr>
            <a:r>
              <a:rPr lang="en-US" sz="880" dirty="0">
                <a:solidFill>
                  <a:srgbClr val="64748B"/>
                </a:solidFill>
                <a:latin typeface="Arial" pitchFamily="34" charset="0"/>
                <a:ea typeface="Arial" pitchFamily="34" charset="-122"/>
                <a:cs typeface="Arial" pitchFamily="34" charset="-120"/>
              </a:rPr>
              <a:t>new-category share · serendipity retrieval — URM (2025)</a:t>
            </a:r>
            <a:endParaRPr lang="en-US" sz="880" dirty="0"/>
          </a:p>
        </p:txBody>
      </p:sp>
      <p:sp>
        <p:nvSpPr>
          <p:cNvPr id="44" name="Text 41"/>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Sources: Wang et al., KDD 2018 (EGES); Zhou et al., KDD 2018 (DIN); Yan et al., 2025 (LUM); Jiang et al., 2025 (URM, arXiv:2502.03041); Yi et al., 2025 (RecGPT).</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APPENDIX · PRODUCTION SYSTEMS</a:t>
            </a:r>
            <a:endParaRPr lang="en-US" sz="1200" dirty="0"/>
          </a:p>
        </p:txBody>
      </p:sp>
      <p:sp>
        <p:nvSpPr>
          <p:cNvPr id="3" name="Text 1"/>
          <p:cNvSpPr/>
          <p:nvPr/>
        </p:nvSpPr>
        <p:spPr>
          <a:xfrm>
            <a:off x="640080" y="630936"/>
            <a:ext cx="8778240" cy="548640"/>
          </a:xfrm>
          <a:prstGeom prst="rect">
            <a:avLst/>
          </a:prstGeom>
          <a:noFill/>
          <a:ln/>
        </p:spPr>
        <p:txBody>
          <a:bodyPr wrap="square" lIns="0" tIns="0" rIns="0" bIns="0" rtlCol="0" anchor="ctr"/>
          <a:lstStyle/>
          <a:p>
            <a:pPr indent="0" marL="0">
              <a:buNone/>
            </a:pPr>
            <a:r>
              <a:rPr lang="en-US" sz="2500" b="1" dirty="0">
                <a:solidFill>
                  <a:srgbClr val="0F172A"/>
                </a:solidFill>
                <a:latin typeface="Arial" pitchFamily="34" charset="0"/>
                <a:ea typeface="Arial" pitchFamily="34" charset="-122"/>
                <a:cs typeface="Arial" pitchFamily="34" charset="-120"/>
              </a:rPr>
              <a:t>JD.com (Jingdong) — recommendation system history</a:t>
            </a:r>
            <a:endParaRPr lang="en-US" sz="2500" dirty="0"/>
          </a:p>
        </p:txBody>
      </p:sp>
      <p:sp>
        <p:nvSpPr>
          <p:cNvPr id="4" name="Shape 2"/>
          <p:cNvSpPr/>
          <p:nvPr/>
        </p:nvSpPr>
        <p:spPr>
          <a:xfrm>
            <a:off x="10698480" y="566928"/>
            <a:ext cx="777240" cy="777240"/>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5" name="Image 0" descr="preencoded.png">    </p:cNvPr>
          <p:cNvPicPr>
            <a:picLocks noChangeAspect="1"/>
          </p:cNvPicPr>
          <p:nvPr/>
        </p:nvPicPr>
        <p:blipFill>
          <a:blip r:embed="rId1"/>
          <a:stretch>
            <a:fillRect/>
          </a:stretch>
        </p:blipFill>
        <p:spPr>
          <a:xfrm>
            <a:off x="10908335" y="776783"/>
            <a:ext cx="357530" cy="357530"/>
          </a:xfrm>
          <a:prstGeom prst="rect">
            <a:avLst/>
          </a:prstGeom>
        </p:spPr>
      </p:pic>
      <p:sp>
        <p:nvSpPr>
          <p:cNvPr id="6" name="Text 3"/>
          <p:cNvSpPr/>
          <p:nvPr/>
        </p:nvSpPr>
        <p:spPr>
          <a:xfrm>
            <a:off x="640080" y="1298448"/>
            <a:ext cx="10927080" cy="292608"/>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From deep retrieval to generative CTR and generative retrieval in production.</a:t>
            </a:r>
            <a:endParaRPr lang="en-US" sz="1300" dirty="0"/>
          </a:p>
        </p:txBody>
      </p:sp>
      <p:sp>
        <p:nvSpPr>
          <p:cNvPr id="7" name="Text 4"/>
          <p:cNvSpPr/>
          <p:nvPr/>
        </p:nvSpPr>
        <p:spPr>
          <a:xfrm>
            <a:off x="640080" y="1947672"/>
            <a:ext cx="4272077" cy="274320"/>
          </a:xfrm>
          <a:prstGeom prst="rect">
            <a:avLst/>
          </a:prstGeom>
          <a:noFill/>
          <a:ln/>
        </p:spPr>
        <p:txBody>
          <a:bodyPr wrap="square" lIns="0" tIns="0" rIns="0" bIns="0" rtlCol="0" anchor="ctr"/>
          <a:lstStyle/>
          <a:p>
            <a:pPr algn="ctr" indent="0" marL="0">
              <a:buNone/>
            </a:pPr>
            <a:r>
              <a:rPr lang="en-US" sz="1100" b="1" spc="100" kern="0" dirty="0">
                <a:solidFill>
                  <a:srgbClr val="64748B"/>
                </a:solidFill>
                <a:latin typeface="Arial" pitchFamily="34" charset="0"/>
                <a:ea typeface="Arial" pitchFamily="34" charset="-122"/>
                <a:cs typeface="Arial" pitchFamily="34" charset="-120"/>
              </a:rPr>
              <a:t>PRE-GPT ERA</a:t>
            </a:r>
            <a:endParaRPr lang="en-US" sz="1100" dirty="0"/>
          </a:p>
        </p:txBody>
      </p:sp>
      <p:sp>
        <p:nvSpPr>
          <p:cNvPr id="8" name="Text 5"/>
          <p:cNvSpPr/>
          <p:nvPr/>
        </p:nvSpPr>
        <p:spPr>
          <a:xfrm>
            <a:off x="5076749" y="1947672"/>
            <a:ext cx="6490411" cy="274320"/>
          </a:xfrm>
          <a:prstGeom prst="rect">
            <a:avLst/>
          </a:prstGeom>
          <a:noFill/>
          <a:ln/>
        </p:spPr>
        <p:txBody>
          <a:bodyPr wrap="square" lIns="0" tIns="0" rIns="0" bIns="0" rtlCol="0" anchor="ctr"/>
          <a:lstStyle/>
          <a:p>
            <a:pPr algn="ctr" indent="0" marL="0">
              <a:buNone/>
            </a:pPr>
            <a:r>
              <a:rPr lang="en-US" sz="1100" b="1" spc="100" kern="0" dirty="0">
                <a:solidFill>
                  <a:srgbClr val="0E7490"/>
                </a:solidFill>
                <a:latin typeface="Arial" pitchFamily="34" charset="0"/>
                <a:ea typeface="Arial" pitchFamily="34" charset="-122"/>
                <a:cs typeface="Arial" pitchFamily="34" charset="-120"/>
              </a:rPr>
              <a:t>GPT / LLM ERA</a:t>
            </a:r>
            <a:endParaRPr lang="en-US" sz="1100" dirty="0"/>
          </a:p>
        </p:txBody>
      </p:sp>
      <p:sp>
        <p:nvSpPr>
          <p:cNvPr id="9" name="Shape 6"/>
          <p:cNvSpPr/>
          <p:nvPr/>
        </p:nvSpPr>
        <p:spPr>
          <a:xfrm>
            <a:off x="4994453" y="1874520"/>
            <a:ext cx="0" cy="2606040"/>
          </a:xfrm>
          <a:prstGeom prst="line">
            <a:avLst/>
          </a:prstGeom>
          <a:noFill/>
          <a:ln w="15875">
            <a:solidFill>
              <a:srgbClr val="0E7490"/>
            </a:solidFill>
            <a:prstDash val="dash"/>
          </a:ln>
        </p:spPr>
      </p:sp>
      <p:sp>
        <p:nvSpPr>
          <p:cNvPr id="10" name="Shape 7"/>
          <p:cNvSpPr/>
          <p:nvPr/>
        </p:nvSpPr>
        <p:spPr>
          <a:xfrm>
            <a:off x="640080" y="2331720"/>
            <a:ext cx="2053742" cy="1965960"/>
          </a:xfrm>
          <a:prstGeom prst="roundRect">
            <a:avLst>
              <a:gd name="adj" fmla="val 5581"/>
            </a:avLst>
          </a:prstGeom>
          <a:solidFill>
            <a:srgbClr val="F1F5F9"/>
          </a:solidFill>
          <a:ln/>
          <a:effectLst>
            <a:outerShdw sx="100000" sy="100000" kx="0" ky="0" algn="bl" rotWithShape="0" blurRad="127000" dist="50800" dir="5400000">
              <a:srgbClr val="8A93A6">
                <a:alpha val="13000"/>
              </a:srgbClr>
            </a:outerShdw>
          </a:effectLst>
        </p:spPr>
      </p:sp>
      <p:sp>
        <p:nvSpPr>
          <p:cNvPr id="11" name="Shape 8"/>
          <p:cNvSpPr/>
          <p:nvPr/>
        </p:nvSpPr>
        <p:spPr>
          <a:xfrm>
            <a:off x="804672" y="2496312"/>
            <a:ext cx="1724558" cy="365760"/>
          </a:xfrm>
          <a:prstGeom prst="roundRect">
            <a:avLst>
              <a:gd name="adj" fmla="val 50000"/>
            </a:avLst>
          </a:prstGeom>
          <a:solidFill>
            <a:srgbClr val="1E293B"/>
          </a:solidFill>
          <a:ln/>
        </p:spPr>
      </p:sp>
      <p:sp>
        <p:nvSpPr>
          <p:cNvPr id="12" name="Text 9"/>
          <p:cNvSpPr/>
          <p:nvPr/>
        </p:nvSpPr>
        <p:spPr>
          <a:xfrm>
            <a:off x="804672"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2017</a:t>
            </a:r>
            <a:endParaRPr lang="en-US" sz="1200" dirty="0"/>
          </a:p>
        </p:txBody>
      </p:sp>
      <p:sp>
        <p:nvSpPr>
          <p:cNvPr id="13" name="Text 10"/>
          <p:cNvSpPr/>
          <p:nvPr/>
        </p:nvSpPr>
        <p:spPr>
          <a:xfrm>
            <a:off x="777240"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Telepath</a:t>
            </a:r>
            <a:endParaRPr lang="en-US" sz="1200" dirty="0"/>
          </a:p>
        </p:txBody>
      </p:sp>
      <p:sp>
        <p:nvSpPr>
          <p:cNvPr id="14" name="Text 11"/>
          <p:cNvSpPr/>
          <p:nvPr/>
        </p:nvSpPr>
        <p:spPr>
          <a:xfrm>
            <a:off x="786384"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Deep-learning, vision-aware recommender (2017).</a:t>
            </a:r>
            <a:endParaRPr lang="en-US" sz="960" dirty="0"/>
          </a:p>
        </p:txBody>
      </p:sp>
      <p:sp>
        <p:nvSpPr>
          <p:cNvPr id="15" name="Shape 12"/>
          <p:cNvSpPr/>
          <p:nvPr/>
        </p:nvSpPr>
        <p:spPr>
          <a:xfrm>
            <a:off x="2858414" y="2331720"/>
            <a:ext cx="2053742" cy="1965960"/>
          </a:xfrm>
          <a:prstGeom prst="roundRect">
            <a:avLst>
              <a:gd name="adj" fmla="val 5581"/>
            </a:avLst>
          </a:prstGeom>
          <a:solidFill>
            <a:srgbClr val="F1F5F9"/>
          </a:solidFill>
          <a:ln/>
          <a:effectLst>
            <a:outerShdw sx="100000" sy="100000" kx="0" ky="0" algn="bl" rotWithShape="0" blurRad="127000" dist="50800" dir="5400000">
              <a:srgbClr val="8A93A6">
                <a:alpha val="13000"/>
              </a:srgbClr>
            </a:outerShdw>
          </a:effectLst>
        </p:spPr>
      </p:sp>
      <p:sp>
        <p:nvSpPr>
          <p:cNvPr id="16" name="Shape 13"/>
          <p:cNvSpPr/>
          <p:nvPr/>
        </p:nvSpPr>
        <p:spPr>
          <a:xfrm>
            <a:off x="3023006" y="2496312"/>
            <a:ext cx="1724558" cy="365760"/>
          </a:xfrm>
          <a:prstGeom prst="roundRect">
            <a:avLst>
              <a:gd name="adj" fmla="val 50000"/>
            </a:avLst>
          </a:prstGeom>
          <a:solidFill>
            <a:srgbClr val="1E293B"/>
          </a:solidFill>
          <a:ln/>
        </p:spPr>
      </p:sp>
      <p:sp>
        <p:nvSpPr>
          <p:cNvPr id="17" name="Text 14"/>
          <p:cNvSpPr/>
          <p:nvPr/>
        </p:nvSpPr>
        <p:spPr>
          <a:xfrm>
            <a:off x="3023006"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2021</a:t>
            </a:r>
            <a:endParaRPr lang="en-US" sz="1200" dirty="0"/>
          </a:p>
        </p:txBody>
      </p:sp>
      <p:sp>
        <p:nvSpPr>
          <p:cNvPr id="18" name="Text 15"/>
          <p:cNvSpPr/>
          <p:nvPr/>
        </p:nvSpPr>
        <p:spPr>
          <a:xfrm>
            <a:off x="2995574"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Semantic retrieval + re-rank</a:t>
            </a:r>
            <a:endParaRPr lang="en-US" sz="1200" dirty="0"/>
          </a:p>
        </p:txBody>
      </p:sp>
      <p:sp>
        <p:nvSpPr>
          <p:cNvPr id="19" name="Text 16"/>
          <p:cNvSpPr/>
          <p:nvPr/>
        </p:nvSpPr>
        <p:spPr>
          <a:xfrm>
            <a:off x="3004718"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Deep semantic retrieval + pairwise re-ranking (2021).</a:t>
            </a:r>
            <a:endParaRPr lang="en-US" sz="960" dirty="0"/>
          </a:p>
        </p:txBody>
      </p:sp>
      <p:sp>
        <p:nvSpPr>
          <p:cNvPr id="20" name="Shape 17"/>
          <p:cNvSpPr/>
          <p:nvPr/>
        </p:nvSpPr>
        <p:spPr>
          <a:xfrm>
            <a:off x="5076749" y="2331720"/>
            <a:ext cx="2053742" cy="1965960"/>
          </a:xfrm>
          <a:prstGeom prst="roundRect">
            <a:avLst>
              <a:gd name="adj" fmla="val 5581"/>
            </a:avLst>
          </a:prstGeom>
          <a:solidFill>
            <a:srgbClr val="ECFEFF"/>
          </a:solidFill>
          <a:ln/>
          <a:effectLst>
            <a:outerShdw sx="100000" sy="100000" kx="0" ky="0" algn="bl" rotWithShape="0" blurRad="127000" dist="50800" dir="5400000">
              <a:srgbClr val="8A93A6">
                <a:alpha val="13000"/>
              </a:srgbClr>
            </a:outerShdw>
          </a:effectLst>
        </p:spPr>
      </p:sp>
      <p:sp>
        <p:nvSpPr>
          <p:cNvPr id="21" name="Shape 18"/>
          <p:cNvSpPr/>
          <p:nvPr/>
        </p:nvSpPr>
        <p:spPr>
          <a:xfrm>
            <a:off x="5241341" y="2496312"/>
            <a:ext cx="1724558" cy="365760"/>
          </a:xfrm>
          <a:prstGeom prst="roundRect">
            <a:avLst>
              <a:gd name="adj" fmla="val 50000"/>
            </a:avLst>
          </a:prstGeom>
          <a:solidFill>
            <a:srgbClr val="0E7490"/>
          </a:solidFill>
          <a:ln/>
        </p:spPr>
      </p:sp>
      <p:sp>
        <p:nvSpPr>
          <p:cNvPr id="22" name="Text 19"/>
          <p:cNvSpPr/>
          <p:nvPr/>
        </p:nvSpPr>
        <p:spPr>
          <a:xfrm>
            <a:off x="5241341"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2025</a:t>
            </a:r>
            <a:endParaRPr lang="en-US" sz="1200" dirty="0"/>
          </a:p>
        </p:txBody>
      </p:sp>
      <p:sp>
        <p:nvSpPr>
          <p:cNvPr id="23" name="Text 20"/>
          <p:cNvSpPr/>
          <p:nvPr/>
        </p:nvSpPr>
        <p:spPr>
          <a:xfrm>
            <a:off x="5213909"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GenCTR</a:t>
            </a:r>
            <a:endParaRPr lang="en-US" sz="1200" dirty="0"/>
          </a:p>
        </p:txBody>
      </p:sp>
      <p:sp>
        <p:nvSpPr>
          <p:cNvPr id="24" name="Text 21"/>
          <p:cNvSpPr/>
          <p:nvPr/>
        </p:nvSpPr>
        <p:spPr>
          <a:xfrm>
            <a:off x="5223053"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Generative pretraining → discriminative CTR transfer.</a:t>
            </a:r>
            <a:endParaRPr lang="en-US" sz="960" dirty="0"/>
          </a:p>
        </p:txBody>
      </p:sp>
      <p:sp>
        <p:nvSpPr>
          <p:cNvPr id="25" name="Shape 22"/>
          <p:cNvSpPr/>
          <p:nvPr/>
        </p:nvSpPr>
        <p:spPr>
          <a:xfrm>
            <a:off x="7295083" y="2331720"/>
            <a:ext cx="2053742" cy="1965960"/>
          </a:xfrm>
          <a:prstGeom prst="roundRect">
            <a:avLst>
              <a:gd name="adj" fmla="val 5581"/>
            </a:avLst>
          </a:prstGeom>
          <a:solidFill>
            <a:srgbClr val="ECFEFF"/>
          </a:solidFill>
          <a:ln/>
          <a:effectLst>
            <a:outerShdw sx="100000" sy="100000" kx="0" ky="0" algn="bl" rotWithShape="0" blurRad="127000" dist="50800" dir="5400000">
              <a:srgbClr val="8A93A6">
                <a:alpha val="13000"/>
              </a:srgbClr>
            </a:outerShdw>
          </a:effectLst>
        </p:spPr>
      </p:sp>
      <p:sp>
        <p:nvSpPr>
          <p:cNvPr id="26" name="Shape 23"/>
          <p:cNvSpPr/>
          <p:nvPr/>
        </p:nvSpPr>
        <p:spPr>
          <a:xfrm>
            <a:off x="7459675" y="2496312"/>
            <a:ext cx="1724558" cy="365760"/>
          </a:xfrm>
          <a:prstGeom prst="roundRect">
            <a:avLst>
              <a:gd name="adj" fmla="val 50000"/>
            </a:avLst>
          </a:prstGeom>
          <a:solidFill>
            <a:srgbClr val="0E7490"/>
          </a:solidFill>
          <a:ln/>
        </p:spPr>
      </p:sp>
      <p:sp>
        <p:nvSpPr>
          <p:cNvPr id="27" name="Text 24"/>
          <p:cNvSpPr/>
          <p:nvPr/>
        </p:nvSpPr>
        <p:spPr>
          <a:xfrm>
            <a:off x="7459675"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2025</a:t>
            </a:r>
            <a:endParaRPr lang="en-US" sz="1200" dirty="0"/>
          </a:p>
        </p:txBody>
      </p:sp>
      <p:sp>
        <p:nvSpPr>
          <p:cNvPr id="28" name="Text 25"/>
          <p:cNvSpPr/>
          <p:nvPr/>
        </p:nvSpPr>
        <p:spPr>
          <a:xfrm>
            <a:off x="7432243"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GRAM</a:t>
            </a:r>
            <a:endParaRPr lang="en-US" sz="1200" dirty="0"/>
          </a:p>
        </p:txBody>
      </p:sp>
      <p:sp>
        <p:nvSpPr>
          <p:cNvPr id="29" name="Text 26"/>
          <p:cNvSpPr/>
          <p:nvPr/>
        </p:nvSpPr>
        <p:spPr>
          <a:xfrm>
            <a:off x="7441387"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Generative retrieval &amp; alignment for e-commerce.</a:t>
            </a:r>
            <a:endParaRPr lang="en-US" sz="960" dirty="0"/>
          </a:p>
        </p:txBody>
      </p:sp>
      <p:sp>
        <p:nvSpPr>
          <p:cNvPr id="30" name="Shape 27"/>
          <p:cNvSpPr/>
          <p:nvPr/>
        </p:nvSpPr>
        <p:spPr>
          <a:xfrm>
            <a:off x="9513418" y="2331720"/>
            <a:ext cx="2053742" cy="1965960"/>
          </a:xfrm>
          <a:prstGeom prst="roundRect">
            <a:avLst>
              <a:gd name="adj" fmla="val 5581"/>
            </a:avLst>
          </a:prstGeom>
          <a:solidFill>
            <a:srgbClr val="ECFEFF"/>
          </a:solidFill>
          <a:ln/>
          <a:effectLst>
            <a:outerShdw sx="100000" sy="100000" kx="0" ky="0" algn="bl" rotWithShape="0" blurRad="127000" dist="50800" dir="5400000">
              <a:srgbClr val="8A93A6">
                <a:alpha val="13000"/>
              </a:srgbClr>
            </a:outerShdw>
          </a:effectLst>
        </p:spPr>
      </p:sp>
      <p:sp>
        <p:nvSpPr>
          <p:cNvPr id="31" name="Shape 28"/>
          <p:cNvSpPr/>
          <p:nvPr/>
        </p:nvSpPr>
        <p:spPr>
          <a:xfrm>
            <a:off x="9678010" y="2496312"/>
            <a:ext cx="1724558" cy="365760"/>
          </a:xfrm>
          <a:prstGeom prst="roundRect">
            <a:avLst>
              <a:gd name="adj" fmla="val 50000"/>
            </a:avLst>
          </a:prstGeom>
          <a:solidFill>
            <a:srgbClr val="0E7490"/>
          </a:solidFill>
          <a:ln/>
        </p:spPr>
      </p:sp>
      <p:sp>
        <p:nvSpPr>
          <p:cNvPr id="32" name="Text 29"/>
          <p:cNvSpPr/>
          <p:nvPr/>
        </p:nvSpPr>
        <p:spPr>
          <a:xfrm>
            <a:off x="9678010" y="2496312"/>
            <a:ext cx="1724558"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2025</a:t>
            </a:r>
            <a:endParaRPr lang="en-US" sz="1200" dirty="0"/>
          </a:p>
        </p:txBody>
      </p:sp>
      <p:sp>
        <p:nvSpPr>
          <p:cNvPr id="33" name="Text 30"/>
          <p:cNvSpPr/>
          <p:nvPr/>
        </p:nvSpPr>
        <p:spPr>
          <a:xfrm>
            <a:off x="9650578" y="2971800"/>
            <a:ext cx="1779422" cy="566928"/>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CFRAG</a:t>
            </a:r>
            <a:endParaRPr lang="en-US" sz="1200" dirty="0"/>
          </a:p>
        </p:txBody>
      </p:sp>
      <p:sp>
        <p:nvSpPr>
          <p:cNvPr id="34" name="Text 31"/>
          <p:cNvSpPr/>
          <p:nvPr/>
        </p:nvSpPr>
        <p:spPr>
          <a:xfrm>
            <a:off x="9659722" y="3520440"/>
            <a:ext cx="1761134" cy="749808"/>
          </a:xfrm>
          <a:prstGeom prst="rect">
            <a:avLst/>
          </a:prstGeom>
          <a:noFill/>
          <a:ln/>
        </p:spPr>
        <p:txBody>
          <a:bodyPr wrap="square" lIns="0" tIns="0" rIns="0" bIns="0" rtlCol="0" anchor="ctr"/>
          <a:lstStyle/>
          <a:p>
            <a:pPr algn="ctr" indent="0" marL="0">
              <a:buNone/>
            </a:pPr>
            <a:r>
              <a:rPr lang="en-US" sz="960" dirty="0">
                <a:solidFill>
                  <a:srgbClr val="64748B"/>
                </a:solidFill>
                <a:latin typeface="Arial" pitchFamily="34" charset="0"/>
                <a:ea typeface="Arial" pitchFamily="34" charset="-122"/>
                <a:cs typeface="Arial" pitchFamily="34" charset="-120"/>
              </a:rPr>
              <a:t>LLM-embedding-augmented recall (RAG for rec).</a:t>
            </a:r>
            <a:endParaRPr lang="en-US" sz="960" dirty="0"/>
          </a:p>
        </p:txBody>
      </p:sp>
      <p:sp>
        <p:nvSpPr>
          <p:cNvPr id="35" name="Text 32"/>
          <p:cNvSpPr/>
          <p:nvPr/>
        </p:nvSpPr>
        <p:spPr>
          <a:xfrm>
            <a:off x="640080" y="4599432"/>
            <a:ext cx="2103120" cy="822960"/>
          </a:xfrm>
          <a:prstGeom prst="rect">
            <a:avLst/>
          </a:prstGeom>
          <a:noFill/>
          <a:ln/>
        </p:spPr>
        <p:txBody>
          <a:bodyPr wrap="square" lIns="0" tIns="0" rIns="0" bIns="0" rtlCol="0" anchor="ctr"/>
          <a:lstStyle/>
          <a:p>
            <a:pPr indent="0" marL="0">
              <a:buNone/>
            </a:pPr>
            <a:r>
              <a:rPr lang="en-US" sz="1300" b="1" dirty="0">
                <a:solidFill>
                  <a:srgbClr val="0E7490"/>
                </a:solidFill>
                <a:latin typeface="Arial" pitchFamily="34" charset="0"/>
                <a:ea typeface="Arial" pitchFamily="34" charset="-122"/>
                <a:cs typeface="Arial" pitchFamily="34" charset="-120"/>
              </a:rPr>
              <a:t>GPT-era impact</a:t>
            </a:r>
            <a:endParaRPr lang="en-US" sz="1300" dirty="0"/>
          </a:p>
        </p:txBody>
      </p:sp>
      <p:sp>
        <p:nvSpPr>
          <p:cNvPr id="36" name="Shape 33"/>
          <p:cNvSpPr/>
          <p:nvPr/>
        </p:nvSpPr>
        <p:spPr>
          <a:xfrm>
            <a:off x="2743200" y="4617720"/>
            <a:ext cx="4320540" cy="822960"/>
          </a:xfrm>
          <a:prstGeom prst="roundRect">
            <a:avLst>
              <a:gd name="adj" fmla="val 11111"/>
            </a:avLst>
          </a:prstGeom>
          <a:solidFill>
            <a:srgbClr val="FFFFFF"/>
          </a:solidFill>
          <a:ln/>
          <a:effectLst>
            <a:outerShdw sx="100000" sy="100000" kx="0" ky="0" algn="bl" rotWithShape="0" blurRad="127000" dist="50800" dir="5400000">
              <a:srgbClr val="8A93A6">
                <a:alpha val="13000"/>
              </a:srgbClr>
            </a:outerShdw>
          </a:effectLst>
        </p:spPr>
      </p:sp>
      <p:sp>
        <p:nvSpPr>
          <p:cNvPr id="37" name="Shape 34"/>
          <p:cNvSpPr/>
          <p:nvPr/>
        </p:nvSpPr>
        <p:spPr>
          <a:xfrm>
            <a:off x="2743200" y="4617720"/>
            <a:ext cx="4320540" cy="822960"/>
          </a:xfrm>
          <a:prstGeom prst="roundRect">
            <a:avLst>
              <a:gd name="adj" fmla="val 11111"/>
            </a:avLst>
          </a:prstGeom>
          <a:solidFill>
            <a:srgbClr val="FFFFFF">
              <a:alpha val="0"/>
            </a:srgbClr>
          </a:solidFill>
          <a:ln w="12700">
            <a:solidFill>
              <a:srgbClr val="DCE3EC"/>
            </a:solidFill>
            <a:prstDash val="solid"/>
          </a:ln>
        </p:spPr>
      </p:sp>
      <p:sp>
        <p:nvSpPr>
          <p:cNvPr id="38" name="Text 35"/>
          <p:cNvSpPr/>
          <p:nvPr/>
        </p:nvSpPr>
        <p:spPr>
          <a:xfrm>
            <a:off x="2852928" y="4709160"/>
            <a:ext cx="4101084" cy="365760"/>
          </a:xfrm>
          <a:prstGeom prst="rect">
            <a:avLst/>
          </a:prstGeom>
          <a:noFill/>
          <a:ln/>
        </p:spPr>
        <p:txBody>
          <a:bodyPr wrap="square" lIns="0" tIns="0" rIns="0" bIns="0" rtlCol="0" anchor="ctr"/>
          <a:lstStyle/>
          <a:p>
            <a:pPr algn="ctr" indent="0" marL="0">
              <a:buNone/>
            </a:pPr>
            <a:r>
              <a:rPr lang="en-US" sz="1600" b="1" dirty="0">
                <a:solidFill>
                  <a:srgbClr val="0E7490"/>
                </a:solidFill>
                <a:latin typeface="Arial" pitchFamily="34" charset="0"/>
                <a:ea typeface="Arial" pitchFamily="34" charset="-122"/>
                <a:cs typeface="Arial" pitchFamily="34" charset="-120"/>
              </a:rPr>
              <a:t>Gen→Disc</a:t>
            </a:r>
            <a:endParaRPr lang="en-US" sz="1600" dirty="0"/>
          </a:p>
        </p:txBody>
      </p:sp>
      <p:sp>
        <p:nvSpPr>
          <p:cNvPr id="39" name="Text 36"/>
          <p:cNvSpPr/>
          <p:nvPr/>
        </p:nvSpPr>
        <p:spPr>
          <a:xfrm>
            <a:off x="2852928" y="5074920"/>
            <a:ext cx="4101084" cy="329184"/>
          </a:xfrm>
          <a:prstGeom prst="rect">
            <a:avLst/>
          </a:prstGeom>
          <a:noFill/>
          <a:ln/>
        </p:spPr>
        <p:txBody>
          <a:bodyPr wrap="square" lIns="0" tIns="0" rIns="0" bIns="0" rtlCol="0" anchor="ctr"/>
          <a:lstStyle/>
          <a:p>
            <a:pPr algn="ctr" indent="0" marL="0">
              <a:buNone/>
            </a:pPr>
            <a:r>
              <a:rPr lang="en-US" sz="880" dirty="0">
                <a:solidFill>
                  <a:srgbClr val="64748B"/>
                </a:solidFill>
                <a:latin typeface="Arial" pitchFamily="34" charset="0"/>
                <a:ea typeface="Arial" pitchFamily="34" charset="-122"/>
                <a:cs typeface="Arial" pitchFamily="34" charset="-120"/>
              </a:rPr>
              <a:t>GenCTR transfer in production (2025)</a:t>
            </a:r>
            <a:endParaRPr lang="en-US" sz="880" dirty="0"/>
          </a:p>
        </p:txBody>
      </p:sp>
      <p:sp>
        <p:nvSpPr>
          <p:cNvPr id="40" name="Shape 37"/>
          <p:cNvSpPr/>
          <p:nvPr/>
        </p:nvSpPr>
        <p:spPr>
          <a:xfrm>
            <a:off x="7246620" y="4617720"/>
            <a:ext cx="4320540" cy="822960"/>
          </a:xfrm>
          <a:prstGeom prst="roundRect">
            <a:avLst>
              <a:gd name="adj" fmla="val 11111"/>
            </a:avLst>
          </a:prstGeom>
          <a:solidFill>
            <a:srgbClr val="FFFFFF"/>
          </a:solidFill>
          <a:ln/>
          <a:effectLst>
            <a:outerShdw sx="100000" sy="100000" kx="0" ky="0" algn="bl" rotWithShape="0" blurRad="127000" dist="50800" dir="5400000">
              <a:srgbClr val="8A93A6">
                <a:alpha val="13000"/>
              </a:srgbClr>
            </a:outerShdw>
          </a:effectLst>
        </p:spPr>
      </p:sp>
      <p:sp>
        <p:nvSpPr>
          <p:cNvPr id="41" name="Shape 38"/>
          <p:cNvSpPr/>
          <p:nvPr/>
        </p:nvSpPr>
        <p:spPr>
          <a:xfrm>
            <a:off x="7246620" y="4617720"/>
            <a:ext cx="4320540" cy="822960"/>
          </a:xfrm>
          <a:prstGeom prst="roundRect">
            <a:avLst>
              <a:gd name="adj" fmla="val 11111"/>
            </a:avLst>
          </a:prstGeom>
          <a:solidFill>
            <a:srgbClr val="FFFFFF">
              <a:alpha val="0"/>
            </a:srgbClr>
          </a:solidFill>
          <a:ln w="12700">
            <a:solidFill>
              <a:srgbClr val="DCE3EC"/>
            </a:solidFill>
            <a:prstDash val="solid"/>
          </a:ln>
        </p:spPr>
      </p:sp>
      <p:sp>
        <p:nvSpPr>
          <p:cNvPr id="42" name="Text 39"/>
          <p:cNvSpPr/>
          <p:nvPr/>
        </p:nvSpPr>
        <p:spPr>
          <a:xfrm>
            <a:off x="7356348" y="4709160"/>
            <a:ext cx="4101084" cy="365760"/>
          </a:xfrm>
          <a:prstGeom prst="rect">
            <a:avLst/>
          </a:prstGeom>
          <a:noFill/>
          <a:ln/>
        </p:spPr>
        <p:txBody>
          <a:bodyPr wrap="square" lIns="0" tIns="0" rIns="0" bIns="0" rtlCol="0" anchor="ctr"/>
          <a:lstStyle/>
          <a:p>
            <a:pPr algn="ctr" indent="0" marL="0">
              <a:buNone/>
            </a:pPr>
            <a:r>
              <a:rPr lang="en-US" sz="1600" b="1" dirty="0">
                <a:solidFill>
                  <a:srgbClr val="0E7490"/>
                </a:solidFill>
                <a:latin typeface="Arial" pitchFamily="34" charset="0"/>
                <a:ea typeface="Arial" pitchFamily="34" charset="-122"/>
                <a:cs typeface="Arial" pitchFamily="34" charset="-120"/>
              </a:rPr>
              <a:t>Gen retrieval</a:t>
            </a:r>
            <a:endParaRPr lang="en-US" sz="1600" dirty="0"/>
          </a:p>
        </p:txBody>
      </p:sp>
      <p:sp>
        <p:nvSpPr>
          <p:cNvPr id="43" name="Text 40"/>
          <p:cNvSpPr/>
          <p:nvPr/>
        </p:nvSpPr>
        <p:spPr>
          <a:xfrm>
            <a:off x="7356348" y="5074920"/>
            <a:ext cx="4101084" cy="329184"/>
          </a:xfrm>
          <a:prstGeom prst="rect">
            <a:avLst/>
          </a:prstGeom>
          <a:noFill/>
          <a:ln/>
        </p:spPr>
        <p:txBody>
          <a:bodyPr wrap="square" lIns="0" tIns="0" rIns="0" bIns="0" rtlCol="0" anchor="ctr"/>
          <a:lstStyle/>
          <a:p>
            <a:pPr algn="ctr" indent="0" marL="0">
              <a:buNone/>
            </a:pPr>
            <a:r>
              <a:rPr lang="en-US" sz="880" dirty="0">
                <a:solidFill>
                  <a:srgbClr val="64748B"/>
                </a:solidFill>
                <a:latin typeface="Arial" pitchFamily="34" charset="0"/>
                <a:ea typeface="Arial" pitchFamily="34" charset="-122"/>
                <a:cs typeface="Arial" pitchFamily="34" charset="-120"/>
              </a:rPr>
              <a:t>GRAM &amp; CFRAG for JD search (2025)</a:t>
            </a:r>
            <a:endParaRPr lang="en-US" sz="880" dirty="0"/>
          </a:p>
        </p:txBody>
      </p:sp>
      <p:sp>
        <p:nvSpPr>
          <p:cNvPr id="44" name="Text 41"/>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Sources: Zhao et al. (Telepath), 2017; Li et al., 2021; Kong et al., 2025 (GenCTR, arXiv:2507.11246); JD GRAM &amp; CFRAG, 2025.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APPENDIX · PRODUCTION SYSTEMS</a:t>
            </a:r>
            <a:endParaRPr lang="en-US" sz="1200" dirty="0"/>
          </a:p>
        </p:txBody>
      </p:sp>
      <p:sp>
        <p:nvSpPr>
          <p:cNvPr id="3" name="Text 1"/>
          <p:cNvSpPr/>
          <p:nvPr/>
        </p:nvSpPr>
        <p:spPr>
          <a:xfrm>
            <a:off x="640080" y="630936"/>
            <a:ext cx="10927080" cy="548640"/>
          </a:xfrm>
          <a:prstGeom prst="rect">
            <a:avLst/>
          </a:prstGeom>
          <a:noFill/>
          <a:ln/>
        </p:spPr>
        <p:txBody>
          <a:bodyPr wrap="square" lIns="0" tIns="0" rIns="0" bIns="0" rtlCol="0" anchor="ctr"/>
          <a:lstStyle/>
          <a:p>
            <a:pPr indent="0" marL="0">
              <a:buNone/>
            </a:pPr>
            <a:r>
              <a:rPr lang="en-US" sz="2500" b="1" dirty="0">
                <a:solidFill>
                  <a:srgbClr val="0F172A"/>
                </a:solidFill>
                <a:latin typeface="Arial" pitchFamily="34" charset="0"/>
                <a:ea typeface="Arial" pitchFamily="34" charset="-122"/>
                <a:cs typeface="Arial" pitchFamily="34" charset="-120"/>
              </a:rPr>
              <a:t>Effectiveness by user segment (LLM era)</a:t>
            </a:r>
            <a:endParaRPr lang="en-US" sz="2500" dirty="0"/>
          </a:p>
        </p:txBody>
      </p:sp>
      <p:sp>
        <p:nvSpPr>
          <p:cNvPr id="4" name="Text 2"/>
          <p:cNvSpPr/>
          <p:nvPr/>
        </p:nvSpPr>
        <p:spPr>
          <a:xfrm>
            <a:off x="640080" y="1298448"/>
            <a:ext cx="10927080" cy="292608"/>
          </a:xfrm>
          <a:prstGeom prst="rect">
            <a:avLst/>
          </a:prstGeom>
          <a:noFill/>
          <a:ln/>
        </p:spPr>
        <p:txBody>
          <a:bodyPr wrap="square" lIns="0" tIns="0" rIns="0" bIns="0" rtlCol="0" anchor="ctr"/>
          <a:lstStyle/>
          <a:p>
            <a:pPr indent="0" marL="0">
              <a:buNone/>
            </a:pPr>
            <a:r>
              <a:rPr lang="en-US" sz="1300" i="1" dirty="0">
                <a:solidFill>
                  <a:srgbClr val="64748B"/>
                </a:solidFill>
                <a:latin typeface="Arial" pitchFamily="34" charset="0"/>
                <a:ea typeface="Arial" pitchFamily="34" charset="-122"/>
                <a:cs typeface="Arial" pitchFamily="34" charset="-120"/>
              </a:rPr>
              <a:t>Empirically, generative/LLM methods yield the largest lift on cold-start segments; power users benefit from long-sequence user modeling.</a:t>
            </a:r>
            <a:endParaRPr lang="en-US" sz="1300" dirty="0"/>
          </a:p>
        </p:txBody>
      </p:sp>
      <p:sp>
        <p:nvSpPr>
          <p:cNvPr id="5" name="Shape 3"/>
          <p:cNvSpPr/>
          <p:nvPr/>
        </p:nvSpPr>
        <p:spPr>
          <a:xfrm>
            <a:off x="640080" y="1783080"/>
            <a:ext cx="3566160" cy="3703320"/>
          </a:xfrm>
          <a:prstGeom prst="roundRect">
            <a:avLst>
              <a:gd name="adj" fmla="val 3590"/>
            </a:avLst>
          </a:prstGeom>
          <a:solidFill>
            <a:srgbClr val="F1F5F9"/>
          </a:solidFill>
          <a:ln/>
          <a:effectLst>
            <a:outerShdw sx="100000" sy="100000" kx="0" ky="0" algn="bl" rotWithShape="0" blurRad="127000" dist="50800" dir="5400000">
              <a:srgbClr val="8A93A6">
                <a:alpha val="13000"/>
              </a:srgbClr>
            </a:outerShdw>
          </a:effectLst>
        </p:spPr>
      </p:sp>
      <p:sp>
        <p:nvSpPr>
          <p:cNvPr id="6" name="Shape 4"/>
          <p:cNvSpPr/>
          <p:nvPr/>
        </p:nvSpPr>
        <p:spPr>
          <a:xfrm>
            <a:off x="640080" y="1783080"/>
            <a:ext cx="3566160" cy="109728"/>
          </a:xfrm>
          <a:prstGeom prst="roundRect">
            <a:avLst>
              <a:gd name="adj" fmla="val 50000"/>
            </a:avLst>
          </a:prstGeom>
          <a:solidFill>
            <a:srgbClr val="0E7490"/>
          </a:solidFill>
          <a:ln/>
        </p:spPr>
      </p:sp>
      <p:sp>
        <p:nvSpPr>
          <p:cNvPr id="7" name="Shape 5"/>
          <p:cNvSpPr/>
          <p:nvPr/>
        </p:nvSpPr>
        <p:spPr>
          <a:xfrm>
            <a:off x="914400" y="2075688"/>
            <a:ext cx="658368" cy="658368"/>
          </a:xfrm>
          <a:prstGeom prst="ellipse">
            <a:avLst/>
          </a:prstGeom>
          <a:solidFill>
            <a:srgbClr val="0E7490"/>
          </a:solidFill>
          <a:ln/>
          <a:effectLst>
            <a:outerShdw sx="100000" sy="100000" kx="0" ky="0" algn="bl" rotWithShape="0" blurRad="127000" dist="50800" dir="5400000">
              <a:srgbClr val="8A93A6">
                <a:alpha val="13000"/>
              </a:srgbClr>
            </a:outerShdw>
          </a:effectLst>
        </p:spPr>
      </p:sp>
      <p:pic>
        <p:nvPicPr>
          <p:cNvPr id="8" name="Image 0" descr="preencoded.png">    </p:cNvPr>
          <p:cNvPicPr>
            <a:picLocks noChangeAspect="1"/>
          </p:cNvPicPr>
          <p:nvPr/>
        </p:nvPicPr>
        <p:blipFill>
          <a:blip r:embed="rId1"/>
          <a:stretch>
            <a:fillRect/>
          </a:stretch>
        </p:blipFill>
        <p:spPr>
          <a:xfrm>
            <a:off x="1092159" y="2253447"/>
            <a:ext cx="302849" cy="302849"/>
          </a:xfrm>
          <a:prstGeom prst="rect">
            <a:avLst/>
          </a:prstGeom>
        </p:spPr>
      </p:pic>
      <p:sp>
        <p:nvSpPr>
          <p:cNvPr id="9" name="Text 6"/>
          <p:cNvSpPr/>
          <p:nvPr/>
        </p:nvSpPr>
        <p:spPr>
          <a:xfrm>
            <a:off x="1737360" y="2093976"/>
            <a:ext cx="2286000" cy="365760"/>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Cold-start (new user/item)</a:t>
            </a:r>
            <a:endParaRPr lang="en-US" sz="1550" dirty="0"/>
          </a:p>
        </p:txBody>
      </p:sp>
      <p:sp>
        <p:nvSpPr>
          <p:cNvPr id="10" name="Text 7"/>
          <p:cNvSpPr/>
          <p:nvPr/>
        </p:nvSpPr>
        <p:spPr>
          <a:xfrm>
            <a:off x="1737360" y="2459736"/>
            <a:ext cx="2286000" cy="274320"/>
          </a:xfrm>
          <a:prstGeom prst="rect">
            <a:avLst/>
          </a:prstGeom>
          <a:noFill/>
          <a:ln/>
        </p:spPr>
        <p:txBody>
          <a:bodyPr wrap="square" lIns="0" tIns="0" rIns="0" bIns="0" rtlCol="0" anchor="ctr"/>
          <a:lstStyle/>
          <a:p>
            <a:pPr indent="0" marL="0">
              <a:buNone/>
            </a:pPr>
            <a:r>
              <a:rPr lang="en-US" sz="1050" i="1" dirty="0">
                <a:solidFill>
                  <a:srgbClr val="64748B"/>
                </a:solidFill>
                <a:latin typeface="Arial" pitchFamily="34" charset="0"/>
                <a:ea typeface="Arial" pitchFamily="34" charset="-122"/>
                <a:cs typeface="Arial" pitchFamily="34" charset="-120"/>
              </a:rPr>
              <a:t>Sparse or no interactions</a:t>
            </a:r>
            <a:endParaRPr lang="en-US" sz="1050" dirty="0"/>
          </a:p>
        </p:txBody>
      </p:sp>
      <p:sp>
        <p:nvSpPr>
          <p:cNvPr id="11" name="Shape 8"/>
          <p:cNvSpPr/>
          <p:nvPr/>
        </p:nvSpPr>
        <p:spPr>
          <a:xfrm>
            <a:off x="932688" y="3072384"/>
            <a:ext cx="109728" cy="109728"/>
          </a:xfrm>
          <a:prstGeom prst="ellipse">
            <a:avLst/>
          </a:prstGeom>
          <a:solidFill>
            <a:srgbClr val="0E7490"/>
          </a:solidFill>
          <a:ln/>
        </p:spPr>
      </p:sp>
      <p:sp>
        <p:nvSpPr>
          <p:cNvPr id="12" name="Text 9"/>
          <p:cNvSpPr/>
          <p:nvPr/>
        </p:nvSpPr>
        <p:spPr>
          <a:xfrm>
            <a:off x="1152144" y="2980944"/>
            <a:ext cx="2816352" cy="777240"/>
          </a:xfrm>
          <a:prstGeom prst="rect">
            <a:avLst/>
          </a:prstGeom>
          <a:noFill/>
          <a:ln/>
        </p:spPr>
        <p:txBody>
          <a:bodyPr wrap="square" lIns="0" tIns="0" rIns="0" bIns="0" rtlCol="0" anchor="t"/>
          <a:lstStyle/>
          <a:p>
            <a:pPr indent="0" marL="0">
              <a:buNone/>
            </a:pPr>
            <a:r>
              <a:rPr lang="en-US" sz="1030" b="1" dirty="0">
                <a:solidFill>
                  <a:srgbClr val="0F172A"/>
                </a:solidFill>
                <a:latin typeface="Arial" pitchFamily="34" charset="0"/>
                <a:ea typeface="Arial" pitchFamily="34" charset="-122"/>
                <a:cs typeface="Arial" pitchFamily="34" charset="-120"/>
              </a:rPr>
              <a:t>Mechanism: </a:t>
            </a:r>
            <a:pPr indent="0" marL="0">
              <a:buNone/>
            </a:pPr>
            <a:r>
              <a:rPr lang="en-US" sz="1030" dirty="0">
                <a:solidFill>
                  <a:srgbClr val="64748B"/>
                </a:solidFill>
                <a:latin typeface="Arial" pitchFamily="34" charset="0"/>
                <a:ea typeface="Arial" pitchFamily="34" charset="-122"/>
                <a:cs typeface="Arial" pitchFamily="34" charset="-120"/>
              </a:rPr>
              <a:t>content/semantic features + exploration bootstrap missing embeddings</a:t>
            </a:r>
            <a:endParaRPr lang="en-US" sz="1030" dirty="0"/>
          </a:p>
        </p:txBody>
      </p:sp>
      <p:sp>
        <p:nvSpPr>
          <p:cNvPr id="13" name="Shape 10"/>
          <p:cNvSpPr/>
          <p:nvPr/>
        </p:nvSpPr>
        <p:spPr>
          <a:xfrm>
            <a:off x="932688" y="3913632"/>
            <a:ext cx="109728" cy="109728"/>
          </a:xfrm>
          <a:prstGeom prst="ellipse">
            <a:avLst/>
          </a:prstGeom>
          <a:solidFill>
            <a:srgbClr val="0E7490"/>
          </a:solidFill>
          <a:ln/>
        </p:spPr>
      </p:sp>
      <p:sp>
        <p:nvSpPr>
          <p:cNvPr id="14" name="Text 11"/>
          <p:cNvSpPr/>
          <p:nvPr/>
        </p:nvSpPr>
        <p:spPr>
          <a:xfrm>
            <a:off x="1152144" y="3822192"/>
            <a:ext cx="2816352" cy="777240"/>
          </a:xfrm>
          <a:prstGeom prst="rect">
            <a:avLst/>
          </a:prstGeom>
          <a:noFill/>
          <a:ln/>
        </p:spPr>
        <p:txBody>
          <a:bodyPr wrap="square" lIns="0" tIns="0" rIns="0" bIns="0" rtlCol="0" anchor="t"/>
          <a:lstStyle/>
          <a:p>
            <a:pPr indent="0" marL="0">
              <a:buNone/>
            </a:pPr>
            <a:r>
              <a:rPr lang="en-US" sz="1030" b="1" dirty="0">
                <a:solidFill>
                  <a:srgbClr val="0F172A"/>
                </a:solidFill>
                <a:latin typeface="Arial" pitchFamily="34" charset="0"/>
                <a:ea typeface="Arial" pitchFamily="34" charset="-122"/>
                <a:cs typeface="Arial" pitchFamily="34" charset="-120"/>
              </a:rPr>
              <a:t>URM (Alibaba): </a:t>
            </a:r>
            <a:pPr indent="0" marL="0">
              <a:buNone/>
            </a:pPr>
            <a:r>
              <a:rPr lang="en-US" sz="1030" dirty="0">
                <a:solidFill>
                  <a:srgbClr val="64748B"/>
                </a:solidFill>
                <a:latin typeface="Arial" pitchFamily="34" charset="0"/>
                <a:ea typeface="Arial" pitchFamily="34" charset="-122"/>
                <a:cs typeface="Arial" pitchFamily="34" charset="-120"/>
              </a:rPr>
              <a:t>serendipity retrieval: new-category share 18.8%→46.2%</a:t>
            </a:r>
            <a:endParaRPr lang="en-US" sz="1030" dirty="0"/>
          </a:p>
        </p:txBody>
      </p:sp>
      <p:sp>
        <p:nvSpPr>
          <p:cNvPr id="15" name="Shape 12"/>
          <p:cNvSpPr/>
          <p:nvPr/>
        </p:nvSpPr>
        <p:spPr>
          <a:xfrm>
            <a:off x="932688" y="4754880"/>
            <a:ext cx="109728" cy="109728"/>
          </a:xfrm>
          <a:prstGeom prst="ellipse">
            <a:avLst/>
          </a:prstGeom>
          <a:solidFill>
            <a:srgbClr val="0E7490"/>
          </a:solidFill>
          <a:ln/>
        </p:spPr>
      </p:sp>
      <p:sp>
        <p:nvSpPr>
          <p:cNvPr id="16" name="Text 13"/>
          <p:cNvSpPr/>
          <p:nvPr/>
        </p:nvSpPr>
        <p:spPr>
          <a:xfrm>
            <a:off x="1152144" y="4663440"/>
            <a:ext cx="2816352" cy="777240"/>
          </a:xfrm>
          <a:prstGeom prst="rect">
            <a:avLst/>
          </a:prstGeom>
          <a:noFill/>
          <a:ln/>
        </p:spPr>
        <p:txBody>
          <a:bodyPr wrap="square" lIns="0" tIns="0" rIns="0" bIns="0" rtlCol="0" anchor="t"/>
          <a:lstStyle/>
          <a:p>
            <a:pPr indent="0" marL="0">
              <a:buNone/>
            </a:pPr>
            <a:r>
              <a:rPr lang="en-US" sz="1030" b="1" dirty="0">
                <a:solidFill>
                  <a:srgbClr val="0F172A"/>
                </a:solidFill>
                <a:latin typeface="Arial" pitchFamily="34" charset="0"/>
                <a:ea typeface="Arial" pitchFamily="34" charset="-122"/>
                <a:cs typeface="Arial" pitchFamily="34" charset="-120"/>
              </a:rPr>
              <a:t>Cold-start studies (2025): </a:t>
            </a:r>
            <a:pPr indent="0" marL="0">
              <a:buNone/>
            </a:pPr>
            <a:r>
              <a:rPr lang="en-US" sz="1030" dirty="0">
                <a:solidFill>
                  <a:srgbClr val="64748B"/>
                </a:solidFill>
                <a:latin typeface="Arial" pitchFamily="34" charset="0"/>
                <a:ea typeface="Arial" pitchFamily="34" charset="-122"/>
                <a:cs typeface="Arial" pitchFamily="34" charset="-120"/>
              </a:rPr>
              <a:t>+120% Recall@200 coldest items; Netflix +8% novel recall</a:t>
            </a:r>
            <a:endParaRPr lang="en-US" sz="1030" dirty="0"/>
          </a:p>
        </p:txBody>
      </p:sp>
      <p:sp>
        <p:nvSpPr>
          <p:cNvPr id="17" name="Shape 14"/>
          <p:cNvSpPr/>
          <p:nvPr/>
        </p:nvSpPr>
        <p:spPr>
          <a:xfrm>
            <a:off x="4370832" y="1783080"/>
            <a:ext cx="3566160" cy="3703320"/>
          </a:xfrm>
          <a:prstGeom prst="roundRect">
            <a:avLst>
              <a:gd name="adj" fmla="val 3590"/>
            </a:avLst>
          </a:prstGeom>
          <a:solidFill>
            <a:srgbClr val="F1F5F9"/>
          </a:solidFill>
          <a:ln/>
          <a:effectLst>
            <a:outerShdw sx="100000" sy="100000" kx="0" ky="0" algn="bl" rotWithShape="0" blurRad="127000" dist="50800" dir="5400000">
              <a:srgbClr val="8A93A6">
                <a:alpha val="13000"/>
              </a:srgbClr>
            </a:outerShdw>
          </a:effectLst>
        </p:spPr>
      </p:sp>
      <p:sp>
        <p:nvSpPr>
          <p:cNvPr id="18" name="Shape 15"/>
          <p:cNvSpPr/>
          <p:nvPr/>
        </p:nvSpPr>
        <p:spPr>
          <a:xfrm>
            <a:off x="4370832" y="1783080"/>
            <a:ext cx="3566160" cy="109728"/>
          </a:xfrm>
          <a:prstGeom prst="roundRect">
            <a:avLst>
              <a:gd name="adj" fmla="val 50000"/>
            </a:avLst>
          </a:prstGeom>
          <a:solidFill>
            <a:srgbClr val="F59E0B"/>
          </a:solidFill>
          <a:ln/>
        </p:spPr>
      </p:sp>
      <p:sp>
        <p:nvSpPr>
          <p:cNvPr id="19" name="Shape 16"/>
          <p:cNvSpPr/>
          <p:nvPr/>
        </p:nvSpPr>
        <p:spPr>
          <a:xfrm>
            <a:off x="4645152" y="2075688"/>
            <a:ext cx="658368" cy="658368"/>
          </a:xfrm>
          <a:prstGeom prst="ellipse">
            <a:avLst/>
          </a:prstGeom>
          <a:solidFill>
            <a:srgbClr val="F59E0B"/>
          </a:solidFill>
          <a:ln/>
          <a:effectLst>
            <a:outerShdw sx="100000" sy="100000" kx="0" ky="0" algn="bl" rotWithShape="0" blurRad="127000" dist="50800" dir="5400000">
              <a:srgbClr val="8A93A6">
                <a:alpha val="13000"/>
              </a:srgbClr>
            </a:outerShdw>
          </a:effectLst>
        </p:spPr>
      </p:sp>
      <p:pic>
        <p:nvPicPr>
          <p:cNvPr id="20" name="Image 1" descr="preencoded.png">    </p:cNvPr>
          <p:cNvPicPr>
            <a:picLocks noChangeAspect="1"/>
          </p:cNvPicPr>
          <p:nvPr/>
        </p:nvPicPr>
        <p:blipFill>
          <a:blip r:embed="rId2"/>
          <a:stretch>
            <a:fillRect/>
          </a:stretch>
        </p:blipFill>
        <p:spPr>
          <a:xfrm>
            <a:off x="4822911" y="2253447"/>
            <a:ext cx="302849" cy="302849"/>
          </a:xfrm>
          <a:prstGeom prst="rect">
            <a:avLst/>
          </a:prstGeom>
        </p:spPr>
      </p:pic>
      <p:sp>
        <p:nvSpPr>
          <p:cNvPr id="21" name="Text 17"/>
          <p:cNvSpPr/>
          <p:nvPr/>
        </p:nvSpPr>
        <p:spPr>
          <a:xfrm>
            <a:off x="5468112" y="2093976"/>
            <a:ext cx="2286000" cy="365760"/>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Casual / mid-tail</a:t>
            </a:r>
            <a:endParaRPr lang="en-US" sz="1550" dirty="0"/>
          </a:p>
        </p:txBody>
      </p:sp>
      <p:sp>
        <p:nvSpPr>
          <p:cNvPr id="22" name="Text 18"/>
          <p:cNvSpPr/>
          <p:nvPr/>
        </p:nvSpPr>
        <p:spPr>
          <a:xfrm>
            <a:off x="5468112" y="2459736"/>
            <a:ext cx="2286000" cy="274320"/>
          </a:xfrm>
          <a:prstGeom prst="rect">
            <a:avLst/>
          </a:prstGeom>
          <a:noFill/>
          <a:ln/>
        </p:spPr>
        <p:txBody>
          <a:bodyPr wrap="square" lIns="0" tIns="0" rIns="0" bIns="0" rtlCol="0" anchor="ctr"/>
          <a:lstStyle/>
          <a:p>
            <a:pPr indent="0" marL="0">
              <a:buNone/>
            </a:pPr>
            <a:r>
              <a:rPr lang="en-US" sz="1050" i="1" dirty="0">
                <a:solidFill>
                  <a:srgbClr val="64748B"/>
                </a:solidFill>
                <a:latin typeface="Arial" pitchFamily="34" charset="0"/>
                <a:ea typeface="Arial" pitchFamily="34" charset="-122"/>
                <a:cs typeface="Arial" pitchFamily="34" charset="-120"/>
              </a:rPr>
              <a:t>Short, intermittent sequences</a:t>
            </a:r>
            <a:endParaRPr lang="en-US" sz="1050" dirty="0"/>
          </a:p>
        </p:txBody>
      </p:sp>
      <p:sp>
        <p:nvSpPr>
          <p:cNvPr id="23" name="Shape 19"/>
          <p:cNvSpPr/>
          <p:nvPr/>
        </p:nvSpPr>
        <p:spPr>
          <a:xfrm>
            <a:off x="4663440" y="3072384"/>
            <a:ext cx="109728" cy="109728"/>
          </a:xfrm>
          <a:prstGeom prst="ellipse">
            <a:avLst/>
          </a:prstGeom>
          <a:solidFill>
            <a:srgbClr val="F59E0B"/>
          </a:solidFill>
          <a:ln/>
        </p:spPr>
      </p:sp>
      <p:sp>
        <p:nvSpPr>
          <p:cNvPr id="24" name="Text 20"/>
          <p:cNvSpPr/>
          <p:nvPr/>
        </p:nvSpPr>
        <p:spPr>
          <a:xfrm>
            <a:off x="4882896" y="2980944"/>
            <a:ext cx="2816352" cy="777240"/>
          </a:xfrm>
          <a:prstGeom prst="rect">
            <a:avLst/>
          </a:prstGeom>
          <a:noFill/>
          <a:ln/>
        </p:spPr>
        <p:txBody>
          <a:bodyPr wrap="square" lIns="0" tIns="0" rIns="0" bIns="0" rtlCol="0" anchor="t"/>
          <a:lstStyle/>
          <a:p>
            <a:pPr indent="0" marL="0">
              <a:buNone/>
            </a:pPr>
            <a:r>
              <a:rPr lang="en-US" sz="1030" b="1" dirty="0">
                <a:solidFill>
                  <a:srgbClr val="0F172A"/>
                </a:solidFill>
                <a:latin typeface="Arial" pitchFamily="34" charset="0"/>
                <a:ea typeface="Arial" pitchFamily="34" charset="-122"/>
                <a:cs typeface="Arial" pitchFamily="34" charset="-120"/>
              </a:rPr>
              <a:t>Intent reasoning: </a:t>
            </a:r>
            <a:pPr indent="0" marL="0">
              <a:buNone/>
            </a:pPr>
            <a:r>
              <a:rPr lang="en-US" sz="1030" dirty="0">
                <a:solidFill>
                  <a:srgbClr val="64748B"/>
                </a:solidFill>
                <a:latin typeface="Arial" pitchFamily="34" charset="0"/>
                <a:ea typeface="Arial" pitchFamily="34" charset="-122"/>
                <a:cs typeface="Arial" pitchFamily="34" charset="-120"/>
              </a:rPr>
              <a:t>RecGPT replaces log-fitting with intent inference</a:t>
            </a:r>
            <a:endParaRPr lang="en-US" sz="1030" dirty="0"/>
          </a:p>
        </p:txBody>
      </p:sp>
      <p:sp>
        <p:nvSpPr>
          <p:cNvPr id="25" name="Shape 21"/>
          <p:cNvSpPr/>
          <p:nvPr/>
        </p:nvSpPr>
        <p:spPr>
          <a:xfrm>
            <a:off x="4663440" y="3913632"/>
            <a:ext cx="109728" cy="109728"/>
          </a:xfrm>
          <a:prstGeom prst="ellipse">
            <a:avLst/>
          </a:prstGeom>
          <a:solidFill>
            <a:srgbClr val="F59E0B"/>
          </a:solidFill>
          <a:ln/>
        </p:spPr>
      </p:sp>
      <p:sp>
        <p:nvSpPr>
          <p:cNvPr id="26" name="Text 22"/>
          <p:cNvSpPr/>
          <p:nvPr/>
        </p:nvSpPr>
        <p:spPr>
          <a:xfrm>
            <a:off x="4882896" y="3822192"/>
            <a:ext cx="2816352" cy="777240"/>
          </a:xfrm>
          <a:prstGeom prst="rect">
            <a:avLst/>
          </a:prstGeom>
          <a:noFill/>
          <a:ln/>
        </p:spPr>
        <p:txBody>
          <a:bodyPr wrap="square" lIns="0" tIns="0" rIns="0" bIns="0" rtlCol="0" anchor="t"/>
          <a:lstStyle/>
          <a:p>
            <a:pPr indent="0" marL="0">
              <a:buNone/>
            </a:pPr>
            <a:r>
              <a:rPr lang="en-US" sz="1030" b="1" dirty="0">
                <a:solidFill>
                  <a:srgbClr val="0F172A"/>
                </a:solidFill>
                <a:latin typeface="Arial" pitchFamily="34" charset="0"/>
                <a:ea typeface="Arial" pitchFamily="34" charset="-122"/>
                <a:cs typeface="Arial" pitchFamily="34" charset="-120"/>
              </a:rPr>
              <a:t>Conversational RAG: </a:t>
            </a:r>
            <a:pPr indent="0" marL="0">
              <a:buNone/>
            </a:pPr>
            <a:r>
              <a:rPr lang="en-US" sz="1030" dirty="0">
                <a:solidFill>
                  <a:srgbClr val="64748B"/>
                </a:solidFill>
                <a:latin typeface="Arial" pitchFamily="34" charset="0"/>
                <a:ea typeface="Arial" pitchFamily="34" charset="-122"/>
                <a:cs typeface="Arial" pitchFamily="34" charset="-120"/>
              </a:rPr>
              <a:t>Rufus conditions on query + retrieved evidence</a:t>
            </a:r>
            <a:endParaRPr lang="en-US" sz="1030" dirty="0"/>
          </a:p>
        </p:txBody>
      </p:sp>
      <p:sp>
        <p:nvSpPr>
          <p:cNvPr id="27" name="Shape 23"/>
          <p:cNvSpPr/>
          <p:nvPr/>
        </p:nvSpPr>
        <p:spPr>
          <a:xfrm>
            <a:off x="4663440" y="4754880"/>
            <a:ext cx="109728" cy="109728"/>
          </a:xfrm>
          <a:prstGeom prst="ellipse">
            <a:avLst/>
          </a:prstGeom>
          <a:solidFill>
            <a:srgbClr val="F59E0B"/>
          </a:solidFill>
          <a:ln/>
        </p:spPr>
      </p:sp>
      <p:sp>
        <p:nvSpPr>
          <p:cNvPr id="28" name="Text 24"/>
          <p:cNvSpPr/>
          <p:nvPr/>
        </p:nvSpPr>
        <p:spPr>
          <a:xfrm>
            <a:off x="4882896" y="4663440"/>
            <a:ext cx="2816352" cy="777240"/>
          </a:xfrm>
          <a:prstGeom prst="rect">
            <a:avLst/>
          </a:prstGeom>
          <a:noFill/>
          <a:ln/>
        </p:spPr>
        <p:txBody>
          <a:bodyPr wrap="square" lIns="0" tIns="0" rIns="0" bIns="0" rtlCol="0" anchor="t"/>
          <a:lstStyle/>
          <a:p>
            <a:pPr indent="0" marL="0">
              <a:buNone/>
            </a:pPr>
            <a:r>
              <a:rPr lang="en-US" sz="1030" b="1" dirty="0">
                <a:solidFill>
                  <a:srgbClr val="0F172A"/>
                </a:solidFill>
                <a:latin typeface="Arial" pitchFamily="34" charset="0"/>
                <a:ea typeface="Arial" pitchFamily="34" charset="-122"/>
                <a:cs typeface="Arial" pitchFamily="34" charset="-120"/>
              </a:rPr>
              <a:t>Semantic IDs: </a:t>
            </a:r>
            <a:pPr indent="0" marL="0">
              <a:buNone/>
            </a:pPr>
            <a:r>
              <a:rPr lang="en-US" sz="1030" dirty="0">
                <a:solidFill>
                  <a:srgbClr val="64748B"/>
                </a:solidFill>
                <a:latin typeface="Arial" pitchFamily="34" charset="0"/>
                <a:ea typeface="Arial" pitchFamily="34" charset="-122"/>
                <a:cs typeface="Arial" pitchFamily="34" charset="-120"/>
              </a:rPr>
              <a:t>generalize across sparse behaviour</a:t>
            </a:r>
            <a:endParaRPr lang="en-US" sz="1030" dirty="0"/>
          </a:p>
        </p:txBody>
      </p:sp>
      <p:sp>
        <p:nvSpPr>
          <p:cNvPr id="29" name="Shape 25"/>
          <p:cNvSpPr/>
          <p:nvPr/>
        </p:nvSpPr>
        <p:spPr>
          <a:xfrm>
            <a:off x="8101584" y="1783080"/>
            <a:ext cx="3566160" cy="3703320"/>
          </a:xfrm>
          <a:prstGeom prst="roundRect">
            <a:avLst>
              <a:gd name="adj" fmla="val 3590"/>
            </a:avLst>
          </a:prstGeom>
          <a:solidFill>
            <a:srgbClr val="F1F5F9"/>
          </a:solidFill>
          <a:ln/>
          <a:effectLst>
            <a:outerShdw sx="100000" sy="100000" kx="0" ky="0" algn="bl" rotWithShape="0" blurRad="127000" dist="50800" dir="5400000">
              <a:srgbClr val="8A93A6">
                <a:alpha val="13000"/>
              </a:srgbClr>
            </a:outerShdw>
          </a:effectLst>
        </p:spPr>
      </p:sp>
      <p:sp>
        <p:nvSpPr>
          <p:cNvPr id="30" name="Shape 26"/>
          <p:cNvSpPr/>
          <p:nvPr/>
        </p:nvSpPr>
        <p:spPr>
          <a:xfrm>
            <a:off x="8101584" y="1783080"/>
            <a:ext cx="3566160" cy="109728"/>
          </a:xfrm>
          <a:prstGeom prst="roundRect">
            <a:avLst>
              <a:gd name="adj" fmla="val 50000"/>
            </a:avLst>
          </a:prstGeom>
          <a:solidFill>
            <a:srgbClr val="1E293B"/>
          </a:solidFill>
          <a:ln/>
        </p:spPr>
      </p:sp>
      <p:sp>
        <p:nvSpPr>
          <p:cNvPr id="31" name="Shape 27"/>
          <p:cNvSpPr/>
          <p:nvPr/>
        </p:nvSpPr>
        <p:spPr>
          <a:xfrm>
            <a:off x="8375904" y="2075688"/>
            <a:ext cx="658368" cy="658368"/>
          </a:xfrm>
          <a:prstGeom prst="ellipse">
            <a:avLst/>
          </a:prstGeom>
          <a:solidFill>
            <a:srgbClr val="1E293B"/>
          </a:solidFill>
          <a:ln/>
          <a:effectLst>
            <a:outerShdw sx="100000" sy="100000" kx="0" ky="0" algn="bl" rotWithShape="0" blurRad="127000" dist="50800" dir="5400000">
              <a:srgbClr val="8A93A6">
                <a:alpha val="13000"/>
              </a:srgbClr>
            </a:outerShdw>
          </a:effectLst>
        </p:spPr>
      </p:sp>
      <p:pic>
        <p:nvPicPr>
          <p:cNvPr id="32" name="Image 2" descr="preencoded.png">    </p:cNvPr>
          <p:cNvPicPr>
            <a:picLocks noChangeAspect="1"/>
          </p:cNvPicPr>
          <p:nvPr/>
        </p:nvPicPr>
        <p:blipFill>
          <a:blip r:embed="rId3"/>
          <a:stretch>
            <a:fillRect/>
          </a:stretch>
        </p:blipFill>
        <p:spPr>
          <a:xfrm>
            <a:off x="8553663" y="2253447"/>
            <a:ext cx="302849" cy="302849"/>
          </a:xfrm>
          <a:prstGeom prst="rect">
            <a:avLst/>
          </a:prstGeom>
        </p:spPr>
      </p:pic>
      <p:sp>
        <p:nvSpPr>
          <p:cNvPr id="33" name="Text 28"/>
          <p:cNvSpPr/>
          <p:nvPr/>
        </p:nvSpPr>
        <p:spPr>
          <a:xfrm>
            <a:off x="9198864" y="2093976"/>
            <a:ext cx="2286000" cy="365760"/>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Head / power users</a:t>
            </a:r>
            <a:endParaRPr lang="en-US" sz="1550" dirty="0"/>
          </a:p>
        </p:txBody>
      </p:sp>
      <p:sp>
        <p:nvSpPr>
          <p:cNvPr id="34" name="Text 29"/>
          <p:cNvSpPr/>
          <p:nvPr/>
        </p:nvSpPr>
        <p:spPr>
          <a:xfrm>
            <a:off x="9198864" y="2459736"/>
            <a:ext cx="2286000" cy="274320"/>
          </a:xfrm>
          <a:prstGeom prst="rect">
            <a:avLst/>
          </a:prstGeom>
          <a:noFill/>
          <a:ln/>
        </p:spPr>
        <p:txBody>
          <a:bodyPr wrap="square" lIns="0" tIns="0" rIns="0" bIns="0" rtlCol="0" anchor="ctr"/>
          <a:lstStyle/>
          <a:p>
            <a:pPr indent="0" marL="0">
              <a:buNone/>
            </a:pPr>
            <a:r>
              <a:rPr lang="en-US" sz="1050" i="1" dirty="0">
                <a:solidFill>
                  <a:srgbClr val="64748B"/>
                </a:solidFill>
                <a:latin typeface="Arial" pitchFamily="34" charset="0"/>
                <a:ea typeface="Arial" pitchFamily="34" charset="-122"/>
                <a:cs typeface="Arial" pitchFamily="34" charset="-120"/>
              </a:rPr>
              <a:t>Long, dense sequences</a:t>
            </a:r>
            <a:endParaRPr lang="en-US" sz="1050" dirty="0"/>
          </a:p>
        </p:txBody>
      </p:sp>
      <p:sp>
        <p:nvSpPr>
          <p:cNvPr id="35" name="Shape 30"/>
          <p:cNvSpPr/>
          <p:nvPr/>
        </p:nvSpPr>
        <p:spPr>
          <a:xfrm>
            <a:off x="8394192" y="3072384"/>
            <a:ext cx="109728" cy="109728"/>
          </a:xfrm>
          <a:prstGeom prst="ellipse">
            <a:avLst/>
          </a:prstGeom>
          <a:solidFill>
            <a:srgbClr val="1E293B"/>
          </a:solidFill>
          <a:ln/>
        </p:spPr>
      </p:sp>
      <p:sp>
        <p:nvSpPr>
          <p:cNvPr id="36" name="Text 31"/>
          <p:cNvSpPr/>
          <p:nvPr/>
        </p:nvSpPr>
        <p:spPr>
          <a:xfrm>
            <a:off x="8613648" y="2980944"/>
            <a:ext cx="2816352" cy="777240"/>
          </a:xfrm>
          <a:prstGeom prst="rect">
            <a:avLst/>
          </a:prstGeom>
          <a:noFill/>
          <a:ln/>
        </p:spPr>
        <p:txBody>
          <a:bodyPr wrap="square" lIns="0" tIns="0" rIns="0" bIns="0" rtlCol="0" anchor="t"/>
          <a:lstStyle/>
          <a:p>
            <a:pPr indent="0" marL="0">
              <a:buNone/>
            </a:pPr>
            <a:r>
              <a:rPr lang="en-US" sz="1030" b="1" dirty="0">
                <a:solidFill>
                  <a:srgbClr val="0F172A"/>
                </a:solidFill>
                <a:latin typeface="Arial" pitchFamily="34" charset="0"/>
                <a:ea typeface="Arial" pitchFamily="34" charset="-122"/>
                <a:cs typeface="Arial" pitchFamily="34" charset="-120"/>
              </a:rPr>
              <a:t>Scaling laws: </a:t>
            </a:r>
            <a:pPr indent="0" marL="0">
              <a:buNone/>
            </a:pPr>
            <a:r>
              <a:rPr lang="en-US" sz="1030" dirty="0">
                <a:solidFill>
                  <a:srgbClr val="64748B"/>
                </a:solidFill>
                <a:latin typeface="Arial" pitchFamily="34" charset="0"/>
                <a:ea typeface="Arial" pitchFamily="34" charset="-122"/>
                <a:cs typeface="Arial" pitchFamily="34" charset="-120"/>
              </a:rPr>
              <a:t>LUM: long-sequence user model → +2.9% CTR / +1.2% RPM</a:t>
            </a:r>
            <a:endParaRPr lang="en-US" sz="1030" dirty="0"/>
          </a:p>
        </p:txBody>
      </p:sp>
      <p:sp>
        <p:nvSpPr>
          <p:cNvPr id="37" name="Shape 32"/>
          <p:cNvSpPr/>
          <p:nvPr/>
        </p:nvSpPr>
        <p:spPr>
          <a:xfrm>
            <a:off x="8394192" y="3913632"/>
            <a:ext cx="109728" cy="109728"/>
          </a:xfrm>
          <a:prstGeom prst="ellipse">
            <a:avLst/>
          </a:prstGeom>
          <a:solidFill>
            <a:srgbClr val="1E293B"/>
          </a:solidFill>
          <a:ln/>
        </p:spPr>
      </p:sp>
      <p:sp>
        <p:nvSpPr>
          <p:cNvPr id="38" name="Text 33"/>
          <p:cNvSpPr/>
          <p:nvPr/>
        </p:nvSpPr>
        <p:spPr>
          <a:xfrm>
            <a:off x="8613648" y="3822192"/>
            <a:ext cx="2816352" cy="777240"/>
          </a:xfrm>
          <a:prstGeom prst="rect">
            <a:avLst/>
          </a:prstGeom>
          <a:noFill/>
          <a:ln/>
        </p:spPr>
        <p:txBody>
          <a:bodyPr wrap="square" lIns="0" tIns="0" rIns="0" bIns="0" rtlCol="0" anchor="t"/>
          <a:lstStyle/>
          <a:p>
            <a:pPr indent="0" marL="0">
              <a:buNone/>
            </a:pPr>
            <a:r>
              <a:rPr lang="en-US" sz="1030" b="1" dirty="0">
                <a:solidFill>
                  <a:srgbClr val="0F172A"/>
                </a:solidFill>
                <a:latin typeface="Arial" pitchFamily="34" charset="0"/>
                <a:ea typeface="Arial" pitchFamily="34" charset="-122"/>
                <a:cs typeface="Arial" pitchFamily="34" charset="-120"/>
              </a:rPr>
              <a:t>Engaged cohort: </a:t>
            </a:r>
            <a:pPr indent="0" marL="0">
              <a:buNone/>
            </a:pPr>
            <a:r>
              <a:rPr lang="en-US" sz="1030" dirty="0">
                <a:solidFill>
                  <a:srgbClr val="64748B"/>
                </a:solidFill>
                <a:latin typeface="Arial" pitchFamily="34" charset="0"/>
                <a:ea typeface="Arial" pitchFamily="34" charset="-122"/>
                <a:cs typeface="Arial" pitchFamily="34" charset="-120"/>
              </a:rPr>
              <a:t>Amazon Rufus +60% purchase completion</a:t>
            </a:r>
            <a:endParaRPr lang="en-US" sz="1030" dirty="0"/>
          </a:p>
        </p:txBody>
      </p:sp>
      <p:sp>
        <p:nvSpPr>
          <p:cNvPr id="39" name="Shape 34"/>
          <p:cNvSpPr/>
          <p:nvPr/>
        </p:nvSpPr>
        <p:spPr>
          <a:xfrm>
            <a:off x="8394192" y="4754880"/>
            <a:ext cx="109728" cy="109728"/>
          </a:xfrm>
          <a:prstGeom prst="ellipse">
            <a:avLst/>
          </a:prstGeom>
          <a:solidFill>
            <a:srgbClr val="1E293B"/>
          </a:solidFill>
          <a:ln/>
        </p:spPr>
      </p:sp>
      <p:sp>
        <p:nvSpPr>
          <p:cNvPr id="40" name="Text 35"/>
          <p:cNvSpPr/>
          <p:nvPr/>
        </p:nvSpPr>
        <p:spPr>
          <a:xfrm>
            <a:off x="8613648" y="4663440"/>
            <a:ext cx="2816352" cy="777240"/>
          </a:xfrm>
          <a:prstGeom prst="rect">
            <a:avLst/>
          </a:prstGeom>
          <a:noFill/>
          <a:ln/>
        </p:spPr>
        <p:txBody>
          <a:bodyPr wrap="square" lIns="0" tIns="0" rIns="0" bIns="0" rtlCol="0" anchor="t"/>
          <a:lstStyle/>
          <a:p>
            <a:pPr indent="0" marL="0">
              <a:buNone/>
            </a:pPr>
            <a:r>
              <a:rPr lang="en-US" sz="1030" b="1" dirty="0">
                <a:solidFill>
                  <a:srgbClr val="0F172A"/>
                </a:solidFill>
                <a:latin typeface="Arial" pitchFamily="34" charset="0"/>
                <a:ea typeface="Arial" pitchFamily="34" charset="-122"/>
                <a:cs typeface="Arial" pitchFamily="34" charset="-120"/>
              </a:rPr>
              <a:t>Sequence transducers: </a:t>
            </a:r>
            <a:pPr indent="0" marL="0">
              <a:buNone/>
            </a:pPr>
            <a:r>
              <a:rPr lang="en-US" sz="1030" dirty="0">
                <a:solidFill>
                  <a:srgbClr val="64748B"/>
                </a:solidFill>
                <a:latin typeface="Arial" pitchFamily="34" charset="0"/>
                <a:ea typeface="Arial" pitchFamily="34" charset="-122"/>
                <a:cs typeface="Arial" pitchFamily="34" charset="-120"/>
              </a:rPr>
              <a:t>HSTU/SASRec-style attention over deep history</a:t>
            </a:r>
            <a:endParaRPr lang="en-US" sz="1030" dirty="0"/>
          </a:p>
        </p:txBody>
      </p:sp>
      <p:sp>
        <p:nvSpPr>
          <p:cNvPr id="41" name="Text 36"/>
          <p:cNvSpPr/>
          <p:nvPr/>
        </p:nvSpPr>
        <p:spPr>
          <a:xfrm>
            <a:off x="640080" y="6437376"/>
            <a:ext cx="10927080" cy="274320"/>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Sources (2025): Jiang et al. (URM); Yan et al. (LUM); Amazon Q4 2025; Li et al., Nov 2025 (Netflix); cold-start video study, Aug 2025. Platform-level per-segment figures are rarely disclosed; cross-industry studies used as directional evidence.</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927080" cy="274320"/>
          </a:xfrm>
          <a:prstGeom prst="rect">
            <a:avLst/>
          </a:prstGeom>
          <a:noFill/>
          <a:ln/>
        </p:spPr>
        <p:txBody>
          <a:bodyPr wrap="square" lIns="0" tIns="0" rIns="0" bIns="0" rtlCol="0" anchor="ctr"/>
          <a:lstStyle/>
          <a:p>
            <a:pPr indent="0" marL="0">
              <a:buNone/>
            </a:pPr>
            <a:r>
              <a:rPr lang="en-US" sz="1200" b="1" spc="200" kern="0" dirty="0">
                <a:solidFill>
                  <a:srgbClr val="06B6D4"/>
                </a:solidFill>
                <a:latin typeface="Arial" pitchFamily="34" charset="0"/>
                <a:ea typeface="Arial" pitchFamily="34" charset="-122"/>
                <a:cs typeface="Arial" pitchFamily="34" charset="-120"/>
              </a:rPr>
              <a:t>APPENDIX · SOURCES</a:t>
            </a:r>
            <a:endParaRPr lang="en-US" sz="1200" dirty="0"/>
          </a:p>
        </p:txBody>
      </p:sp>
      <p:sp>
        <p:nvSpPr>
          <p:cNvPr id="3" name="Text 1"/>
          <p:cNvSpPr/>
          <p:nvPr/>
        </p:nvSpPr>
        <p:spPr>
          <a:xfrm>
            <a:off x="640080" y="630936"/>
            <a:ext cx="10927080" cy="548640"/>
          </a:xfrm>
          <a:prstGeom prst="rect">
            <a:avLst/>
          </a:prstGeom>
          <a:noFill/>
          <a:ln/>
        </p:spPr>
        <p:txBody>
          <a:bodyPr wrap="square" lIns="0" tIns="0" rIns="0" bIns="0" rtlCol="0" anchor="ctr"/>
          <a:lstStyle/>
          <a:p>
            <a:pPr indent="0" marL="0">
              <a:buNone/>
            </a:pPr>
            <a:r>
              <a:rPr lang="en-US" sz="2500" b="1" dirty="0">
                <a:solidFill>
                  <a:srgbClr val="0F172A"/>
                </a:solidFill>
                <a:latin typeface="Arial" pitchFamily="34" charset="0"/>
                <a:ea typeface="Arial" pitchFamily="34" charset="-122"/>
                <a:cs typeface="Arial" pitchFamily="34" charset="-120"/>
              </a:rPr>
              <a:t>LLM-era sources (2024–2026)</a:t>
            </a:r>
            <a:endParaRPr lang="en-US" sz="2500" dirty="0"/>
          </a:p>
        </p:txBody>
      </p:sp>
      <p:sp>
        <p:nvSpPr>
          <p:cNvPr id="4" name="Shape 2"/>
          <p:cNvSpPr/>
          <p:nvPr/>
        </p:nvSpPr>
        <p:spPr>
          <a:xfrm>
            <a:off x="640080" y="1554480"/>
            <a:ext cx="10927080" cy="749808"/>
          </a:xfrm>
          <a:prstGeom prst="roundRect">
            <a:avLst>
              <a:gd name="adj" fmla="val 9756"/>
            </a:avLst>
          </a:prstGeom>
          <a:solidFill>
            <a:srgbClr val="F1F5F9"/>
          </a:solidFill>
          <a:ln/>
          <a:effectLst>
            <a:outerShdw sx="100000" sy="100000" kx="0" ky="0" algn="bl" rotWithShape="0" blurRad="127000" dist="50800" dir="5400000">
              <a:srgbClr val="8A93A6">
                <a:alpha val="13000"/>
              </a:srgbClr>
            </a:outerShdw>
          </a:effectLst>
        </p:spPr>
      </p:sp>
      <p:sp>
        <p:nvSpPr>
          <p:cNvPr id="5" name="Text 3"/>
          <p:cNvSpPr/>
          <p:nvPr/>
        </p:nvSpPr>
        <p:spPr>
          <a:xfrm>
            <a:off x="868680" y="1645920"/>
            <a:ext cx="2743200" cy="566928"/>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Amazon — Rufus</a:t>
            </a:r>
            <a:endParaRPr lang="en-US" sz="1100" dirty="0"/>
          </a:p>
        </p:txBody>
      </p:sp>
      <p:sp>
        <p:nvSpPr>
          <p:cNvPr id="6" name="Text 4"/>
          <p:cNvSpPr/>
          <p:nvPr/>
        </p:nvSpPr>
        <p:spPr>
          <a:xfrm>
            <a:off x="3703320" y="1627632"/>
            <a:ext cx="7680960" cy="402336"/>
          </a:xfrm>
          <a:prstGeom prst="rect">
            <a:avLst/>
          </a:prstGeom>
          <a:noFill/>
          <a:ln/>
        </p:spPr>
        <p:txBody>
          <a:bodyPr wrap="square" lIns="0" tIns="0" rIns="0" bIns="0" rtlCol="0" anchor="t"/>
          <a:lstStyle/>
          <a:p>
            <a:pPr indent="0" marL="0">
              <a:buNone/>
            </a:pPr>
            <a:r>
              <a:rPr lang="en-US" sz="1000" dirty="0">
                <a:solidFill>
                  <a:srgbClr val="0F172A"/>
                </a:solidFill>
                <a:latin typeface="Arial" pitchFamily="34" charset="0"/>
                <a:ea typeface="Arial" pitchFamily="34" charset="-122"/>
                <a:cs typeface="Arial" pitchFamily="34" charset="-120"/>
              </a:rPr>
              <a:t>Amazon Science, “The technology behind Amazon's GenAI shopping assistant, Rufus” (2024); scale &amp; sales via Amazon Q4 2025 earnings.</a:t>
            </a:r>
            <a:endParaRPr lang="en-US" sz="1000" dirty="0"/>
          </a:p>
        </p:txBody>
      </p:sp>
      <p:sp>
        <p:nvSpPr>
          <p:cNvPr id="7" name="Text 5"/>
          <p:cNvSpPr/>
          <p:nvPr/>
        </p:nvSpPr>
        <p:spPr>
          <a:xfrm>
            <a:off x="3703320" y="2029968"/>
            <a:ext cx="7680960" cy="237744"/>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amazon.science/blog/…-rufus</a:t>
            </a:r>
            <a:endParaRPr lang="en-US" sz="850" dirty="0"/>
          </a:p>
        </p:txBody>
      </p:sp>
      <p:sp>
        <p:nvSpPr>
          <p:cNvPr id="8" name="Shape 6"/>
          <p:cNvSpPr/>
          <p:nvPr/>
        </p:nvSpPr>
        <p:spPr>
          <a:xfrm>
            <a:off x="640080" y="2377440"/>
            <a:ext cx="10927080" cy="749808"/>
          </a:xfrm>
          <a:prstGeom prst="roundRect">
            <a:avLst>
              <a:gd name="adj" fmla="val 9756"/>
            </a:avLst>
          </a:prstGeom>
          <a:solidFill>
            <a:srgbClr val="FFFFFF"/>
          </a:solidFill>
          <a:ln/>
        </p:spPr>
      </p:sp>
      <p:sp>
        <p:nvSpPr>
          <p:cNvPr id="9" name="Shape 7"/>
          <p:cNvSpPr/>
          <p:nvPr/>
        </p:nvSpPr>
        <p:spPr>
          <a:xfrm>
            <a:off x="640080" y="2377440"/>
            <a:ext cx="10927080" cy="749808"/>
          </a:xfrm>
          <a:prstGeom prst="roundRect">
            <a:avLst>
              <a:gd name="adj" fmla="val 9756"/>
            </a:avLst>
          </a:prstGeom>
          <a:solidFill>
            <a:srgbClr val="FFFFFF">
              <a:alpha val="0"/>
            </a:srgbClr>
          </a:solidFill>
          <a:ln w="12700">
            <a:solidFill>
              <a:srgbClr val="DCE3EC"/>
            </a:solidFill>
            <a:prstDash val="solid"/>
          </a:ln>
        </p:spPr>
      </p:sp>
      <p:sp>
        <p:nvSpPr>
          <p:cNvPr id="10" name="Text 8"/>
          <p:cNvSpPr/>
          <p:nvPr/>
        </p:nvSpPr>
        <p:spPr>
          <a:xfrm>
            <a:off x="868680" y="2468880"/>
            <a:ext cx="2743200" cy="566928"/>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Amazon — COSMO</a:t>
            </a:r>
            <a:endParaRPr lang="en-US" sz="1100" dirty="0"/>
          </a:p>
        </p:txBody>
      </p:sp>
      <p:sp>
        <p:nvSpPr>
          <p:cNvPr id="11" name="Text 9"/>
          <p:cNvSpPr/>
          <p:nvPr/>
        </p:nvSpPr>
        <p:spPr>
          <a:xfrm>
            <a:off x="3703320" y="2450592"/>
            <a:ext cx="7680960" cy="402336"/>
          </a:xfrm>
          <a:prstGeom prst="rect">
            <a:avLst/>
          </a:prstGeom>
          <a:noFill/>
          <a:ln/>
        </p:spPr>
        <p:txBody>
          <a:bodyPr wrap="square" lIns="0" tIns="0" rIns="0" bIns="0" rtlCol="0" anchor="t"/>
          <a:lstStyle/>
          <a:p>
            <a:pPr indent="0" marL="0">
              <a:buNone/>
            </a:pPr>
            <a:r>
              <a:rPr lang="en-US" sz="1000" dirty="0">
                <a:solidFill>
                  <a:srgbClr val="0F172A"/>
                </a:solidFill>
                <a:latin typeface="Arial" pitchFamily="34" charset="0"/>
                <a:ea typeface="Arial" pitchFamily="34" charset="-122"/>
                <a:cs typeface="Arial" pitchFamily="34" charset="-120"/>
              </a:rPr>
              <a:t>Commonsense knowledge graph built with LLMs, ACM SIGMOD 2024.</a:t>
            </a:r>
            <a:endParaRPr lang="en-US" sz="1000" dirty="0"/>
          </a:p>
        </p:txBody>
      </p:sp>
      <p:sp>
        <p:nvSpPr>
          <p:cNvPr id="12" name="Text 10"/>
          <p:cNvSpPr/>
          <p:nvPr/>
        </p:nvSpPr>
        <p:spPr>
          <a:xfrm>
            <a:off x="3703320" y="2852928"/>
            <a:ext cx="7680960" cy="237744"/>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amazon.science (COSMO, SIGMOD 2024)</a:t>
            </a:r>
            <a:endParaRPr lang="en-US" sz="850" dirty="0"/>
          </a:p>
        </p:txBody>
      </p:sp>
      <p:sp>
        <p:nvSpPr>
          <p:cNvPr id="13" name="Shape 11"/>
          <p:cNvSpPr/>
          <p:nvPr/>
        </p:nvSpPr>
        <p:spPr>
          <a:xfrm>
            <a:off x="640080" y="3200400"/>
            <a:ext cx="10927080" cy="749808"/>
          </a:xfrm>
          <a:prstGeom prst="roundRect">
            <a:avLst>
              <a:gd name="adj" fmla="val 9756"/>
            </a:avLst>
          </a:prstGeom>
          <a:solidFill>
            <a:srgbClr val="F1F5F9"/>
          </a:solidFill>
          <a:ln/>
          <a:effectLst>
            <a:outerShdw sx="100000" sy="100000" kx="0" ky="0" algn="bl" rotWithShape="0" blurRad="127000" dist="50800" dir="5400000">
              <a:srgbClr val="8A93A6">
                <a:alpha val="13000"/>
              </a:srgbClr>
            </a:outerShdw>
          </a:effectLst>
        </p:spPr>
      </p:sp>
      <p:sp>
        <p:nvSpPr>
          <p:cNvPr id="14" name="Text 12"/>
          <p:cNvSpPr/>
          <p:nvPr/>
        </p:nvSpPr>
        <p:spPr>
          <a:xfrm>
            <a:off x="868680" y="3291840"/>
            <a:ext cx="2743200" cy="566928"/>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Alibaba — URM</a:t>
            </a:r>
            <a:endParaRPr lang="en-US" sz="1100" dirty="0"/>
          </a:p>
        </p:txBody>
      </p:sp>
      <p:sp>
        <p:nvSpPr>
          <p:cNvPr id="15" name="Text 13"/>
          <p:cNvSpPr/>
          <p:nvPr/>
        </p:nvSpPr>
        <p:spPr>
          <a:xfrm>
            <a:off x="3703320" y="3273552"/>
            <a:ext cx="7680960" cy="402336"/>
          </a:xfrm>
          <a:prstGeom prst="rect">
            <a:avLst/>
          </a:prstGeom>
          <a:noFill/>
          <a:ln/>
        </p:spPr>
        <p:txBody>
          <a:bodyPr wrap="square" lIns="0" tIns="0" rIns="0" bIns="0" rtlCol="0" anchor="t"/>
          <a:lstStyle/>
          <a:p>
            <a:pPr indent="0" marL="0">
              <a:buNone/>
            </a:pPr>
            <a:r>
              <a:rPr lang="en-US" sz="1000" dirty="0">
                <a:solidFill>
                  <a:srgbClr val="0F172A"/>
                </a:solidFill>
                <a:latin typeface="Arial" pitchFamily="34" charset="0"/>
                <a:ea typeface="Arial" pitchFamily="34" charset="-122"/>
                <a:cs typeface="Arial" pitchFamily="34" charset="-120"/>
              </a:rPr>
              <a:t>Jiang et al., “LLM as Universal Retriever in Industrial-Scale Recommender System” (2025).</a:t>
            </a:r>
            <a:endParaRPr lang="en-US" sz="1000" dirty="0"/>
          </a:p>
        </p:txBody>
      </p:sp>
      <p:sp>
        <p:nvSpPr>
          <p:cNvPr id="16" name="Text 14"/>
          <p:cNvSpPr/>
          <p:nvPr/>
        </p:nvSpPr>
        <p:spPr>
          <a:xfrm>
            <a:off x="3703320" y="3675888"/>
            <a:ext cx="7680960" cy="237744"/>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arxiv.org/abs/2502.03041</a:t>
            </a:r>
            <a:endParaRPr lang="en-US" sz="850" dirty="0"/>
          </a:p>
        </p:txBody>
      </p:sp>
      <p:sp>
        <p:nvSpPr>
          <p:cNvPr id="17" name="Shape 15"/>
          <p:cNvSpPr/>
          <p:nvPr/>
        </p:nvSpPr>
        <p:spPr>
          <a:xfrm>
            <a:off x="640080" y="4023360"/>
            <a:ext cx="10927080" cy="749808"/>
          </a:xfrm>
          <a:prstGeom prst="roundRect">
            <a:avLst>
              <a:gd name="adj" fmla="val 9756"/>
            </a:avLst>
          </a:prstGeom>
          <a:solidFill>
            <a:srgbClr val="FFFFFF"/>
          </a:solidFill>
          <a:ln/>
        </p:spPr>
      </p:sp>
      <p:sp>
        <p:nvSpPr>
          <p:cNvPr id="18" name="Shape 16"/>
          <p:cNvSpPr/>
          <p:nvPr/>
        </p:nvSpPr>
        <p:spPr>
          <a:xfrm>
            <a:off x="640080" y="4023360"/>
            <a:ext cx="10927080" cy="749808"/>
          </a:xfrm>
          <a:prstGeom prst="roundRect">
            <a:avLst>
              <a:gd name="adj" fmla="val 9756"/>
            </a:avLst>
          </a:prstGeom>
          <a:solidFill>
            <a:srgbClr val="FFFFFF">
              <a:alpha val="0"/>
            </a:srgbClr>
          </a:solidFill>
          <a:ln w="12700">
            <a:solidFill>
              <a:srgbClr val="DCE3EC"/>
            </a:solidFill>
            <a:prstDash val="solid"/>
          </a:ln>
        </p:spPr>
      </p:sp>
      <p:sp>
        <p:nvSpPr>
          <p:cNvPr id="19" name="Text 17"/>
          <p:cNvSpPr/>
          <p:nvPr/>
        </p:nvSpPr>
        <p:spPr>
          <a:xfrm>
            <a:off x="868680" y="4114800"/>
            <a:ext cx="2743200" cy="566928"/>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Alibaba — LUM &amp; RecGPT</a:t>
            </a:r>
            <a:endParaRPr lang="en-US" sz="1100" dirty="0"/>
          </a:p>
        </p:txBody>
      </p:sp>
      <p:sp>
        <p:nvSpPr>
          <p:cNvPr id="20" name="Text 18"/>
          <p:cNvSpPr/>
          <p:nvPr/>
        </p:nvSpPr>
        <p:spPr>
          <a:xfrm>
            <a:off x="3703320" y="4096512"/>
            <a:ext cx="7680960" cy="402336"/>
          </a:xfrm>
          <a:prstGeom prst="rect">
            <a:avLst/>
          </a:prstGeom>
          <a:noFill/>
          <a:ln/>
        </p:spPr>
        <p:txBody>
          <a:bodyPr wrap="square" lIns="0" tIns="0" rIns="0" bIns="0" rtlCol="0" anchor="t"/>
          <a:lstStyle/>
          <a:p>
            <a:pPr indent="0" marL="0">
              <a:buNone/>
            </a:pPr>
            <a:r>
              <a:rPr lang="en-US" sz="1000" dirty="0">
                <a:solidFill>
                  <a:srgbClr val="0F172A"/>
                </a:solidFill>
                <a:latin typeface="Arial" pitchFamily="34" charset="0"/>
                <a:ea typeface="Arial" pitchFamily="34" charset="-122"/>
                <a:cs typeface="Arial" pitchFamily="34" charset="-120"/>
              </a:rPr>
              <a:t>Yan et al., “Large User Model” (2025); Yi et al., “RecGPT Technical Report” (2025).</a:t>
            </a:r>
            <a:endParaRPr lang="en-US" sz="1000" dirty="0"/>
          </a:p>
        </p:txBody>
      </p:sp>
      <p:sp>
        <p:nvSpPr>
          <p:cNvPr id="21" name="Text 19"/>
          <p:cNvSpPr/>
          <p:nvPr/>
        </p:nvSpPr>
        <p:spPr>
          <a:xfrm>
            <a:off x="3703320" y="4498848"/>
            <a:ext cx="7680960" cy="237744"/>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arXiv 2025 (LUM); RecGPT report, Aug 2025</a:t>
            </a:r>
            <a:endParaRPr lang="en-US" sz="850" dirty="0"/>
          </a:p>
        </p:txBody>
      </p:sp>
      <p:sp>
        <p:nvSpPr>
          <p:cNvPr id="22" name="Shape 20"/>
          <p:cNvSpPr/>
          <p:nvPr/>
        </p:nvSpPr>
        <p:spPr>
          <a:xfrm>
            <a:off x="640080" y="4846320"/>
            <a:ext cx="10927080" cy="749808"/>
          </a:xfrm>
          <a:prstGeom prst="roundRect">
            <a:avLst>
              <a:gd name="adj" fmla="val 9756"/>
            </a:avLst>
          </a:prstGeom>
          <a:solidFill>
            <a:srgbClr val="F1F5F9"/>
          </a:solidFill>
          <a:ln/>
          <a:effectLst>
            <a:outerShdw sx="100000" sy="100000" kx="0" ky="0" algn="bl" rotWithShape="0" blurRad="127000" dist="50800" dir="5400000">
              <a:srgbClr val="8A93A6">
                <a:alpha val="13000"/>
              </a:srgbClr>
            </a:outerShdw>
          </a:effectLst>
        </p:spPr>
      </p:sp>
      <p:sp>
        <p:nvSpPr>
          <p:cNvPr id="23" name="Text 21"/>
          <p:cNvSpPr/>
          <p:nvPr/>
        </p:nvSpPr>
        <p:spPr>
          <a:xfrm>
            <a:off x="868680" y="4937760"/>
            <a:ext cx="2743200" cy="566928"/>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JD.com — GenCTR &amp; GRAM</a:t>
            </a:r>
            <a:endParaRPr lang="en-US" sz="1100" dirty="0"/>
          </a:p>
        </p:txBody>
      </p:sp>
      <p:sp>
        <p:nvSpPr>
          <p:cNvPr id="24" name="Text 22"/>
          <p:cNvSpPr/>
          <p:nvPr/>
        </p:nvSpPr>
        <p:spPr>
          <a:xfrm>
            <a:off x="3703320" y="4919472"/>
            <a:ext cx="7680960" cy="402336"/>
          </a:xfrm>
          <a:prstGeom prst="rect">
            <a:avLst/>
          </a:prstGeom>
          <a:noFill/>
          <a:ln/>
        </p:spPr>
        <p:txBody>
          <a:bodyPr wrap="square" lIns="0" tIns="0" rIns="0" bIns="0" rtlCol="0" anchor="t"/>
          <a:lstStyle/>
          <a:p>
            <a:pPr indent="0" marL="0">
              <a:buNone/>
            </a:pPr>
            <a:r>
              <a:rPr lang="en-US" sz="1000" dirty="0">
                <a:solidFill>
                  <a:srgbClr val="0F172A"/>
                </a:solidFill>
                <a:latin typeface="Arial" pitchFamily="34" charset="0"/>
                <a:ea typeface="Arial" pitchFamily="34" charset="-122"/>
                <a:cs typeface="Arial" pitchFamily="34" charset="-120"/>
              </a:rPr>
              <a:t>Kong et al., “Generative CTR Prediction…” (2025); JD “GRAM: Generative Retrieval and Alignment” (2025).</a:t>
            </a:r>
            <a:endParaRPr lang="en-US" sz="1000" dirty="0"/>
          </a:p>
        </p:txBody>
      </p:sp>
      <p:sp>
        <p:nvSpPr>
          <p:cNvPr id="25" name="Text 23"/>
          <p:cNvSpPr/>
          <p:nvPr/>
        </p:nvSpPr>
        <p:spPr>
          <a:xfrm>
            <a:off x="3703320" y="5321808"/>
            <a:ext cx="7680960" cy="237744"/>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arxiv.org/abs/2507.11246</a:t>
            </a:r>
            <a:endParaRPr lang="en-US" sz="850" dirty="0"/>
          </a:p>
        </p:txBody>
      </p:sp>
      <p:sp>
        <p:nvSpPr>
          <p:cNvPr id="26" name="Shape 24"/>
          <p:cNvSpPr/>
          <p:nvPr/>
        </p:nvSpPr>
        <p:spPr>
          <a:xfrm>
            <a:off x="640080" y="5669280"/>
            <a:ext cx="10927080" cy="749808"/>
          </a:xfrm>
          <a:prstGeom prst="roundRect">
            <a:avLst>
              <a:gd name="adj" fmla="val 9756"/>
            </a:avLst>
          </a:prstGeom>
          <a:solidFill>
            <a:srgbClr val="FFFFFF"/>
          </a:solidFill>
          <a:ln/>
        </p:spPr>
      </p:sp>
      <p:sp>
        <p:nvSpPr>
          <p:cNvPr id="27" name="Shape 25"/>
          <p:cNvSpPr/>
          <p:nvPr/>
        </p:nvSpPr>
        <p:spPr>
          <a:xfrm>
            <a:off x="640080" y="5669280"/>
            <a:ext cx="10927080" cy="749808"/>
          </a:xfrm>
          <a:prstGeom prst="roundRect">
            <a:avLst>
              <a:gd name="adj" fmla="val 9756"/>
            </a:avLst>
          </a:prstGeom>
          <a:solidFill>
            <a:srgbClr val="FFFFFF">
              <a:alpha val="0"/>
            </a:srgbClr>
          </a:solidFill>
          <a:ln w="12700">
            <a:solidFill>
              <a:srgbClr val="DCE3EC"/>
            </a:solidFill>
            <a:prstDash val="solid"/>
          </a:ln>
        </p:spPr>
      </p:sp>
      <p:sp>
        <p:nvSpPr>
          <p:cNvPr id="28" name="Text 26"/>
          <p:cNvSpPr/>
          <p:nvPr/>
        </p:nvSpPr>
        <p:spPr>
          <a:xfrm>
            <a:off x="868680" y="5760720"/>
            <a:ext cx="2743200" cy="566928"/>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User-class / cold-start</a:t>
            </a:r>
            <a:endParaRPr lang="en-US" sz="1100" dirty="0"/>
          </a:p>
        </p:txBody>
      </p:sp>
      <p:sp>
        <p:nvSpPr>
          <p:cNvPr id="29" name="Text 27"/>
          <p:cNvSpPr/>
          <p:nvPr/>
        </p:nvSpPr>
        <p:spPr>
          <a:xfrm>
            <a:off x="3703320" y="5742432"/>
            <a:ext cx="7680960" cy="402336"/>
          </a:xfrm>
          <a:prstGeom prst="rect">
            <a:avLst/>
          </a:prstGeom>
          <a:noFill/>
          <a:ln/>
        </p:spPr>
        <p:txBody>
          <a:bodyPr wrap="square" lIns="0" tIns="0" rIns="0" bIns="0" rtlCol="0" anchor="t"/>
          <a:lstStyle/>
          <a:p>
            <a:pPr indent="0" marL="0">
              <a:buNone/>
            </a:pPr>
            <a:r>
              <a:rPr lang="en-US" sz="1000" dirty="0">
                <a:solidFill>
                  <a:srgbClr val="0F172A"/>
                </a:solidFill>
                <a:latin typeface="Arial" pitchFamily="34" charset="0"/>
                <a:ea typeface="Arial" pitchFamily="34" charset="-122"/>
                <a:cs typeface="Arial" pitchFamily="34" charset="-120"/>
              </a:rPr>
              <a:t>Netflix cold-start (Li et al., Nov 2025); video-platform cold-start study (Aug 2025); cold-start LLM survey (2025).</a:t>
            </a:r>
            <a:endParaRPr lang="en-US" sz="1000" dirty="0"/>
          </a:p>
        </p:txBody>
      </p:sp>
      <p:sp>
        <p:nvSpPr>
          <p:cNvPr id="30" name="Text 28"/>
          <p:cNvSpPr/>
          <p:nvPr/>
        </p:nvSpPr>
        <p:spPr>
          <a:xfrm>
            <a:off x="3703320" y="6144768"/>
            <a:ext cx="7680960" cy="237744"/>
          </a:xfrm>
          <a:prstGeom prst="rect">
            <a:avLst/>
          </a:prstGeom>
          <a:noFill/>
          <a:ln/>
        </p:spPr>
        <p:txBody>
          <a:bodyPr wrap="square" lIns="0" tIns="0" rIns="0" bIns="0" rtlCol="0" anchor="ctr"/>
          <a:lstStyle/>
          <a:p>
            <a:pPr indent="0" marL="0">
              <a:buNone/>
            </a:pPr>
            <a:r>
              <a:rPr lang="en-US" sz="850" i="1" dirty="0">
                <a:solidFill>
                  <a:srgbClr val="64748B"/>
                </a:solidFill>
                <a:latin typeface="Arial" pitchFamily="34" charset="0"/>
                <a:ea typeface="Arial" pitchFamily="34" charset="-122"/>
                <a:cs typeface="Arial" pitchFamily="34" charset="-120"/>
              </a:rPr>
              <a:t>arXiv 2025</a:t>
            </a:r>
            <a:endParaRPr lang="en-US" sz="850" dirty="0"/>
          </a:p>
        </p:txBody>
      </p:sp>
      <p:sp>
        <p:nvSpPr>
          <p:cNvPr id="31" name="Text 29"/>
          <p:cNvSpPr/>
          <p:nvPr/>
        </p:nvSpPr>
        <p:spPr>
          <a:xfrm>
            <a:off x="640080" y="6537960"/>
            <a:ext cx="10927080" cy="365760"/>
          </a:xfrm>
          <a:prstGeom prst="rect">
            <a:avLst/>
          </a:prstGeom>
          <a:noFill/>
          <a:ln/>
        </p:spPr>
        <p:txBody>
          <a:bodyPr wrap="square" lIns="0" tIns="0" rIns="0" bIns="0" rtlCol="0" anchor="ctr"/>
          <a:lstStyle/>
          <a:p>
            <a:pPr indent="0" marL="0">
              <a:buNone/>
            </a:pPr>
            <a:r>
              <a:rPr lang="en-US" sz="950" i="1" dirty="0">
                <a:solidFill>
                  <a:srgbClr val="64748B"/>
                </a:solidFill>
                <a:latin typeface="Arial" pitchFamily="34" charset="0"/>
                <a:ea typeface="Arial" pitchFamily="34" charset="-122"/>
                <a:cs typeface="Arial" pitchFamily="34" charset="-120"/>
              </a:rPr>
              <a:t>Note: pre-GPT milestones (item-to-item CF 1998/2003; EGES &amp; DIN 2018; JD Telepath 2017) are historical; all quantitative effectiveness figures above are from 2024–2026 publications.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 Recommendation Systems in E-Commerce — Technical Team</dc:title>
  <dc:subject>PptxGenJS Presentation</dc:subject>
  <dc:creator>Recommendation Systems Briefing</dc:creator>
  <cp:lastModifiedBy>Recommendation Systems Briefing</cp:lastModifiedBy>
  <cp:revision>1</cp:revision>
  <dcterms:created xsi:type="dcterms:W3CDTF">2026-07-01T05:15:31Z</dcterms:created>
  <dcterms:modified xsi:type="dcterms:W3CDTF">2026-07-01T05:15:31Z</dcterms:modified>
</cp:coreProperties>
</file>