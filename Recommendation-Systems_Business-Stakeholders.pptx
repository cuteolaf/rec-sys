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lift</c:v>
                </c:pt>
              </c:strCache>
            </c:strRef>
          </c:tx>
          <c:spPr>
            <a:solidFill>
              <a:srgbClr val="4A6FA5"/>
            </a:solidFill>
            <a:effectLst/>
          </c:spPr>
          <c:invertIfNegative val="0"/>
          <c:dLbls>
            <c:numFmt formatCode="0.0&quot;%&quot;" sourceLinked="0"/>
            <c:txPr>
              <a:bodyPr/>
              <a:lstStyle/>
              <a:p>
                <a:pPr>
                  <a:defRPr b="1" i="0" strike="noStrike" sz="1300" u="none">
                    <a:solidFill>
                      <a:srgbClr val="1A2238"/>
                    </a:solidFill>
                    <a:latin typeface="Arial"/>
                  </a:defRPr>
                </a:pPr>
              </a:p>
            </c:txPr>
            <c:showLegendKey val="0"/>
            <c:showVal val="1"/>
            <c:showCatName val="0"/>
            <c:showSerName val="0"/>
            <c:showPercent val="0"/>
            <c:showBubbleSize val="0"/>
            <c:showLeaderLines val="0"/>
          </c:dLbls>
          <c:dPt>
            <c:idx val="0"/>
            <c:invertIfNegative val="0"/>
            <c:bubble3D val="0"/>
            <c:spPr>
              <a:solidFill>
                <a:srgbClr val="4A6FA5"/>
              </a:solidFill>
              <a:effectLst/>
            </c:spPr>
          </c:dPt>
          <c:dPt>
            <c:idx val="1"/>
            <c:invertIfNegative val="0"/>
            <c:bubble3D val="0"/>
            <c:spPr>
              <a:solidFill>
                <a:srgbClr val="1E2761"/>
              </a:solidFill>
              <a:effectLst/>
            </c:spPr>
          </c:dPt>
          <c:dPt>
            <c:idx val="2"/>
            <c:invertIfNegative val="0"/>
            <c:bubble3D val="0"/>
            <c:spPr>
              <a:solidFill>
                <a:srgbClr val="C9A227"/>
              </a:solidFill>
              <a:effectLst/>
            </c:spPr>
          </c:dPt>
          <c:cat>
            <c:multiLvlStrRef>
              <c:f>Sheet1!$A$2:$A$4</c:f>
              <c:multiLvlStrCache>
                <c:ptCount val="3"/>
                <c:lvl>
                  <c:pt idx="0">
                    <c:v>Typical low</c:v>
                  </c:pt>
                  <c:pt idx="1">
                    <c:v>Most often</c:v>
                  </c:pt>
                  <c:pt idx="2">
                    <c:v>Sector high</c:v>
                  </c:pt>
                </c:lvl>
              </c:multiLvlStrCache>
            </c:multiLvlStrRef>
          </c:cat>
          <c:val>
            <c:numRef>
              <c:f>Sheet1!$B$2:$B$4</c:f>
              <c:numCache>
                <c:formatCode>General</c:formatCode>
                <c:ptCount val="3"/>
                <c:pt idx="0">
                  <c:v>5</c:v>
                </c:pt>
                <c:pt idx="1">
                  <c:v>12.5</c:v>
                </c:pt>
                <c:pt idx="2">
                  <c:v>25</c:v>
                </c:pt>
              </c:numCache>
            </c:numRef>
          </c:val>
        </c:ser>
        <c:dLbls>
          <c:numFmt formatCode="0.0&quot;%&quot;" sourceLinked="0"/>
          <c:txPr>
            <a:bodyPr/>
            <a:lstStyle/>
            <a:p>
              <a:pPr>
                <a:defRPr b="1" i="0" strike="noStrike" sz="1300" u="none">
                  <a:solidFill>
                    <a:srgbClr val="1A223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B6478"/>
                </a:solidFill>
                <a:latin typeface="Arial"/>
              </a:defRPr>
            </a:pPr>
            <a:endParaRPr lang="en-US"/>
          </a:p>
        </c:txPr>
        <c:crossAx val="2094734552"/>
        <c:crosses val="autoZero"/>
        <c:auto val="1"/>
        <c:lblAlgn val="ctr"/>
        <c:noMultiLvlLbl val="1"/>
      </c:catAx>
      <c:valAx>
        <c:axId val="2094734552"/>
        <c:scaling>
          <c:orientation val="minMax"/>
          <c:max val="2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showcase for business stakeholders. Goal: demonstrate the projected effect of integrating a recommendation system into our existing platform, using published benchmarks. The deck opens with an at-a-glance impact summary, then supports it: why it's needed, the revenue sizing, value chain, proof at scale, SWOT, risks, a phased plan grounded in a real precedent (Amazon), and how we'd measure ROI. Every statistic is attributed to a published source, with full references on the final slide.
— MODIFIABLE FOR YOUR PLATFORM —
• Swap in your name and the presentation date.
• Retitle to match the specific initiative or business unit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punchline so the effect lands immediately. Three benchmark stats set the ceiling and the planning band: Salesforce's 2024 Shopping Index found AI recommendations drove ~17% of global orders and lifted AOV ~7%, while McKinsey's 2021 research puts the typical revenue lift at 5–15%. Applied to a $100M revenue base, that models roughly $5–15M of added revenue a year. The KPI pills show which numbers move, and the proof line previews the case studies. Everything here is expanded and sourced in the slides that follow.
— MODIFIABLE FOR YOUR PLATFORM —
• Replace $100M with our actual annual revenue so the modeled uplift is ours.
• If we have a target surface (e.g., home feed) or a specific KPI baseline, add it here.
— ABBREVIATIONS —
• AOV = Average Order Value
• AI = Artificial Intelligence
— SOURCES —
• Salesforce Shopping Index, 2024 — AI drove ~17% of global orders; +7% AOV with AI/agents.
• McKinsey &amp; Company, “The value of getting personalization right—or wrong—is multiplying,” 2021 — 5–15% revenue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the problem in business terms before any money talk. Two structural problems — discovery and choice overload — both mean lost revenue, and a third force (customer expectation) makes this urgent. The right panel quantifies the prize with recent data: Salesforce's 2024 Shopping Index (1.5 billion shoppers) found AI — including personalized recommendations — drove 17% of global online orders, and retailers using generative AI saw 7% higher average order value. The 71%/76% expectation figures are from McKinsey's 2021 personalization report.
— MODIFIABLE FOR YOUR PLATFORM —
• Replace the discovery framing with your platform's catalog size and the share of SKUs that get little or no impressions.
• If you have internal data on un-converted browsing sessions, add it here.
— ABBREVIATIONS —
• SKU = Stock-Keeping Unit (a distinct purchasable product)
• AOV = Average Order Value
• AI = Artificial Intelligence
— SOURCES —
• Salesforce Shopping Index, 2024 — AI drove 17% of global orders; +7% AOV for retailers using generative AI (analysis of 1.5B shoppers).
• McKinsey &amp; Company, “The value of getting personalization right—or wrong—is multiplying,” 2021 — 71% expect personalization, 76% frustrated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'how much would it raise revenue?' honestly. We can't promise a number without our own data, so we apply McKinsey's published 5–15% revenue-lift range to a round revenue base and show the modeled uplift. Stress that the percentages are sourced and $100M is a placeholder to swap for our real revenue — this is a sizing model, not a forecast. Even at the low end, the absolute dollars usually dwarf the build cost.
— MODIFIABLE FOR YOUR PLATFORM —
• Replace $100M with our actual annual revenue — the tiles will then show our modeled uplift.
• If finance prefers a narrower band, use the 10–15% 'most often' figure rather than the full 5–15%.
— ABBREVIATIONS —
• ROI = Return on Investment
• CAC = Customer-Acquisition Cost
— SOURCES —
• McKinsey &amp; Company, “The value of getting personalization right—or wrong—is multiplying,” 2021 — 5–15% revenue lift, CAC −50%, marketing ROI +10–30%, 40% more revenue from personalization.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causal chain explicit: relevance drives engagement and discovery, which lifts the three KPIs executives track — conversion, average order value, retention — rolling up to revenue and lifetime value. Tie each box to a metric already on our dashboard. No external statistic here; this is the mechanism behind the sourced numbers on the previous slides.
— MODIFIABLE FOR YOUR PLATFORM —
• Replace the three KPI boxes with the exact metrics on our executive dashboard and add current baselines.
— ABBREVIATIONS —
• AOV = Average Order Value (revenue ÷ orders)
• LTV = Lifetime Value (expected revenue per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surface exists to move a number. Personalized feeds deepen engagement; frequently bought together is basket-size cross-sell; trending converts shoppers you know little about; similar items extends the session; recently viewed recovers intent. Lead with the two or three surfaces that map to our biggest current gap.
— ABBREVIATIONS —
• FBT = Frequently Bought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one slide, no jargon: this is learned automation, not hand-built rules. If a stakeholder wants the mechanics, point them to the technical deck.
— MODIFIABLE FOR YOUR PLATFORM —
• If your audience is more hands-on, name the approach you'll start with (e.g., 'frequently bought together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Neutralize 'do we really need this?' Three of the largest retailers on earth treat recommendations as core infrastructure. Amazon's item-to-item approach (1998, published 2003) became the industry template. Alibaba's Taobao runs a personalized 'Guess What You Like' feed using graph embeddings (the EGES method, KDD 2018). JD.com ties deep-learning relevance to a business doing $100B+ GMV. Each claim is sourced on the references slide.
— MODIFIABLE FOR YOUR PLATFORM —
• If you compete with specific players, swap in the most relevant competitors and any public evidence of their recommendation efforts.
— ABBREVIATIONS —
• EGES = Enhanced Graph Embedding with Side information (Alibaba)
• CTR = Click-Through Rate
• GMV = Gross Merchandise Value
• JD = Jingdong (JD.com)
— SOURCES —
• Smith &amp; Linden, “Two Decades of Recommender Systems at Amazon.com,” IEEE Internet Computing, 2017.
• Wang et al., “Billion-scale Commodity Embedding for E-commerce Recommendation in Alibaba,” KDD 2018 (arXiv:1803.02349).
• Li et al., “From Semantic Retrieval to Pairwise Ranking” (JD.com), 2021 (arXiv:2103.12982); JD scale per arXiv:1709.00300.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strategic read in one view. Strengths and weaknesses are internal (our data and capabilities); opportunities and threats are external (market and regulation). The cited figures in the bottom two quadrants are from McKinsey 2021 — the upside (5–15% lift, expectation, −50% CAC) and the downside (poorly executed personalization can reduce revenue ~5%). Use this to frame an honest go/no-go discussion.
— MODIFIABLE FOR YOUR PLATFORM —
• Tailor each quadrant to our reality: our actual data assets, our talent gaps, our specific competitors, and the regulations in our markets.
— ABBREVIATIONS —
• SWOT = Strengths, Weaknesses, Opportunities, Threats
• GDPR = EU General Data Protection Regulation
• CCPA = California Consumer Privacy Act
• AOV = Average Order Value
• CAC = Customer-Acquisition Cost
— SOURCES —
• McKinsey &amp; Company, “The value of getting personalization right—or wrong—is multiplying,” 2021 — 5–15% lift; ~5% downside if done poorly; 71% expectation; CAC up to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risks are known and owned, each with a concrete mitigation — what a board wants to hear. The 'poor personalization can cut revenue ~5%' figure is McKinsey's downside estimate and is why we A/B test every change behind guardrails. Frame these as responsibilities we manage, not reasons to hesitate.
— MODIFIABLE FOR YOUR PLATFORM —
• Add regulations specific to our markets and name the data-governance owner.
• Add any category-specific brand-safety rules we require.
— ABBREVIATIONS —
• A/B test = randomized controlled experiment
— SOURCES —
• McKinsey &amp; Company, “The value of getting personalization right—or wrong—is multiplying,” 2021 — poorly executed personalization can reduce revenue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de-risks the investment: each phase ships value, so funding is earned by results. Phase 1 needs little new infra and creates the A/B baseline; Phase 2 adds real personalization; Phase 3 is where compounding returns live. Crucially, this isn't theoretical — the next slide shows Amazon followed precisely this crawl-walk-run path, with sources.
— MODIFIABLE FOR YOUR PLATFORM —
• Adjust timeframes to our team's capacity.
• Replace outcome pills with concrete targets (e.g., '+X% conversion in pilot').
• Insert budget/headcount per phase for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behind the phased plan. Amazon began with popularity and editorial curation (crawl), introduced item-to-item collaborative filtering in 1998 — computing item similarities offline for fast online lookups (walk) — published it in IEEE Internet Computing in 2003 where it proved more scalable than user-based methods, then spent two decades refining toward whole-store personalization that is continuously A/B tested (run). Both the 2017 retrospective and the 2003 paper are cited on the references slide. The takeaway: our crawl-walk-run roadmap mirrors a documented, successful path.
— MODIFIABLE FOR YOUR PLATFORM —
• If a competitor's published journey is more relevant to our market, substitute it here (keep the source).
• Adjust the dates/labels if you anchor the story on a different platform (e.g., Netflix's Prize-era progression).
— ABBREVIATIONS —
• CF = Collaborative Filtering
• A/B test = randomized controlled experiment
— SOURCES —
• Smith &amp; Linden, “Two Decades of Recommender Systems at Amazon.com,” IEEE Internet Computing, 2017.
• Linden, Smith &amp; York, “Amazon.com Recommendations: Item-to-Item Collaborative Filtering,” IEEE Internet Computing, 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credibility: we never claim a win from a dashboard moving — we prove it with a randomized A/B test against a holdout, on metrics finance recognizes. The chart shows the published benchmark range (not invented numbers): McKinsey's 5–25% sector range with 10–15% most common. We'll report our own measured lift against this benchmark once the pilot runs.
— MODIFIABLE FOR YOUR PLATFORM —
• Once the pilot runs, replace the benchmark chart with our measured A/B lift.
• Pick the primary metric finance treats as the source of truth.
— ABBREVIATIONS —
• A/B test = randomized controlled experiment
• AOV = Average Order Value
• CVR = Conversion Rate
— SOURCES —
• McKinsey &amp; Company, “The value of getting personalization right—or wrong—is multiplying,” 2021 — revenue lift most often 10–15%, sector range 5–25%.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specific, decision-ready ask: a scoped pilot, a small funded team with tooling, and an agreed success metric (benchmarked to McKinsey's 5–15% lift) that gates further spend. Keep the first commitment small and measurable so it's easy to say yes.
— MODIFIABLE FOR YOUR PLATFORM —
• Fill in the actual pilot scope, budget, headcount, and the numeric success target.
• Name the decision-makers whose sign-off you need.
— SOURCES —
• McKinsey &amp; Company, “The value of getting personalization right—or wrong—is multiplying,” 2021 — 5–15% lift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and return to the ask: clear, sourced commercial value; a phased plan that mirrors a documented success; risks owned and measured. Confirm next steps and owners.
— ABBREVIATIONS —
• AOV = Average Order Value
• GMV = Gross Merchandise Value
— SOURCES —
• Full references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attribution for every statistic used in the deck. Primary sources are the Salesforce Shopping Index (2024), McKinsey's 2021 personalization report, the Netflix paper (2015), Amazon's IEEE retrospectives (2003, 2017), the Alibaba KDD 2018 EGES paper, and the JD.com papers. Offer to share the PDFs or links with stakeholders who want to verify the numbers.
— SOURCES —
• All URLs listed on-slide; primary/peer-reviewed and company-published sources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These slides support the deck with each platform's documented recommender history — including the post-GPT (generative/LLM) era — and effectiveness by user class. Every quantitative figure is from a source published after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Amazon's arc: item-to-item CF (1998, published 2003) → whole-store deep-learning personalization (2017) → the LLM era with Rufus (2024) and COSMO. By 2025, Rufus reached 300M+ users and ~$12B incremental annualized sales (Amazon Q4 2025), with engaged shoppers converting ~60% better.
— ABBREVIATIONS —
• CF = Collaborative Filtering
• RAG = Retrieval-Augmented Generation
• GenAI = Generative AI
— SOURCES —
• Amazon Science (2024); Amazon Q4 2025 earnings; COSMO, ACM SIGMOD 2024; Linden et al., IEEE (2003).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Alibaba's Taobao moved from graph embeddings (EGES, 2018) and DIN (2018) into a wave of 2025 LLM systems: LUM (+2.9% CTR/+1.2% RPM in search A/B), URM (new-category discovery 18.8%→46.2% at tens-of-ms latency), and RecGPT (intent-centric reasoning). The clearest case of a marketplace re-platforming its recommender on generative models.
— ABBREVIATIONS —
• EGES = Enhanced Graph Embedding w/ Side info
• DIN = Deep Interest Network
• CTR = Click-Through Rate
• RPM = Revenue Per Mille
• LUM = Large User Model
• URM = Universal Retrieval Model
— SOURCES —
• Yan et al., LUM (2025); Jiang et al., URM (2025, arXiv:2502.03041); Yi et al., RecGPT (2025); Wang et al., EGES (KDD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JD.com progressed from deep-learning, vision-aware recommendation (Telepath, 2017) and deep semantic retrieval (2021) into 2025 generative systems (GenCTR, GRAM, CFRAG). JD publishes less segment-level data than Amazon/Alibaba, so this row is qualitative rather than headline percentages.
— ABBREVIATIONS —
• CTR = Click-Through Rate
• RAG = Retrieval-Augmented Generation
• GRAM = Generative Retrieval and Alignment Model
— SOURCES —
• Kong et al., GenCTR (2025, arXiv:2507.11246); JD GRAM &amp; CFRAG (2025); Zhao et al. (2017); Li et al.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consistent 2025 finding: the LLM shift delivers its biggest gains for new/cold-start users, where classical CF is weakest. Casual users gain from conversational, intent-based discovery; power users feed large user models and convert far better. Caveat on the slide: the three platforms rarely publish clean per-segment numbers, so this synthesizes 2025 studies as directional evidence.
— ABBREVIATIONS —
• CF = Collaborative Filtering
• Recall@k = share of relevant items in top k
• CTR = Click-Through Rate
• RAG = Retrieval-Augmented Generation
• URM = Universal Retrieval Model
• LUM = Large User Model
— SOURCES —
• Jiang et al., URM (2025); Yan et al., LUM (2025); Amazon Q4 2025; Li et al., Nov 2025 (Netflix cold-start); cold-start video study, Aug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citations for the appendix. All quantitative effectiveness numbers come from 2024–2026 sources; the only pre-2024 references describe historical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3A"/>
        </a:solidFill>
      </p:bgPr>
    </p:bg>
    <p:spTree>
      <p:nvGrpSpPr>
        <p:cNvPr id="1" name=""/>
        <p:cNvGrpSpPr/>
        <p:nvPr/>
      </p:nvGrpSpPr>
      <p:grpSpPr>
        <a:xfrm>
          <a:off x="0" y="0"/>
          <a:ext cx="0" cy="0"/>
          <a:chOff x="0" y="0"/>
          <a:chExt cx="0" cy="0"/>
        </a:xfrm>
      </p:grpSpPr>
      <p:sp>
        <p:nvSpPr>
          <p:cNvPr id="2" name="Shape 0"/>
          <p:cNvSpPr/>
          <p:nvPr/>
        </p:nvSpPr>
        <p:spPr>
          <a:xfrm>
            <a:off x="9738360" y="3977640"/>
            <a:ext cx="1828800" cy="-1554480"/>
          </a:xfrm>
          <a:prstGeom prst="line">
            <a:avLst/>
          </a:prstGeom>
          <a:noFill/>
          <a:ln w="15875">
            <a:solidFill>
              <a:srgbClr val="C9A227">
                <a:alpha val="55000"/>
              </a:srgbClr>
            </a:solidFill>
            <a:prstDash val="solid"/>
          </a:ln>
        </p:spPr>
      </p:sp>
      <p:sp>
        <p:nvSpPr>
          <p:cNvPr id="3" name="Shape 1"/>
          <p:cNvSpPr/>
          <p:nvPr/>
        </p:nvSpPr>
        <p:spPr>
          <a:xfrm>
            <a:off x="9738360" y="3977640"/>
            <a:ext cx="2331720" cy="-91440"/>
          </a:xfrm>
          <a:prstGeom prst="line">
            <a:avLst/>
          </a:prstGeom>
          <a:noFill/>
          <a:ln w="15875">
            <a:solidFill>
              <a:srgbClr val="C9A227">
                <a:alpha val="55000"/>
              </a:srgbClr>
            </a:solidFill>
            <a:prstDash val="solid"/>
          </a:ln>
        </p:spPr>
      </p:sp>
      <p:sp>
        <p:nvSpPr>
          <p:cNvPr id="4" name="Shape 2"/>
          <p:cNvSpPr/>
          <p:nvPr/>
        </p:nvSpPr>
        <p:spPr>
          <a:xfrm>
            <a:off x="9738360" y="3977640"/>
            <a:ext cx="1737360" cy="1371600"/>
          </a:xfrm>
          <a:prstGeom prst="line">
            <a:avLst/>
          </a:prstGeom>
          <a:noFill/>
          <a:ln w="15875">
            <a:solidFill>
              <a:srgbClr val="C9A227">
                <a:alpha val="55000"/>
              </a:srgbClr>
            </a:solidFill>
            <a:prstDash val="solid"/>
          </a:ln>
        </p:spPr>
      </p:sp>
      <p:sp>
        <p:nvSpPr>
          <p:cNvPr id="5" name="Shape 3"/>
          <p:cNvSpPr/>
          <p:nvPr/>
        </p:nvSpPr>
        <p:spPr>
          <a:xfrm>
            <a:off x="9738360" y="3977640"/>
            <a:ext cx="-457200" cy="1737360"/>
          </a:xfrm>
          <a:prstGeom prst="line">
            <a:avLst/>
          </a:prstGeom>
          <a:noFill/>
          <a:ln w="15875">
            <a:solidFill>
              <a:srgbClr val="C9A227">
                <a:alpha val="55000"/>
              </a:srgbClr>
            </a:solidFill>
            <a:prstDash val="solid"/>
          </a:ln>
        </p:spPr>
      </p:sp>
      <p:sp>
        <p:nvSpPr>
          <p:cNvPr id="6" name="Shape 4"/>
          <p:cNvSpPr/>
          <p:nvPr/>
        </p:nvSpPr>
        <p:spPr>
          <a:xfrm>
            <a:off x="9738360" y="3977640"/>
            <a:ext cx="-1554480" cy="548640"/>
          </a:xfrm>
          <a:prstGeom prst="line">
            <a:avLst/>
          </a:prstGeom>
          <a:noFill/>
          <a:ln w="15875">
            <a:solidFill>
              <a:srgbClr val="C9A227">
                <a:alpha val="55000"/>
              </a:srgbClr>
            </a:solidFill>
            <a:prstDash val="solid"/>
          </a:ln>
        </p:spPr>
      </p:sp>
      <p:sp>
        <p:nvSpPr>
          <p:cNvPr id="7" name="Shape 5"/>
          <p:cNvSpPr/>
          <p:nvPr/>
        </p:nvSpPr>
        <p:spPr>
          <a:xfrm>
            <a:off x="9738360" y="3977640"/>
            <a:ext cx="-1280160" cy="-1280160"/>
          </a:xfrm>
          <a:prstGeom prst="line">
            <a:avLst/>
          </a:prstGeom>
          <a:noFill/>
          <a:ln w="15875">
            <a:solidFill>
              <a:srgbClr val="C9A227">
                <a:alpha val="55000"/>
              </a:srgbClr>
            </a:solidFill>
            <a:prstDash val="solid"/>
          </a:ln>
        </p:spPr>
      </p:sp>
      <p:sp>
        <p:nvSpPr>
          <p:cNvPr id="8" name="Shape 6"/>
          <p:cNvSpPr/>
          <p:nvPr/>
        </p:nvSpPr>
        <p:spPr>
          <a:xfrm>
            <a:off x="11155680" y="2011680"/>
            <a:ext cx="457200" cy="457200"/>
          </a:xfrm>
          <a:prstGeom prst="ellipse">
            <a:avLst/>
          </a:prstGeom>
          <a:solidFill>
            <a:srgbClr val="EAF0FB">
              <a:alpha val="82000"/>
            </a:srgbClr>
          </a:solidFill>
          <a:ln/>
        </p:spPr>
      </p:sp>
      <p:sp>
        <p:nvSpPr>
          <p:cNvPr id="9" name="Shape 7"/>
          <p:cNvSpPr/>
          <p:nvPr/>
        </p:nvSpPr>
        <p:spPr>
          <a:xfrm>
            <a:off x="11658600" y="3474720"/>
            <a:ext cx="457200" cy="457200"/>
          </a:xfrm>
          <a:prstGeom prst="ellipse">
            <a:avLst/>
          </a:prstGeom>
          <a:solidFill>
            <a:srgbClr val="EAF0FB">
              <a:alpha val="82000"/>
            </a:srgbClr>
          </a:solidFill>
          <a:ln/>
        </p:spPr>
      </p:sp>
      <p:sp>
        <p:nvSpPr>
          <p:cNvPr id="10" name="Shape 8"/>
          <p:cNvSpPr/>
          <p:nvPr/>
        </p:nvSpPr>
        <p:spPr>
          <a:xfrm>
            <a:off x="11064240" y="4937760"/>
            <a:ext cx="457200" cy="457200"/>
          </a:xfrm>
          <a:prstGeom prst="ellipse">
            <a:avLst/>
          </a:prstGeom>
          <a:solidFill>
            <a:srgbClr val="EAF0FB">
              <a:alpha val="82000"/>
            </a:srgbClr>
          </a:solidFill>
          <a:ln/>
        </p:spPr>
      </p:sp>
      <p:sp>
        <p:nvSpPr>
          <p:cNvPr id="11" name="Shape 9"/>
          <p:cNvSpPr/>
          <p:nvPr/>
        </p:nvSpPr>
        <p:spPr>
          <a:xfrm>
            <a:off x="8869680" y="5303520"/>
            <a:ext cx="457200" cy="457200"/>
          </a:xfrm>
          <a:prstGeom prst="ellipse">
            <a:avLst/>
          </a:prstGeom>
          <a:solidFill>
            <a:srgbClr val="EAF0FB">
              <a:alpha val="82000"/>
            </a:srgbClr>
          </a:solidFill>
          <a:ln/>
        </p:spPr>
      </p:sp>
      <p:sp>
        <p:nvSpPr>
          <p:cNvPr id="12" name="Shape 10"/>
          <p:cNvSpPr/>
          <p:nvPr/>
        </p:nvSpPr>
        <p:spPr>
          <a:xfrm>
            <a:off x="7772400" y="4114800"/>
            <a:ext cx="457200" cy="457200"/>
          </a:xfrm>
          <a:prstGeom prst="ellipse">
            <a:avLst/>
          </a:prstGeom>
          <a:solidFill>
            <a:srgbClr val="EAF0FB">
              <a:alpha val="82000"/>
            </a:srgbClr>
          </a:solidFill>
          <a:ln/>
        </p:spPr>
      </p:sp>
      <p:sp>
        <p:nvSpPr>
          <p:cNvPr id="13" name="Shape 11"/>
          <p:cNvSpPr/>
          <p:nvPr/>
        </p:nvSpPr>
        <p:spPr>
          <a:xfrm>
            <a:off x="8046720" y="2286000"/>
            <a:ext cx="457200" cy="457200"/>
          </a:xfrm>
          <a:prstGeom prst="ellipse">
            <a:avLst/>
          </a:prstGeom>
          <a:solidFill>
            <a:srgbClr val="EAF0FB">
              <a:alpha val="82000"/>
            </a:srgbClr>
          </a:solidFill>
          <a:ln/>
        </p:spPr>
      </p:sp>
      <p:sp>
        <p:nvSpPr>
          <p:cNvPr id="14" name="Shape 12"/>
          <p:cNvSpPr/>
          <p:nvPr/>
        </p:nvSpPr>
        <p:spPr>
          <a:xfrm>
            <a:off x="9326880" y="3566160"/>
            <a:ext cx="822960" cy="822960"/>
          </a:xfrm>
          <a:prstGeom prst="ellipse">
            <a:avLst/>
          </a:prstGeom>
          <a:solidFill>
            <a:srgbClr val="C9A227"/>
          </a:solidFill>
          <a:ln/>
        </p:spPr>
      </p:sp>
      <p:pic>
        <p:nvPicPr>
          <p:cNvPr id="15" name="Image 0" descr="preencoded.png">    </p:cNvPr>
          <p:cNvPicPr>
            <a:picLocks noChangeAspect="1"/>
          </p:cNvPicPr>
          <p:nvPr/>
        </p:nvPicPr>
        <p:blipFill>
          <a:blip r:embed="rId1"/>
          <a:stretch>
            <a:fillRect/>
          </a:stretch>
        </p:blipFill>
        <p:spPr>
          <a:xfrm>
            <a:off x="9546336" y="3767328"/>
            <a:ext cx="384048" cy="420624"/>
          </a:xfrm>
          <a:prstGeom prst="rect">
            <a:avLst/>
          </a:prstGeom>
        </p:spPr>
      </p:pic>
      <p:sp>
        <p:nvSpPr>
          <p:cNvPr id="16" name="Text 13"/>
          <p:cNvSpPr/>
          <p:nvPr/>
        </p:nvSpPr>
        <p:spPr>
          <a:xfrm>
            <a:off x="777240" y="1188720"/>
            <a:ext cx="7315200" cy="274320"/>
          </a:xfrm>
          <a:prstGeom prst="rect">
            <a:avLst/>
          </a:prstGeom>
          <a:noFill/>
          <a:ln/>
        </p:spPr>
        <p:txBody>
          <a:bodyPr wrap="square" lIns="0" tIns="0" rIns="0" bIns="0"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E-COMMERCE  ·  THE BUSINESS CASE</a:t>
            </a:r>
            <a:endParaRPr lang="en-US" sz="1300" dirty="0"/>
          </a:p>
        </p:txBody>
      </p:sp>
      <p:sp>
        <p:nvSpPr>
          <p:cNvPr id="17" name="Text 14"/>
          <p:cNvSpPr/>
          <p:nvPr/>
        </p:nvSpPr>
        <p:spPr>
          <a:xfrm>
            <a:off x="749808" y="1627632"/>
            <a:ext cx="7223760" cy="1737360"/>
          </a:xfrm>
          <a:prstGeom prst="rect">
            <a:avLst/>
          </a:prstGeom>
          <a:noFill/>
          <a:ln/>
        </p:spPr>
        <p:txBody>
          <a:bodyPr wrap="square" lIns="0" tIns="0" rIns="0" bIns="0" rtlCol="0" anchor="ctr"/>
          <a:lstStyle/>
          <a:p>
            <a:pPr indent="0" marL="0">
              <a:lnSpc>
                <a:spcPct val="102000"/>
              </a:lnSpc>
              <a:buNone/>
            </a:pPr>
            <a:r>
              <a:rPr lang="en-US" sz="4000" b="1" dirty="0">
                <a:solidFill>
                  <a:srgbClr val="EAF0FB"/>
                </a:solidFill>
                <a:latin typeface="Cambria" pitchFamily="34" charset="0"/>
                <a:ea typeface="Cambria" pitchFamily="34" charset="-122"/>
                <a:cs typeface="Cambria" pitchFamily="34" charset="-120"/>
              </a:rPr>
              <a:t>The Business Case for Product Recommendations</a:t>
            </a:r>
            <a:endParaRPr lang="en-US" sz="4000" dirty="0"/>
          </a:p>
        </p:txBody>
      </p:sp>
      <p:sp>
        <p:nvSpPr>
          <p:cNvPr id="18" name="Text 15"/>
          <p:cNvSpPr/>
          <p:nvPr/>
        </p:nvSpPr>
        <p:spPr>
          <a:xfrm>
            <a:off x="777240" y="3611880"/>
            <a:ext cx="6949440" cy="457200"/>
          </a:xfrm>
          <a:prstGeom prst="rect">
            <a:avLst/>
          </a:prstGeom>
          <a:noFill/>
          <a:ln/>
        </p:spPr>
        <p:txBody>
          <a:bodyPr wrap="square" lIns="0" tIns="0" rIns="0" bIns="0" rtlCol="0" anchor="ctr"/>
          <a:lstStyle/>
          <a:p>
            <a:pPr indent="0" marL="0">
              <a:buNone/>
            </a:pPr>
            <a:r>
              <a:rPr lang="en-US" sz="1900" i="1" dirty="0">
                <a:solidFill>
                  <a:srgbClr val="C9A227"/>
                </a:solidFill>
                <a:latin typeface="Calibri" pitchFamily="34" charset="0"/>
                <a:ea typeface="Calibri" pitchFamily="34" charset="-122"/>
                <a:cs typeface="Calibri" pitchFamily="34" charset="-120"/>
              </a:rPr>
              <a:t>Turning a vast catalog into a personal storefront</a:t>
            </a:r>
            <a:endParaRPr lang="en-US" sz="1900" dirty="0"/>
          </a:p>
        </p:txBody>
      </p:sp>
      <p:sp>
        <p:nvSpPr>
          <p:cNvPr id="19" name="Text 16"/>
          <p:cNvSpPr/>
          <p:nvPr/>
        </p:nvSpPr>
        <p:spPr>
          <a:xfrm>
            <a:off x="777240" y="4160520"/>
            <a:ext cx="6949440" cy="365760"/>
          </a:xfrm>
          <a:prstGeom prst="rect">
            <a:avLst/>
          </a:prstGeom>
          <a:noFill/>
          <a:ln/>
        </p:spPr>
        <p:txBody>
          <a:bodyPr wrap="square" lIns="0" tIns="0" rIns="0" bIns="0" rtlCol="0" anchor="ctr"/>
          <a:lstStyle/>
          <a:p>
            <a:pPr indent="0" marL="0">
              <a:buNone/>
            </a:pPr>
            <a:r>
              <a:rPr lang="en-US" sz="1500" dirty="0">
                <a:solidFill>
                  <a:srgbClr val="EAF0FB"/>
                </a:solidFill>
                <a:latin typeface="Calibri" pitchFamily="34" charset="0"/>
                <a:ea typeface="Calibri" pitchFamily="34" charset="-122"/>
                <a:cs typeface="Calibri" pitchFamily="34" charset="-120"/>
              </a:rPr>
              <a:t>Projected impact of integrating recommendations into our platform</a:t>
            </a:r>
            <a:endParaRPr lang="en-US" sz="1500" dirty="0"/>
          </a:p>
        </p:txBody>
      </p:sp>
      <p:sp>
        <p:nvSpPr>
          <p:cNvPr id="20" name="Shape 17"/>
          <p:cNvSpPr/>
          <p:nvPr/>
        </p:nvSpPr>
        <p:spPr>
          <a:xfrm>
            <a:off x="795528" y="5074920"/>
            <a:ext cx="2926080" cy="0"/>
          </a:xfrm>
          <a:prstGeom prst="line">
            <a:avLst/>
          </a:prstGeom>
          <a:noFill/>
          <a:ln w="9525">
            <a:solidFill>
              <a:srgbClr val="EAF0FB">
                <a:alpha val="45000"/>
              </a:srgbClr>
            </a:solidFill>
            <a:prstDash val="solid"/>
          </a:ln>
        </p:spPr>
      </p:sp>
      <p:sp>
        <p:nvSpPr>
          <p:cNvPr id="21" name="Text 18"/>
          <p:cNvSpPr/>
          <p:nvPr/>
        </p:nvSpPr>
        <p:spPr>
          <a:xfrm>
            <a:off x="777240" y="5212080"/>
            <a:ext cx="6949440" cy="320040"/>
          </a:xfrm>
          <a:prstGeom prst="rect">
            <a:avLst/>
          </a:prstGeom>
          <a:noFill/>
          <a:ln/>
        </p:spPr>
        <p:txBody>
          <a:bodyPr wrap="square" lIns="0" tIns="0" rIns="0" bIns="0" rtlCol="0" anchor="ctr"/>
          <a:lstStyle/>
          <a:p>
            <a:pPr indent="0" marL="0">
              <a:buNone/>
            </a:pPr>
            <a:r>
              <a:rPr lang="en-US" sz="1300" dirty="0">
                <a:solidFill>
                  <a:srgbClr val="EAF0FB"/>
                </a:solidFill>
                <a:latin typeface="Calibri" pitchFamily="34" charset="0"/>
                <a:ea typeface="Calibri" pitchFamily="34" charset="-122"/>
                <a:cs typeface="Calibri" pitchFamily="34" charset="-120"/>
              </a:rPr>
              <a:t>Presented by Your Name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EXPECTED IMPACT AT A GLANCE</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What integrating recommendations should do for our platform</a:t>
            </a:r>
            <a:endParaRPr lang="en-US" sz="2700" dirty="0"/>
          </a:p>
        </p:txBody>
      </p:sp>
      <p:sp>
        <p:nvSpPr>
          <p:cNvPr id="4" name="Shape 2"/>
          <p:cNvSpPr/>
          <p:nvPr/>
        </p:nvSpPr>
        <p:spPr>
          <a:xfrm>
            <a:off x="640080" y="1600200"/>
            <a:ext cx="3456432" cy="1828800"/>
          </a:xfrm>
          <a:prstGeom prst="roundRect">
            <a:avLst>
              <a:gd name="adj" fmla="val 7000"/>
            </a:avLst>
          </a:prstGeom>
          <a:solidFill>
            <a:srgbClr val="F3F6FC"/>
          </a:solidFill>
          <a:ln/>
          <a:effectLst>
            <a:outerShdw sx="100000" sy="100000" kx="0" ky="0" algn="bl" rotWithShape="0" blurRad="127000" dist="50800" dir="5400000">
              <a:srgbClr val="8A93A6">
                <a:alpha val="13000"/>
              </a:srgbClr>
            </a:outerShdw>
          </a:effectLst>
        </p:spPr>
      </p:sp>
      <p:sp>
        <p:nvSpPr>
          <p:cNvPr id="5" name="Text 3"/>
          <p:cNvSpPr/>
          <p:nvPr/>
        </p:nvSpPr>
        <p:spPr>
          <a:xfrm>
            <a:off x="822960" y="1837944"/>
            <a:ext cx="3090672" cy="731520"/>
          </a:xfrm>
          <a:prstGeom prst="rect">
            <a:avLst/>
          </a:prstGeom>
          <a:noFill/>
          <a:ln/>
        </p:spPr>
        <p:txBody>
          <a:bodyPr wrap="square" lIns="0" tIns="0" rIns="0" bIns="0" rtlCol="0" anchor="ctr"/>
          <a:lstStyle/>
          <a:p>
            <a:pPr algn="ctr" indent="0" marL="0">
              <a:buNone/>
            </a:pPr>
            <a:r>
              <a:rPr lang="en-US" sz="4200" b="1" dirty="0">
                <a:solidFill>
                  <a:srgbClr val="1E2761"/>
                </a:solidFill>
                <a:latin typeface="Cambria" pitchFamily="34" charset="0"/>
                <a:ea typeface="Cambria" pitchFamily="34" charset="-122"/>
                <a:cs typeface="Cambria" pitchFamily="34" charset="-120"/>
              </a:rPr>
              <a:t>17%</a:t>
            </a:r>
            <a:endParaRPr lang="en-US" sz="4200" dirty="0"/>
          </a:p>
        </p:txBody>
      </p:sp>
      <p:sp>
        <p:nvSpPr>
          <p:cNvPr id="6" name="Text 4"/>
          <p:cNvSpPr/>
          <p:nvPr/>
        </p:nvSpPr>
        <p:spPr>
          <a:xfrm>
            <a:off x="914400" y="2606040"/>
            <a:ext cx="2907792" cy="54864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of global online orders are driven by AI recommendations</a:t>
            </a:r>
            <a:endParaRPr lang="en-US" sz="1200" dirty="0"/>
          </a:p>
        </p:txBody>
      </p:sp>
      <p:sp>
        <p:nvSpPr>
          <p:cNvPr id="7" name="Text 5"/>
          <p:cNvSpPr/>
          <p:nvPr/>
        </p:nvSpPr>
        <p:spPr>
          <a:xfrm>
            <a:off x="914400" y="3118104"/>
            <a:ext cx="2907792" cy="256032"/>
          </a:xfrm>
          <a:prstGeom prst="rect">
            <a:avLst/>
          </a:prstGeom>
          <a:noFill/>
          <a:ln/>
        </p:spPr>
        <p:txBody>
          <a:bodyPr wrap="square" lIns="0" tIns="0" rIns="0" bIns="0" rtlCol="0" anchor="ctr"/>
          <a:lstStyle/>
          <a:p>
            <a:pPr algn="ctr" indent="0" marL="0">
              <a:buNone/>
            </a:pPr>
            <a:r>
              <a:rPr lang="en-US" sz="950" i="1" dirty="0">
                <a:solidFill>
                  <a:srgbClr val="1E2761"/>
                </a:solidFill>
                <a:latin typeface="Calibri" pitchFamily="34" charset="0"/>
                <a:ea typeface="Calibri" pitchFamily="34" charset="-122"/>
                <a:cs typeface="Calibri" pitchFamily="34" charset="-120"/>
              </a:rPr>
              <a:t>Salesforce, 2024</a:t>
            </a:r>
            <a:endParaRPr lang="en-US" sz="950" dirty="0"/>
          </a:p>
        </p:txBody>
      </p:sp>
      <p:sp>
        <p:nvSpPr>
          <p:cNvPr id="8" name="Shape 6"/>
          <p:cNvSpPr/>
          <p:nvPr/>
        </p:nvSpPr>
        <p:spPr>
          <a:xfrm>
            <a:off x="4379976" y="1600200"/>
            <a:ext cx="3456432" cy="1828800"/>
          </a:xfrm>
          <a:prstGeom prst="roundRect">
            <a:avLst>
              <a:gd name="adj" fmla="val 7000"/>
            </a:avLst>
          </a:prstGeom>
          <a:solidFill>
            <a:srgbClr val="F3F6FC"/>
          </a:solidFill>
          <a:ln/>
          <a:effectLst>
            <a:outerShdw sx="100000" sy="100000" kx="0" ky="0" algn="bl" rotWithShape="0" blurRad="127000" dist="50800" dir="5400000">
              <a:srgbClr val="8A93A6">
                <a:alpha val="13000"/>
              </a:srgbClr>
            </a:outerShdw>
          </a:effectLst>
        </p:spPr>
      </p:sp>
      <p:sp>
        <p:nvSpPr>
          <p:cNvPr id="9" name="Text 7"/>
          <p:cNvSpPr/>
          <p:nvPr/>
        </p:nvSpPr>
        <p:spPr>
          <a:xfrm>
            <a:off x="4562856" y="1837944"/>
            <a:ext cx="3090672" cy="731520"/>
          </a:xfrm>
          <a:prstGeom prst="rect">
            <a:avLst/>
          </a:prstGeom>
          <a:noFill/>
          <a:ln/>
        </p:spPr>
        <p:txBody>
          <a:bodyPr wrap="square" lIns="0" tIns="0" rIns="0" bIns="0" rtlCol="0" anchor="ctr"/>
          <a:lstStyle/>
          <a:p>
            <a:pPr algn="ctr" indent="0" marL="0">
              <a:buNone/>
            </a:pPr>
            <a:r>
              <a:rPr lang="en-US" sz="4200" b="1" dirty="0">
                <a:solidFill>
                  <a:srgbClr val="C9A227"/>
                </a:solidFill>
                <a:latin typeface="Cambria" pitchFamily="34" charset="0"/>
                <a:ea typeface="Cambria" pitchFamily="34" charset="-122"/>
                <a:cs typeface="Cambria" pitchFamily="34" charset="-120"/>
              </a:rPr>
              <a:t>5–15%</a:t>
            </a:r>
            <a:endParaRPr lang="en-US" sz="4200" dirty="0"/>
          </a:p>
        </p:txBody>
      </p:sp>
      <p:sp>
        <p:nvSpPr>
          <p:cNvPr id="10" name="Text 8"/>
          <p:cNvSpPr/>
          <p:nvPr/>
        </p:nvSpPr>
        <p:spPr>
          <a:xfrm>
            <a:off x="4654296" y="2606040"/>
            <a:ext cx="2907792" cy="54864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typical revenue lift from personalization</a:t>
            </a:r>
            <a:endParaRPr lang="en-US" sz="1200" dirty="0"/>
          </a:p>
        </p:txBody>
      </p:sp>
      <p:sp>
        <p:nvSpPr>
          <p:cNvPr id="11" name="Text 9"/>
          <p:cNvSpPr/>
          <p:nvPr/>
        </p:nvSpPr>
        <p:spPr>
          <a:xfrm>
            <a:off x="4654296" y="3118104"/>
            <a:ext cx="2907792" cy="256032"/>
          </a:xfrm>
          <a:prstGeom prst="rect">
            <a:avLst/>
          </a:prstGeom>
          <a:noFill/>
          <a:ln/>
        </p:spPr>
        <p:txBody>
          <a:bodyPr wrap="square" lIns="0" tIns="0" rIns="0" bIns="0" rtlCol="0" anchor="ctr"/>
          <a:lstStyle/>
          <a:p>
            <a:pPr algn="ctr" indent="0" marL="0">
              <a:buNone/>
            </a:pPr>
            <a:r>
              <a:rPr lang="en-US" sz="950" i="1" dirty="0">
                <a:solidFill>
                  <a:srgbClr val="C9A227"/>
                </a:solidFill>
                <a:latin typeface="Calibri" pitchFamily="34" charset="0"/>
                <a:ea typeface="Calibri" pitchFamily="34" charset="-122"/>
                <a:cs typeface="Calibri" pitchFamily="34" charset="-120"/>
              </a:rPr>
              <a:t>McKinsey, 2021</a:t>
            </a:r>
            <a:endParaRPr lang="en-US" sz="950" dirty="0"/>
          </a:p>
        </p:txBody>
      </p:sp>
      <p:sp>
        <p:nvSpPr>
          <p:cNvPr id="12" name="Shape 10"/>
          <p:cNvSpPr/>
          <p:nvPr/>
        </p:nvSpPr>
        <p:spPr>
          <a:xfrm>
            <a:off x="8119872" y="1600200"/>
            <a:ext cx="3456432" cy="1828800"/>
          </a:xfrm>
          <a:prstGeom prst="roundRect">
            <a:avLst>
              <a:gd name="adj" fmla="val 7000"/>
            </a:avLst>
          </a:prstGeom>
          <a:solidFill>
            <a:srgbClr val="F3F6FC"/>
          </a:solidFill>
          <a:ln/>
          <a:effectLst>
            <a:outerShdw sx="100000" sy="100000" kx="0" ky="0" algn="bl" rotWithShape="0" blurRad="127000" dist="50800" dir="5400000">
              <a:srgbClr val="8A93A6">
                <a:alpha val="13000"/>
              </a:srgbClr>
            </a:outerShdw>
          </a:effectLst>
        </p:spPr>
      </p:sp>
      <p:sp>
        <p:nvSpPr>
          <p:cNvPr id="13" name="Text 11"/>
          <p:cNvSpPr/>
          <p:nvPr/>
        </p:nvSpPr>
        <p:spPr>
          <a:xfrm>
            <a:off x="8302752" y="1837944"/>
            <a:ext cx="3090672" cy="731520"/>
          </a:xfrm>
          <a:prstGeom prst="rect">
            <a:avLst/>
          </a:prstGeom>
          <a:noFill/>
          <a:ln/>
        </p:spPr>
        <p:txBody>
          <a:bodyPr wrap="square" lIns="0" tIns="0" rIns="0" bIns="0" rtlCol="0" anchor="ctr"/>
          <a:lstStyle/>
          <a:p>
            <a:pPr algn="ctr" indent="0" marL="0">
              <a:buNone/>
            </a:pPr>
            <a:r>
              <a:rPr lang="en-US" sz="4200" b="1" dirty="0">
                <a:solidFill>
                  <a:srgbClr val="4A6FA5"/>
                </a:solidFill>
                <a:latin typeface="Cambria" pitchFamily="34" charset="0"/>
                <a:ea typeface="Cambria" pitchFamily="34" charset="-122"/>
                <a:cs typeface="Cambria" pitchFamily="34" charset="-120"/>
              </a:rPr>
              <a:t>+7%</a:t>
            </a:r>
            <a:endParaRPr lang="en-US" sz="4200" dirty="0"/>
          </a:p>
        </p:txBody>
      </p:sp>
      <p:sp>
        <p:nvSpPr>
          <p:cNvPr id="14" name="Text 12"/>
          <p:cNvSpPr/>
          <p:nvPr/>
        </p:nvSpPr>
        <p:spPr>
          <a:xfrm>
            <a:off x="8394192" y="2606040"/>
            <a:ext cx="2907792" cy="54864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average order value with AI-driven personalization</a:t>
            </a:r>
            <a:endParaRPr lang="en-US" sz="1200" dirty="0"/>
          </a:p>
        </p:txBody>
      </p:sp>
      <p:sp>
        <p:nvSpPr>
          <p:cNvPr id="15" name="Text 13"/>
          <p:cNvSpPr/>
          <p:nvPr/>
        </p:nvSpPr>
        <p:spPr>
          <a:xfrm>
            <a:off x="8394192" y="3118104"/>
            <a:ext cx="2907792" cy="256032"/>
          </a:xfrm>
          <a:prstGeom prst="rect">
            <a:avLst/>
          </a:prstGeom>
          <a:noFill/>
          <a:ln/>
        </p:spPr>
        <p:txBody>
          <a:bodyPr wrap="square" lIns="0" tIns="0" rIns="0" bIns="0" rtlCol="0" anchor="ctr"/>
          <a:lstStyle/>
          <a:p>
            <a:pPr algn="ctr" indent="0" marL="0">
              <a:buNone/>
            </a:pPr>
            <a:r>
              <a:rPr lang="en-US" sz="950" i="1" dirty="0">
                <a:solidFill>
                  <a:srgbClr val="4A6FA5"/>
                </a:solidFill>
                <a:latin typeface="Calibri" pitchFamily="34" charset="0"/>
                <a:ea typeface="Calibri" pitchFamily="34" charset="-122"/>
                <a:cs typeface="Calibri" pitchFamily="34" charset="-120"/>
              </a:rPr>
              <a:t>Salesforce, 2024</a:t>
            </a:r>
            <a:endParaRPr lang="en-US" sz="950" dirty="0"/>
          </a:p>
        </p:txBody>
      </p:sp>
      <p:sp>
        <p:nvSpPr>
          <p:cNvPr id="16" name="Shape 14"/>
          <p:cNvSpPr/>
          <p:nvPr/>
        </p:nvSpPr>
        <p:spPr>
          <a:xfrm>
            <a:off x="640080" y="3703320"/>
            <a:ext cx="6766560" cy="1097280"/>
          </a:xfrm>
          <a:prstGeom prst="roundRect">
            <a:avLst>
              <a:gd name="adj" fmla="val 11667"/>
            </a:avLst>
          </a:prstGeom>
          <a:solidFill>
            <a:srgbClr val="FBF4E3"/>
          </a:solidFill>
          <a:ln/>
          <a:effectLst>
            <a:outerShdw sx="100000" sy="100000" kx="0" ky="0" algn="bl" rotWithShape="0" blurRad="127000" dist="50800" dir="5400000">
              <a:srgbClr val="8A93A6">
                <a:alpha val="13000"/>
              </a:srgbClr>
            </a:outerShdw>
          </a:effectLst>
        </p:spPr>
      </p:sp>
      <p:sp>
        <p:nvSpPr>
          <p:cNvPr id="17" name="Text 15"/>
          <p:cNvSpPr/>
          <p:nvPr/>
        </p:nvSpPr>
        <p:spPr>
          <a:xfrm>
            <a:off x="914400" y="3867912"/>
            <a:ext cx="6309360" cy="292608"/>
          </a:xfrm>
          <a:prstGeom prst="rect">
            <a:avLst/>
          </a:prstGeom>
          <a:noFill/>
          <a:ln/>
        </p:spPr>
        <p:txBody>
          <a:bodyPr wrap="square" lIns="0" tIns="0" rIns="0" bIns="0" rtlCol="0" anchor="ctr"/>
          <a:lstStyle/>
          <a:p>
            <a:pPr indent="0" marL="0">
              <a:buNone/>
            </a:pPr>
            <a:r>
              <a:rPr lang="en-US" sz="1250" b="1" dirty="0">
                <a:solidFill>
                  <a:srgbClr val="1A2238"/>
                </a:solidFill>
                <a:latin typeface="Cambria" pitchFamily="34" charset="0"/>
                <a:ea typeface="Cambria" pitchFamily="34" charset="-122"/>
                <a:cs typeface="Cambria" pitchFamily="34" charset="-120"/>
              </a:rPr>
              <a:t>Modeled on $100M annual revenue (illustrative)</a:t>
            </a:r>
            <a:endParaRPr lang="en-US" sz="1250" dirty="0"/>
          </a:p>
        </p:txBody>
      </p:sp>
      <p:sp>
        <p:nvSpPr>
          <p:cNvPr id="18" name="Text 16"/>
          <p:cNvSpPr/>
          <p:nvPr/>
        </p:nvSpPr>
        <p:spPr>
          <a:xfrm>
            <a:off x="914400" y="4178808"/>
            <a:ext cx="6309360" cy="41148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$5M – $15M</a:t>
            </a:r>
            <a:pPr indent="0" marL="0">
              <a:buNone/>
            </a:pPr>
            <a:r>
              <a:rPr lang="en-US" sz="1300" dirty="0">
                <a:solidFill>
                  <a:srgbClr val="5B6478"/>
                </a:solidFill>
                <a:latin typeface="Cambria" pitchFamily="34" charset="0"/>
                <a:ea typeface="Cambria" pitchFamily="34" charset="-122"/>
                <a:cs typeface="Cambria" pitchFamily="34" charset="-120"/>
              </a:rPr>
              <a:t>  added revenue per year</a:t>
            </a:r>
            <a:endParaRPr lang="en-US" sz="2400" dirty="0"/>
          </a:p>
        </p:txBody>
      </p:sp>
      <p:sp>
        <p:nvSpPr>
          <p:cNvPr id="19" name="Text 17"/>
          <p:cNvSpPr/>
          <p:nvPr/>
        </p:nvSpPr>
        <p:spPr>
          <a:xfrm>
            <a:off x="914400" y="4562856"/>
            <a:ext cx="6309360" cy="219456"/>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Swap $100M for our actual revenue — the % ranges are sourced.</a:t>
            </a:r>
            <a:endParaRPr lang="en-US" sz="950" dirty="0"/>
          </a:p>
        </p:txBody>
      </p:sp>
      <p:sp>
        <p:nvSpPr>
          <p:cNvPr id="20" name="Shape 18"/>
          <p:cNvSpPr/>
          <p:nvPr/>
        </p:nvSpPr>
        <p:spPr>
          <a:xfrm>
            <a:off x="7589520" y="3703320"/>
            <a:ext cx="3977640" cy="1097280"/>
          </a:xfrm>
          <a:prstGeom prst="roundRect">
            <a:avLst>
              <a:gd name="adj" fmla="val 11667"/>
            </a:avLst>
          </a:prstGeom>
          <a:solidFill>
            <a:srgbClr val="FFFFFF"/>
          </a:solidFill>
          <a:ln/>
          <a:effectLst>
            <a:outerShdw sx="100000" sy="100000" kx="0" ky="0" algn="bl" rotWithShape="0" blurRad="127000" dist="50800" dir="5400000">
              <a:srgbClr val="8A93A6">
                <a:alpha val="13000"/>
              </a:srgbClr>
            </a:outerShdw>
          </a:effectLst>
        </p:spPr>
      </p:sp>
      <p:sp>
        <p:nvSpPr>
          <p:cNvPr id="21" name="Shape 19"/>
          <p:cNvSpPr/>
          <p:nvPr/>
        </p:nvSpPr>
        <p:spPr>
          <a:xfrm>
            <a:off x="7589520" y="3703320"/>
            <a:ext cx="3977640" cy="1097280"/>
          </a:xfrm>
          <a:prstGeom prst="roundRect">
            <a:avLst>
              <a:gd name="adj" fmla="val 11667"/>
            </a:avLst>
          </a:prstGeom>
          <a:solidFill>
            <a:srgbClr val="FFFFFF">
              <a:alpha val="0"/>
            </a:srgbClr>
          </a:solidFill>
          <a:ln w="12700">
            <a:solidFill>
              <a:srgbClr val="DCE3F0"/>
            </a:solidFill>
            <a:prstDash val="solid"/>
          </a:ln>
        </p:spPr>
      </p:sp>
      <p:sp>
        <p:nvSpPr>
          <p:cNvPr id="22" name="Text 20"/>
          <p:cNvSpPr/>
          <p:nvPr/>
        </p:nvSpPr>
        <p:spPr>
          <a:xfrm>
            <a:off x="7818120" y="3849624"/>
            <a:ext cx="3566160" cy="274320"/>
          </a:xfrm>
          <a:prstGeom prst="rect">
            <a:avLst/>
          </a:prstGeom>
          <a:noFill/>
          <a:ln/>
        </p:spPr>
        <p:txBody>
          <a:bodyPr wrap="square" lIns="0" tIns="0" rIns="0" bIns="0" rtlCol="0" anchor="ctr"/>
          <a:lstStyle/>
          <a:p>
            <a:pPr indent="0" marL="0">
              <a:buNone/>
            </a:pPr>
            <a:r>
              <a:rPr lang="en-US" sz="1200" b="1" dirty="0">
                <a:solidFill>
                  <a:srgbClr val="1A2238"/>
                </a:solidFill>
                <a:latin typeface="Cambria" pitchFamily="34" charset="0"/>
                <a:ea typeface="Cambria" pitchFamily="34" charset="-122"/>
                <a:cs typeface="Cambria" pitchFamily="34" charset="-120"/>
              </a:rPr>
              <a:t>Where it shows up</a:t>
            </a:r>
            <a:endParaRPr lang="en-US" sz="1200" dirty="0"/>
          </a:p>
        </p:txBody>
      </p:sp>
      <p:sp>
        <p:nvSpPr>
          <p:cNvPr id="23" name="Shape 21"/>
          <p:cNvSpPr/>
          <p:nvPr/>
        </p:nvSpPr>
        <p:spPr>
          <a:xfrm>
            <a:off x="7818120" y="4215384"/>
            <a:ext cx="1133856" cy="402336"/>
          </a:xfrm>
          <a:prstGeom prst="roundRect">
            <a:avLst>
              <a:gd name="adj" fmla="val 50000"/>
            </a:avLst>
          </a:prstGeom>
          <a:solidFill>
            <a:srgbClr val="1E2761"/>
          </a:solidFill>
          <a:ln/>
        </p:spPr>
      </p:sp>
      <p:sp>
        <p:nvSpPr>
          <p:cNvPr id="24" name="Text 22"/>
          <p:cNvSpPr/>
          <p:nvPr/>
        </p:nvSpPr>
        <p:spPr>
          <a:xfrm>
            <a:off x="7818120" y="4215384"/>
            <a:ext cx="1133856"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Conversion ↑</a:t>
            </a:r>
            <a:endParaRPr lang="en-US" sz="1050" dirty="0"/>
          </a:p>
        </p:txBody>
      </p:sp>
      <p:sp>
        <p:nvSpPr>
          <p:cNvPr id="25" name="Shape 23"/>
          <p:cNvSpPr/>
          <p:nvPr/>
        </p:nvSpPr>
        <p:spPr>
          <a:xfrm>
            <a:off x="9025128" y="4215384"/>
            <a:ext cx="1133856" cy="402336"/>
          </a:xfrm>
          <a:prstGeom prst="roundRect">
            <a:avLst>
              <a:gd name="adj" fmla="val 50000"/>
            </a:avLst>
          </a:prstGeom>
          <a:solidFill>
            <a:srgbClr val="C9A227"/>
          </a:solidFill>
          <a:ln/>
        </p:spPr>
      </p:sp>
      <p:sp>
        <p:nvSpPr>
          <p:cNvPr id="26" name="Text 24"/>
          <p:cNvSpPr/>
          <p:nvPr/>
        </p:nvSpPr>
        <p:spPr>
          <a:xfrm>
            <a:off x="9025128" y="4215384"/>
            <a:ext cx="1133856"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Order value ↑</a:t>
            </a:r>
            <a:endParaRPr lang="en-US" sz="1050" dirty="0"/>
          </a:p>
        </p:txBody>
      </p:sp>
      <p:sp>
        <p:nvSpPr>
          <p:cNvPr id="27" name="Shape 25"/>
          <p:cNvSpPr/>
          <p:nvPr/>
        </p:nvSpPr>
        <p:spPr>
          <a:xfrm>
            <a:off x="10232136" y="4215384"/>
            <a:ext cx="1133856" cy="402336"/>
          </a:xfrm>
          <a:prstGeom prst="roundRect">
            <a:avLst>
              <a:gd name="adj" fmla="val 50000"/>
            </a:avLst>
          </a:prstGeom>
          <a:solidFill>
            <a:srgbClr val="4A6FA5"/>
          </a:solidFill>
          <a:ln/>
        </p:spPr>
      </p:sp>
      <p:sp>
        <p:nvSpPr>
          <p:cNvPr id="28" name="Text 26"/>
          <p:cNvSpPr/>
          <p:nvPr/>
        </p:nvSpPr>
        <p:spPr>
          <a:xfrm>
            <a:off x="10232136" y="4215384"/>
            <a:ext cx="1133856"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Retention ↑</a:t>
            </a:r>
            <a:endParaRPr lang="en-US" sz="1050" dirty="0"/>
          </a:p>
        </p:txBody>
      </p:sp>
      <p:sp>
        <p:nvSpPr>
          <p:cNvPr id="29" name="Shape 27"/>
          <p:cNvSpPr/>
          <p:nvPr/>
        </p:nvSpPr>
        <p:spPr>
          <a:xfrm>
            <a:off x="640080" y="5029200"/>
            <a:ext cx="10927080" cy="658368"/>
          </a:xfrm>
          <a:prstGeom prst="roundRect">
            <a:avLst>
              <a:gd name="adj" fmla="val 16667"/>
            </a:avLst>
          </a:prstGeom>
          <a:solidFill>
            <a:srgbClr val="F3F6FC"/>
          </a:solidFill>
          <a:ln/>
          <a:effectLst>
            <a:outerShdw sx="100000" sy="100000" kx="0" ky="0" algn="bl" rotWithShape="0" blurRad="127000" dist="50800" dir="5400000">
              <a:srgbClr val="8A93A6">
                <a:alpha val="13000"/>
              </a:srgbClr>
            </a:outerShdw>
          </a:effectLst>
        </p:spPr>
      </p:sp>
      <p:sp>
        <p:nvSpPr>
          <p:cNvPr id="30" name="Shape 28"/>
          <p:cNvSpPr/>
          <p:nvPr/>
        </p:nvSpPr>
        <p:spPr>
          <a:xfrm>
            <a:off x="868680" y="5166360"/>
            <a:ext cx="384048" cy="384048"/>
          </a:xfrm>
          <a:prstGeom prst="ellipse">
            <a:avLst/>
          </a:prstGeom>
          <a:solidFill>
            <a:srgbClr val="2E7D5B"/>
          </a:solidFill>
          <a:ln/>
          <a:effectLst>
            <a:outerShdw sx="100000" sy="100000" kx="0" ky="0" algn="bl" rotWithShape="0" blurRad="127000" dist="50800" dir="5400000">
              <a:srgbClr val="8A93A6">
                <a:alpha val="13000"/>
              </a:srgbClr>
            </a:outerShdw>
          </a:effectLst>
        </p:spPr>
      </p:sp>
      <p:pic>
        <p:nvPicPr>
          <p:cNvPr id="31" name="Image 0" descr="preencoded.png">    </p:cNvPr>
          <p:cNvPicPr>
            <a:picLocks noChangeAspect="1"/>
          </p:cNvPicPr>
          <p:nvPr/>
        </p:nvPicPr>
        <p:blipFill>
          <a:blip r:embed="rId1"/>
          <a:stretch>
            <a:fillRect/>
          </a:stretch>
        </p:blipFill>
        <p:spPr>
          <a:xfrm>
            <a:off x="972373" y="5270053"/>
            <a:ext cx="176662" cy="176662"/>
          </a:xfrm>
          <a:prstGeom prst="rect">
            <a:avLst/>
          </a:prstGeom>
        </p:spPr>
      </p:pic>
      <p:sp>
        <p:nvSpPr>
          <p:cNvPr id="32" name="Text 29"/>
          <p:cNvSpPr/>
          <p:nvPr/>
        </p:nvSpPr>
        <p:spPr>
          <a:xfrm>
            <a:off x="1417320" y="5029200"/>
            <a:ext cx="9966960" cy="658368"/>
          </a:xfrm>
          <a:prstGeom prst="rect">
            <a:avLst/>
          </a:prstGeom>
          <a:noFill/>
          <a:ln/>
        </p:spPr>
        <p:txBody>
          <a:bodyPr wrap="square" lIns="0" tIns="0" rIns="0" bIns="0" rtlCol="0" anchor="ctr"/>
          <a:lstStyle/>
          <a:p>
            <a:pPr indent="0" marL="0">
              <a:buNone/>
            </a:pPr>
            <a:r>
              <a:rPr lang="en-US" sz="1250" b="1" dirty="0">
                <a:solidFill>
                  <a:srgbClr val="1A2238"/>
                </a:solidFill>
                <a:latin typeface="Calibri" pitchFamily="34" charset="0"/>
                <a:ea typeface="Calibri" pitchFamily="34" charset="-122"/>
                <a:cs typeface="Calibri" pitchFamily="34" charset="-120"/>
              </a:rPr>
              <a:t>Proven at scale:  </a:t>
            </a:r>
            <a:pPr indent="0" marL="0">
              <a:buNone/>
            </a:pPr>
            <a:r>
              <a:rPr lang="en-US" sz="1250" dirty="0">
                <a:solidFill>
                  <a:srgbClr val="5B6478"/>
                </a:solidFill>
                <a:latin typeface="Calibri" pitchFamily="34" charset="0"/>
                <a:ea typeface="Calibri" pitchFamily="34" charset="-122"/>
                <a:cs typeface="Calibri" pitchFamily="34" charset="-120"/>
              </a:rPr>
              <a:t>Amazon, Taobao / Alibaba, and JD.com run recommendations as core infrastructure — detailed later in this deck.</a:t>
            </a:r>
            <a:endParaRPr lang="en-US" sz="1250" dirty="0"/>
          </a:p>
        </p:txBody>
      </p:sp>
      <p:sp>
        <p:nvSpPr>
          <p:cNvPr id="33" name="Text 30"/>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Salesforce Shopping Index (2024); McKinsey &amp; Company (2021). $100M base is illustrative — replace with your revenue.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WHY WE NEED THIS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A bigger catalog than anyone can browse — and rising expectations</a:t>
            </a:r>
            <a:endParaRPr lang="en-US" sz="2700" dirty="0"/>
          </a:p>
        </p:txBody>
      </p:sp>
      <p:sp>
        <p:nvSpPr>
          <p:cNvPr id="4" name="Shape 2"/>
          <p:cNvSpPr/>
          <p:nvPr/>
        </p:nvSpPr>
        <p:spPr>
          <a:xfrm>
            <a:off x="685800" y="1783080"/>
            <a:ext cx="566928" cy="56692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838871" y="1936151"/>
            <a:ext cx="260787" cy="260787"/>
          </a:xfrm>
          <a:prstGeom prst="rect">
            <a:avLst/>
          </a:prstGeom>
        </p:spPr>
      </p:pic>
      <p:sp>
        <p:nvSpPr>
          <p:cNvPr id="6" name="Text 3"/>
          <p:cNvSpPr/>
          <p:nvPr/>
        </p:nvSpPr>
        <p:spPr>
          <a:xfrm>
            <a:off x="1417320" y="1746504"/>
            <a:ext cx="53949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Discovery is the bottleneck</a:t>
            </a:r>
            <a:endParaRPr lang="en-US" sz="1650" dirty="0"/>
          </a:p>
        </p:txBody>
      </p:sp>
      <p:sp>
        <p:nvSpPr>
          <p:cNvPr id="7" name="Text 4"/>
          <p:cNvSpPr/>
          <p:nvPr/>
        </p:nvSpPr>
        <p:spPr>
          <a:xfrm>
            <a:off x="1417320" y="2112264"/>
            <a:ext cx="5532120" cy="777240"/>
          </a:xfrm>
          <a:prstGeom prst="rect">
            <a:avLst/>
          </a:prstGeom>
          <a:noFill/>
          <a:ln/>
        </p:spPr>
        <p:txBody>
          <a:bodyPr wrap="square" lIns="0" tIns="0" rIns="0" bIns="0" rtlCol="0" anchor="ctr"/>
          <a:lstStyle/>
          <a:p>
            <a:pPr indent="0" marL="0">
              <a:buNone/>
            </a:pPr>
            <a:r>
              <a:rPr lang="en-US" sz="1350" dirty="0">
                <a:solidFill>
                  <a:srgbClr val="5B6478"/>
                </a:solidFill>
                <a:latin typeface="Calibri" pitchFamily="34" charset="0"/>
                <a:ea typeface="Calibri" pitchFamily="34" charset="-122"/>
                <a:cs typeface="Calibri" pitchFamily="34" charset="-120"/>
              </a:rPr>
              <a:t>Most of our catalog is never seen; shoppers can't buy what they never find.</a:t>
            </a:r>
            <a:endParaRPr lang="en-US" sz="1350" dirty="0"/>
          </a:p>
        </p:txBody>
      </p:sp>
      <p:sp>
        <p:nvSpPr>
          <p:cNvPr id="8" name="Shape 5"/>
          <p:cNvSpPr/>
          <p:nvPr/>
        </p:nvSpPr>
        <p:spPr>
          <a:xfrm>
            <a:off x="685800" y="3200400"/>
            <a:ext cx="566928" cy="56692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9" name="Image 1" descr="preencoded.png">    </p:cNvPr>
          <p:cNvPicPr>
            <a:picLocks noChangeAspect="1"/>
          </p:cNvPicPr>
          <p:nvPr/>
        </p:nvPicPr>
        <p:blipFill>
          <a:blip r:embed="rId2"/>
          <a:stretch>
            <a:fillRect/>
          </a:stretch>
        </p:blipFill>
        <p:spPr>
          <a:xfrm>
            <a:off x="838871" y="3353471"/>
            <a:ext cx="260787" cy="260787"/>
          </a:xfrm>
          <a:prstGeom prst="rect">
            <a:avLst/>
          </a:prstGeom>
        </p:spPr>
      </p:pic>
      <p:sp>
        <p:nvSpPr>
          <p:cNvPr id="10" name="Text 6"/>
          <p:cNvSpPr/>
          <p:nvPr/>
        </p:nvSpPr>
        <p:spPr>
          <a:xfrm>
            <a:off x="1417320" y="3163824"/>
            <a:ext cx="53949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Choice overload stalls purchases</a:t>
            </a:r>
            <a:endParaRPr lang="en-US" sz="1650" dirty="0"/>
          </a:p>
        </p:txBody>
      </p:sp>
      <p:sp>
        <p:nvSpPr>
          <p:cNvPr id="11" name="Text 7"/>
          <p:cNvSpPr/>
          <p:nvPr/>
        </p:nvSpPr>
        <p:spPr>
          <a:xfrm>
            <a:off x="1417320" y="3529584"/>
            <a:ext cx="5532120" cy="777240"/>
          </a:xfrm>
          <a:prstGeom prst="rect">
            <a:avLst/>
          </a:prstGeom>
          <a:noFill/>
          <a:ln/>
        </p:spPr>
        <p:txBody>
          <a:bodyPr wrap="square" lIns="0" tIns="0" rIns="0" bIns="0" rtlCol="0" anchor="ctr"/>
          <a:lstStyle/>
          <a:p>
            <a:pPr indent="0" marL="0">
              <a:buNone/>
            </a:pPr>
            <a:r>
              <a:rPr lang="en-US" sz="1350" dirty="0">
                <a:solidFill>
                  <a:srgbClr val="5B6478"/>
                </a:solidFill>
                <a:latin typeface="Calibri" pitchFamily="34" charset="0"/>
                <a:ea typeface="Calibri" pitchFamily="34" charset="-122"/>
                <a:cs typeface="Calibri" pitchFamily="34" charset="-120"/>
              </a:rPr>
              <a:t>Endless undifferentiated options delay decisions and depress conversion.</a:t>
            </a:r>
            <a:endParaRPr lang="en-US" sz="1350" dirty="0"/>
          </a:p>
        </p:txBody>
      </p:sp>
      <p:sp>
        <p:nvSpPr>
          <p:cNvPr id="12" name="Shape 8"/>
          <p:cNvSpPr/>
          <p:nvPr/>
        </p:nvSpPr>
        <p:spPr>
          <a:xfrm>
            <a:off x="685800" y="4617720"/>
            <a:ext cx="566928" cy="566928"/>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13" name="Image 2" descr="preencoded.png">    </p:cNvPr>
          <p:cNvPicPr>
            <a:picLocks noChangeAspect="1"/>
          </p:cNvPicPr>
          <p:nvPr/>
        </p:nvPicPr>
        <p:blipFill>
          <a:blip r:embed="rId3"/>
          <a:stretch>
            <a:fillRect/>
          </a:stretch>
        </p:blipFill>
        <p:spPr>
          <a:xfrm>
            <a:off x="838871" y="4770791"/>
            <a:ext cx="260787" cy="260787"/>
          </a:xfrm>
          <a:prstGeom prst="rect">
            <a:avLst/>
          </a:prstGeom>
        </p:spPr>
      </p:pic>
      <p:sp>
        <p:nvSpPr>
          <p:cNvPr id="14" name="Text 9"/>
          <p:cNvSpPr/>
          <p:nvPr/>
        </p:nvSpPr>
        <p:spPr>
          <a:xfrm>
            <a:off x="1417320" y="4581144"/>
            <a:ext cx="53949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Personalization is now expected</a:t>
            </a:r>
            <a:endParaRPr lang="en-US" sz="1650" dirty="0"/>
          </a:p>
        </p:txBody>
      </p:sp>
      <p:sp>
        <p:nvSpPr>
          <p:cNvPr id="15" name="Text 10"/>
          <p:cNvSpPr/>
          <p:nvPr/>
        </p:nvSpPr>
        <p:spPr>
          <a:xfrm>
            <a:off x="1417320" y="4946904"/>
            <a:ext cx="5532120" cy="777240"/>
          </a:xfrm>
          <a:prstGeom prst="rect">
            <a:avLst/>
          </a:prstGeom>
          <a:noFill/>
          <a:ln/>
        </p:spPr>
        <p:txBody>
          <a:bodyPr wrap="square" lIns="0" tIns="0" rIns="0" bIns="0" rtlCol="0" anchor="ctr"/>
          <a:lstStyle/>
          <a:p>
            <a:pPr indent="0" marL="0">
              <a:buNone/>
            </a:pPr>
            <a:r>
              <a:rPr lang="en-US" sz="1350" dirty="0">
                <a:solidFill>
                  <a:srgbClr val="5B6478"/>
                </a:solidFill>
                <a:latin typeface="Calibri" pitchFamily="34" charset="0"/>
                <a:ea typeface="Calibri" pitchFamily="34" charset="-122"/>
                <a:cs typeface="Calibri" pitchFamily="34" charset="-120"/>
              </a:rPr>
              <a:t>71% of consumers expect personalized interactions; 76% are frustrated when it's missing.</a:t>
            </a:r>
            <a:endParaRPr lang="en-US" sz="1350" dirty="0"/>
          </a:p>
        </p:txBody>
      </p:sp>
      <p:sp>
        <p:nvSpPr>
          <p:cNvPr id="16" name="Shape 11"/>
          <p:cNvSpPr/>
          <p:nvPr/>
        </p:nvSpPr>
        <p:spPr>
          <a:xfrm>
            <a:off x="7360920" y="1783080"/>
            <a:ext cx="4160520" cy="4069080"/>
          </a:xfrm>
          <a:prstGeom prst="roundRect">
            <a:avLst>
              <a:gd name="adj" fmla="val 3146"/>
            </a:avLst>
          </a:prstGeom>
          <a:solidFill>
            <a:srgbClr val="F3F6FC"/>
          </a:solidFill>
          <a:ln/>
          <a:effectLst>
            <a:outerShdw sx="100000" sy="100000" kx="0" ky="0" algn="bl" rotWithShape="0" blurRad="127000" dist="50800" dir="5400000">
              <a:srgbClr val="8A93A6">
                <a:alpha val="13000"/>
              </a:srgbClr>
            </a:outerShdw>
          </a:effectLst>
        </p:spPr>
      </p:sp>
      <p:sp>
        <p:nvSpPr>
          <p:cNvPr id="17" name="Text 12"/>
          <p:cNvSpPr/>
          <p:nvPr/>
        </p:nvSpPr>
        <p:spPr>
          <a:xfrm>
            <a:off x="7680960" y="1993392"/>
            <a:ext cx="3520440" cy="548640"/>
          </a:xfrm>
          <a:prstGeom prst="rect">
            <a:avLst/>
          </a:prstGeom>
          <a:noFill/>
          <a:ln/>
        </p:spPr>
        <p:txBody>
          <a:bodyPr wrap="square" lIns="0" tIns="0" rIns="0" bIns="0" rtlCol="0" anchor="ctr"/>
          <a:lstStyle/>
          <a:p>
            <a:pPr indent="0" marL="0">
              <a:buNone/>
            </a:pPr>
            <a:r>
              <a:rPr lang="en-US" sz="1350" b="1" dirty="0">
                <a:solidFill>
                  <a:srgbClr val="1A2238"/>
                </a:solidFill>
                <a:latin typeface="Cambria" pitchFamily="34" charset="0"/>
                <a:ea typeface="Cambria" pitchFamily="34" charset="-122"/>
                <a:cs typeface="Cambria" pitchFamily="34" charset="-120"/>
              </a:rPr>
              <a:t>What AI recommendations drive today</a:t>
            </a:r>
            <a:endParaRPr lang="en-US" sz="1350" dirty="0"/>
          </a:p>
        </p:txBody>
      </p:sp>
      <p:sp>
        <p:nvSpPr>
          <p:cNvPr id="18" name="Text 13"/>
          <p:cNvSpPr/>
          <p:nvPr/>
        </p:nvSpPr>
        <p:spPr>
          <a:xfrm>
            <a:off x="7543800" y="2606040"/>
            <a:ext cx="1897380" cy="73152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17%</a:t>
            </a:r>
            <a:endParaRPr lang="en-US" sz="4000" dirty="0"/>
          </a:p>
        </p:txBody>
      </p:sp>
      <p:sp>
        <p:nvSpPr>
          <p:cNvPr id="19" name="Text 14"/>
          <p:cNvSpPr/>
          <p:nvPr/>
        </p:nvSpPr>
        <p:spPr>
          <a:xfrm>
            <a:off x="7543800" y="3355848"/>
            <a:ext cx="1897380" cy="54864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of global online orders driven by AI — recommendations, promotions &amp; service</a:t>
            </a:r>
            <a:endParaRPr lang="en-US" sz="1150" dirty="0"/>
          </a:p>
        </p:txBody>
      </p:sp>
      <p:sp>
        <p:nvSpPr>
          <p:cNvPr id="20" name="Text 15"/>
          <p:cNvSpPr/>
          <p:nvPr/>
        </p:nvSpPr>
        <p:spPr>
          <a:xfrm>
            <a:off x="9441180" y="2606040"/>
            <a:ext cx="1897380" cy="731520"/>
          </a:xfrm>
          <a:prstGeom prst="rect">
            <a:avLst/>
          </a:prstGeom>
          <a:noFill/>
          <a:ln/>
        </p:spPr>
        <p:txBody>
          <a:bodyPr wrap="square" lIns="0" tIns="0" rIns="0" bIns="0" rtlCol="0" anchor="ctr"/>
          <a:lstStyle/>
          <a:p>
            <a:pPr algn="ctr" indent="0" marL="0">
              <a:buNone/>
            </a:pPr>
            <a:r>
              <a:rPr lang="en-US" sz="4000" b="1" dirty="0">
                <a:solidFill>
                  <a:srgbClr val="4A6FA5"/>
                </a:solidFill>
                <a:latin typeface="Cambria" pitchFamily="34" charset="0"/>
                <a:ea typeface="Cambria" pitchFamily="34" charset="-122"/>
                <a:cs typeface="Cambria" pitchFamily="34" charset="-120"/>
              </a:rPr>
              <a:t>+7%</a:t>
            </a:r>
            <a:endParaRPr lang="en-US" sz="4000" dirty="0"/>
          </a:p>
        </p:txBody>
      </p:sp>
      <p:sp>
        <p:nvSpPr>
          <p:cNvPr id="21" name="Text 16"/>
          <p:cNvSpPr/>
          <p:nvPr/>
        </p:nvSpPr>
        <p:spPr>
          <a:xfrm>
            <a:off x="9441180" y="3355848"/>
            <a:ext cx="1897380" cy="548640"/>
          </a:xfrm>
          <a:prstGeom prst="rect">
            <a:avLst/>
          </a:prstGeom>
          <a:noFill/>
          <a:ln/>
        </p:spPr>
        <p:txBody>
          <a:bodyPr wrap="square" lIns="0" tIns="0" rIns="0" bIns="0"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higher average order value for retailers using generative AI</a:t>
            </a:r>
            <a:endParaRPr lang="en-US" sz="1150" dirty="0"/>
          </a:p>
        </p:txBody>
      </p:sp>
      <p:sp>
        <p:nvSpPr>
          <p:cNvPr id="22" name="Shape 17"/>
          <p:cNvSpPr/>
          <p:nvPr/>
        </p:nvSpPr>
        <p:spPr>
          <a:xfrm>
            <a:off x="7680960" y="4343400"/>
            <a:ext cx="3520440" cy="0"/>
          </a:xfrm>
          <a:prstGeom prst="line">
            <a:avLst/>
          </a:prstGeom>
          <a:noFill/>
          <a:ln w="12700">
            <a:solidFill>
              <a:srgbClr val="DCE3F0"/>
            </a:solidFill>
            <a:prstDash val="solid"/>
          </a:ln>
        </p:spPr>
      </p:sp>
      <p:sp>
        <p:nvSpPr>
          <p:cNvPr id="23" name="Text 18"/>
          <p:cNvSpPr/>
          <p:nvPr/>
        </p:nvSpPr>
        <p:spPr>
          <a:xfrm>
            <a:off x="7680960" y="4480560"/>
            <a:ext cx="3520440" cy="1097280"/>
          </a:xfrm>
          <a:prstGeom prst="rect">
            <a:avLst/>
          </a:prstGeom>
          <a:noFill/>
          <a:ln/>
        </p:spPr>
        <p:txBody>
          <a:bodyPr wrap="square" lIns="0" tIns="0" rIns="0" bIns="0" rtlCol="0" anchor="t"/>
          <a:lstStyle/>
          <a:p>
            <a:pPr indent="0" marL="0">
              <a:buNone/>
            </a:pPr>
            <a:r>
              <a:rPr lang="en-US" sz="1200" i="1" dirty="0">
                <a:solidFill>
                  <a:srgbClr val="5B6478"/>
                </a:solidFill>
                <a:latin typeface="Calibri" pitchFamily="34" charset="0"/>
                <a:ea typeface="Calibri" pitchFamily="34" charset="-122"/>
                <a:cs typeface="Calibri" pitchFamily="34" charset="-120"/>
              </a:rPr>
              <a:t>Salesforce Shopping Index, 2024 (1.5B shoppers). </a:t>
            </a:r>
            <a:pPr indent="0" marL="0">
              <a:buNone/>
            </a:pPr>
            <a:r>
              <a:rPr lang="en-US" sz="1200" dirty="0">
                <a:solidFill>
                  <a:srgbClr val="1A2238"/>
                </a:solidFill>
                <a:latin typeface="Calibri" pitchFamily="34" charset="0"/>
                <a:ea typeface="Calibri" pitchFamily="34" charset="-122"/>
                <a:cs typeface="Calibri" pitchFamily="34" charset="-120"/>
              </a:rPr>
              <a:t>Recommendations are how leaders convert a huge catalog into sales.</a:t>
            </a:r>
            <a:endParaRPr lang="en-US" sz="1200" dirty="0"/>
          </a:p>
        </p:txBody>
      </p:sp>
      <p:sp>
        <p:nvSpPr>
          <p:cNvPr id="24" name="Text 19"/>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Salesforce Shopping Index (2024); McKinsey &amp; Company, “The value of getting personalization right—or wrong—is multiplying” (2021).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HOW MUCH COULD IT MOVE REVENUE?</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Published lift ranges, applied transparently to our numbers</a:t>
            </a:r>
            <a:endParaRPr lang="en-US" sz="2700" dirty="0"/>
          </a:p>
        </p:txBody>
      </p:sp>
      <p:sp>
        <p:nvSpPr>
          <p:cNvPr id="4" name="Shape 2"/>
          <p:cNvSpPr/>
          <p:nvPr/>
        </p:nvSpPr>
        <p:spPr>
          <a:xfrm>
            <a:off x="640080" y="1737360"/>
            <a:ext cx="5486400" cy="3703320"/>
          </a:xfrm>
          <a:prstGeom prst="roundRect">
            <a:avLst>
              <a:gd name="adj" fmla="val 3457"/>
            </a:avLst>
          </a:prstGeom>
          <a:solidFill>
            <a:srgbClr val="F3F6FC"/>
          </a:solidFill>
          <a:ln/>
          <a:effectLst>
            <a:outerShdw sx="100000" sy="100000" kx="0" ky="0" algn="bl" rotWithShape="0" blurRad="127000" dist="50800" dir="5400000">
              <a:srgbClr val="8A93A6">
                <a:alpha val="13000"/>
              </a:srgbClr>
            </a:outerShdw>
          </a:effectLst>
        </p:spPr>
      </p:sp>
      <p:sp>
        <p:nvSpPr>
          <p:cNvPr id="5" name="Text 3"/>
          <p:cNvSpPr/>
          <p:nvPr/>
        </p:nvSpPr>
        <p:spPr>
          <a:xfrm>
            <a:off x="914400" y="1938528"/>
            <a:ext cx="4937760" cy="36576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What the research shows</a:t>
            </a:r>
            <a:endParaRPr lang="en-US" sz="1500" dirty="0"/>
          </a:p>
        </p:txBody>
      </p:sp>
      <p:pic>
        <p:nvPicPr>
          <p:cNvPr id="6" name="Image 0" descr="preencoded.png">    </p:cNvPr>
          <p:cNvPicPr>
            <a:picLocks noChangeAspect="1"/>
          </p:cNvPicPr>
          <p:nvPr/>
        </p:nvPicPr>
        <p:blipFill>
          <a:blip r:embed="rId1"/>
          <a:stretch>
            <a:fillRect/>
          </a:stretch>
        </p:blipFill>
        <p:spPr>
          <a:xfrm>
            <a:off x="960120" y="2459736"/>
            <a:ext cx="237744" cy="237744"/>
          </a:xfrm>
          <a:prstGeom prst="rect">
            <a:avLst/>
          </a:prstGeom>
        </p:spPr>
      </p:pic>
      <p:sp>
        <p:nvSpPr>
          <p:cNvPr id="7" name="Text 4"/>
          <p:cNvSpPr/>
          <p:nvPr/>
        </p:nvSpPr>
        <p:spPr>
          <a:xfrm>
            <a:off x="1325880" y="2386584"/>
            <a:ext cx="4572000" cy="548640"/>
          </a:xfrm>
          <a:prstGeom prst="rect">
            <a:avLst/>
          </a:prstGeom>
          <a:noFill/>
          <a:ln/>
        </p:spPr>
        <p:txBody>
          <a:bodyPr wrap="square" lIns="0" tIns="0" rIns="0" bIns="0" rtlCol="0" anchor="t"/>
          <a:lstStyle/>
          <a:p>
            <a:pPr indent="0" marL="0">
              <a:buNone/>
            </a:pPr>
            <a:r>
              <a:rPr lang="en-US" sz="1300" dirty="0">
                <a:solidFill>
                  <a:srgbClr val="1A2238"/>
                </a:solidFill>
                <a:latin typeface="Calibri" pitchFamily="34" charset="0"/>
                <a:ea typeface="Calibri" pitchFamily="34" charset="-122"/>
                <a:cs typeface="Calibri" pitchFamily="34" charset="-120"/>
              </a:rPr>
              <a:t>Personalization most often lifts revenue 5–15% (sector range up to ~25%)</a:t>
            </a:r>
            <a:endParaRPr lang="en-US" sz="1300" dirty="0"/>
          </a:p>
        </p:txBody>
      </p:sp>
      <p:pic>
        <p:nvPicPr>
          <p:cNvPr id="8" name="Image 1" descr="preencoded.png">    </p:cNvPr>
          <p:cNvPicPr>
            <a:picLocks noChangeAspect="1"/>
          </p:cNvPicPr>
          <p:nvPr/>
        </p:nvPicPr>
        <p:blipFill>
          <a:blip r:embed="rId2"/>
          <a:stretch>
            <a:fillRect/>
          </a:stretch>
        </p:blipFill>
        <p:spPr>
          <a:xfrm>
            <a:off x="960120" y="3172968"/>
            <a:ext cx="237744" cy="237744"/>
          </a:xfrm>
          <a:prstGeom prst="rect">
            <a:avLst/>
          </a:prstGeom>
        </p:spPr>
      </p:pic>
      <p:sp>
        <p:nvSpPr>
          <p:cNvPr id="9" name="Text 5"/>
          <p:cNvSpPr/>
          <p:nvPr/>
        </p:nvSpPr>
        <p:spPr>
          <a:xfrm>
            <a:off x="1325880" y="3099816"/>
            <a:ext cx="4572000" cy="548640"/>
          </a:xfrm>
          <a:prstGeom prst="rect">
            <a:avLst/>
          </a:prstGeom>
          <a:noFill/>
          <a:ln/>
        </p:spPr>
        <p:txBody>
          <a:bodyPr wrap="square" lIns="0" tIns="0" rIns="0" bIns="0" rtlCol="0" anchor="t"/>
          <a:lstStyle/>
          <a:p>
            <a:pPr indent="0" marL="0">
              <a:buNone/>
            </a:pPr>
            <a:r>
              <a:rPr lang="en-US" sz="1300" dirty="0">
                <a:solidFill>
                  <a:srgbClr val="1A2238"/>
                </a:solidFill>
                <a:latin typeface="Calibri" pitchFamily="34" charset="0"/>
                <a:ea typeface="Calibri" pitchFamily="34" charset="-122"/>
                <a:cs typeface="Calibri" pitchFamily="34" charset="-120"/>
              </a:rPr>
              <a:t>Can reduce customer-acquisition cost by up to 50%</a:t>
            </a:r>
            <a:endParaRPr lang="en-US" sz="1300" dirty="0"/>
          </a:p>
        </p:txBody>
      </p:sp>
      <p:pic>
        <p:nvPicPr>
          <p:cNvPr id="10" name="Image 2" descr="preencoded.png">    </p:cNvPr>
          <p:cNvPicPr>
            <a:picLocks noChangeAspect="1"/>
          </p:cNvPicPr>
          <p:nvPr/>
        </p:nvPicPr>
        <p:blipFill>
          <a:blip r:embed="rId3"/>
          <a:stretch>
            <a:fillRect/>
          </a:stretch>
        </p:blipFill>
        <p:spPr>
          <a:xfrm>
            <a:off x="960120" y="3886200"/>
            <a:ext cx="237744" cy="237744"/>
          </a:xfrm>
          <a:prstGeom prst="rect">
            <a:avLst/>
          </a:prstGeom>
        </p:spPr>
      </p:pic>
      <p:sp>
        <p:nvSpPr>
          <p:cNvPr id="11" name="Text 6"/>
          <p:cNvSpPr/>
          <p:nvPr/>
        </p:nvSpPr>
        <p:spPr>
          <a:xfrm>
            <a:off x="1325880" y="3813048"/>
            <a:ext cx="4572000" cy="548640"/>
          </a:xfrm>
          <a:prstGeom prst="rect">
            <a:avLst/>
          </a:prstGeom>
          <a:noFill/>
          <a:ln/>
        </p:spPr>
        <p:txBody>
          <a:bodyPr wrap="square" lIns="0" tIns="0" rIns="0" bIns="0" rtlCol="0" anchor="t"/>
          <a:lstStyle/>
          <a:p>
            <a:pPr indent="0" marL="0">
              <a:buNone/>
            </a:pPr>
            <a:r>
              <a:rPr lang="en-US" sz="1300" dirty="0">
                <a:solidFill>
                  <a:srgbClr val="1A2238"/>
                </a:solidFill>
                <a:latin typeface="Calibri" pitchFamily="34" charset="0"/>
                <a:ea typeface="Calibri" pitchFamily="34" charset="-122"/>
                <a:cs typeface="Calibri" pitchFamily="34" charset="-120"/>
              </a:rPr>
              <a:t>Improves marketing ROI by 10–30%</a:t>
            </a:r>
            <a:endParaRPr lang="en-US" sz="1300" dirty="0"/>
          </a:p>
        </p:txBody>
      </p:sp>
      <p:pic>
        <p:nvPicPr>
          <p:cNvPr id="12" name="Image 3" descr="preencoded.png">    </p:cNvPr>
          <p:cNvPicPr>
            <a:picLocks noChangeAspect="1"/>
          </p:cNvPicPr>
          <p:nvPr/>
        </p:nvPicPr>
        <p:blipFill>
          <a:blip r:embed="rId4"/>
          <a:stretch>
            <a:fillRect/>
          </a:stretch>
        </p:blipFill>
        <p:spPr>
          <a:xfrm>
            <a:off x="960120" y="4599432"/>
            <a:ext cx="237744" cy="237744"/>
          </a:xfrm>
          <a:prstGeom prst="rect">
            <a:avLst/>
          </a:prstGeom>
        </p:spPr>
      </p:pic>
      <p:sp>
        <p:nvSpPr>
          <p:cNvPr id="13" name="Text 7"/>
          <p:cNvSpPr/>
          <p:nvPr/>
        </p:nvSpPr>
        <p:spPr>
          <a:xfrm>
            <a:off x="1325880" y="4526280"/>
            <a:ext cx="4572000" cy="548640"/>
          </a:xfrm>
          <a:prstGeom prst="rect">
            <a:avLst/>
          </a:prstGeom>
          <a:noFill/>
          <a:ln/>
        </p:spPr>
        <p:txBody>
          <a:bodyPr wrap="square" lIns="0" tIns="0" rIns="0" bIns="0" rtlCol="0" anchor="t"/>
          <a:lstStyle/>
          <a:p>
            <a:pPr indent="0" marL="0">
              <a:buNone/>
            </a:pPr>
            <a:r>
              <a:rPr lang="en-US" sz="1300" dirty="0">
                <a:solidFill>
                  <a:srgbClr val="1A2238"/>
                </a:solidFill>
                <a:latin typeface="Calibri" pitchFamily="34" charset="0"/>
                <a:ea typeface="Calibri" pitchFamily="34" charset="-122"/>
                <a:cs typeface="Calibri" pitchFamily="34" charset="-120"/>
              </a:rPr>
              <a:t>Fast-growing firms earn ~40% more of their revenue from personalization</a:t>
            </a:r>
            <a:endParaRPr lang="en-US" sz="1300" dirty="0"/>
          </a:p>
        </p:txBody>
      </p:sp>
      <p:sp>
        <p:nvSpPr>
          <p:cNvPr id="14" name="Text 8"/>
          <p:cNvSpPr/>
          <p:nvPr/>
        </p:nvSpPr>
        <p:spPr>
          <a:xfrm>
            <a:off x="914400" y="5029200"/>
            <a:ext cx="4937760" cy="274320"/>
          </a:xfrm>
          <a:prstGeom prst="rect">
            <a:avLst/>
          </a:prstGeom>
          <a:noFill/>
          <a:ln/>
        </p:spPr>
        <p:txBody>
          <a:bodyPr wrap="square" lIns="0" tIns="0" rIns="0" bIns="0"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All figures: McKinsey (2021).</a:t>
            </a:r>
            <a:endParaRPr lang="en-US" sz="1050" dirty="0"/>
          </a:p>
        </p:txBody>
      </p:sp>
      <p:sp>
        <p:nvSpPr>
          <p:cNvPr id="15" name="Shape 9"/>
          <p:cNvSpPr/>
          <p:nvPr/>
        </p:nvSpPr>
        <p:spPr>
          <a:xfrm>
            <a:off x="6355080" y="1737360"/>
            <a:ext cx="5212080" cy="3703320"/>
          </a:xfrm>
          <a:prstGeom prst="roundRect">
            <a:avLst>
              <a:gd name="adj" fmla="val 3457"/>
            </a:avLst>
          </a:prstGeom>
          <a:solidFill>
            <a:srgbClr val="FFFFFF"/>
          </a:solidFill>
          <a:ln/>
          <a:effectLst>
            <a:outerShdw sx="100000" sy="100000" kx="0" ky="0" algn="bl" rotWithShape="0" blurRad="127000" dist="50800" dir="5400000">
              <a:srgbClr val="8A93A6">
                <a:alpha val="13000"/>
              </a:srgbClr>
            </a:outerShdw>
          </a:effectLst>
        </p:spPr>
      </p:sp>
      <p:sp>
        <p:nvSpPr>
          <p:cNvPr id="16" name="Shape 10"/>
          <p:cNvSpPr/>
          <p:nvPr/>
        </p:nvSpPr>
        <p:spPr>
          <a:xfrm>
            <a:off x="6355080" y="1737360"/>
            <a:ext cx="5212080" cy="3703320"/>
          </a:xfrm>
          <a:prstGeom prst="roundRect">
            <a:avLst>
              <a:gd name="adj" fmla="val 3457"/>
            </a:avLst>
          </a:prstGeom>
          <a:solidFill>
            <a:srgbClr val="FFFFFF">
              <a:alpha val="0"/>
            </a:srgbClr>
          </a:solidFill>
          <a:ln w="12700">
            <a:solidFill>
              <a:srgbClr val="DCE3F0"/>
            </a:solidFill>
            <a:prstDash val="solid"/>
          </a:ln>
        </p:spPr>
      </p:sp>
      <p:sp>
        <p:nvSpPr>
          <p:cNvPr id="17" name="Text 11"/>
          <p:cNvSpPr/>
          <p:nvPr/>
        </p:nvSpPr>
        <p:spPr>
          <a:xfrm>
            <a:off x="6629400" y="1938528"/>
            <a:ext cx="4663440" cy="320040"/>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Illustrative on $100M annual revenue</a:t>
            </a:r>
            <a:endParaRPr lang="en-US" sz="1400" dirty="0"/>
          </a:p>
        </p:txBody>
      </p:sp>
      <p:sp>
        <p:nvSpPr>
          <p:cNvPr id="18" name="Text 12"/>
          <p:cNvSpPr/>
          <p:nvPr/>
        </p:nvSpPr>
        <p:spPr>
          <a:xfrm>
            <a:off x="6629400" y="2286000"/>
            <a:ext cx="4663440" cy="2743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Applying the 5–15% revenue-lift range:</a:t>
            </a:r>
            <a:endParaRPr lang="en-US" sz="1200" dirty="0"/>
          </a:p>
        </p:txBody>
      </p:sp>
      <p:sp>
        <p:nvSpPr>
          <p:cNvPr id="19" name="Shape 13"/>
          <p:cNvSpPr/>
          <p:nvPr/>
        </p:nvSpPr>
        <p:spPr>
          <a:xfrm>
            <a:off x="6629400" y="2743200"/>
            <a:ext cx="1554480" cy="1417320"/>
          </a:xfrm>
          <a:prstGeom prst="roundRect">
            <a:avLst>
              <a:gd name="adj" fmla="val 7742"/>
            </a:avLst>
          </a:prstGeom>
          <a:solidFill>
            <a:srgbClr val="F3F6FC"/>
          </a:solidFill>
          <a:ln/>
          <a:effectLst>
            <a:outerShdw sx="100000" sy="100000" kx="0" ky="0" algn="bl" rotWithShape="0" blurRad="127000" dist="50800" dir="5400000">
              <a:srgbClr val="8A93A6">
                <a:alpha val="13000"/>
              </a:srgbClr>
            </a:outerShdw>
          </a:effectLst>
        </p:spPr>
      </p:sp>
      <p:sp>
        <p:nvSpPr>
          <p:cNvPr id="20" name="Text 14"/>
          <p:cNvSpPr/>
          <p:nvPr/>
        </p:nvSpPr>
        <p:spPr>
          <a:xfrm>
            <a:off x="6629400" y="2926080"/>
            <a:ext cx="155448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alibri" pitchFamily="34" charset="0"/>
                <a:ea typeface="Calibri" pitchFamily="34" charset="-122"/>
                <a:cs typeface="Calibri" pitchFamily="34" charset="-120"/>
              </a:rPr>
              <a:t>5% lift</a:t>
            </a:r>
            <a:endParaRPr lang="en-US" sz="1200" dirty="0"/>
          </a:p>
        </p:txBody>
      </p:sp>
      <p:sp>
        <p:nvSpPr>
          <p:cNvPr id="21" name="Text 15"/>
          <p:cNvSpPr/>
          <p:nvPr/>
        </p:nvSpPr>
        <p:spPr>
          <a:xfrm>
            <a:off x="6629400" y="3246120"/>
            <a:ext cx="1554480" cy="548640"/>
          </a:xfrm>
          <a:prstGeom prst="rect">
            <a:avLst/>
          </a:prstGeom>
          <a:noFill/>
          <a:ln/>
        </p:spPr>
        <p:txBody>
          <a:bodyPr wrap="square" lIns="0" tIns="0" rIns="0" bIns="0" rtlCol="0" anchor="ctr"/>
          <a:lstStyle/>
          <a:p>
            <a:pPr algn="ctr" indent="0" marL="0">
              <a:buNone/>
            </a:pPr>
            <a:r>
              <a:rPr lang="en-US" sz="2600" b="1" dirty="0">
                <a:solidFill>
                  <a:srgbClr val="4A6FA5"/>
                </a:solidFill>
                <a:latin typeface="Cambria" pitchFamily="34" charset="0"/>
                <a:ea typeface="Cambria" pitchFamily="34" charset="-122"/>
                <a:cs typeface="Cambria" pitchFamily="34" charset="-120"/>
              </a:rPr>
              <a:t>$5M</a:t>
            </a:r>
            <a:endParaRPr lang="en-US" sz="2600" dirty="0"/>
          </a:p>
        </p:txBody>
      </p:sp>
      <p:sp>
        <p:nvSpPr>
          <p:cNvPr id="22" name="Text 16"/>
          <p:cNvSpPr/>
          <p:nvPr/>
        </p:nvSpPr>
        <p:spPr>
          <a:xfrm>
            <a:off x="6629400" y="3794760"/>
            <a:ext cx="155448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alibri" pitchFamily="34" charset="0"/>
                <a:ea typeface="Calibri" pitchFamily="34" charset="-122"/>
                <a:cs typeface="Calibri" pitchFamily="34" charset="-120"/>
              </a:rPr>
              <a:t>/year</a:t>
            </a:r>
            <a:endParaRPr lang="en-US" sz="1100" dirty="0"/>
          </a:p>
        </p:txBody>
      </p:sp>
      <p:sp>
        <p:nvSpPr>
          <p:cNvPr id="23" name="Shape 17"/>
          <p:cNvSpPr/>
          <p:nvPr/>
        </p:nvSpPr>
        <p:spPr>
          <a:xfrm>
            <a:off x="8321040" y="2743200"/>
            <a:ext cx="1554480" cy="1417320"/>
          </a:xfrm>
          <a:prstGeom prst="roundRect">
            <a:avLst>
              <a:gd name="adj" fmla="val 7742"/>
            </a:avLst>
          </a:prstGeom>
          <a:solidFill>
            <a:srgbClr val="F3F6FC"/>
          </a:solidFill>
          <a:ln/>
          <a:effectLst>
            <a:outerShdw sx="100000" sy="100000" kx="0" ky="0" algn="bl" rotWithShape="0" blurRad="127000" dist="50800" dir="5400000">
              <a:srgbClr val="8A93A6">
                <a:alpha val="13000"/>
              </a:srgbClr>
            </a:outerShdw>
          </a:effectLst>
        </p:spPr>
      </p:sp>
      <p:sp>
        <p:nvSpPr>
          <p:cNvPr id="24" name="Text 18"/>
          <p:cNvSpPr/>
          <p:nvPr/>
        </p:nvSpPr>
        <p:spPr>
          <a:xfrm>
            <a:off x="8321040" y="2926080"/>
            <a:ext cx="155448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alibri" pitchFamily="34" charset="0"/>
                <a:ea typeface="Calibri" pitchFamily="34" charset="-122"/>
                <a:cs typeface="Calibri" pitchFamily="34" charset="-120"/>
              </a:rPr>
              <a:t>10% lift</a:t>
            </a:r>
            <a:endParaRPr lang="en-US" sz="1200" dirty="0"/>
          </a:p>
        </p:txBody>
      </p:sp>
      <p:sp>
        <p:nvSpPr>
          <p:cNvPr id="25" name="Text 19"/>
          <p:cNvSpPr/>
          <p:nvPr/>
        </p:nvSpPr>
        <p:spPr>
          <a:xfrm>
            <a:off x="8321040" y="3246120"/>
            <a:ext cx="1554480" cy="548640"/>
          </a:xfrm>
          <a:prstGeom prst="rect">
            <a:avLst/>
          </a:prstGeom>
          <a:noFill/>
          <a:ln/>
        </p:spPr>
        <p:txBody>
          <a:bodyPr wrap="square" lIns="0" tIns="0" rIns="0" bIns="0"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$10M</a:t>
            </a:r>
            <a:endParaRPr lang="en-US" sz="2600" dirty="0"/>
          </a:p>
        </p:txBody>
      </p:sp>
      <p:sp>
        <p:nvSpPr>
          <p:cNvPr id="26" name="Text 20"/>
          <p:cNvSpPr/>
          <p:nvPr/>
        </p:nvSpPr>
        <p:spPr>
          <a:xfrm>
            <a:off x="8321040" y="3794760"/>
            <a:ext cx="155448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alibri" pitchFamily="34" charset="0"/>
                <a:ea typeface="Calibri" pitchFamily="34" charset="-122"/>
                <a:cs typeface="Calibri" pitchFamily="34" charset="-120"/>
              </a:rPr>
              <a:t>/year</a:t>
            </a:r>
            <a:endParaRPr lang="en-US" sz="1100" dirty="0"/>
          </a:p>
        </p:txBody>
      </p:sp>
      <p:sp>
        <p:nvSpPr>
          <p:cNvPr id="27" name="Shape 21"/>
          <p:cNvSpPr/>
          <p:nvPr/>
        </p:nvSpPr>
        <p:spPr>
          <a:xfrm>
            <a:off x="10012680" y="2743200"/>
            <a:ext cx="1554480" cy="1417320"/>
          </a:xfrm>
          <a:prstGeom prst="roundRect">
            <a:avLst>
              <a:gd name="adj" fmla="val 7742"/>
            </a:avLst>
          </a:prstGeom>
          <a:solidFill>
            <a:srgbClr val="F3F6FC"/>
          </a:solidFill>
          <a:ln/>
          <a:effectLst>
            <a:outerShdw sx="100000" sy="100000" kx="0" ky="0" algn="bl" rotWithShape="0" blurRad="127000" dist="50800" dir="5400000">
              <a:srgbClr val="8A93A6">
                <a:alpha val="13000"/>
              </a:srgbClr>
            </a:outerShdw>
          </a:effectLst>
        </p:spPr>
      </p:sp>
      <p:sp>
        <p:nvSpPr>
          <p:cNvPr id="28" name="Text 22"/>
          <p:cNvSpPr/>
          <p:nvPr/>
        </p:nvSpPr>
        <p:spPr>
          <a:xfrm>
            <a:off x="10012680" y="2926080"/>
            <a:ext cx="155448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alibri" pitchFamily="34" charset="0"/>
                <a:ea typeface="Calibri" pitchFamily="34" charset="-122"/>
                <a:cs typeface="Calibri" pitchFamily="34" charset="-120"/>
              </a:rPr>
              <a:t>15% lift</a:t>
            </a:r>
            <a:endParaRPr lang="en-US" sz="1200" dirty="0"/>
          </a:p>
        </p:txBody>
      </p:sp>
      <p:sp>
        <p:nvSpPr>
          <p:cNvPr id="29" name="Text 23"/>
          <p:cNvSpPr/>
          <p:nvPr/>
        </p:nvSpPr>
        <p:spPr>
          <a:xfrm>
            <a:off x="10012680" y="3246120"/>
            <a:ext cx="1554480" cy="548640"/>
          </a:xfrm>
          <a:prstGeom prst="rect">
            <a:avLst/>
          </a:prstGeom>
          <a:noFill/>
          <a:ln/>
        </p:spPr>
        <p:txBody>
          <a:bodyPr wrap="square" lIns="0" tIns="0" rIns="0" bIns="0" rtlCol="0" anchor="ctr"/>
          <a:lstStyle/>
          <a:p>
            <a:pPr algn="ctr" indent="0" marL="0">
              <a:buNone/>
            </a:pPr>
            <a:r>
              <a:rPr lang="en-US" sz="2600" b="1" dirty="0">
                <a:solidFill>
                  <a:srgbClr val="C9A227"/>
                </a:solidFill>
                <a:latin typeface="Cambria" pitchFamily="34" charset="0"/>
                <a:ea typeface="Cambria" pitchFamily="34" charset="-122"/>
                <a:cs typeface="Cambria" pitchFamily="34" charset="-120"/>
              </a:rPr>
              <a:t>$15M</a:t>
            </a:r>
            <a:endParaRPr lang="en-US" sz="2600" dirty="0"/>
          </a:p>
        </p:txBody>
      </p:sp>
      <p:sp>
        <p:nvSpPr>
          <p:cNvPr id="30" name="Text 24"/>
          <p:cNvSpPr/>
          <p:nvPr/>
        </p:nvSpPr>
        <p:spPr>
          <a:xfrm>
            <a:off x="10012680" y="3794760"/>
            <a:ext cx="155448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alibri" pitchFamily="34" charset="0"/>
                <a:ea typeface="Calibri" pitchFamily="34" charset="-122"/>
                <a:cs typeface="Calibri" pitchFamily="34" charset="-120"/>
              </a:rPr>
              <a:t>/year</a:t>
            </a:r>
            <a:endParaRPr lang="en-US" sz="1100" dirty="0"/>
          </a:p>
        </p:txBody>
      </p:sp>
      <p:sp>
        <p:nvSpPr>
          <p:cNvPr id="31" name="Text 25"/>
          <p:cNvSpPr/>
          <p:nvPr/>
        </p:nvSpPr>
        <p:spPr>
          <a:xfrm>
            <a:off x="6629400" y="4343400"/>
            <a:ext cx="4663440" cy="914400"/>
          </a:xfrm>
          <a:prstGeom prst="rect">
            <a:avLst/>
          </a:prstGeom>
          <a:noFill/>
          <a:ln/>
        </p:spPr>
        <p:txBody>
          <a:bodyPr wrap="square" lIns="0" tIns="0" rIns="0" bIns="0" rtlCol="0" anchor="t"/>
          <a:lstStyle/>
          <a:p>
            <a:pPr indent="0" marL="0">
              <a:buNone/>
            </a:pPr>
            <a:r>
              <a:rPr lang="en-US" sz="1150" b="1" dirty="0">
                <a:solidFill>
                  <a:srgbClr val="B23A48"/>
                </a:solidFill>
                <a:latin typeface="Calibri" pitchFamily="34" charset="0"/>
                <a:ea typeface="Calibri" pitchFamily="34" charset="-122"/>
                <a:cs typeface="Calibri" pitchFamily="34" charset="-120"/>
              </a:rPr>
              <a:t>Replace $100M with our actual revenue. </a:t>
            </a:r>
            <a:pPr indent="0" marL="0">
              <a:buNone/>
            </a:pPr>
            <a:r>
              <a:rPr lang="en-US" sz="1150" dirty="0">
                <a:solidFill>
                  <a:srgbClr val="5B6478"/>
                </a:solidFill>
                <a:latin typeface="Calibri" pitchFamily="34" charset="0"/>
                <a:ea typeface="Calibri" pitchFamily="34" charset="-122"/>
                <a:cs typeface="Calibri" pitchFamily="34" charset="-120"/>
              </a:rPr>
              <a:t>The percentages are sourced; the base is a placeholder for modeling, not a forecast.</a:t>
            </a:r>
            <a:endParaRPr lang="en-US" sz="1150" dirty="0"/>
          </a:p>
        </p:txBody>
      </p:sp>
      <p:sp>
        <p:nvSpPr>
          <p:cNvPr id="32" name="Text 26"/>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 McKinsey &amp; Company, “The value of getting personalization right—or wrong—is multiplying,” 2021.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FROM RELEVANCE TO REVENUE</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How recommendations reach the numbers we report</a:t>
            </a:r>
            <a:endParaRPr lang="en-US" sz="2700" dirty="0"/>
          </a:p>
        </p:txBody>
      </p:sp>
      <p:sp>
        <p:nvSpPr>
          <p:cNvPr id="4" name="Shape 2"/>
          <p:cNvSpPr/>
          <p:nvPr/>
        </p:nvSpPr>
        <p:spPr>
          <a:xfrm>
            <a:off x="685800" y="2743200"/>
            <a:ext cx="2286000" cy="1371600"/>
          </a:xfrm>
          <a:prstGeom prst="roundRect">
            <a:avLst>
              <a:gd name="adj" fmla="val 9333"/>
            </a:avLst>
          </a:prstGeom>
          <a:solidFill>
            <a:srgbClr val="1E2761"/>
          </a:solidFill>
          <a:ln/>
          <a:effectLst>
            <a:outerShdw sx="100000" sy="100000" kx="0" ky="0" algn="bl" rotWithShape="0" blurRad="127000" dist="50800" dir="5400000">
              <a:srgbClr val="8A93A6">
                <a:alpha val="13000"/>
              </a:srgbClr>
            </a:outerShdw>
          </a:effectLst>
        </p:spPr>
      </p:sp>
      <p:sp>
        <p:nvSpPr>
          <p:cNvPr id="5" name="Shape 3"/>
          <p:cNvSpPr/>
          <p:nvPr/>
        </p:nvSpPr>
        <p:spPr>
          <a:xfrm>
            <a:off x="1508760" y="2944368"/>
            <a:ext cx="603504" cy="603504"/>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671706" y="3107314"/>
            <a:ext cx="277612" cy="277612"/>
          </a:xfrm>
          <a:prstGeom prst="rect">
            <a:avLst/>
          </a:prstGeom>
        </p:spPr>
      </p:pic>
      <p:sp>
        <p:nvSpPr>
          <p:cNvPr id="7" name="Text 4"/>
          <p:cNvSpPr/>
          <p:nvPr/>
        </p:nvSpPr>
        <p:spPr>
          <a:xfrm>
            <a:off x="795528" y="3584448"/>
            <a:ext cx="2066544" cy="457200"/>
          </a:xfrm>
          <a:prstGeom prst="rect">
            <a:avLst/>
          </a:prstGeom>
          <a:noFill/>
          <a:ln/>
        </p:spPr>
        <p:txBody>
          <a:bodyPr wrap="square" lIns="0" tIns="0" rIns="0" bIns="0" rtlCol="0" anchor="ctr"/>
          <a:lstStyle/>
          <a:p>
            <a:pPr algn="ctr" indent="0" marL="0">
              <a:buNone/>
            </a:pPr>
            <a:r>
              <a:rPr lang="en-US" sz="1250" b="1" dirty="0">
                <a:solidFill>
                  <a:srgbClr val="EAF0FB"/>
                </a:solidFill>
                <a:latin typeface="Calibri" pitchFamily="34" charset="0"/>
                <a:ea typeface="Calibri" pitchFamily="34" charset="-122"/>
                <a:cs typeface="Calibri" pitchFamily="34" charset="-120"/>
              </a:rPr>
              <a:t>Relevant recommendations</a:t>
            </a:r>
            <a:endParaRPr lang="en-US" sz="1250" dirty="0"/>
          </a:p>
        </p:txBody>
      </p:sp>
      <p:sp>
        <p:nvSpPr>
          <p:cNvPr id="8" name="Shape 5"/>
          <p:cNvSpPr/>
          <p:nvPr/>
        </p:nvSpPr>
        <p:spPr>
          <a:xfrm>
            <a:off x="3977640" y="2743200"/>
            <a:ext cx="2194560" cy="1371600"/>
          </a:xfrm>
          <a:prstGeom prst="roundRect">
            <a:avLst>
              <a:gd name="adj" fmla="val 9333"/>
            </a:avLst>
          </a:prstGeom>
          <a:solidFill>
            <a:srgbClr val="F3F6FC"/>
          </a:solidFill>
          <a:ln/>
          <a:effectLst>
            <a:outerShdw sx="100000" sy="100000" kx="0" ky="0" algn="bl" rotWithShape="0" blurRad="127000" dist="50800" dir="5400000">
              <a:srgbClr val="8A93A6">
                <a:alpha val="13000"/>
              </a:srgbClr>
            </a:outerShdw>
          </a:effectLst>
        </p:spPr>
      </p:sp>
      <p:sp>
        <p:nvSpPr>
          <p:cNvPr id="9" name="Shape 6"/>
          <p:cNvSpPr/>
          <p:nvPr/>
        </p:nvSpPr>
        <p:spPr>
          <a:xfrm>
            <a:off x="4773168" y="2944368"/>
            <a:ext cx="603504" cy="603504"/>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10" name="Image 1" descr="preencoded.png">    </p:cNvPr>
          <p:cNvPicPr>
            <a:picLocks noChangeAspect="1"/>
          </p:cNvPicPr>
          <p:nvPr/>
        </p:nvPicPr>
        <p:blipFill>
          <a:blip r:embed="rId2"/>
          <a:stretch>
            <a:fillRect/>
          </a:stretch>
        </p:blipFill>
        <p:spPr>
          <a:xfrm>
            <a:off x="4936114" y="3107314"/>
            <a:ext cx="277612" cy="277612"/>
          </a:xfrm>
          <a:prstGeom prst="rect">
            <a:avLst/>
          </a:prstGeom>
        </p:spPr>
      </p:pic>
      <p:sp>
        <p:nvSpPr>
          <p:cNvPr id="11" name="Text 7"/>
          <p:cNvSpPr/>
          <p:nvPr/>
        </p:nvSpPr>
        <p:spPr>
          <a:xfrm>
            <a:off x="4087368" y="3584448"/>
            <a:ext cx="1975104" cy="457200"/>
          </a:xfrm>
          <a:prstGeom prst="rect">
            <a:avLst/>
          </a:prstGeom>
          <a:noFill/>
          <a:ln/>
        </p:spPr>
        <p:txBody>
          <a:bodyPr wrap="square" lIns="0" tIns="0" rIns="0" bIns="0" rtlCol="0" anchor="ctr"/>
          <a:lstStyle/>
          <a:p>
            <a:pPr algn="ctr" indent="0" marL="0">
              <a:buNone/>
            </a:pPr>
            <a:r>
              <a:rPr lang="en-US" sz="1250" b="1" dirty="0">
                <a:solidFill>
                  <a:srgbClr val="1A2238"/>
                </a:solidFill>
                <a:latin typeface="Calibri" pitchFamily="34" charset="0"/>
                <a:ea typeface="Calibri" pitchFamily="34" charset="-122"/>
                <a:cs typeface="Calibri" pitchFamily="34" charset="-120"/>
              </a:rPr>
              <a:t>Deeper engagement &amp; discovery</a:t>
            </a:r>
            <a:endParaRPr lang="en-US" sz="1250" dirty="0"/>
          </a:p>
        </p:txBody>
      </p:sp>
      <p:pic>
        <p:nvPicPr>
          <p:cNvPr id="12" name="Image 2" descr="preencoded.png">    </p:cNvPr>
          <p:cNvPicPr>
            <a:picLocks noChangeAspect="1"/>
          </p:cNvPicPr>
          <p:nvPr/>
        </p:nvPicPr>
        <p:blipFill>
          <a:blip r:embed="rId3"/>
          <a:stretch>
            <a:fillRect/>
          </a:stretch>
        </p:blipFill>
        <p:spPr>
          <a:xfrm>
            <a:off x="3044952" y="3246120"/>
            <a:ext cx="457200" cy="228600"/>
          </a:xfrm>
          <a:prstGeom prst="rect">
            <a:avLst/>
          </a:prstGeom>
        </p:spPr>
      </p:pic>
      <p:pic>
        <p:nvPicPr>
          <p:cNvPr id="13" name="Image 3" descr="preencoded.png">    </p:cNvPr>
          <p:cNvPicPr>
            <a:picLocks noChangeAspect="1"/>
          </p:cNvPicPr>
          <p:nvPr/>
        </p:nvPicPr>
        <p:blipFill>
          <a:blip r:embed="rId4"/>
          <a:stretch>
            <a:fillRect/>
          </a:stretch>
        </p:blipFill>
        <p:spPr>
          <a:xfrm>
            <a:off x="6245352" y="3246120"/>
            <a:ext cx="457200" cy="228600"/>
          </a:xfrm>
          <a:prstGeom prst="rect">
            <a:avLst/>
          </a:prstGeom>
        </p:spPr>
      </p:pic>
      <p:sp>
        <p:nvSpPr>
          <p:cNvPr id="14" name="Shape 8"/>
          <p:cNvSpPr/>
          <p:nvPr/>
        </p:nvSpPr>
        <p:spPr>
          <a:xfrm>
            <a:off x="7178040" y="1783080"/>
            <a:ext cx="4370832" cy="1078992"/>
          </a:xfrm>
          <a:prstGeom prst="roundRect">
            <a:avLst>
              <a:gd name="adj" fmla="val 10169"/>
            </a:avLst>
          </a:prstGeom>
          <a:solidFill>
            <a:srgbClr val="FBF4E3"/>
          </a:solidFill>
          <a:ln/>
          <a:effectLst>
            <a:outerShdw sx="100000" sy="100000" kx="0" ky="0" algn="bl" rotWithShape="0" blurRad="127000" dist="50800" dir="5400000">
              <a:srgbClr val="8A93A6">
                <a:alpha val="13000"/>
              </a:srgbClr>
            </a:outerShdw>
          </a:effectLst>
        </p:spPr>
      </p:sp>
      <p:sp>
        <p:nvSpPr>
          <p:cNvPr id="15" name="Shape 9"/>
          <p:cNvSpPr/>
          <p:nvPr/>
        </p:nvSpPr>
        <p:spPr>
          <a:xfrm>
            <a:off x="7415784" y="2029968"/>
            <a:ext cx="585216" cy="585216"/>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16" name="Image 4" descr="preencoded.png">    </p:cNvPr>
          <p:cNvPicPr>
            <a:picLocks noChangeAspect="1"/>
          </p:cNvPicPr>
          <p:nvPr/>
        </p:nvPicPr>
        <p:blipFill>
          <a:blip r:embed="rId5"/>
          <a:stretch>
            <a:fillRect/>
          </a:stretch>
        </p:blipFill>
        <p:spPr>
          <a:xfrm>
            <a:off x="7573792" y="2187976"/>
            <a:ext cx="269199" cy="269199"/>
          </a:xfrm>
          <a:prstGeom prst="rect">
            <a:avLst/>
          </a:prstGeom>
        </p:spPr>
      </p:pic>
      <p:sp>
        <p:nvSpPr>
          <p:cNvPr id="17" name="Text 10"/>
          <p:cNvSpPr/>
          <p:nvPr/>
        </p:nvSpPr>
        <p:spPr>
          <a:xfrm>
            <a:off x="8183880" y="1965960"/>
            <a:ext cx="3200400" cy="36576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Conversion rate up</a:t>
            </a:r>
            <a:endParaRPr lang="en-US" sz="1500" dirty="0"/>
          </a:p>
        </p:txBody>
      </p:sp>
      <p:sp>
        <p:nvSpPr>
          <p:cNvPr id="18" name="Text 11"/>
          <p:cNvSpPr/>
          <p:nvPr/>
        </p:nvSpPr>
        <p:spPr>
          <a:xfrm>
            <a:off x="8183880" y="2350008"/>
            <a:ext cx="3200400" cy="36576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More sessions end in a purchase</a:t>
            </a:r>
            <a:endParaRPr lang="en-US" sz="1200" dirty="0"/>
          </a:p>
        </p:txBody>
      </p:sp>
      <p:sp>
        <p:nvSpPr>
          <p:cNvPr id="19" name="Shape 12"/>
          <p:cNvSpPr/>
          <p:nvPr/>
        </p:nvSpPr>
        <p:spPr>
          <a:xfrm>
            <a:off x="7178040" y="3008376"/>
            <a:ext cx="4370832" cy="1078992"/>
          </a:xfrm>
          <a:prstGeom prst="roundRect">
            <a:avLst>
              <a:gd name="adj" fmla="val 10169"/>
            </a:avLst>
          </a:prstGeom>
          <a:solidFill>
            <a:srgbClr val="FBF4E3"/>
          </a:solidFill>
          <a:ln/>
          <a:effectLst>
            <a:outerShdw sx="100000" sy="100000" kx="0" ky="0" algn="bl" rotWithShape="0" blurRad="127000" dist="50800" dir="5400000">
              <a:srgbClr val="8A93A6">
                <a:alpha val="13000"/>
              </a:srgbClr>
            </a:outerShdw>
          </a:effectLst>
        </p:spPr>
      </p:sp>
      <p:sp>
        <p:nvSpPr>
          <p:cNvPr id="20" name="Shape 13"/>
          <p:cNvSpPr/>
          <p:nvPr/>
        </p:nvSpPr>
        <p:spPr>
          <a:xfrm>
            <a:off x="7415784" y="3255264"/>
            <a:ext cx="585216" cy="585216"/>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21" name="Image 5" descr="preencoded.png">    </p:cNvPr>
          <p:cNvPicPr>
            <a:picLocks noChangeAspect="1"/>
          </p:cNvPicPr>
          <p:nvPr/>
        </p:nvPicPr>
        <p:blipFill>
          <a:blip r:embed="rId6"/>
          <a:stretch>
            <a:fillRect/>
          </a:stretch>
        </p:blipFill>
        <p:spPr>
          <a:xfrm>
            <a:off x="7573792" y="3413272"/>
            <a:ext cx="269199" cy="269199"/>
          </a:xfrm>
          <a:prstGeom prst="rect">
            <a:avLst/>
          </a:prstGeom>
        </p:spPr>
      </p:pic>
      <p:sp>
        <p:nvSpPr>
          <p:cNvPr id="22" name="Text 14"/>
          <p:cNvSpPr/>
          <p:nvPr/>
        </p:nvSpPr>
        <p:spPr>
          <a:xfrm>
            <a:off x="8183880" y="3191256"/>
            <a:ext cx="3200400" cy="36576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Average order value up</a:t>
            </a:r>
            <a:endParaRPr lang="en-US" sz="1500" dirty="0"/>
          </a:p>
        </p:txBody>
      </p:sp>
      <p:sp>
        <p:nvSpPr>
          <p:cNvPr id="23" name="Text 15"/>
          <p:cNvSpPr/>
          <p:nvPr/>
        </p:nvSpPr>
        <p:spPr>
          <a:xfrm>
            <a:off x="8183880" y="3575304"/>
            <a:ext cx="3200400" cy="36576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Cross-sell raises basket size</a:t>
            </a:r>
            <a:endParaRPr lang="en-US" sz="1200" dirty="0"/>
          </a:p>
        </p:txBody>
      </p:sp>
      <p:sp>
        <p:nvSpPr>
          <p:cNvPr id="24" name="Shape 16"/>
          <p:cNvSpPr/>
          <p:nvPr/>
        </p:nvSpPr>
        <p:spPr>
          <a:xfrm>
            <a:off x="7178040" y="4233672"/>
            <a:ext cx="4370832" cy="1078992"/>
          </a:xfrm>
          <a:prstGeom prst="roundRect">
            <a:avLst>
              <a:gd name="adj" fmla="val 10169"/>
            </a:avLst>
          </a:prstGeom>
          <a:solidFill>
            <a:srgbClr val="FBF4E3"/>
          </a:solidFill>
          <a:ln/>
          <a:effectLst>
            <a:outerShdw sx="100000" sy="100000" kx="0" ky="0" algn="bl" rotWithShape="0" blurRad="127000" dist="50800" dir="5400000">
              <a:srgbClr val="8A93A6">
                <a:alpha val="13000"/>
              </a:srgbClr>
            </a:outerShdw>
          </a:effectLst>
        </p:spPr>
      </p:sp>
      <p:sp>
        <p:nvSpPr>
          <p:cNvPr id="25" name="Shape 17"/>
          <p:cNvSpPr/>
          <p:nvPr/>
        </p:nvSpPr>
        <p:spPr>
          <a:xfrm>
            <a:off x="7415784" y="4480560"/>
            <a:ext cx="585216" cy="585216"/>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26" name="Image 6" descr="preencoded.png">    </p:cNvPr>
          <p:cNvPicPr>
            <a:picLocks noChangeAspect="1"/>
          </p:cNvPicPr>
          <p:nvPr/>
        </p:nvPicPr>
        <p:blipFill>
          <a:blip r:embed="rId7"/>
          <a:stretch>
            <a:fillRect/>
          </a:stretch>
        </p:blipFill>
        <p:spPr>
          <a:xfrm>
            <a:off x="7573792" y="4638568"/>
            <a:ext cx="269199" cy="269199"/>
          </a:xfrm>
          <a:prstGeom prst="rect">
            <a:avLst/>
          </a:prstGeom>
        </p:spPr>
      </p:pic>
      <p:sp>
        <p:nvSpPr>
          <p:cNvPr id="27" name="Text 18"/>
          <p:cNvSpPr/>
          <p:nvPr/>
        </p:nvSpPr>
        <p:spPr>
          <a:xfrm>
            <a:off x="8183880" y="4416552"/>
            <a:ext cx="3200400" cy="36576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Retention up</a:t>
            </a:r>
            <a:endParaRPr lang="en-US" sz="1500" dirty="0"/>
          </a:p>
        </p:txBody>
      </p:sp>
      <p:sp>
        <p:nvSpPr>
          <p:cNvPr id="28" name="Text 19"/>
          <p:cNvSpPr/>
          <p:nvPr/>
        </p:nvSpPr>
        <p:spPr>
          <a:xfrm>
            <a:off x="8183880" y="4800600"/>
            <a:ext cx="3200400" cy="36576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A tailored store earns repeat visits</a:t>
            </a:r>
            <a:endParaRPr lang="en-US" sz="1200" dirty="0"/>
          </a:p>
        </p:txBody>
      </p:sp>
      <p:pic>
        <p:nvPicPr>
          <p:cNvPr id="29" name="Image 7" descr="preencoded.png">    </p:cNvPr>
          <p:cNvPicPr>
            <a:picLocks noChangeAspect="1"/>
          </p:cNvPicPr>
          <p:nvPr/>
        </p:nvPicPr>
        <p:blipFill>
          <a:blip r:embed="rId8"/>
          <a:stretch>
            <a:fillRect/>
          </a:stretch>
        </p:blipFill>
        <p:spPr>
          <a:xfrm>
            <a:off x="6739128" y="3246120"/>
            <a:ext cx="457200" cy="228600"/>
          </a:xfrm>
          <a:prstGeom prst="rect">
            <a:avLst/>
          </a:prstGeom>
        </p:spPr>
      </p:pic>
      <p:sp>
        <p:nvSpPr>
          <p:cNvPr id="30" name="Text 20"/>
          <p:cNvSpPr/>
          <p:nvPr/>
        </p:nvSpPr>
        <p:spPr>
          <a:xfrm>
            <a:off x="685800" y="4617720"/>
            <a:ext cx="5486400" cy="822960"/>
          </a:xfrm>
          <a:prstGeom prst="rect">
            <a:avLst/>
          </a:prstGeom>
          <a:noFill/>
          <a:ln/>
        </p:spPr>
        <p:txBody>
          <a:bodyPr wrap="square" lIns="0" tIns="0" rIns="0" bIns="0" rtlCol="0" anchor="t"/>
          <a:lstStyle/>
          <a:p>
            <a:pPr indent="0" marL="0">
              <a:buNone/>
            </a:pPr>
            <a:r>
              <a:rPr lang="en-US" sz="1350" i="1" dirty="0">
                <a:solidFill>
                  <a:srgbClr val="1E2761"/>
                </a:solidFill>
                <a:latin typeface="Calibri" pitchFamily="34" charset="0"/>
                <a:ea typeface="Calibri" pitchFamily="34" charset="-122"/>
                <a:cs typeface="Calibri" pitchFamily="34" charset="-120"/>
              </a:rPr>
              <a:t>Net effect: higher revenue per visitor and stronger lifetime value.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WHERE CUSTOMERS SEE IT</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Five surfaces, each with a business job</a:t>
            </a:r>
            <a:endParaRPr lang="en-US" sz="2700" dirty="0"/>
          </a:p>
        </p:txBody>
      </p:sp>
      <p:sp>
        <p:nvSpPr>
          <p:cNvPr id="4" name="Shape 2"/>
          <p:cNvSpPr/>
          <p:nvPr/>
        </p:nvSpPr>
        <p:spPr>
          <a:xfrm>
            <a:off x="640080" y="1627632"/>
            <a:ext cx="3456432" cy="1993392"/>
          </a:xfrm>
          <a:prstGeom prst="roundRect">
            <a:avLst>
              <a:gd name="adj" fmla="val 5505"/>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20240"/>
            <a:ext cx="603504" cy="603504"/>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95634" y="2083186"/>
            <a:ext cx="277612" cy="277612"/>
          </a:xfrm>
          <a:prstGeom prst="rect">
            <a:avLst/>
          </a:prstGeom>
        </p:spPr>
      </p:pic>
      <p:sp>
        <p:nvSpPr>
          <p:cNvPr id="7" name="Text 4"/>
          <p:cNvSpPr/>
          <p:nvPr/>
        </p:nvSpPr>
        <p:spPr>
          <a:xfrm>
            <a:off x="1691640" y="1901952"/>
            <a:ext cx="2221992" cy="32004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Personalized feed</a:t>
            </a:r>
            <a:endParaRPr lang="en-US" sz="1500" dirty="0"/>
          </a:p>
        </p:txBody>
      </p:sp>
      <p:sp>
        <p:nvSpPr>
          <p:cNvPr id="8" name="Shape 5"/>
          <p:cNvSpPr/>
          <p:nvPr/>
        </p:nvSpPr>
        <p:spPr>
          <a:xfrm>
            <a:off x="1691640" y="2286000"/>
            <a:ext cx="1920240" cy="292608"/>
          </a:xfrm>
          <a:prstGeom prst="roundRect">
            <a:avLst>
              <a:gd name="adj" fmla="val 50000"/>
            </a:avLst>
          </a:prstGeom>
          <a:solidFill>
            <a:srgbClr val="FBF4E3"/>
          </a:solidFill>
          <a:ln/>
        </p:spPr>
      </p:sp>
      <p:sp>
        <p:nvSpPr>
          <p:cNvPr id="9" name="Text 6"/>
          <p:cNvSpPr/>
          <p:nvPr/>
        </p:nvSpPr>
        <p:spPr>
          <a:xfrm>
            <a:off x="1691640" y="2286000"/>
            <a:ext cx="1920240" cy="292608"/>
          </a:xfrm>
          <a:prstGeom prst="rect">
            <a:avLst/>
          </a:prstGeom>
          <a:noFill/>
          <a:ln/>
        </p:spPr>
        <p:txBody>
          <a:bodyPr wrap="square" lIns="0" tIns="0" rIns="0" bIns="0" rtlCol="0" anchor="ctr"/>
          <a:lstStyle/>
          <a:p>
            <a:pPr algn="ctr" indent="0" marL="0">
              <a:buNone/>
            </a:pPr>
            <a:r>
              <a:rPr lang="en-US" sz="950" b="1" dirty="0">
                <a:solidFill>
                  <a:srgbClr val="C9A227"/>
                </a:solidFill>
                <a:latin typeface="Calibri" pitchFamily="34" charset="0"/>
                <a:ea typeface="Calibri" pitchFamily="34" charset="-122"/>
                <a:cs typeface="Calibri" pitchFamily="34" charset="-120"/>
              </a:rPr>
              <a:t>Drives engagement</a:t>
            </a:r>
            <a:endParaRPr lang="en-US" sz="950" dirty="0"/>
          </a:p>
        </p:txBody>
      </p:sp>
      <p:sp>
        <p:nvSpPr>
          <p:cNvPr id="10" name="Text 7"/>
          <p:cNvSpPr/>
          <p:nvPr/>
        </p:nvSpPr>
        <p:spPr>
          <a:xfrm>
            <a:off x="932688" y="2834640"/>
            <a:ext cx="2907792" cy="64008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“For you” home and category feeds</a:t>
            </a:r>
            <a:endParaRPr lang="en-US" sz="1200" dirty="0"/>
          </a:p>
        </p:txBody>
      </p:sp>
      <p:sp>
        <p:nvSpPr>
          <p:cNvPr id="11" name="Shape 8"/>
          <p:cNvSpPr/>
          <p:nvPr/>
        </p:nvSpPr>
        <p:spPr>
          <a:xfrm>
            <a:off x="4379976" y="1627632"/>
            <a:ext cx="3456432" cy="1993392"/>
          </a:xfrm>
          <a:prstGeom prst="roundRect">
            <a:avLst>
              <a:gd name="adj" fmla="val 5505"/>
            </a:avLst>
          </a:prstGeom>
          <a:solidFill>
            <a:srgbClr val="F3F6FC"/>
          </a:solidFill>
          <a:ln/>
          <a:effectLst>
            <a:outerShdw sx="100000" sy="100000" kx="0" ky="0" algn="bl" rotWithShape="0" blurRad="127000" dist="50800" dir="5400000">
              <a:srgbClr val="8A93A6">
                <a:alpha val="13000"/>
              </a:srgbClr>
            </a:outerShdw>
          </a:effectLst>
        </p:spPr>
      </p:sp>
      <p:sp>
        <p:nvSpPr>
          <p:cNvPr id="12" name="Shape 9"/>
          <p:cNvSpPr/>
          <p:nvPr/>
        </p:nvSpPr>
        <p:spPr>
          <a:xfrm>
            <a:off x="4672584" y="1920240"/>
            <a:ext cx="603504" cy="603504"/>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13" name="Image 1" descr="preencoded.png">    </p:cNvPr>
          <p:cNvPicPr>
            <a:picLocks noChangeAspect="1"/>
          </p:cNvPicPr>
          <p:nvPr/>
        </p:nvPicPr>
        <p:blipFill>
          <a:blip r:embed="rId2"/>
          <a:stretch>
            <a:fillRect/>
          </a:stretch>
        </p:blipFill>
        <p:spPr>
          <a:xfrm>
            <a:off x="4835530" y="2083186"/>
            <a:ext cx="277612" cy="277612"/>
          </a:xfrm>
          <a:prstGeom prst="rect">
            <a:avLst/>
          </a:prstGeom>
        </p:spPr>
      </p:pic>
      <p:sp>
        <p:nvSpPr>
          <p:cNvPr id="14" name="Text 10"/>
          <p:cNvSpPr/>
          <p:nvPr/>
        </p:nvSpPr>
        <p:spPr>
          <a:xfrm>
            <a:off x="5431536" y="1901952"/>
            <a:ext cx="2221992" cy="32004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Frequently bought together</a:t>
            </a:r>
            <a:endParaRPr lang="en-US" sz="1500" dirty="0"/>
          </a:p>
        </p:txBody>
      </p:sp>
      <p:sp>
        <p:nvSpPr>
          <p:cNvPr id="15" name="Shape 11"/>
          <p:cNvSpPr/>
          <p:nvPr/>
        </p:nvSpPr>
        <p:spPr>
          <a:xfrm>
            <a:off x="5431536" y="2286000"/>
            <a:ext cx="1920240" cy="292608"/>
          </a:xfrm>
          <a:prstGeom prst="roundRect">
            <a:avLst>
              <a:gd name="adj" fmla="val 50000"/>
            </a:avLst>
          </a:prstGeom>
          <a:solidFill>
            <a:srgbClr val="FBF4E3"/>
          </a:solidFill>
          <a:ln/>
        </p:spPr>
      </p:sp>
      <p:sp>
        <p:nvSpPr>
          <p:cNvPr id="16" name="Text 12"/>
          <p:cNvSpPr/>
          <p:nvPr/>
        </p:nvSpPr>
        <p:spPr>
          <a:xfrm>
            <a:off x="5431536" y="2286000"/>
            <a:ext cx="1920240" cy="292608"/>
          </a:xfrm>
          <a:prstGeom prst="rect">
            <a:avLst/>
          </a:prstGeom>
          <a:noFill/>
          <a:ln/>
        </p:spPr>
        <p:txBody>
          <a:bodyPr wrap="square" lIns="0" tIns="0" rIns="0" bIns="0" rtlCol="0" anchor="ctr"/>
          <a:lstStyle/>
          <a:p>
            <a:pPr algn="ctr" indent="0" marL="0">
              <a:buNone/>
            </a:pPr>
            <a:r>
              <a:rPr lang="en-US" sz="950" b="1" dirty="0">
                <a:solidFill>
                  <a:srgbClr val="C9A227"/>
                </a:solidFill>
                <a:latin typeface="Calibri" pitchFamily="34" charset="0"/>
                <a:ea typeface="Calibri" pitchFamily="34" charset="-122"/>
                <a:cs typeface="Calibri" pitchFamily="34" charset="-120"/>
              </a:rPr>
              <a:t>Grows basket size</a:t>
            </a:r>
            <a:endParaRPr lang="en-US" sz="950" dirty="0"/>
          </a:p>
        </p:txBody>
      </p:sp>
      <p:sp>
        <p:nvSpPr>
          <p:cNvPr id="17" name="Text 13"/>
          <p:cNvSpPr/>
          <p:nvPr/>
        </p:nvSpPr>
        <p:spPr>
          <a:xfrm>
            <a:off x="4672584" y="2834640"/>
            <a:ext cx="2907792" cy="64008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Cross-sell at cart &amp; product page</a:t>
            </a:r>
            <a:endParaRPr lang="en-US" sz="1200" dirty="0"/>
          </a:p>
        </p:txBody>
      </p:sp>
      <p:sp>
        <p:nvSpPr>
          <p:cNvPr id="18" name="Shape 14"/>
          <p:cNvSpPr/>
          <p:nvPr/>
        </p:nvSpPr>
        <p:spPr>
          <a:xfrm>
            <a:off x="8119872" y="1627632"/>
            <a:ext cx="3456432" cy="1993392"/>
          </a:xfrm>
          <a:prstGeom prst="roundRect">
            <a:avLst>
              <a:gd name="adj" fmla="val 5505"/>
            </a:avLst>
          </a:prstGeom>
          <a:solidFill>
            <a:srgbClr val="F3F6FC"/>
          </a:solidFill>
          <a:ln/>
          <a:effectLst>
            <a:outerShdw sx="100000" sy="100000" kx="0" ky="0" algn="bl" rotWithShape="0" blurRad="127000" dist="50800" dir="5400000">
              <a:srgbClr val="8A93A6">
                <a:alpha val="13000"/>
              </a:srgbClr>
            </a:outerShdw>
          </a:effectLst>
        </p:spPr>
      </p:sp>
      <p:sp>
        <p:nvSpPr>
          <p:cNvPr id="19" name="Shape 15"/>
          <p:cNvSpPr/>
          <p:nvPr/>
        </p:nvSpPr>
        <p:spPr>
          <a:xfrm>
            <a:off x="8412480" y="1920240"/>
            <a:ext cx="603504" cy="603504"/>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20" name="Image 2" descr="preencoded.png">    </p:cNvPr>
          <p:cNvPicPr>
            <a:picLocks noChangeAspect="1"/>
          </p:cNvPicPr>
          <p:nvPr/>
        </p:nvPicPr>
        <p:blipFill>
          <a:blip r:embed="rId3"/>
          <a:stretch>
            <a:fillRect/>
          </a:stretch>
        </p:blipFill>
        <p:spPr>
          <a:xfrm>
            <a:off x="8575426" y="2083186"/>
            <a:ext cx="277612" cy="277612"/>
          </a:xfrm>
          <a:prstGeom prst="rect">
            <a:avLst/>
          </a:prstGeom>
        </p:spPr>
      </p:pic>
      <p:sp>
        <p:nvSpPr>
          <p:cNvPr id="21" name="Text 16"/>
          <p:cNvSpPr/>
          <p:nvPr/>
        </p:nvSpPr>
        <p:spPr>
          <a:xfrm>
            <a:off x="9171432" y="1901952"/>
            <a:ext cx="2221992" cy="32004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Trending &amp; popular</a:t>
            </a:r>
            <a:endParaRPr lang="en-US" sz="1500" dirty="0"/>
          </a:p>
        </p:txBody>
      </p:sp>
      <p:sp>
        <p:nvSpPr>
          <p:cNvPr id="22" name="Shape 17"/>
          <p:cNvSpPr/>
          <p:nvPr/>
        </p:nvSpPr>
        <p:spPr>
          <a:xfrm>
            <a:off x="9171432" y="2286000"/>
            <a:ext cx="1920240" cy="292608"/>
          </a:xfrm>
          <a:prstGeom prst="roundRect">
            <a:avLst>
              <a:gd name="adj" fmla="val 50000"/>
            </a:avLst>
          </a:prstGeom>
          <a:solidFill>
            <a:srgbClr val="FBF4E3"/>
          </a:solidFill>
          <a:ln/>
        </p:spPr>
      </p:sp>
      <p:sp>
        <p:nvSpPr>
          <p:cNvPr id="23" name="Text 18"/>
          <p:cNvSpPr/>
          <p:nvPr/>
        </p:nvSpPr>
        <p:spPr>
          <a:xfrm>
            <a:off x="9171432" y="2286000"/>
            <a:ext cx="1920240" cy="292608"/>
          </a:xfrm>
          <a:prstGeom prst="rect">
            <a:avLst/>
          </a:prstGeom>
          <a:noFill/>
          <a:ln/>
        </p:spPr>
        <p:txBody>
          <a:bodyPr wrap="square" lIns="0" tIns="0" rIns="0" bIns="0" rtlCol="0" anchor="ctr"/>
          <a:lstStyle/>
          <a:p>
            <a:pPr algn="ctr" indent="0" marL="0">
              <a:buNone/>
            </a:pPr>
            <a:r>
              <a:rPr lang="en-US" sz="950" b="1" dirty="0">
                <a:solidFill>
                  <a:srgbClr val="C9A227"/>
                </a:solidFill>
                <a:latin typeface="Calibri" pitchFamily="34" charset="0"/>
                <a:ea typeface="Calibri" pitchFamily="34" charset="-122"/>
                <a:cs typeface="Calibri" pitchFamily="34" charset="-120"/>
              </a:rPr>
              <a:t>Converts undecided shoppers</a:t>
            </a:r>
            <a:endParaRPr lang="en-US" sz="950" dirty="0"/>
          </a:p>
        </p:txBody>
      </p:sp>
      <p:sp>
        <p:nvSpPr>
          <p:cNvPr id="24" name="Text 19"/>
          <p:cNvSpPr/>
          <p:nvPr/>
        </p:nvSpPr>
        <p:spPr>
          <a:xfrm>
            <a:off x="8412480" y="2834640"/>
            <a:ext cx="2907792" cy="64008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Strong default with little data</a:t>
            </a:r>
            <a:endParaRPr lang="en-US" sz="1200" dirty="0"/>
          </a:p>
        </p:txBody>
      </p:sp>
      <p:sp>
        <p:nvSpPr>
          <p:cNvPr id="25" name="Shape 20"/>
          <p:cNvSpPr/>
          <p:nvPr/>
        </p:nvSpPr>
        <p:spPr>
          <a:xfrm>
            <a:off x="2510028" y="3931920"/>
            <a:ext cx="3456432" cy="1993392"/>
          </a:xfrm>
          <a:prstGeom prst="roundRect">
            <a:avLst>
              <a:gd name="adj" fmla="val 5505"/>
            </a:avLst>
          </a:prstGeom>
          <a:solidFill>
            <a:srgbClr val="F3F6FC"/>
          </a:solidFill>
          <a:ln/>
          <a:effectLst>
            <a:outerShdw sx="100000" sy="100000" kx="0" ky="0" algn="bl" rotWithShape="0" blurRad="127000" dist="50800" dir="5400000">
              <a:srgbClr val="8A93A6">
                <a:alpha val="13000"/>
              </a:srgbClr>
            </a:outerShdw>
          </a:effectLst>
        </p:spPr>
      </p:sp>
      <p:sp>
        <p:nvSpPr>
          <p:cNvPr id="26" name="Shape 21"/>
          <p:cNvSpPr/>
          <p:nvPr/>
        </p:nvSpPr>
        <p:spPr>
          <a:xfrm>
            <a:off x="2802636" y="4224528"/>
            <a:ext cx="603504" cy="603504"/>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27" name="Image 3" descr="preencoded.png">    </p:cNvPr>
          <p:cNvPicPr>
            <a:picLocks noChangeAspect="1"/>
          </p:cNvPicPr>
          <p:nvPr/>
        </p:nvPicPr>
        <p:blipFill>
          <a:blip r:embed="rId4"/>
          <a:stretch>
            <a:fillRect/>
          </a:stretch>
        </p:blipFill>
        <p:spPr>
          <a:xfrm>
            <a:off x="2965582" y="4387474"/>
            <a:ext cx="277612" cy="277612"/>
          </a:xfrm>
          <a:prstGeom prst="rect">
            <a:avLst/>
          </a:prstGeom>
        </p:spPr>
      </p:pic>
      <p:sp>
        <p:nvSpPr>
          <p:cNvPr id="28" name="Text 22"/>
          <p:cNvSpPr/>
          <p:nvPr/>
        </p:nvSpPr>
        <p:spPr>
          <a:xfrm>
            <a:off x="3561588" y="4206240"/>
            <a:ext cx="2221992" cy="32004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Similar items</a:t>
            </a:r>
            <a:endParaRPr lang="en-US" sz="1500" dirty="0"/>
          </a:p>
        </p:txBody>
      </p:sp>
      <p:sp>
        <p:nvSpPr>
          <p:cNvPr id="29" name="Shape 23"/>
          <p:cNvSpPr/>
          <p:nvPr/>
        </p:nvSpPr>
        <p:spPr>
          <a:xfrm>
            <a:off x="3561588" y="4590288"/>
            <a:ext cx="1920240" cy="292608"/>
          </a:xfrm>
          <a:prstGeom prst="roundRect">
            <a:avLst>
              <a:gd name="adj" fmla="val 50000"/>
            </a:avLst>
          </a:prstGeom>
          <a:solidFill>
            <a:srgbClr val="FBF4E3"/>
          </a:solidFill>
          <a:ln/>
        </p:spPr>
      </p:sp>
      <p:sp>
        <p:nvSpPr>
          <p:cNvPr id="30" name="Text 24"/>
          <p:cNvSpPr/>
          <p:nvPr/>
        </p:nvSpPr>
        <p:spPr>
          <a:xfrm>
            <a:off x="3561588" y="4590288"/>
            <a:ext cx="1920240" cy="292608"/>
          </a:xfrm>
          <a:prstGeom prst="rect">
            <a:avLst/>
          </a:prstGeom>
          <a:noFill/>
          <a:ln/>
        </p:spPr>
        <p:txBody>
          <a:bodyPr wrap="square" lIns="0" tIns="0" rIns="0" bIns="0" rtlCol="0" anchor="ctr"/>
          <a:lstStyle/>
          <a:p>
            <a:pPr algn="ctr" indent="0" marL="0">
              <a:buNone/>
            </a:pPr>
            <a:r>
              <a:rPr lang="en-US" sz="950" b="1" dirty="0">
                <a:solidFill>
                  <a:srgbClr val="C9A227"/>
                </a:solidFill>
                <a:latin typeface="Calibri" pitchFamily="34" charset="0"/>
                <a:ea typeface="Calibri" pitchFamily="34" charset="-122"/>
                <a:cs typeface="Calibri" pitchFamily="34" charset="-120"/>
              </a:rPr>
              <a:t>Extends the session</a:t>
            </a:r>
            <a:endParaRPr lang="en-US" sz="950" dirty="0"/>
          </a:p>
        </p:txBody>
      </p:sp>
      <p:sp>
        <p:nvSpPr>
          <p:cNvPr id="31" name="Text 25"/>
          <p:cNvSpPr/>
          <p:nvPr/>
        </p:nvSpPr>
        <p:spPr>
          <a:xfrm>
            <a:off x="2802636" y="5138928"/>
            <a:ext cx="2907792" cy="64008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“More like this” keeps browsing</a:t>
            </a:r>
            <a:endParaRPr lang="en-US" sz="1200" dirty="0"/>
          </a:p>
        </p:txBody>
      </p:sp>
      <p:sp>
        <p:nvSpPr>
          <p:cNvPr id="32" name="Shape 26"/>
          <p:cNvSpPr/>
          <p:nvPr/>
        </p:nvSpPr>
        <p:spPr>
          <a:xfrm>
            <a:off x="6249924" y="3931920"/>
            <a:ext cx="3456432" cy="1993392"/>
          </a:xfrm>
          <a:prstGeom prst="roundRect">
            <a:avLst>
              <a:gd name="adj" fmla="val 5505"/>
            </a:avLst>
          </a:prstGeom>
          <a:solidFill>
            <a:srgbClr val="F3F6FC"/>
          </a:solidFill>
          <a:ln/>
          <a:effectLst>
            <a:outerShdw sx="100000" sy="100000" kx="0" ky="0" algn="bl" rotWithShape="0" blurRad="127000" dist="50800" dir="5400000">
              <a:srgbClr val="8A93A6">
                <a:alpha val="13000"/>
              </a:srgbClr>
            </a:outerShdw>
          </a:effectLst>
        </p:spPr>
      </p:sp>
      <p:sp>
        <p:nvSpPr>
          <p:cNvPr id="33" name="Shape 27"/>
          <p:cNvSpPr/>
          <p:nvPr/>
        </p:nvSpPr>
        <p:spPr>
          <a:xfrm>
            <a:off x="6542532" y="4224528"/>
            <a:ext cx="603504" cy="603504"/>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34" name="Image 4" descr="preencoded.png">    </p:cNvPr>
          <p:cNvPicPr>
            <a:picLocks noChangeAspect="1"/>
          </p:cNvPicPr>
          <p:nvPr/>
        </p:nvPicPr>
        <p:blipFill>
          <a:blip r:embed="rId5"/>
          <a:stretch>
            <a:fillRect/>
          </a:stretch>
        </p:blipFill>
        <p:spPr>
          <a:xfrm>
            <a:off x="6705478" y="4387474"/>
            <a:ext cx="277612" cy="277612"/>
          </a:xfrm>
          <a:prstGeom prst="rect">
            <a:avLst/>
          </a:prstGeom>
        </p:spPr>
      </p:pic>
      <p:sp>
        <p:nvSpPr>
          <p:cNvPr id="35" name="Text 28"/>
          <p:cNvSpPr/>
          <p:nvPr/>
        </p:nvSpPr>
        <p:spPr>
          <a:xfrm>
            <a:off x="7301484" y="4206240"/>
            <a:ext cx="2221992" cy="320040"/>
          </a:xfrm>
          <a:prstGeom prst="rect">
            <a:avLst/>
          </a:prstGeom>
          <a:noFill/>
          <a:ln/>
        </p:spPr>
        <p:txBody>
          <a:bodyPr wrap="square" lIns="0" tIns="0" rIns="0" bIns="0" rtlCol="0" anchor="ctr"/>
          <a:lstStyle/>
          <a:p>
            <a:pPr indent="0" marL="0">
              <a:buNone/>
            </a:pPr>
            <a:r>
              <a:rPr lang="en-US" sz="1500" b="1" dirty="0">
                <a:solidFill>
                  <a:srgbClr val="1A2238"/>
                </a:solidFill>
                <a:latin typeface="Cambria" pitchFamily="34" charset="0"/>
                <a:ea typeface="Cambria" pitchFamily="34" charset="-122"/>
                <a:cs typeface="Cambria" pitchFamily="34" charset="-120"/>
              </a:rPr>
              <a:t>Recently viewed</a:t>
            </a:r>
            <a:endParaRPr lang="en-US" sz="1500" dirty="0"/>
          </a:p>
        </p:txBody>
      </p:sp>
      <p:sp>
        <p:nvSpPr>
          <p:cNvPr id="36" name="Shape 29"/>
          <p:cNvSpPr/>
          <p:nvPr/>
        </p:nvSpPr>
        <p:spPr>
          <a:xfrm>
            <a:off x="7301484" y="4590288"/>
            <a:ext cx="1920240" cy="292608"/>
          </a:xfrm>
          <a:prstGeom prst="roundRect">
            <a:avLst>
              <a:gd name="adj" fmla="val 50000"/>
            </a:avLst>
          </a:prstGeom>
          <a:solidFill>
            <a:srgbClr val="FBF4E3"/>
          </a:solidFill>
          <a:ln/>
        </p:spPr>
      </p:sp>
      <p:sp>
        <p:nvSpPr>
          <p:cNvPr id="37" name="Text 30"/>
          <p:cNvSpPr/>
          <p:nvPr/>
        </p:nvSpPr>
        <p:spPr>
          <a:xfrm>
            <a:off x="7301484" y="4590288"/>
            <a:ext cx="1920240" cy="292608"/>
          </a:xfrm>
          <a:prstGeom prst="rect">
            <a:avLst/>
          </a:prstGeom>
          <a:noFill/>
          <a:ln/>
        </p:spPr>
        <p:txBody>
          <a:bodyPr wrap="square" lIns="0" tIns="0" rIns="0" bIns="0" rtlCol="0" anchor="ctr"/>
          <a:lstStyle/>
          <a:p>
            <a:pPr algn="ctr" indent="0" marL="0">
              <a:buNone/>
            </a:pPr>
            <a:r>
              <a:rPr lang="en-US" sz="950" b="1" dirty="0">
                <a:solidFill>
                  <a:srgbClr val="C9A227"/>
                </a:solidFill>
                <a:latin typeface="Calibri" pitchFamily="34" charset="0"/>
                <a:ea typeface="Calibri" pitchFamily="34" charset="-122"/>
                <a:cs typeface="Calibri" pitchFamily="34" charset="-120"/>
              </a:rPr>
              <a:t>Recovers lost intent</a:t>
            </a:r>
            <a:endParaRPr lang="en-US" sz="950" dirty="0"/>
          </a:p>
        </p:txBody>
      </p:sp>
      <p:sp>
        <p:nvSpPr>
          <p:cNvPr id="38" name="Text 31"/>
          <p:cNvSpPr/>
          <p:nvPr/>
        </p:nvSpPr>
        <p:spPr>
          <a:xfrm>
            <a:off x="6542532" y="5138928"/>
            <a:ext cx="2907792" cy="640080"/>
          </a:xfrm>
          <a:prstGeom prst="rect">
            <a:avLst/>
          </a:prstGeom>
          <a:noFill/>
          <a:ln/>
        </p:spPr>
        <p:txBody>
          <a:bodyPr wrap="square" lIns="0" tIns="0" rIns="0" bIns="0" rtlCol="0" anchor="ctr"/>
          <a:lstStyle/>
          <a:p>
            <a:pPr indent="0" marL="0">
              <a:buNone/>
            </a:pPr>
            <a:r>
              <a:rPr lang="en-US" sz="1200" dirty="0">
                <a:solidFill>
                  <a:srgbClr val="5B6478"/>
                </a:solidFill>
                <a:latin typeface="Calibri" pitchFamily="34" charset="0"/>
                <a:ea typeface="Calibri" pitchFamily="34" charset="-122"/>
                <a:cs typeface="Calibri" pitchFamily="34" charset="-120"/>
              </a:rPr>
              <a:t>Easy path back to consideration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HOW IT WORKS (IN PLAIN TERMS)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Learn from behavior, predict relevance, rank</a:t>
            </a:r>
            <a:endParaRPr lang="en-US" sz="2700" dirty="0"/>
          </a:p>
        </p:txBody>
      </p:sp>
      <p:sp>
        <p:nvSpPr>
          <p:cNvPr id="4" name="Shape 2"/>
          <p:cNvSpPr/>
          <p:nvPr/>
        </p:nvSpPr>
        <p:spPr>
          <a:xfrm>
            <a:off x="640080" y="1645920"/>
            <a:ext cx="10927080" cy="960120"/>
          </a:xfrm>
          <a:prstGeom prst="roundRect">
            <a:avLst>
              <a:gd name="adj" fmla="val 11429"/>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896112" y="1828800"/>
            <a:ext cx="548640" cy="548640"/>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44245" y="1976933"/>
            <a:ext cx="252374" cy="252374"/>
          </a:xfrm>
          <a:prstGeom prst="rect">
            <a:avLst/>
          </a:prstGeom>
        </p:spPr>
      </p:pic>
      <p:sp>
        <p:nvSpPr>
          <p:cNvPr id="7" name="Text 4"/>
          <p:cNvSpPr/>
          <p:nvPr/>
        </p:nvSpPr>
        <p:spPr>
          <a:xfrm>
            <a:off x="1645920" y="1700784"/>
            <a:ext cx="9692640" cy="868680"/>
          </a:xfrm>
          <a:prstGeom prst="rect">
            <a:avLst/>
          </a:prstGeom>
          <a:noFill/>
          <a:ln/>
        </p:spPr>
        <p:txBody>
          <a:bodyPr wrap="square" lIns="0" tIns="0" rIns="0" bIns="0" rtlCol="0" anchor="ctr"/>
          <a:lstStyle/>
          <a:p>
            <a:pPr indent="0" marL="0">
              <a:buNone/>
            </a:pPr>
            <a:r>
              <a:rPr lang="en-US" sz="1400" dirty="0">
                <a:solidFill>
                  <a:srgbClr val="1A2238"/>
                </a:solidFill>
                <a:latin typeface="Calibri" pitchFamily="34" charset="0"/>
                <a:ea typeface="Calibri" pitchFamily="34" charset="-122"/>
                <a:cs typeface="Calibri" pitchFamily="34" charset="-120"/>
              </a:rPr>
              <a:t>The system learns from what shoppers browse and buy, predicts what each person is most likely to want next, and shows those items first — automatically, for every visitor.</a:t>
            </a:r>
            <a:endParaRPr lang="en-US" sz="1400" dirty="0"/>
          </a:p>
        </p:txBody>
      </p:sp>
      <p:sp>
        <p:nvSpPr>
          <p:cNvPr id="8" name="Shape 5"/>
          <p:cNvSpPr/>
          <p:nvPr/>
        </p:nvSpPr>
        <p:spPr>
          <a:xfrm>
            <a:off x="640080"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9" name="Shape 6"/>
          <p:cNvSpPr/>
          <p:nvPr/>
        </p:nvSpPr>
        <p:spPr>
          <a:xfrm>
            <a:off x="640080" y="3108960"/>
            <a:ext cx="3154680" cy="2286000"/>
          </a:xfrm>
          <a:prstGeom prst="roundRect">
            <a:avLst>
              <a:gd name="adj" fmla="val 4800"/>
            </a:avLst>
          </a:prstGeom>
          <a:solidFill>
            <a:srgbClr val="FFFFFF">
              <a:alpha val="0"/>
            </a:srgbClr>
          </a:solidFill>
          <a:ln w="12700">
            <a:solidFill>
              <a:srgbClr val="DCE3F0"/>
            </a:solidFill>
            <a:prstDash val="solid"/>
          </a:ln>
        </p:spPr>
      </p:sp>
      <p:sp>
        <p:nvSpPr>
          <p:cNvPr id="10" name="Shape 7"/>
          <p:cNvSpPr/>
          <p:nvPr/>
        </p:nvSpPr>
        <p:spPr>
          <a:xfrm>
            <a:off x="1888236" y="3383280"/>
            <a:ext cx="658368" cy="65836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2065995" y="3561039"/>
            <a:ext cx="302849" cy="302849"/>
          </a:xfrm>
          <a:prstGeom prst="rect">
            <a:avLst/>
          </a:prstGeom>
        </p:spPr>
      </p:pic>
      <p:sp>
        <p:nvSpPr>
          <p:cNvPr id="12" name="Text 8"/>
          <p:cNvSpPr/>
          <p:nvPr/>
        </p:nvSpPr>
        <p:spPr>
          <a:xfrm>
            <a:off x="822960" y="4160520"/>
            <a:ext cx="2788920" cy="365760"/>
          </a:xfrm>
          <a:prstGeom prst="rect">
            <a:avLst/>
          </a:prstGeom>
          <a:noFill/>
          <a:ln/>
        </p:spPr>
        <p:txBody>
          <a:bodyPr wrap="square" lIns="0" tIns="0" rIns="0" bIns="0" rtlCol="0" anchor="ctr"/>
          <a:lstStyle/>
          <a:p>
            <a:pPr algn="ctr" indent="0" marL="0">
              <a:buNone/>
            </a:pPr>
            <a:r>
              <a:rPr lang="en-US" sz="1600" b="1" dirty="0">
                <a:solidFill>
                  <a:srgbClr val="1A2238"/>
                </a:solidFill>
                <a:latin typeface="Cambria" pitchFamily="34" charset="0"/>
                <a:ea typeface="Cambria" pitchFamily="34" charset="-122"/>
                <a:cs typeface="Cambria" pitchFamily="34" charset="-120"/>
              </a:rPr>
              <a:t>What we know</a:t>
            </a:r>
            <a:endParaRPr lang="en-US" sz="1600" dirty="0"/>
          </a:p>
        </p:txBody>
      </p:sp>
      <p:sp>
        <p:nvSpPr>
          <p:cNvPr id="13" name="Text 9"/>
          <p:cNvSpPr/>
          <p:nvPr/>
        </p:nvSpPr>
        <p:spPr>
          <a:xfrm>
            <a:off x="896112" y="4535424"/>
            <a:ext cx="2642616" cy="777240"/>
          </a:xfrm>
          <a:prstGeom prst="rect">
            <a:avLst/>
          </a:prstGeom>
          <a:noFill/>
          <a:ln/>
        </p:spPr>
        <p:txBody>
          <a:bodyPr wrap="square" lIns="0" tIns="0" rIns="0" bIns="0" rtlCol="0" anchor="ctr"/>
          <a:lstStyle/>
          <a:p>
            <a:pPr algn="ctr" indent="0" marL="0">
              <a:buNone/>
            </a:pPr>
            <a:r>
              <a:rPr lang="en-US" sz="1250" dirty="0">
                <a:solidFill>
                  <a:srgbClr val="5B6478"/>
                </a:solidFill>
                <a:latin typeface="Calibri" pitchFamily="34" charset="0"/>
                <a:ea typeface="Calibri" pitchFamily="34" charset="-122"/>
                <a:cs typeface="Calibri" pitchFamily="34" charset="-120"/>
              </a:rPr>
              <a:t>Shopper history, product details, and the moment (device, time).</a:t>
            </a:r>
            <a:endParaRPr lang="en-US" sz="1250" dirty="0"/>
          </a:p>
        </p:txBody>
      </p:sp>
      <p:pic>
        <p:nvPicPr>
          <p:cNvPr id="14" name="Image 2" descr="preencoded.png">    </p:cNvPr>
          <p:cNvPicPr>
            <a:picLocks noChangeAspect="1"/>
          </p:cNvPicPr>
          <p:nvPr/>
        </p:nvPicPr>
        <p:blipFill>
          <a:blip r:embed="rId3"/>
          <a:stretch>
            <a:fillRect/>
          </a:stretch>
        </p:blipFill>
        <p:spPr>
          <a:xfrm>
            <a:off x="3904488" y="4078224"/>
            <a:ext cx="347472" cy="173736"/>
          </a:xfrm>
          <a:prstGeom prst="rect">
            <a:avLst/>
          </a:prstGeom>
        </p:spPr>
      </p:pic>
      <p:sp>
        <p:nvSpPr>
          <p:cNvPr id="15" name="Shape 10"/>
          <p:cNvSpPr/>
          <p:nvPr/>
        </p:nvSpPr>
        <p:spPr>
          <a:xfrm>
            <a:off x="4361688"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16" name="Shape 11"/>
          <p:cNvSpPr/>
          <p:nvPr/>
        </p:nvSpPr>
        <p:spPr>
          <a:xfrm>
            <a:off x="4361688" y="3108960"/>
            <a:ext cx="3154680" cy="2286000"/>
          </a:xfrm>
          <a:prstGeom prst="roundRect">
            <a:avLst>
              <a:gd name="adj" fmla="val 4800"/>
            </a:avLst>
          </a:prstGeom>
          <a:solidFill>
            <a:srgbClr val="FFFFFF">
              <a:alpha val="0"/>
            </a:srgbClr>
          </a:solidFill>
          <a:ln w="12700">
            <a:solidFill>
              <a:srgbClr val="DCE3F0"/>
            </a:solidFill>
            <a:prstDash val="solid"/>
          </a:ln>
        </p:spPr>
      </p:sp>
      <p:sp>
        <p:nvSpPr>
          <p:cNvPr id="17" name="Shape 12"/>
          <p:cNvSpPr/>
          <p:nvPr/>
        </p:nvSpPr>
        <p:spPr>
          <a:xfrm>
            <a:off x="5609844" y="3383280"/>
            <a:ext cx="658368" cy="65836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18" name="Image 3" descr="preencoded.png">    </p:cNvPr>
          <p:cNvPicPr>
            <a:picLocks noChangeAspect="1"/>
          </p:cNvPicPr>
          <p:nvPr/>
        </p:nvPicPr>
        <p:blipFill>
          <a:blip r:embed="rId4"/>
          <a:stretch>
            <a:fillRect/>
          </a:stretch>
        </p:blipFill>
        <p:spPr>
          <a:xfrm>
            <a:off x="5787603" y="3561039"/>
            <a:ext cx="302849" cy="302849"/>
          </a:xfrm>
          <a:prstGeom prst="rect">
            <a:avLst/>
          </a:prstGeom>
        </p:spPr>
      </p:pic>
      <p:sp>
        <p:nvSpPr>
          <p:cNvPr id="19" name="Text 13"/>
          <p:cNvSpPr/>
          <p:nvPr/>
        </p:nvSpPr>
        <p:spPr>
          <a:xfrm>
            <a:off x="4544568" y="4160520"/>
            <a:ext cx="2788920" cy="365760"/>
          </a:xfrm>
          <a:prstGeom prst="rect">
            <a:avLst/>
          </a:prstGeom>
          <a:noFill/>
          <a:ln/>
        </p:spPr>
        <p:txBody>
          <a:bodyPr wrap="square" lIns="0" tIns="0" rIns="0" bIns="0" rtlCol="0" anchor="ctr"/>
          <a:lstStyle/>
          <a:p>
            <a:pPr algn="ctr" indent="0" marL="0">
              <a:buNone/>
            </a:pPr>
            <a:r>
              <a:rPr lang="en-US" sz="1600" b="1" dirty="0">
                <a:solidFill>
                  <a:srgbClr val="1A2238"/>
                </a:solidFill>
                <a:latin typeface="Cambria" pitchFamily="34" charset="0"/>
                <a:ea typeface="Cambria" pitchFamily="34" charset="-122"/>
                <a:cs typeface="Cambria" pitchFamily="34" charset="-120"/>
              </a:rPr>
              <a:t>Smart matching</a:t>
            </a:r>
            <a:endParaRPr lang="en-US" sz="1600" dirty="0"/>
          </a:p>
        </p:txBody>
      </p:sp>
      <p:sp>
        <p:nvSpPr>
          <p:cNvPr id="20" name="Text 14"/>
          <p:cNvSpPr/>
          <p:nvPr/>
        </p:nvSpPr>
        <p:spPr>
          <a:xfrm>
            <a:off x="4617720" y="4535424"/>
            <a:ext cx="2642616" cy="777240"/>
          </a:xfrm>
          <a:prstGeom prst="rect">
            <a:avLst/>
          </a:prstGeom>
          <a:noFill/>
          <a:ln/>
        </p:spPr>
        <p:txBody>
          <a:bodyPr wrap="square" lIns="0" tIns="0" rIns="0" bIns="0" rtlCol="0" anchor="ctr"/>
          <a:lstStyle/>
          <a:p>
            <a:pPr algn="ctr" indent="0" marL="0">
              <a:buNone/>
            </a:pPr>
            <a:r>
              <a:rPr lang="en-US" sz="1250" dirty="0">
                <a:solidFill>
                  <a:srgbClr val="5B6478"/>
                </a:solidFill>
                <a:latin typeface="Calibri" pitchFamily="34" charset="0"/>
                <a:ea typeface="Calibri" pitchFamily="34" charset="-122"/>
                <a:cs typeface="Calibri" pitchFamily="34" charset="-120"/>
              </a:rPr>
              <a:t>Scores how relevant each product is to this shopper.</a:t>
            </a:r>
            <a:endParaRPr lang="en-US" sz="1250" dirty="0"/>
          </a:p>
        </p:txBody>
      </p:sp>
      <p:pic>
        <p:nvPicPr>
          <p:cNvPr id="21" name="Image 4" descr="preencoded.png">    </p:cNvPr>
          <p:cNvPicPr>
            <a:picLocks noChangeAspect="1"/>
          </p:cNvPicPr>
          <p:nvPr/>
        </p:nvPicPr>
        <p:blipFill>
          <a:blip r:embed="rId5"/>
          <a:stretch>
            <a:fillRect/>
          </a:stretch>
        </p:blipFill>
        <p:spPr>
          <a:xfrm>
            <a:off x="7626096" y="4078224"/>
            <a:ext cx="347472" cy="173736"/>
          </a:xfrm>
          <a:prstGeom prst="rect">
            <a:avLst/>
          </a:prstGeom>
        </p:spPr>
      </p:pic>
      <p:sp>
        <p:nvSpPr>
          <p:cNvPr id="22" name="Shape 15"/>
          <p:cNvSpPr/>
          <p:nvPr/>
        </p:nvSpPr>
        <p:spPr>
          <a:xfrm>
            <a:off x="8083296" y="3108960"/>
            <a:ext cx="3154680" cy="2286000"/>
          </a:xfrm>
          <a:prstGeom prst="roundRect">
            <a:avLst>
              <a:gd name="adj" fmla="val 4800"/>
            </a:avLst>
          </a:prstGeom>
          <a:solidFill>
            <a:srgbClr val="FFFFFF"/>
          </a:solidFill>
          <a:ln/>
          <a:effectLst>
            <a:outerShdw sx="100000" sy="100000" kx="0" ky="0" algn="bl" rotWithShape="0" blurRad="127000" dist="50800" dir="5400000">
              <a:srgbClr val="8A93A6">
                <a:alpha val="13000"/>
              </a:srgbClr>
            </a:outerShdw>
          </a:effectLst>
        </p:spPr>
      </p:sp>
      <p:sp>
        <p:nvSpPr>
          <p:cNvPr id="23" name="Shape 16"/>
          <p:cNvSpPr/>
          <p:nvPr/>
        </p:nvSpPr>
        <p:spPr>
          <a:xfrm>
            <a:off x="8083296" y="3108960"/>
            <a:ext cx="3154680" cy="2286000"/>
          </a:xfrm>
          <a:prstGeom prst="roundRect">
            <a:avLst>
              <a:gd name="adj" fmla="val 4800"/>
            </a:avLst>
          </a:prstGeom>
          <a:solidFill>
            <a:srgbClr val="FFFFFF">
              <a:alpha val="0"/>
            </a:srgbClr>
          </a:solidFill>
          <a:ln w="12700">
            <a:solidFill>
              <a:srgbClr val="DCE3F0"/>
            </a:solidFill>
            <a:prstDash val="solid"/>
          </a:ln>
        </p:spPr>
      </p:sp>
      <p:sp>
        <p:nvSpPr>
          <p:cNvPr id="24" name="Shape 17"/>
          <p:cNvSpPr/>
          <p:nvPr/>
        </p:nvSpPr>
        <p:spPr>
          <a:xfrm>
            <a:off x="9331452" y="3383280"/>
            <a:ext cx="658368" cy="65836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25" name="Image 5" descr="preencoded.png">    </p:cNvPr>
          <p:cNvPicPr>
            <a:picLocks noChangeAspect="1"/>
          </p:cNvPicPr>
          <p:nvPr/>
        </p:nvPicPr>
        <p:blipFill>
          <a:blip r:embed="rId6"/>
          <a:stretch>
            <a:fillRect/>
          </a:stretch>
        </p:blipFill>
        <p:spPr>
          <a:xfrm>
            <a:off x="9509211" y="3561039"/>
            <a:ext cx="302849" cy="302849"/>
          </a:xfrm>
          <a:prstGeom prst="rect">
            <a:avLst/>
          </a:prstGeom>
        </p:spPr>
      </p:pic>
      <p:sp>
        <p:nvSpPr>
          <p:cNvPr id="26" name="Text 18"/>
          <p:cNvSpPr/>
          <p:nvPr/>
        </p:nvSpPr>
        <p:spPr>
          <a:xfrm>
            <a:off x="8266176" y="4160520"/>
            <a:ext cx="2788920" cy="365760"/>
          </a:xfrm>
          <a:prstGeom prst="rect">
            <a:avLst/>
          </a:prstGeom>
          <a:noFill/>
          <a:ln/>
        </p:spPr>
        <p:txBody>
          <a:bodyPr wrap="square" lIns="0" tIns="0" rIns="0" bIns="0" rtlCol="0" anchor="ctr"/>
          <a:lstStyle/>
          <a:p>
            <a:pPr algn="ctr" indent="0" marL="0">
              <a:buNone/>
            </a:pPr>
            <a:r>
              <a:rPr lang="en-US" sz="1600" b="1" dirty="0">
                <a:solidFill>
                  <a:srgbClr val="1A2238"/>
                </a:solidFill>
                <a:latin typeface="Cambria" pitchFamily="34" charset="0"/>
                <a:ea typeface="Cambria" pitchFamily="34" charset="-122"/>
                <a:cs typeface="Cambria" pitchFamily="34" charset="-120"/>
              </a:rPr>
              <a:t>Best picks shown</a:t>
            </a:r>
            <a:endParaRPr lang="en-US" sz="1600" dirty="0"/>
          </a:p>
        </p:txBody>
      </p:sp>
      <p:sp>
        <p:nvSpPr>
          <p:cNvPr id="27" name="Text 19"/>
          <p:cNvSpPr/>
          <p:nvPr/>
        </p:nvSpPr>
        <p:spPr>
          <a:xfrm>
            <a:off x="8339328" y="4535424"/>
            <a:ext cx="2642616" cy="777240"/>
          </a:xfrm>
          <a:prstGeom prst="rect">
            <a:avLst/>
          </a:prstGeom>
          <a:noFill/>
          <a:ln/>
        </p:spPr>
        <p:txBody>
          <a:bodyPr wrap="square" lIns="0" tIns="0" rIns="0" bIns="0" rtlCol="0" anchor="ctr"/>
          <a:lstStyle/>
          <a:p>
            <a:pPr algn="ctr" indent="0" marL="0">
              <a:buNone/>
            </a:pPr>
            <a:r>
              <a:rPr lang="en-US" sz="1250" dirty="0">
                <a:solidFill>
                  <a:srgbClr val="5B6478"/>
                </a:solidFill>
                <a:latin typeface="Calibri" pitchFamily="34" charset="0"/>
                <a:ea typeface="Calibri" pitchFamily="34" charset="-122"/>
                <a:cs typeface="Calibri" pitchFamily="34" charset="-120"/>
              </a:rPr>
              <a:t>A short, ranked list on the page — refreshed continuously.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PROOF AT SCALE</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Market leaders treat recommendations as core infrastructure</a:t>
            </a:r>
            <a:endParaRPr lang="en-US" sz="2700" dirty="0"/>
          </a:p>
        </p:txBody>
      </p:sp>
      <p:sp>
        <p:nvSpPr>
          <p:cNvPr id="4" name="Shape 2"/>
          <p:cNvSpPr/>
          <p:nvPr/>
        </p:nvSpPr>
        <p:spPr>
          <a:xfrm>
            <a:off x="640080" y="1627632"/>
            <a:ext cx="3566160" cy="3703320"/>
          </a:xfrm>
          <a:prstGeom prst="roundRect">
            <a:avLst>
              <a:gd name="adj" fmla="val 3590"/>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2011680" y="1901952"/>
            <a:ext cx="822960" cy="82296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2233879" y="2124151"/>
            <a:ext cx="378562" cy="378562"/>
          </a:xfrm>
          <a:prstGeom prst="rect">
            <a:avLst/>
          </a:prstGeom>
        </p:spPr>
      </p:pic>
      <p:sp>
        <p:nvSpPr>
          <p:cNvPr id="7" name="Text 4"/>
          <p:cNvSpPr/>
          <p:nvPr/>
        </p:nvSpPr>
        <p:spPr>
          <a:xfrm>
            <a:off x="822960" y="2871216"/>
            <a:ext cx="3200400" cy="365760"/>
          </a:xfrm>
          <a:prstGeom prst="rect">
            <a:avLst/>
          </a:prstGeom>
          <a:noFill/>
          <a:ln/>
        </p:spPr>
        <p:txBody>
          <a:bodyPr wrap="square" lIns="0" tIns="0" rIns="0" bIns="0" rtlCol="0" anchor="ctr"/>
          <a:lstStyle/>
          <a:p>
            <a:pPr algn="ctr" indent="0" marL="0">
              <a:buNone/>
            </a:pPr>
            <a:r>
              <a:rPr lang="en-US" sz="1800" b="1" dirty="0">
                <a:solidFill>
                  <a:srgbClr val="1A2238"/>
                </a:solidFill>
                <a:latin typeface="Cambria" pitchFamily="34" charset="0"/>
                <a:ea typeface="Cambria" pitchFamily="34" charset="-122"/>
                <a:cs typeface="Cambria" pitchFamily="34" charset="-120"/>
              </a:rPr>
              <a:t>Amazon</a:t>
            </a:r>
            <a:endParaRPr lang="en-US" sz="1800" dirty="0"/>
          </a:p>
        </p:txBody>
      </p:sp>
      <p:sp>
        <p:nvSpPr>
          <p:cNvPr id="8" name="Text 5"/>
          <p:cNvSpPr/>
          <p:nvPr/>
        </p:nvSpPr>
        <p:spPr>
          <a:xfrm>
            <a:off x="914400" y="3383280"/>
            <a:ext cx="3017520" cy="137160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Pioneered item-to-item recommendations (“customers who bought this also bought”), launched 1998 and published in IEEE Internet Computing.</a:t>
            </a:r>
            <a:endParaRPr lang="en-US" sz="1200" dirty="0"/>
          </a:p>
        </p:txBody>
      </p:sp>
      <p:sp>
        <p:nvSpPr>
          <p:cNvPr id="9" name="Shape 6"/>
          <p:cNvSpPr/>
          <p:nvPr/>
        </p:nvSpPr>
        <p:spPr>
          <a:xfrm>
            <a:off x="1097280" y="4626864"/>
            <a:ext cx="2651760" cy="0"/>
          </a:xfrm>
          <a:prstGeom prst="line">
            <a:avLst/>
          </a:prstGeom>
          <a:noFill/>
          <a:ln w="12700">
            <a:solidFill>
              <a:srgbClr val="DCE3F0"/>
            </a:solidFill>
            <a:prstDash val="solid"/>
          </a:ln>
        </p:spPr>
      </p:sp>
      <p:sp>
        <p:nvSpPr>
          <p:cNvPr id="10" name="Text 7"/>
          <p:cNvSpPr/>
          <p:nvPr/>
        </p:nvSpPr>
        <p:spPr>
          <a:xfrm>
            <a:off x="914400" y="4700016"/>
            <a:ext cx="3017520" cy="548640"/>
          </a:xfrm>
          <a:prstGeom prst="rect">
            <a:avLst/>
          </a:prstGeom>
          <a:noFill/>
          <a:ln/>
        </p:spPr>
        <p:txBody>
          <a:bodyPr wrap="square" lIns="0" tIns="0" rIns="0" bIns="0"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A foundational cross-sell engine, copied across the web.</a:t>
            </a:r>
            <a:endParaRPr lang="en-US" sz="1100" dirty="0"/>
          </a:p>
        </p:txBody>
      </p:sp>
      <p:sp>
        <p:nvSpPr>
          <p:cNvPr id="11" name="Shape 8"/>
          <p:cNvSpPr/>
          <p:nvPr/>
        </p:nvSpPr>
        <p:spPr>
          <a:xfrm>
            <a:off x="4370832" y="1627632"/>
            <a:ext cx="3566160" cy="3703320"/>
          </a:xfrm>
          <a:prstGeom prst="roundRect">
            <a:avLst>
              <a:gd name="adj" fmla="val 3590"/>
            </a:avLst>
          </a:prstGeom>
          <a:solidFill>
            <a:srgbClr val="FBF4E3"/>
          </a:solidFill>
          <a:ln/>
          <a:effectLst>
            <a:outerShdw sx="100000" sy="100000" kx="0" ky="0" algn="bl" rotWithShape="0" blurRad="127000" dist="50800" dir="5400000">
              <a:srgbClr val="8A93A6">
                <a:alpha val="13000"/>
              </a:srgbClr>
            </a:outerShdw>
          </a:effectLst>
        </p:spPr>
      </p:sp>
      <p:sp>
        <p:nvSpPr>
          <p:cNvPr id="12" name="Shape 9"/>
          <p:cNvSpPr/>
          <p:nvPr/>
        </p:nvSpPr>
        <p:spPr>
          <a:xfrm>
            <a:off x="5742432" y="1901952"/>
            <a:ext cx="822960" cy="822960"/>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13" name="Image 1" descr="preencoded.png">    </p:cNvPr>
          <p:cNvPicPr>
            <a:picLocks noChangeAspect="1"/>
          </p:cNvPicPr>
          <p:nvPr/>
        </p:nvPicPr>
        <p:blipFill>
          <a:blip r:embed="rId2"/>
          <a:stretch>
            <a:fillRect/>
          </a:stretch>
        </p:blipFill>
        <p:spPr>
          <a:xfrm>
            <a:off x="5964631" y="2124151"/>
            <a:ext cx="378562" cy="378562"/>
          </a:xfrm>
          <a:prstGeom prst="rect">
            <a:avLst/>
          </a:prstGeom>
        </p:spPr>
      </p:pic>
      <p:sp>
        <p:nvSpPr>
          <p:cNvPr id="14" name="Text 10"/>
          <p:cNvSpPr/>
          <p:nvPr/>
        </p:nvSpPr>
        <p:spPr>
          <a:xfrm>
            <a:off x="4553712" y="2871216"/>
            <a:ext cx="3200400" cy="365760"/>
          </a:xfrm>
          <a:prstGeom prst="rect">
            <a:avLst/>
          </a:prstGeom>
          <a:noFill/>
          <a:ln/>
        </p:spPr>
        <p:txBody>
          <a:bodyPr wrap="square" lIns="0" tIns="0" rIns="0" bIns="0" rtlCol="0" anchor="ctr"/>
          <a:lstStyle/>
          <a:p>
            <a:pPr algn="ctr" indent="0" marL="0">
              <a:buNone/>
            </a:pPr>
            <a:r>
              <a:rPr lang="en-US" sz="1800" b="1" dirty="0">
                <a:solidFill>
                  <a:srgbClr val="1A2238"/>
                </a:solidFill>
                <a:latin typeface="Cambria" pitchFamily="34" charset="0"/>
                <a:ea typeface="Cambria" pitchFamily="34" charset="-122"/>
                <a:cs typeface="Cambria" pitchFamily="34" charset="-120"/>
              </a:rPr>
              <a:t>Taobao / Alibaba</a:t>
            </a:r>
            <a:endParaRPr lang="en-US" sz="1800" dirty="0"/>
          </a:p>
        </p:txBody>
      </p:sp>
      <p:sp>
        <p:nvSpPr>
          <p:cNvPr id="15" name="Text 11"/>
          <p:cNvSpPr/>
          <p:nvPr/>
        </p:nvSpPr>
        <p:spPr>
          <a:xfrm>
            <a:off x="4645152" y="3383280"/>
            <a:ext cx="3017520" cy="137160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“Guess What You Like” home feed uses graph embeddings (EGES) to personalize a billion-item catalog; A/B-tested CTR gains.</a:t>
            </a:r>
            <a:endParaRPr lang="en-US" sz="1200" dirty="0"/>
          </a:p>
        </p:txBody>
      </p:sp>
      <p:sp>
        <p:nvSpPr>
          <p:cNvPr id="16" name="Shape 12"/>
          <p:cNvSpPr/>
          <p:nvPr/>
        </p:nvSpPr>
        <p:spPr>
          <a:xfrm>
            <a:off x="4828032" y="4626864"/>
            <a:ext cx="2651760" cy="0"/>
          </a:xfrm>
          <a:prstGeom prst="line">
            <a:avLst/>
          </a:prstGeom>
          <a:noFill/>
          <a:ln w="12700">
            <a:solidFill>
              <a:srgbClr val="DCE3F0"/>
            </a:solidFill>
            <a:prstDash val="solid"/>
          </a:ln>
        </p:spPr>
      </p:sp>
      <p:sp>
        <p:nvSpPr>
          <p:cNvPr id="17" name="Text 13"/>
          <p:cNvSpPr/>
          <p:nvPr/>
        </p:nvSpPr>
        <p:spPr>
          <a:xfrm>
            <a:off x="4645152" y="4700016"/>
            <a:ext cx="3017520" cy="548640"/>
          </a:xfrm>
          <a:prstGeom prst="rect">
            <a:avLst/>
          </a:prstGeom>
          <a:noFill/>
          <a:ln/>
        </p:spPr>
        <p:txBody>
          <a:bodyPr wrap="square" lIns="0" tIns="0" rIns="0" bIns="0"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Behavior-driven discovery at marketplace scale.</a:t>
            </a:r>
            <a:endParaRPr lang="en-US" sz="1100" dirty="0"/>
          </a:p>
        </p:txBody>
      </p:sp>
      <p:sp>
        <p:nvSpPr>
          <p:cNvPr id="18" name="Shape 14"/>
          <p:cNvSpPr/>
          <p:nvPr/>
        </p:nvSpPr>
        <p:spPr>
          <a:xfrm>
            <a:off x="8101584" y="1627632"/>
            <a:ext cx="3566160" cy="3703320"/>
          </a:xfrm>
          <a:prstGeom prst="roundRect">
            <a:avLst>
              <a:gd name="adj" fmla="val 3590"/>
            </a:avLst>
          </a:prstGeom>
          <a:solidFill>
            <a:srgbClr val="F3F6FC"/>
          </a:solidFill>
          <a:ln/>
          <a:effectLst>
            <a:outerShdw sx="100000" sy="100000" kx="0" ky="0" algn="bl" rotWithShape="0" blurRad="127000" dist="50800" dir="5400000">
              <a:srgbClr val="8A93A6">
                <a:alpha val="13000"/>
              </a:srgbClr>
            </a:outerShdw>
          </a:effectLst>
        </p:spPr>
      </p:sp>
      <p:sp>
        <p:nvSpPr>
          <p:cNvPr id="19" name="Shape 15"/>
          <p:cNvSpPr/>
          <p:nvPr/>
        </p:nvSpPr>
        <p:spPr>
          <a:xfrm>
            <a:off x="9473184" y="1901952"/>
            <a:ext cx="822960" cy="82296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20" name="Image 2" descr="preencoded.png">    </p:cNvPr>
          <p:cNvPicPr>
            <a:picLocks noChangeAspect="1"/>
          </p:cNvPicPr>
          <p:nvPr/>
        </p:nvPicPr>
        <p:blipFill>
          <a:blip r:embed="rId3"/>
          <a:stretch>
            <a:fillRect/>
          </a:stretch>
        </p:blipFill>
        <p:spPr>
          <a:xfrm>
            <a:off x="9695383" y="2124151"/>
            <a:ext cx="378562" cy="378562"/>
          </a:xfrm>
          <a:prstGeom prst="rect">
            <a:avLst/>
          </a:prstGeom>
        </p:spPr>
      </p:pic>
      <p:sp>
        <p:nvSpPr>
          <p:cNvPr id="21" name="Text 16"/>
          <p:cNvSpPr/>
          <p:nvPr/>
        </p:nvSpPr>
        <p:spPr>
          <a:xfrm>
            <a:off x="8284464" y="2871216"/>
            <a:ext cx="3200400" cy="365760"/>
          </a:xfrm>
          <a:prstGeom prst="rect">
            <a:avLst/>
          </a:prstGeom>
          <a:noFill/>
          <a:ln/>
        </p:spPr>
        <p:txBody>
          <a:bodyPr wrap="square" lIns="0" tIns="0" rIns="0" bIns="0" rtlCol="0" anchor="ctr"/>
          <a:lstStyle/>
          <a:p>
            <a:pPr algn="ctr" indent="0" marL="0">
              <a:buNone/>
            </a:pPr>
            <a:r>
              <a:rPr lang="en-US" sz="1800" b="1" dirty="0">
                <a:solidFill>
                  <a:srgbClr val="1A2238"/>
                </a:solidFill>
                <a:latin typeface="Cambria" pitchFamily="34" charset="0"/>
                <a:ea typeface="Cambria" pitchFamily="34" charset="-122"/>
                <a:cs typeface="Cambria" pitchFamily="34" charset="-120"/>
              </a:rPr>
              <a:t>JD.com (Jingdong)</a:t>
            </a:r>
            <a:endParaRPr lang="en-US" sz="1800" dirty="0"/>
          </a:p>
        </p:txBody>
      </p:sp>
      <p:sp>
        <p:nvSpPr>
          <p:cNvPr id="22" name="Text 17"/>
          <p:cNvSpPr/>
          <p:nvPr/>
        </p:nvSpPr>
        <p:spPr>
          <a:xfrm>
            <a:off x="8375904" y="3383280"/>
            <a:ext cx="3017520" cy="137160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Deep-learning semantic retrieval and re-ranking serve hundreds of millions of users at ~$100B+ annual GMV.</a:t>
            </a:r>
            <a:endParaRPr lang="en-US" sz="1200" dirty="0"/>
          </a:p>
        </p:txBody>
      </p:sp>
      <p:sp>
        <p:nvSpPr>
          <p:cNvPr id="23" name="Shape 18"/>
          <p:cNvSpPr/>
          <p:nvPr/>
        </p:nvSpPr>
        <p:spPr>
          <a:xfrm>
            <a:off x="8558784" y="4626864"/>
            <a:ext cx="2651760" cy="0"/>
          </a:xfrm>
          <a:prstGeom prst="line">
            <a:avLst/>
          </a:prstGeom>
          <a:noFill/>
          <a:ln w="12700">
            <a:solidFill>
              <a:srgbClr val="DCE3F0"/>
            </a:solidFill>
            <a:prstDash val="solid"/>
          </a:ln>
        </p:spPr>
      </p:sp>
      <p:sp>
        <p:nvSpPr>
          <p:cNvPr id="24" name="Text 19"/>
          <p:cNvSpPr/>
          <p:nvPr/>
        </p:nvSpPr>
        <p:spPr>
          <a:xfrm>
            <a:off x="8375904" y="4700016"/>
            <a:ext cx="3017520" cy="548640"/>
          </a:xfrm>
          <a:prstGeom prst="rect">
            <a:avLst/>
          </a:prstGeom>
          <a:noFill/>
          <a:ln/>
        </p:spPr>
        <p:txBody>
          <a:bodyPr wrap="square" lIns="0" tIns="0" rIns="0" bIns="0"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Relevance tied directly to sales at huge scale.</a:t>
            </a:r>
            <a:endParaRPr lang="en-US" sz="1100" dirty="0"/>
          </a:p>
        </p:txBody>
      </p:sp>
      <p:sp>
        <p:nvSpPr>
          <p:cNvPr id="25" name="Text 20"/>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Smith &amp; Linden, IEEE Internet Computing (2017); Wang et al., KDD 2018; Li et al. (JD.com), 2021.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SWOT ANALYSIS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Adopting recommendations on our platform</a:t>
            </a:r>
            <a:endParaRPr lang="en-US" sz="2700" dirty="0"/>
          </a:p>
        </p:txBody>
      </p:sp>
      <p:sp>
        <p:nvSpPr>
          <p:cNvPr id="4" name="Shape 2"/>
          <p:cNvSpPr/>
          <p:nvPr/>
        </p:nvSpPr>
        <p:spPr>
          <a:xfrm>
            <a:off x="640080" y="1691640"/>
            <a:ext cx="5413248" cy="2194560"/>
          </a:xfrm>
          <a:prstGeom prst="roundRect">
            <a:avLst>
              <a:gd name="adj" fmla="val 5000"/>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640080" y="1691640"/>
            <a:ext cx="128016" cy="2194560"/>
          </a:xfrm>
          <a:prstGeom prst="roundRect">
            <a:avLst>
              <a:gd name="adj" fmla="val 42857"/>
            </a:avLst>
          </a:prstGeom>
          <a:solidFill>
            <a:srgbClr val="2E7D5B"/>
          </a:solidFill>
          <a:ln/>
        </p:spPr>
      </p:sp>
      <p:sp>
        <p:nvSpPr>
          <p:cNvPr id="6" name="Shape 4"/>
          <p:cNvSpPr/>
          <p:nvPr/>
        </p:nvSpPr>
        <p:spPr>
          <a:xfrm>
            <a:off x="932688" y="1929384"/>
            <a:ext cx="512064" cy="512064"/>
          </a:xfrm>
          <a:prstGeom prst="ellipse">
            <a:avLst/>
          </a:prstGeom>
          <a:solidFill>
            <a:srgbClr val="2E7D5B"/>
          </a:solidFill>
          <a:ln/>
          <a:effectLst>
            <a:outerShdw sx="100000" sy="100000" kx="0" ky="0" algn="bl" rotWithShape="0" blurRad="127000" dist="50800" dir="5400000">
              <a:srgbClr val="8A93A6">
                <a:alpha val="13000"/>
              </a:srgbClr>
            </a:outerShdw>
          </a:effectLst>
        </p:spPr>
      </p:sp>
      <p:pic>
        <p:nvPicPr>
          <p:cNvPr id="7" name="Image 0" descr="preencoded.png">    </p:cNvPr>
          <p:cNvPicPr>
            <a:picLocks noChangeAspect="1"/>
          </p:cNvPicPr>
          <p:nvPr/>
        </p:nvPicPr>
        <p:blipFill>
          <a:blip r:embed="rId1"/>
          <a:stretch>
            <a:fillRect/>
          </a:stretch>
        </p:blipFill>
        <p:spPr>
          <a:xfrm>
            <a:off x="1070945" y="2067641"/>
            <a:ext cx="235549" cy="235549"/>
          </a:xfrm>
          <a:prstGeom prst="rect">
            <a:avLst/>
          </a:prstGeom>
        </p:spPr>
      </p:pic>
      <p:sp>
        <p:nvSpPr>
          <p:cNvPr id="8" name="Text 5"/>
          <p:cNvSpPr/>
          <p:nvPr/>
        </p:nvSpPr>
        <p:spPr>
          <a:xfrm>
            <a:off x="1600200" y="1947672"/>
            <a:ext cx="4224528" cy="41148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Strengths</a:t>
            </a:r>
            <a:endParaRPr lang="en-US" sz="1650" dirty="0"/>
          </a:p>
        </p:txBody>
      </p:sp>
      <p:sp>
        <p:nvSpPr>
          <p:cNvPr id="9" name="Shape 6"/>
          <p:cNvSpPr/>
          <p:nvPr/>
        </p:nvSpPr>
        <p:spPr>
          <a:xfrm>
            <a:off x="1005840" y="2606040"/>
            <a:ext cx="91440" cy="91440"/>
          </a:xfrm>
          <a:prstGeom prst="ellipse">
            <a:avLst/>
          </a:prstGeom>
          <a:solidFill>
            <a:srgbClr val="2E7D5B"/>
          </a:solidFill>
          <a:ln/>
        </p:spPr>
      </p:sp>
      <p:sp>
        <p:nvSpPr>
          <p:cNvPr id="10" name="Text 7"/>
          <p:cNvSpPr/>
          <p:nvPr/>
        </p:nvSpPr>
        <p:spPr>
          <a:xfrm>
            <a:off x="1207008" y="2496312"/>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We already own first-party behavioral data — the fuel for recommendations</a:t>
            </a:r>
            <a:endParaRPr lang="en-US" sz="1100" dirty="0"/>
          </a:p>
        </p:txBody>
      </p:sp>
      <p:sp>
        <p:nvSpPr>
          <p:cNvPr id="11" name="Shape 8"/>
          <p:cNvSpPr/>
          <p:nvPr/>
        </p:nvSpPr>
        <p:spPr>
          <a:xfrm>
            <a:off x="1005840" y="2930652"/>
            <a:ext cx="91440" cy="91440"/>
          </a:xfrm>
          <a:prstGeom prst="ellipse">
            <a:avLst/>
          </a:prstGeom>
          <a:solidFill>
            <a:srgbClr val="2E7D5B"/>
          </a:solidFill>
          <a:ln/>
        </p:spPr>
      </p:sp>
      <p:sp>
        <p:nvSpPr>
          <p:cNvPr id="12" name="Text 9"/>
          <p:cNvSpPr/>
          <p:nvPr/>
        </p:nvSpPr>
        <p:spPr>
          <a:xfrm>
            <a:off x="1207008" y="2820924"/>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Scales personalization to every visitor automatically</a:t>
            </a:r>
            <a:endParaRPr lang="en-US" sz="1100" dirty="0"/>
          </a:p>
        </p:txBody>
      </p:sp>
      <p:sp>
        <p:nvSpPr>
          <p:cNvPr id="13" name="Shape 10"/>
          <p:cNvSpPr/>
          <p:nvPr/>
        </p:nvSpPr>
        <p:spPr>
          <a:xfrm>
            <a:off x="1005840" y="3255264"/>
            <a:ext cx="91440" cy="91440"/>
          </a:xfrm>
          <a:prstGeom prst="ellipse">
            <a:avLst/>
          </a:prstGeom>
          <a:solidFill>
            <a:srgbClr val="2E7D5B"/>
          </a:solidFill>
          <a:ln/>
        </p:spPr>
      </p:sp>
      <p:sp>
        <p:nvSpPr>
          <p:cNvPr id="14" name="Text 11"/>
          <p:cNvSpPr/>
          <p:nvPr/>
        </p:nvSpPr>
        <p:spPr>
          <a:xfrm>
            <a:off x="1207008" y="3145536"/>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Mature, proven technology with vendor and open-source options</a:t>
            </a:r>
            <a:endParaRPr lang="en-US" sz="1100" dirty="0"/>
          </a:p>
        </p:txBody>
      </p:sp>
      <p:sp>
        <p:nvSpPr>
          <p:cNvPr id="15" name="Shape 12"/>
          <p:cNvSpPr/>
          <p:nvPr/>
        </p:nvSpPr>
        <p:spPr>
          <a:xfrm>
            <a:off x="1005840" y="3579876"/>
            <a:ext cx="91440" cy="91440"/>
          </a:xfrm>
          <a:prstGeom prst="ellipse">
            <a:avLst/>
          </a:prstGeom>
          <a:solidFill>
            <a:srgbClr val="2E7D5B"/>
          </a:solidFill>
          <a:ln/>
        </p:spPr>
      </p:sp>
      <p:sp>
        <p:nvSpPr>
          <p:cNvPr id="16" name="Text 13"/>
          <p:cNvSpPr/>
          <p:nvPr/>
        </p:nvSpPr>
        <p:spPr>
          <a:xfrm>
            <a:off x="1207008" y="3470148"/>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Directly targets conversion, AOV, and retention</a:t>
            </a:r>
            <a:endParaRPr lang="en-US" sz="1100" dirty="0"/>
          </a:p>
        </p:txBody>
      </p:sp>
      <p:sp>
        <p:nvSpPr>
          <p:cNvPr id="17" name="Shape 14"/>
          <p:cNvSpPr/>
          <p:nvPr/>
        </p:nvSpPr>
        <p:spPr>
          <a:xfrm>
            <a:off x="6153912" y="1691640"/>
            <a:ext cx="5413248" cy="2194560"/>
          </a:xfrm>
          <a:prstGeom prst="roundRect">
            <a:avLst>
              <a:gd name="adj" fmla="val 5000"/>
            </a:avLst>
          </a:prstGeom>
          <a:solidFill>
            <a:srgbClr val="F3F6FC"/>
          </a:solidFill>
          <a:ln/>
          <a:effectLst>
            <a:outerShdw sx="100000" sy="100000" kx="0" ky="0" algn="bl" rotWithShape="0" blurRad="127000" dist="50800" dir="5400000">
              <a:srgbClr val="8A93A6">
                <a:alpha val="13000"/>
              </a:srgbClr>
            </a:outerShdw>
          </a:effectLst>
        </p:spPr>
      </p:sp>
      <p:sp>
        <p:nvSpPr>
          <p:cNvPr id="18" name="Shape 15"/>
          <p:cNvSpPr/>
          <p:nvPr/>
        </p:nvSpPr>
        <p:spPr>
          <a:xfrm>
            <a:off x="6153912" y="1691640"/>
            <a:ext cx="128016" cy="2194560"/>
          </a:xfrm>
          <a:prstGeom prst="roundRect">
            <a:avLst>
              <a:gd name="adj" fmla="val 42857"/>
            </a:avLst>
          </a:prstGeom>
          <a:solidFill>
            <a:srgbClr val="C9A227"/>
          </a:solidFill>
          <a:ln/>
        </p:spPr>
      </p:sp>
      <p:sp>
        <p:nvSpPr>
          <p:cNvPr id="19" name="Shape 16"/>
          <p:cNvSpPr/>
          <p:nvPr/>
        </p:nvSpPr>
        <p:spPr>
          <a:xfrm>
            <a:off x="6446520" y="1929384"/>
            <a:ext cx="512064" cy="512064"/>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20" name="Image 1" descr="preencoded.png">    </p:cNvPr>
          <p:cNvPicPr>
            <a:picLocks noChangeAspect="1"/>
          </p:cNvPicPr>
          <p:nvPr/>
        </p:nvPicPr>
        <p:blipFill>
          <a:blip r:embed="rId2"/>
          <a:stretch>
            <a:fillRect/>
          </a:stretch>
        </p:blipFill>
        <p:spPr>
          <a:xfrm>
            <a:off x="6584777" y="2067641"/>
            <a:ext cx="235549" cy="235549"/>
          </a:xfrm>
          <a:prstGeom prst="rect">
            <a:avLst/>
          </a:prstGeom>
        </p:spPr>
      </p:pic>
      <p:sp>
        <p:nvSpPr>
          <p:cNvPr id="21" name="Text 17"/>
          <p:cNvSpPr/>
          <p:nvPr/>
        </p:nvSpPr>
        <p:spPr>
          <a:xfrm>
            <a:off x="7114032" y="1947672"/>
            <a:ext cx="4224528" cy="41148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Weaknesses</a:t>
            </a:r>
            <a:endParaRPr lang="en-US" sz="1650" dirty="0"/>
          </a:p>
        </p:txBody>
      </p:sp>
      <p:sp>
        <p:nvSpPr>
          <p:cNvPr id="22" name="Shape 18"/>
          <p:cNvSpPr/>
          <p:nvPr/>
        </p:nvSpPr>
        <p:spPr>
          <a:xfrm>
            <a:off x="6519672" y="2606040"/>
            <a:ext cx="91440" cy="91440"/>
          </a:xfrm>
          <a:prstGeom prst="ellipse">
            <a:avLst/>
          </a:prstGeom>
          <a:solidFill>
            <a:srgbClr val="C9A227"/>
          </a:solidFill>
          <a:ln/>
        </p:spPr>
      </p:sp>
      <p:sp>
        <p:nvSpPr>
          <p:cNvPr id="23" name="Text 19"/>
          <p:cNvSpPr/>
          <p:nvPr/>
        </p:nvSpPr>
        <p:spPr>
          <a:xfrm>
            <a:off x="6720840" y="2496312"/>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Cold start: thin signal for new users and items at launch</a:t>
            </a:r>
            <a:endParaRPr lang="en-US" sz="1100" dirty="0"/>
          </a:p>
        </p:txBody>
      </p:sp>
      <p:sp>
        <p:nvSpPr>
          <p:cNvPr id="24" name="Shape 20"/>
          <p:cNvSpPr/>
          <p:nvPr/>
        </p:nvSpPr>
        <p:spPr>
          <a:xfrm>
            <a:off x="6519672" y="2930652"/>
            <a:ext cx="91440" cy="91440"/>
          </a:xfrm>
          <a:prstGeom prst="ellipse">
            <a:avLst/>
          </a:prstGeom>
          <a:solidFill>
            <a:srgbClr val="C9A227"/>
          </a:solidFill>
          <a:ln/>
        </p:spPr>
      </p:sp>
      <p:sp>
        <p:nvSpPr>
          <p:cNvPr id="25" name="Text 21"/>
          <p:cNvSpPr/>
          <p:nvPr/>
        </p:nvSpPr>
        <p:spPr>
          <a:xfrm>
            <a:off x="6720840" y="2820924"/>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Needs data quality, ML talent, and low-latency serving</a:t>
            </a:r>
            <a:endParaRPr lang="en-US" sz="1100" dirty="0"/>
          </a:p>
        </p:txBody>
      </p:sp>
      <p:sp>
        <p:nvSpPr>
          <p:cNvPr id="26" name="Shape 22"/>
          <p:cNvSpPr/>
          <p:nvPr/>
        </p:nvSpPr>
        <p:spPr>
          <a:xfrm>
            <a:off x="6519672" y="3255264"/>
            <a:ext cx="91440" cy="91440"/>
          </a:xfrm>
          <a:prstGeom prst="ellipse">
            <a:avLst/>
          </a:prstGeom>
          <a:solidFill>
            <a:srgbClr val="C9A227"/>
          </a:solidFill>
          <a:ln/>
        </p:spPr>
      </p:sp>
      <p:sp>
        <p:nvSpPr>
          <p:cNvPr id="27" name="Text 23"/>
          <p:cNvSpPr/>
          <p:nvPr/>
        </p:nvSpPr>
        <p:spPr>
          <a:xfrm>
            <a:off x="6720840" y="3145536"/>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Results depend on traffic volume — thin data, weaker lift</a:t>
            </a:r>
            <a:endParaRPr lang="en-US" sz="1100" dirty="0"/>
          </a:p>
        </p:txBody>
      </p:sp>
      <p:sp>
        <p:nvSpPr>
          <p:cNvPr id="28" name="Shape 24"/>
          <p:cNvSpPr/>
          <p:nvPr/>
        </p:nvSpPr>
        <p:spPr>
          <a:xfrm>
            <a:off x="6519672" y="3579876"/>
            <a:ext cx="91440" cy="91440"/>
          </a:xfrm>
          <a:prstGeom prst="ellipse">
            <a:avLst/>
          </a:prstGeom>
          <a:solidFill>
            <a:srgbClr val="C9A227"/>
          </a:solidFill>
          <a:ln/>
        </p:spPr>
      </p:sp>
      <p:sp>
        <p:nvSpPr>
          <p:cNvPr id="29" name="Text 25"/>
          <p:cNvSpPr/>
          <p:nvPr/>
        </p:nvSpPr>
        <p:spPr>
          <a:xfrm>
            <a:off x="6720840" y="3470148"/>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Ongoing maintenance and experimentation overhead</a:t>
            </a:r>
            <a:endParaRPr lang="en-US" sz="1100" dirty="0"/>
          </a:p>
        </p:txBody>
      </p:sp>
      <p:sp>
        <p:nvSpPr>
          <p:cNvPr id="30" name="Shape 26"/>
          <p:cNvSpPr/>
          <p:nvPr/>
        </p:nvSpPr>
        <p:spPr>
          <a:xfrm>
            <a:off x="640080" y="4041648"/>
            <a:ext cx="5413248" cy="2194560"/>
          </a:xfrm>
          <a:prstGeom prst="roundRect">
            <a:avLst>
              <a:gd name="adj" fmla="val 5000"/>
            </a:avLst>
          </a:prstGeom>
          <a:solidFill>
            <a:srgbClr val="F3F6FC"/>
          </a:solidFill>
          <a:ln/>
          <a:effectLst>
            <a:outerShdw sx="100000" sy="100000" kx="0" ky="0" algn="bl" rotWithShape="0" blurRad="127000" dist="50800" dir="5400000">
              <a:srgbClr val="8A93A6">
                <a:alpha val="13000"/>
              </a:srgbClr>
            </a:outerShdw>
          </a:effectLst>
        </p:spPr>
      </p:sp>
      <p:sp>
        <p:nvSpPr>
          <p:cNvPr id="31" name="Shape 27"/>
          <p:cNvSpPr/>
          <p:nvPr/>
        </p:nvSpPr>
        <p:spPr>
          <a:xfrm>
            <a:off x="640080" y="4041648"/>
            <a:ext cx="128016" cy="2194560"/>
          </a:xfrm>
          <a:prstGeom prst="roundRect">
            <a:avLst>
              <a:gd name="adj" fmla="val 42857"/>
            </a:avLst>
          </a:prstGeom>
          <a:solidFill>
            <a:srgbClr val="4A6FA5"/>
          </a:solidFill>
          <a:ln/>
        </p:spPr>
      </p:sp>
      <p:sp>
        <p:nvSpPr>
          <p:cNvPr id="32" name="Shape 28"/>
          <p:cNvSpPr/>
          <p:nvPr/>
        </p:nvSpPr>
        <p:spPr>
          <a:xfrm>
            <a:off x="932688" y="4279392"/>
            <a:ext cx="512064" cy="512064"/>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33" name="Image 2" descr="preencoded.png">    </p:cNvPr>
          <p:cNvPicPr>
            <a:picLocks noChangeAspect="1"/>
          </p:cNvPicPr>
          <p:nvPr/>
        </p:nvPicPr>
        <p:blipFill>
          <a:blip r:embed="rId3"/>
          <a:stretch>
            <a:fillRect/>
          </a:stretch>
        </p:blipFill>
        <p:spPr>
          <a:xfrm>
            <a:off x="1070945" y="4417649"/>
            <a:ext cx="235549" cy="235549"/>
          </a:xfrm>
          <a:prstGeom prst="rect">
            <a:avLst/>
          </a:prstGeom>
        </p:spPr>
      </p:pic>
      <p:sp>
        <p:nvSpPr>
          <p:cNvPr id="34" name="Text 29"/>
          <p:cNvSpPr/>
          <p:nvPr/>
        </p:nvSpPr>
        <p:spPr>
          <a:xfrm>
            <a:off x="1600200" y="4297680"/>
            <a:ext cx="4224528" cy="41148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Opportunities</a:t>
            </a:r>
            <a:endParaRPr lang="en-US" sz="1650" dirty="0"/>
          </a:p>
        </p:txBody>
      </p:sp>
      <p:sp>
        <p:nvSpPr>
          <p:cNvPr id="35" name="Shape 30"/>
          <p:cNvSpPr/>
          <p:nvPr/>
        </p:nvSpPr>
        <p:spPr>
          <a:xfrm>
            <a:off x="1005840" y="4956048"/>
            <a:ext cx="91440" cy="91440"/>
          </a:xfrm>
          <a:prstGeom prst="ellipse">
            <a:avLst/>
          </a:prstGeom>
          <a:solidFill>
            <a:srgbClr val="4A6FA5"/>
          </a:solidFill>
          <a:ln/>
        </p:spPr>
      </p:sp>
      <p:sp>
        <p:nvSpPr>
          <p:cNvPr id="36" name="Text 31"/>
          <p:cNvSpPr/>
          <p:nvPr/>
        </p:nvSpPr>
        <p:spPr>
          <a:xfrm>
            <a:off x="1207008" y="4846320"/>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5–15% revenue lift typical (McKinsey, 2021)</a:t>
            </a:r>
            <a:endParaRPr lang="en-US" sz="1100" dirty="0"/>
          </a:p>
        </p:txBody>
      </p:sp>
      <p:sp>
        <p:nvSpPr>
          <p:cNvPr id="37" name="Shape 32"/>
          <p:cNvSpPr/>
          <p:nvPr/>
        </p:nvSpPr>
        <p:spPr>
          <a:xfrm>
            <a:off x="1005840" y="5280660"/>
            <a:ext cx="91440" cy="91440"/>
          </a:xfrm>
          <a:prstGeom prst="ellipse">
            <a:avLst/>
          </a:prstGeom>
          <a:solidFill>
            <a:srgbClr val="4A6FA5"/>
          </a:solidFill>
          <a:ln/>
        </p:spPr>
      </p:sp>
      <p:sp>
        <p:nvSpPr>
          <p:cNvPr id="38" name="Text 33"/>
          <p:cNvSpPr/>
          <p:nvPr/>
        </p:nvSpPr>
        <p:spPr>
          <a:xfrm>
            <a:off x="1207008" y="5170932"/>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Differentiation: 71% of consumers expect personalization</a:t>
            </a:r>
            <a:endParaRPr lang="en-US" sz="1100" dirty="0"/>
          </a:p>
        </p:txBody>
      </p:sp>
      <p:sp>
        <p:nvSpPr>
          <p:cNvPr id="39" name="Shape 34"/>
          <p:cNvSpPr/>
          <p:nvPr/>
        </p:nvSpPr>
        <p:spPr>
          <a:xfrm>
            <a:off x="1005840" y="5605272"/>
            <a:ext cx="91440" cy="91440"/>
          </a:xfrm>
          <a:prstGeom prst="ellipse">
            <a:avLst/>
          </a:prstGeom>
          <a:solidFill>
            <a:srgbClr val="4A6FA5"/>
          </a:solidFill>
          <a:ln/>
        </p:spPr>
      </p:sp>
      <p:sp>
        <p:nvSpPr>
          <p:cNvPr id="40" name="Text 35"/>
          <p:cNvSpPr/>
          <p:nvPr/>
        </p:nvSpPr>
        <p:spPr>
          <a:xfrm>
            <a:off x="1207008" y="5495544"/>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Cross-sell and surfacing of long-tail catalog</a:t>
            </a:r>
            <a:endParaRPr lang="en-US" sz="1100" dirty="0"/>
          </a:p>
        </p:txBody>
      </p:sp>
      <p:sp>
        <p:nvSpPr>
          <p:cNvPr id="41" name="Shape 36"/>
          <p:cNvSpPr/>
          <p:nvPr/>
        </p:nvSpPr>
        <p:spPr>
          <a:xfrm>
            <a:off x="1005840" y="5929884"/>
            <a:ext cx="91440" cy="91440"/>
          </a:xfrm>
          <a:prstGeom prst="ellipse">
            <a:avLst/>
          </a:prstGeom>
          <a:solidFill>
            <a:srgbClr val="4A6FA5"/>
          </a:solidFill>
          <a:ln/>
        </p:spPr>
      </p:sp>
      <p:sp>
        <p:nvSpPr>
          <p:cNvPr id="42" name="Text 37"/>
          <p:cNvSpPr/>
          <p:nvPr/>
        </p:nvSpPr>
        <p:spPr>
          <a:xfrm>
            <a:off x="1207008" y="5820156"/>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Lower acquisition cost (up to −50%) via better retention</a:t>
            </a:r>
            <a:endParaRPr lang="en-US" sz="1100" dirty="0"/>
          </a:p>
        </p:txBody>
      </p:sp>
      <p:sp>
        <p:nvSpPr>
          <p:cNvPr id="43" name="Shape 38"/>
          <p:cNvSpPr/>
          <p:nvPr/>
        </p:nvSpPr>
        <p:spPr>
          <a:xfrm>
            <a:off x="6153912" y="4041648"/>
            <a:ext cx="5413248" cy="2194560"/>
          </a:xfrm>
          <a:prstGeom prst="roundRect">
            <a:avLst>
              <a:gd name="adj" fmla="val 5000"/>
            </a:avLst>
          </a:prstGeom>
          <a:solidFill>
            <a:srgbClr val="F3F6FC"/>
          </a:solidFill>
          <a:ln/>
          <a:effectLst>
            <a:outerShdw sx="100000" sy="100000" kx="0" ky="0" algn="bl" rotWithShape="0" blurRad="127000" dist="50800" dir="5400000">
              <a:srgbClr val="8A93A6">
                <a:alpha val="13000"/>
              </a:srgbClr>
            </a:outerShdw>
          </a:effectLst>
        </p:spPr>
      </p:sp>
      <p:sp>
        <p:nvSpPr>
          <p:cNvPr id="44" name="Shape 39"/>
          <p:cNvSpPr/>
          <p:nvPr/>
        </p:nvSpPr>
        <p:spPr>
          <a:xfrm>
            <a:off x="6153912" y="4041648"/>
            <a:ext cx="128016" cy="2194560"/>
          </a:xfrm>
          <a:prstGeom prst="roundRect">
            <a:avLst>
              <a:gd name="adj" fmla="val 42857"/>
            </a:avLst>
          </a:prstGeom>
          <a:solidFill>
            <a:srgbClr val="B23A48"/>
          </a:solidFill>
          <a:ln/>
        </p:spPr>
      </p:sp>
      <p:sp>
        <p:nvSpPr>
          <p:cNvPr id="45" name="Shape 40"/>
          <p:cNvSpPr/>
          <p:nvPr/>
        </p:nvSpPr>
        <p:spPr>
          <a:xfrm>
            <a:off x="6446520" y="4279392"/>
            <a:ext cx="512064" cy="512064"/>
          </a:xfrm>
          <a:prstGeom prst="ellipse">
            <a:avLst/>
          </a:prstGeom>
          <a:solidFill>
            <a:srgbClr val="B23A48"/>
          </a:solidFill>
          <a:ln/>
          <a:effectLst>
            <a:outerShdw sx="100000" sy="100000" kx="0" ky="0" algn="bl" rotWithShape="0" blurRad="127000" dist="50800" dir="5400000">
              <a:srgbClr val="8A93A6">
                <a:alpha val="13000"/>
              </a:srgbClr>
            </a:outerShdw>
          </a:effectLst>
        </p:spPr>
      </p:sp>
      <p:pic>
        <p:nvPicPr>
          <p:cNvPr id="46" name="Image 3" descr="preencoded.png">    </p:cNvPr>
          <p:cNvPicPr>
            <a:picLocks noChangeAspect="1"/>
          </p:cNvPicPr>
          <p:nvPr/>
        </p:nvPicPr>
        <p:blipFill>
          <a:blip r:embed="rId4"/>
          <a:stretch>
            <a:fillRect/>
          </a:stretch>
        </p:blipFill>
        <p:spPr>
          <a:xfrm>
            <a:off x="6584777" y="4417649"/>
            <a:ext cx="235549" cy="235549"/>
          </a:xfrm>
          <a:prstGeom prst="rect">
            <a:avLst/>
          </a:prstGeom>
        </p:spPr>
      </p:pic>
      <p:sp>
        <p:nvSpPr>
          <p:cNvPr id="47" name="Text 41"/>
          <p:cNvSpPr/>
          <p:nvPr/>
        </p:nvSpPr>
        <p:spPr>
          <a:xfrm>
            <a:off x="7114032" y="4297680"/>
            <a:ext cx="4224528" cy="41148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Threats</a:t>
            </a:r>
            <a:endParaRPr lang="en-US" sz="1650" dirty="0"/>
          </a:p>
        </p:txBody>
      </p:sp>
      <p:sp>
        <p:nvSpPr>
          <p:cNvPr id="48" name="Shape 42"/>
          <p:cNvSpPr/>
          <p:nvPr/>
        </p:nvSpPr>
        <p:spPr>
          <a:xfrm>
            <a:off x="6519672" y="4956048"/>
            <a:ext cx="91440" cy="91440"/>
          </a:xfrm>
          <a:prstGeom prst="ellipse">
            <a:avLst/>
          </a:prstGeom>
          <a:solidFill>
            <a:srgbClr val="B23A48"/>
          </a:solidFill>
          <a:ln/>
        </p:spPr>
      </p:sp>
      <p:sp>
        <p:nvSpPr>
          <p:cNvPr id="49" name="Text 43"/>
          <p:cNvSpPr/>
          <p:nvPr/>
        </p:nvSpPr>
        <p:spPr>
          <a:xfrm>
            <a:off x="6720840" y="4846320"/>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Privacy regulation and consent (e.g., GDPR, CCPA)</a:t>
            </a:r>
            <a:endParaRPr lang="en-US" sz="1100" dirty="0"/>
          </a:p>
        </p:txBody>
      </p:sp>
      <p:sp>
        <p:nvSpPr>
          <p:cNvPr id="50" name="Shape 44"/>
          <p:cNvSpPr/>
          <p:nvPr/>
        </p:nvSpPr>
        <p:spPr>
          <a:xfrm>
            <a:off x="6519672" y="5280660"/>
            <a:ext cx="91440" cy="91440"/>
          </a:xfrm>
          <a:prstGeom prst="ellipse">
            <a:avLst/>
          </a:prstGeom>
          <a:solidFill>
            <a:srgbClr val="B23A48"/>
          </a:solidFill>
          <a:ln/>
        </p:spPr>
      </p:sp>
      <p:sp>
        <p:nvSpPr>
          <p:cNvPr id="51" name="Text 45"/>
          <p:cNvSpPr/>
          <p:nvPr/>
        </p:nvSpPr>
        <p:spPr>
          <a:xfrm>
            <a:off x="6720840" y="5170932"/>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Done poorly, personalization can cut revenue ~5% (McKinsey)</a:t>
            </a:r>
            <a:endParaRPr lang="en-US" sz="1100" dirty="0"/>
          </a:p>
        </p:txBody>
      </p:sp>
      <p:sp>
        <p:nvSpPr>
          <p:cNvPr id="52" name="Shape 46"/>
          <p:cNvSpPr/>
          <p:nvPr/>
        </p:nvSpPr>
        <p:spPr>
          <a:xfrm>
            <a:off x="6519672" y="5605272"/>
            <a:ext cx="91440" cy="91440"/>
          </a:xfrm>
          <a:prstGeom prst="ellipse">
            <a:avLst/>
          </a:prstGeom>
          <a:solidFill>
            <a:srgbClr val="B23A48"/>
          </a:solidFill>
          <a:ln/>
        </p:spPr>
      </p:sp>
      <p:sp>
        <p:nvSpPr>
          <p:cNvPr id="53" name="Text 47"/>
          <p:cNvSpPr/>
          <p:nvPr/>
        </p:nvSpPr>
        <p:spPr>
          <a:xfrm>
            <a:off x="6720840" y="5495544"/>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Competitors with mature systems raise the bar</a:t>
            </a:r>
            <a:endParaRPr lang="en-US" sz="1100" dirty="0"/>
          </a:p>
        </p:txBody>
      </p:sp>
      <p:sp>
        <p:nvSpPr>
          <p:cNvPr id="54" name="Shape 48"/>
          <p:cNvSpPr/>
          <p:nvPr/>
        </p:nvSpPr>
        <p:spPr>
          <a:xfrm>
            <a:off x="6519672" y="5929884"/>
            <a:ext cx="91440" cy="91440"/>
          </a:xfrm>
          <a:prstGeom prst="ellipse">
            <a:avLst/>
          </a:prstGeom>
          <a:solidFill>
            <a:srgbClr val="B23A48"/>
          </a:solidFill>
          <a:ln/>
        </p:spPr>
      </p:sp>
      <p:sp>
        <p:nvSpPr>
          <p:cNvPr id="55" name="Text 49"/>
          <p:cNvSpPr/>
          <p:nvPr/>
        </p:nvSpPr>
        <p:spPr>
          <a:xfrm>
            <a:off x="6720840" y="5820156"/>
            <a:ext cx="4636008" cy="329184"/>
          </a:xfrm>
          <a:prstGeom prst="rect">
            <a:avLst/>
          </a:prstGeom>
          <a:noFill/>
          <a:ln/>
        </p:spPr>
        <p:txBody>
          <a:bodyPr wrap="square" lIns="0" tIns="0" rIns="0" bIns="0" rtlCol="0" anchor="t"/>
          <a:lstStyle/>
          <a:p>
            <a:pPr indent="0" marL="0">
              <a:buNone/>
            </a:pPr>
            <a:r>
              <a:rPr lang="en-US" sz="1100" dirty="0">
                <a:solidFill>
                  <a:srgbClr val="1A2238"/>
                </a:solidFill>
                <a:latin typeface="Calibri" pitchFamily="34" charset="0"/>
                <a:ea typeface="Calibri" pitchFamily="34" charset="-122"/>
                <a:cs typeface="Calibri" pitchFamily="34" charset="-120"/>
              </a:rPr>
              <a:t>Bias, filter bubbles, and reputational risk if unmanaged</a:t>
            </a:r>
            <a:endParaRPr lang="en-US" sz="1100" dirty="0"/>
          </a:p>
        </p:txBody>
      </p:sp>
      <p:sp>
        <p:nvSpPr>
          <p:cNvPr id="56" name="Text 50"/>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 McKinsey &amp; Company, “The value of getting personalization right—or wrong—is multiplying,” 2021.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KEY RISKS &amp; HOW WE MANAGE THEM</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What we'll actively control as we scale</a:t>
            </a:r>
            <a:endParaRPr lang="en-US" sz="2700" dirty="0"/>
          </a:p>
        </p:txBody>
      </p:sp>
      <p:sp>
        <p:nvSpPr>
          <p:cNvPr id="4" name="Shape 2"/>
          <p:cNvSpPr/>
          <p:nvPr/>
        </p:nvSpPr>
        <p:spPr>
          <a:xfrm>
            <a:off x="640080" y="1664208"/>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896112" y="1920240"/>
            <a:ext cx="548640" cy="548640"/>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44245" y="2068373"/>
            <a:ext cx="252374" cy="252374"/>
          </a:xfrm>
          <a:prstGeom prst="rect">
            <a:avLst/>
          </a:prstGeom>
        </p:spPr>
      </p:pic>
      <p:sp>
        <p:nvSpPr>
          <p:cNvPr id="7" name="Text 4"/>
          <p:cNvSpPr/>
          <p:nvPr/>
        </p:nvSpPr>
        <p:spPr>
          <a:xfrm>
            <a:off x="1554480" y="1865376"/>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Filter bubbles</a:t>
            </a:r>
            <a:endParaRPr lang="en-US" sz="1400" dirty="0"/>
          </a:p>
        </p:txBody>
      </p:sp>
      <p:sp>
        <p:nvSpPr>
          <p:cNvPr id="8" name="Text 5"/>
          <p:cNvSpPr/>
          <p:nvPr/>
        </p:nvSpPr>
        <p:spPr>
          <a:xfrm>
            <a:off x="1554480" y="2212848"/>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Over-narrowing hurts discovery.</a:t>
            </a:r>
            <a:endParaRPr lang="en-US" sz="1050" dirty="0"/>
          </a:p>
        </p:txBody>
      </p:sp>
      <p:sp>
        <p:nvSpPr>
          <p:cNvPr id="9" name="Text 6"/>
          <p:cNvSpPr/>
          <p:nvPr/>
        </p:nvSpPr>
        <p:spPr>
          <a:xfrm>
            <a:off x="914400" y="2871216"/>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Inject diversity / variety controls.</a:t>
            </a:r>
            <a:endParaRPr lang="en-US" sz="1050" dirty="0"/>
          </a:p>
        </p:txBody>
      </p:sp>
      <p:sp>
        <p:nvSpPr>
          <p:cNvPr id="10" name="Shape 7"/>
          <p:cNvSpPr/>
          <p:nvPr/>
        </p:nvSpPr>
        <p:spPr>
          <a:xfrm>
            <a:off x="4329684" y="1664208"/>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11" name="Shape 8"/>
          <p:cNvSpPr/>
          <p:nvPr/>
        </p:nvSpPr>
        <p:spPr>
          <a:xfrm>
            <a:off x="4585716" y="1920240"/>
            <a:ext cx="548640" cy="5486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12" name="Image 1" descr="preencoded.png">    </p:cNvPr>
          <p:cNvPicPr>
            <a:picLocks noChangeAspect="1"/>
          </p:cNvPicPr>
          <p:nvPr/>
        </p:nvPicPr>
        <p:blipFill>
          <a:blip r:embed="rId2"/>
          <a:stretch>
            <a:fillRect/>
          </a:stretch>
        </p:blipFill>
        <p:spPr>
          <a:xfrm>
            <a:off x="4733849" y="2068373"/>
            <a:ext cx="252374" cy="252374"/>
          </a:xfrm>
          <a:prstGeom prst="rect">
            <a:avLst/>
          </a:prstGeom>
        </p:spPr>
      </p:pic>
      <p:sp>
        <p:nvSpPr>
          <p:cNvPr id="13" name="Text 9"/>
          <p:cNvSpPr/>
          <p:nvPr/>
        </p:nvSpPr>
        <p:spPr>
          <a:xfrm>
            <a:off x="5244084" y="1865376"/>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Popularity bias</a:t>
            </a:r>
            <a:endParaRPr lang="en-US" sz="1400" dirty="0"/>
          </a:p>
        </p:txBody>
      </p:sp>
      <p:sp>
        <p:nvSpPr>
          <p:cNvPr id="14" name="Text 10"/>
          <p:cNvSpPr/>
          <p:nvPr/>
        </p:nvSpPr>
        <p:spPr>
          <a:xfrm>
            <a:off x="5244084" y="2212848"/>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Best-sellers crowd out the long tail.</a:t>
            </a:r>
            <a:endParaRPr lang="en-US" sz="1050" dirty="0"/>
          </a:p>
        </p:txBody>
      </p:sp>
      <p:sp>
        <p:nvSpPr>
          <p:cNvPr id="15" name="Text 11"/>
          <p:cNvSpPr/>
          <p:nvPr/>
        </p:nvSpPr>
        <p:spPr>
          <a:xfrm>
            <a:off x="4604004" y="2871216"/>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Debias training; promote fresh items.</a:t>
            </a:r>
            <a:endParaRPr lang="en-US" sz="1050" dirty="0"/>
          </a:p>
        </p:txBody>
      </p:sp>
      <p:sp>
        <p:nvSpPr>
          <p:cNvPr id="16" name="Shape 12"/>
          <p:cNvSpPr/>
          <p:nvPr/>
        </p:nvSpPr>
        <p:spPr>
          <a:xfrm>
            <a:off x="8019288" y="1664208"/>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17" name="Shape 13"/>
          <p:cNvSpPr/>
          <p:nvPr/>
        </p:nvSpPr>
        <p:spPr>
          <a:xfrm>
            <a:off x="8275320" y="1920240"/>
            <a:ext cx="548640" cy="548640"/>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18" name="Image 2" descr="preencoded.png">    </p:cNvPr>
          <p:cNvPicPr>
            <a:picLocks noChangeAspect="1"/>
          </p:cNvPicPr>
          <p:nvPr/>
        </p:nvPicPr>
        <p:blipFill>
          <a:blip r:embed="rId3"/>
          <a:stretch>
            <a:fillRect/>
          </a:stretch>
        </p:blipFill>
        <p:spPr>
          <a:xfrm>
            <a:off x="8423453" y="2068373"/>
            <a:ext cx="252374" cy="252374"/>
          </a:xfrm>
          <a:prstGeom prst="rect">
            <a:avLst/>
          </a:prstGeom>
        </p:spPr>
      </p:pic>
      <p:sp>
        <p:nvSpPr>
          <p:cNvPr id="19" name="Text 14"/>
          <p:cNvSpPr/>
          <p:nvPr/>
        </p:nvSpPr>
        <p:spPr>
          <a:xfrm>
            <a:off x="8933688" y="1865376"/>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Privacy &amp; consent</a:t>
            </a:r>
            <a:endParaRPr lang="en-US" sz="1400" dirty="0"/>
          </a:p>
        </p:txBody>
      </p:sp>
      <p:sp>
        <p:nvSpPr>
          <p:cNvPr id="20" name="Text 15"/>
          <p:cNvSpPr/>
          <p:nvPr/>
        </p:nvSpPr>
        <p:spPr>
          <a:xfrm>
            <a:off x="8933688" y="2212848"/>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Regulatory and trust exposure.</a:t>
            </a:r>
            <a:endParaRPr lang="en-US" sz="1050" dirty="0"/>
          </a:p>
        </p:txBody>
      </p:sp>
      <p:sp>
        <p:nvSpPr>
          <p:cNvPr id="21" name="Text 16"/>
          <p:cNvSpPr/>
          <p:nvPr/>
        </p:nvSpPr>
        <p:spPr>
          <a:xfrm>
            <a:off x="8293608" y="2871216"/>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Consent-aware, data-minimized design.</a:t>
            </a:r>
            <a:endParaRPr lang="en-US" sz="1050" dirty="0"/>
          </a:p>
        </p:txBody>
      </p:sp>
      <p:sp>
        <p:nvSpPr>
          <p:cNvPr id="22" name="Shape 17"/>
          <p:cNvSpPr/>
          <p:nvPr/>
        </p:nvSpPr>
        <p:spPr>
          <a:xfrm>
            <a:off x="640080" y="3648456"/>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23" name="Shape 18"/>
          <p:cNvSpPr/>
          <p:nvPr/>
        </p:nvSpPr>
        <p:spPr>
          <a:xfrm>
            <a:off x="896112" y="3904488"/>
            <a:ext cx="548640" cy="5486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24" name="Image 3" descr="preencoded.png">    </p:cNvPr>
          <p:cNvPicPr>
            <a:picLocks noChangeAspect="1"/>
          </p:cNvPicPr>
          <p:nvPr/>
        </p:nvPicPr>
        <p:blipFill>
          <a:blip r:embed="rId4"/>
          <a:stretch>
            <a:fillRect/>
          </a:stretch>
        </p:blipFill>
        <p:spPr>
          <a:xfrm>
            <a:off x="1044245" y="4052621"/>
            <a:ext cx="252374" cy="252374"/>
          </a:xfrm>
          <a:prstGeom prst="rect">
            <a:avLst/>
          </a:prstGeom>
        </p:spPr>
      </p:pic>
      <p:sp>
        <p:nvSpPr>
          <p:cNvPr id="25" name="Text 19"/>
          <p:cNvSpPr/>
          <p:nvPr/>
        </p:nvSpPr>
        <p:spPr>
          <a:xfrm>
            <a:off x="1554480" y="3849624"/>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Fairness</a:t>
            </a:r>
            <a:endParaRPr lang="en-US" sz="1400" dirty="0"/>
          </a:p>
        </p:txBody>
      </p:sp>
      <p:sp>
        <p:nvSpPr>
          <p:cNvPr id="26" name="Text 20"/>
          <p:cNvSpPr/>
          <p:nvPr/>
        </p:nvSpPr>
        <p:spPr>
          <a:xfrm>
            <a:off x="1554480" y="4197096"/>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Uneven exposure across groups/sellers.</a:t>
            </a:r>
            <a:endParaRPr lang="en-US" sz="1050" dirty="0"/>
          </a:p>
        </p:txBody>
      </p:sp>
      <p:sp>
        <p:nvSpPr>
          <p:cNvPr id="27" name="Text 21"/>
          <p:cNvSpPr/>
          <p:nvPr/>
        </p:nvSpPr>
        <p:spPr>
          <a:xfrm>
            <a:off x="914400" y="4855464"/>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Audit exposure parity regularly.</a:t>
            </a:r>
            <a:endParaRPr lang="en-US" sz="1050" dirty="0"/>
          </a:p>
        </p:txBody>
      </p:sp>
      <p:sp>
        <p:nvSpPr>
          <p:cNvPr id="28" name="Shape 22"/>
          <p:cNvSpPr/>
          <p:nvPr/>
        </p:nvSpPr>
        <p:spPr>
          <a:xfrm>
            <a:off x="4329684" y="3648456"/>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29" name="Shape 23"/>
          <p:cNvSpPr/>
          <p:nvPr/>
        </p:nvSpPr>
        <p:spPr>
          <a:xfrm>
            <a:off x="4585716" y="3904488"/>
            <a:ext cx="548640" cy="548640"/>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30" name="Image 4" descr="preencoded.png">    </p:cNvPr>
          <p:cNvPicPr>
            <a:picLocks noChangeAspect="1"/>
          </p:cNvPicPr>
          <p:nvPr/>
        </p:nvPicPr>
        <p:blipFill>
          <a:blip r:embed="rId5"/>
          <a:stretch>
            <a:fillRect/>
          </a:stretch>
        </p:blipFill>
        <p:spPr>
          <a:xfrm>
            <a:off x="4733849" y="4052621"/>
            <a:ext cx="252374" cy="252374"/>
          </a:xfrm>
          <a:prstGeom prst="rect">
            <a:avLst/>
          </a:prstGeom>
        </p:spPr>
      </p:pic>
      <p:sp>
        <p:nvSpPr>
          <p:cNvPr id="31" name="Text 24"/>
          <p:cNvSpPr/>
          <p:nvPr/>
        </p:nvSpPr>
        <p:spPr>
          <a:xfrm>
            <a:off x="5244084" y="3849624"/>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Poor personalization</a:t>
            </a:r>
            <a:endParaRPr lang="en-US" sz="1400" dirty="0"/>
          </a:p>
        </p:txBody>
      </p:sp>
      <p:sp>
        <p:nvSpPr>
          <p:cNvPr id="32" name="Text 25"/>
          <p:cNvSpPr/>
          <p:nvPr/>
        </p:nvSpPr>
        <p:spPr>
          <a:xfrm>
            <a:off x="5244084" y="4197096"/>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Done wrong, it can cut revenue ~5%.</a:t>
            </a:r>
            <a:endParaRPr lang="en-US" sz="1050" dirty="0"/>
          </a:p>
        </p:txBody>
      </p:sp>
      <p:sp>
        <p:nvSpPr>
          <p:cNvPr id="33" name="Text 26"/>
          <p:cNvSpPr/>
          <p:nvPr/>
        </p:nvSpPr>
        <p:spPr>
          <a:xfrm>
            <a:off x="4604004" y="4855464"/>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Guardrails + A/B test every change.</a:t>
            </a:r>
            <a:endParaRPr lang="en-US" sz="1050" dirty="0"/>
          </a:p>
        </p:txBody>
      </p:sp>
      <p:sp>
        <p:nvSpPr>
          <p:cNvPr id="34" name="Shape 27"/>
          <p:cNvSpPr/>
          <p:nvPr/>
        </p:nvSpPr>
        <p:spPr>
          <a:xfrm>
            <a:off x="8019288" y="3648456"/>
            <a:ext cx="3566160" cy="1783080"/>
          </a:xfrm>
          <a:prstGeom prst="roundRect">
            <a:avLst>
              <a:gd name="adj" fmla="val 6154"/>
            </a:avLst>
          </a:prstGeom>
          <a:solidFill>
            <a:srgbClr val="F3F6FC"/>
          </a:solidFill>
          <a:ln/>
          <a:effectLst>
            <a:outerShdw sx="100000" sy="100000" kx="0" ky="0" algn="bl" rotWithShape="0" blurRad="127000" dist="50800" dir="5400000">
              <a:srgbClr val="8A93A6">
                <a:alpha val="13000"/>
              </a:srgbClr>
            </a:outerShdw>
          </a:effectLst>
        </p:spPr>
      </p:sp>
      <p:sp>
        <p:nvSpPr>
          <p:cNvPr id="35" name="Shape 28"/>
          <p:cNvSpPr/>
          <p:nvPr/>
        </p:nvSpPr>
        <p:spPr>
          <a:xfrm>
            <a:off x="8275320" y="3904488"/>
            <a:ext cx="548640" cy="5486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36" name="Image 5" descr="preencoded.png">    </p:cNvPr>
          <p:cNvPicPr>
            <a:picLocks noChangeAspect="1"/>
          </p:cNvPicPr>
          <p:nvPr/>
        </p:nvPicPr>
        <p:blipFill>
          <a:blip r:embed="rId6"/>
          <a:stretch>
            <a:fillRect/>
          </a:stretch>
        </p:blipFill>
        <p:spPr>
          <a:xfrm>
            <a:off x="8423453" y="4052621"/>
            <a:ext cx="252374" cy="252374"/>
          </a:xfrm>
          <a:prstGeom prst="rect">
            <a:avLst/>
          </a:prstGeom>
        </p:spPr>
      </p:pic>
      <p:sp>
        <p:nvSpPr>
          <p:cNvPr id="37" name="Text 29"/>
          <p:cNvSpPr/>
          <p:nvPr/>
        </p:nvSpPr>
        <p:spPr>
          <a:xfrm>
            <a:off x="8933688" y="3849624"/>
            <a:ext cx="2468880" cy="329184"/>
          </a:xfrm>
          <a:prstGeom prst="rect">
            <a:avLst/>
          </a:prstGeom>
          <a:noFill/>
          <a:ln/>
        </p:spPr>
        <p:txBody>
          <a:bodyPr wrap="square" lIns="0" tIns="0" rIns="0" bIns="0" rtlCol="0" anchor="ctr"/>
          <a:lstStyle/>
          <a:p>
            <a:pPr indent="0" marL="0">
              <a:buNone/>
            </a:pPr>
            <a:r>
              <a:rPr lang="en-US" sz="1400" b="1" dirty="0">
                <a:solidFill>
                  <a:srgbClr val="1A2238"/>
                </a:solidFill>
                <a:latin typeface="Cambria" pitchFamily="34" charset="0"/>
                <a:ea typeface="Cambria" pitchFamily="34" charset="-122"/>
                <a:cs typeface="Cambria" pitchFamily="34" charset="-120"/>
              </a:rPr>
              <a:t>Brand safety</a:t>
            </a:r>
            <a:endParaRPr lang="en-US" sz="1400" dirty="0"/>
          </a:p>
        </p:txBody>
      </p:sp>
      <p:sp>
        <p:nvSpPr>
          <p:cNvPr id="38" name="Text 30"/>
          <p:cNvSpPr/>
          <p:nvPr/>
        </p:nvSpPr>
        <p:spPr>
          <a:xfrm>
            <a:off x="8933688" y="4197096"/>
            <a:ext cx="2468880" cy="365760"/>
          </a:xfrm>
          <a:prstGeom prst="rect">
            <a:avLst/>
          </a:prstGeom>
          <a:noFill/>
          <a:ln/>
        </p:spPr>
        <p:txBody>
          <a:bodyPr wrap="square" lIns="0" tIns="0" rIns="0" bIns="0" rtlCol="0" anchor="ctr"/>
          <a:lstStyle/>
          <a:p>
            <a:pPr indent="0" marL="0">
              <a:buNone/>
            </a:pPr>
            <a:r>
              <a:rPr lang="en-US" sz="1050" dirty="0">
                <a:solidFill>
                  <a:srgbClr val="5B6478"/>
                </a:solidFill>
                <a:latin typeface="Calibri" pitchFamily="34" charset="0"/>
                <a:ea typeface="Calibri" pitchFamily="34" charset="-122"/>
                <a:cs typeface="Calibri" pitchFamily="34" charset="-120"/>
              </a:rPr>
              <a:t>Off-brand or non-compliant results.</a:t>
            </a:r>
            <a:endParaRPr lang="en-US" sz="1050" dirty="0"/>
          </a:p>
        </p:txBody>
      </p:sp>
      <p:sp>
        <p:nvSpPr>
          <p:cNvPr id="39" name="Text 31"/>
          <p:cNvSpPr/>
          <p:nvPr/>
        </p:nvSpPr>
        <p:spPr>
          <a:xfrm>
            <a:off x="8293608" y="4855464"/>
            <a:ext cx="3017520" cy="502920"/>
          </a:xfrm>
          <a:prstGeom prst="rect">
            <a:avLst/>
          </a:prstGeom>
          <a:noFill/>
          <a:ln/>
        </p:spPr>
        <p:txBody>
          <a:bodyPr wrap="square" lIns="0" tIns="0" rIns="0" bIns="0" rtlCol="0" anchor="t"/>
          <a:lstStyle/>
          <a:p>
            <a:pPr indent="0" marL="0">
              <a:buNone/>
            </a:pPr>
            <a:r>
              <a:rPr lang="en-US" sz="1050" b="1" dirty="0">
                <a:solidFill>
                  <a:srgbClr val="2E7D5B"/>
                </a:solidFill>
                <a:latin typeface="Calibri" pitchFamily="34" charset="0"/>
                <a:ea typeface="Calibri" pitchFamily="34" charset="-122"/>
                <a:cs typeface="Calibri" pitchFamily="34" charset="-120"/>
              </a:rPr>
              <a:t>Mitigation: </a:t>
            </a:r>
            <a:pPr indent="0" marL="0">
              <a:buNone/>
            </a:pPr>
            <a:r>
              <a:rPr lang="en-US" sz="1050" dirty="0">
                <a:solidFill>
                  <a:srgbClr val="1A2238"/>
                </a:solidFill>
                <a:latin typeface="Calibri" pitchFamily="34" charset="0"/>
                <a:ea typeface="Calibri" pitchFamily="34" charset="-122"/>
                <a:cs typeface="Calibri" pitchFamily="34" charset="-120"/>
              </a:rPr>
              <a:t>Business rules and human review.</a:t>
            </a:r>
            <a:endParaRPr lang="en-US" sz="1050" dirty="0"/>
          </a:p>
        </p:txBody>
      </p:sp>
      <p:sp>
        <p:nvSpPr>
          <p:cNvPr id="40" name="Text 32"/>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 McKinsey &amp; Company, “The value of getting personalization right—or wrong—is multiplying,” 2021.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 PHASED INVESTMENT</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Prove value early, then scale what works</a:t>
            </a:r>
            <a:endParaRPr lang="en-US" sz="2700" dirty="0"/>
          </a:p>
        </p:txBody>
      </p:sp>
      <p:sp>
        <p:nvSpPr>
          <p:cNvPr id="4" name="Shape 2"/>
          <p:cNvSpPr/>
          <p:nvPr/>
        </p:nvSpPr>
        <p:spPr>
          <a:xfrm>
            <a:off x="640080" y="1691640"/>
            <a:ext cx="3566160" cy="3200400"/>
          </a:xfrm>
          <a:prstGeom prst="roundRect">
            <a:avLst>
              <a:gd name="adj" fmla="val 4000"/>
            </a:avLst>
          </a:prstGeom>
          <a:solidFill>
            <a:srgbClr val="F3F6FC"/>
          </a:solidFill>
          <a:ln/>
          <a:effectLst>
            <a:outerShdw sx="100000" sy="100000" kx="0" ky="0" algn="bl" rotWithShape="0" blurRad="127000" dist="50800" dir="5400000">
              <a:srgbClr val="8A93A6">
                <a:alpha val="13000"/>
              </a:srgbClr>
            </a:outerShdw>
          </a:effectLst>
        </p:spPr>
      </p:sp>
      <p:sp>
        <p:nvSpPr>
          <p:cNvPr id="5" name="Shape 3"/>
          <p:cNvSpPr/>
          <p:nvPr/>
        </p:nvSpPr>
        <p:spPr>
          <a:xfrm>
            <a:off x="914400" y="1984248"/>
            <a:ext cx="731520" cy="731520"/>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11910" y="2181758"/>
            <a:ext cx="336499" cy="336499"/>
          </a:xfrm>
          <a:prstGeom prst="rect">
            <a:avLst/>
          </a:prstGeom>
        </p:spPr>
      </p:pic>
      <p:sp>
        <p:nvSpPr>
          <p:cNvPr id="7" name="Text 4"/>
          <p:cNvSpPr/>
          <p:nvPr/>
        </p:nvSpPr>
        <p:spPr>
          <a:xfrm>
            <a:off x="1828800" y="2020824"/>
            <a:ext cx="21945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Phase 1 — Crawl</a:t>
            </a:r>
            <a:endParaRPr lang="en-US" sz="1650" dirty="0"/>
          </a:p>
        </p:txBody>
      </p:sp>
      <p:sp>
        <p:nvSpPr>
          <p:cNvPr id="8" name="Text 5"/>
          <p:cNvSpPr/>
          <p:nvPr/>
        </p:nvSpPr>
        <p:spPr>
          <a:xfrm>
            <a:off x="1828800" y="2423160"/>
            <a:ext cx="2194560" cy="2743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0–3 months</a:t>
            </a:r>
            <a:endParaRPr lang="en-US" sz="1200" dirty="0"/>
          </a:p>
        </p:txBody>
      </p:sp>
      <p:sp>
        <p:nvSpPr>
          <p:cNvPr id="9" name="Text 6"/>
          <p:cNvSpPr/>
          <p:nvPr/>
        </p:nvSpPr>
        <p:spPr>
          <a:xfrm>
            <a:off x="932688" y="3017520"/>
            <a:ext cx="2980944" cy="109728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Popularity, trending, and rules-based “bought together.”</a:t>
            </a:r>
            <a:endParaRPr lang="en-US" sz="1300" dirty="0"/>
          </a:p>
        </p:txBody>
      </p:sp>
      <p:sp>
        <p:nvSpPr>
          <p:cNvPr id="10" name="Shape 7"/>
          <p:cNvSpPr/>
          <p:nvPr/>
        </p:nvSpPr>
        <p:spPr>
          <a:xfrm>
            <a:off x="1051560" y="4325112"/>
            <a:ext cx="2743200" cy="384048"/>
          </a:xfrm>
          <a:prstGeom prst="roundRect">
            <a:avLst>
              <a:gd name="adj" fmla="val 50000"/>
            </a:avLst>
          </a:prstGeom>
          <a:solidFill>
            <a:srgbClr val="1E2761"/>
          </a:solidFill>
          <a:ln/>
        </p:spPr>
      </p:sp>
      <p:sp>
        <p:nvSpPr>
          <p:cNvPr id="11" name="Text 8"/>
          <p:cNvSpPr/>
          <p:nvPr/>
        </p:nvSpPr>
        <p:spPr>
          <a:xfrm>
            <a:off x="1051560" y="4325112"/>
            <a:ext cx="2743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Quick wins, low cost</a:t>
            </a:r>
            <a:endParaRPr lang="en-US" sz="1100" dirty="0"/>
          </a:p>
        </p:txBody>
      </p:sp>
      <p:pic>
        <p:nvPicPr>
          <p:cNvPr id="12" name="Image 1" descr="preencoded.png">    </p:cNvPr>
          <p:cNvPicPr>
            <a:picLocks noChangeAspect="1"/>
          </p:cNvPicPr>
          <p:nvPr/>
        </p:nvPicPr>
        <p:blipFill>
          <a:blip r:embed="rId2"/>
          <a:stretch>
            <a:fillRect/>
          </a:stretch>
        </p:blipFill>
        <p:spPr>
          <a:xfrm>
            <a:off x="4206240" y="3127248"/>
            <a:ext cx="292608" cy="146304"/>
          </a:xfrm>
          <a:prstGeom prst="rect">
            <a:avLst/>
          </a:prstGeom>
        </p:spPr>
      </p:pic>
      <p:sp>
        <p:nvSpPr>
          <p:cNvPr id="13" name="Shape 9"/>
          <p:cNvSpPr/>
          <p:nvPr/>
        </p:nvSpPr>
        <p:spPr>
          <a:xfrm>
            <a:off x="4370832" y="1691640"/>
            <a:ext cx="3566160" cy="3200400"/>
          </a:xfrm>
          <a:prstGeom prst="roundRect">
            <a:avLst>
              <a:gd name="adj" fmla="val 4000"/>
            </a:avLst>
          </a:prstGeom>
          <a:solidFill>
            <a:srgbClr val="F3F6FC"/>
          </a:solidFill>
          <a:ln/>
          <a:effectLst>
            <a:outerShdw sx="100000" sy="100000" kx="0" ky="0" algn="bl" rotWithShape="0" blurRad="127000" dist="50800" dir="5400000">
              <a:srgbClr val="8A93A6">
                <a:alpha val="13000"/>
              </a:srgbClr>
            </a:outerShdw>
          </a:effectLst>
        </p:spPr>
      </p:sp>
      <p:sp>
        <p:nvSpPr>
          <p:cNvPr id="14" name="Shape 10"/>
          <p:cNvSpPr/>
          <p:nvPr/>
        </p:nvSpPr>
        <p:spPr>
          <a:xfrm>
            <a:off x="4645152" y="1984248"/>
            <a:ext cx="731520" cy="73152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15" name="Image 2" descr="preencoded.png">    </p:cNvPr>
          <p:cNvPicPr>
            <a:picLocks noChangeAspect="1"/>
          </p:cNvPicPr>
          <p:nvPr/>
        </p:nvPicPr>
        <p:blipFill>
          <a:blip r:embed="rId3"/>
          <a:stretch>
            <a:fillRect/>
          </a:stretch>
        </p:blipFill>
        <p:spPr>
          <a:xfrm>
            <a:off x="4842662" y="2181758"/>
            <a:ext cx="336499" cy="336499"/>
          </a:xfrm>
          <a:prstGeom prst="rect">
            <a:avLst/>
          </a:prstGeom>
        </p:spPr>
      </p:pic>
      <p:sp>
        <p:nvSpPr>
          <p:cNvPr id="16" name="Text 11"/>
          <p:cNvSpPr/>
          <p:nvPr/>
        </p:nvSpPr>
        <p:spPr>
          <a:xfrm>
            <a:off x="5559552" y="2020824"/>
            <a:ext cx="21945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Phase 2 — Walk</a:t>
            </a:r>
            <a:endParaRPr lang="en-US" sz="1650" dirty="0"/>
          </a:p>
        </p:txBody>
      </p:sp>
      <p:sp>
        <p:nvSpPr>
          <p:cNvPr id="17" name="Text 12"/>
          <p:cNvSpPr/>
          <p:nvPr/>
        </p:nvSpPr>
        <p:spPr>
          <a:xfrm>
            <a:off x="5559552" y="2423160"/>
            <a:ext cx="2194560" cy="2743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3–9 months</a:t>
            </a:r>
            <a:endParaRPr lang="en-US" sz="1200" dirty="0"/>
          </a:p>
        </p:txBody>
      </p:sp>
      <p:sp>
        <p:nvSpPr>
          <p:cNvPr id="18" name="Text 13"/>
          <p:cNvSpPr/>
          <p:nvPr/>
        </p:nvSpPr>
        <p:spPr>
          <a:xfrm>
            <a:off x="4663440" y="3017520"/>
            <a:ext cx="2980944" cy="109728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Add behavioral collaborative filtering and similar-item recall.</a:t>
            </a:r>
            <a:endParaRPr lang="en-US" sz="1300" dirty="0"/>
          </a:p>
        </p:txBody>
      </p:sp>
      <p:sp>
        <p:nvSpPr>
          <p:cNvPr id="19" name="Shape 14"/>
          <p:cNvSpPr/>
          <p:nvPr/>
        </p:nvSpPr>
        <p:spPr>
          <a:xfrm>
            <a:off x="4782312" y="4325112"/>
            <a:ext cx="2743200" cy="384048"/>
          </a:xfrm>
          <a:prstGeom prst="roundRect">
            <a:avLst>
              <a:gd name="adj" fmla="val 50000"/>
            </a:avLst>
          </a:prstGeom>
          <a:solidFill>
            <a:srgbClr val="1E2761"/>
          </a:solidFill>
          <a:ln/>
        </p:spPr>
      </p:sp>
      <p:sp>
        <p:nvSpPr>
          <p:cNvPr id="20" name="Text 15"/>
          <p:cNvSpPr/>
          <p:nvPr/>
        </p:nvSpPr>
        <p:spPr>
          <a:xfrm>
            <a:off x="4782312" y="4325112"/>
            <a:ext cx="2743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Personalization begins</a:t>
            </a:r>
            <a:endParaRPr lang="en-US" sz="1100" dirty="0"/>
          </a:p>
        </p:txBody>
      </p:sp>
      <p:pic>
        <p:nvPicPr>
          <p:cNvPr id="21" name="Image 3" descr="preencoded.png">    </p:cNvPr>
          <p:cNvPicPr>
            <a:picLocks noChangeAspect="1"/>
          </p:cNvPicPr>
          <p:nvPr/>
        </p:nvPicPr>
        <p:blipFill>
          <a:blip r:embed="rId4"/>
          <a:stretch>
            <a:fillRect/>
          </a:stretch>
        </p:blipFill>
        <p:spPr>
          <a:xfrm>
            <a:off x="7936992" y="3127248"/>
            <a:ext cx="292608" cy="146304"/>
          </a:xfrm>
          <a:prstGeom prst="rect">
            <a:avLst/>
          </a:prstGeom>
        </p:spPr>
      </p:pic>
      <p:sp>
        <p:nvSpPr>
          <p:cNvPr id="22" name="Shape 16"/>
          <p:cNvSpPr/>
          <p:nvPr/>
        </p:nvSpPr>
        <p:spPr>
          <a:xfrm>
            <a:off x="8101584" y="1691640"/>
            <a:ext cx="3566160" cy="3200400"/>
          </a:xfrm>
          <a:prstGeom prst="roundRect">
            <a:avLst>
              <a:gd name="adj" fmla="val 4000"/>
            </a:avLst>
          </a:prstGeom>
          <a:solidFill>
            <a:srgbClr val="F3F6FC"/>
          </a:solidFill>
          <a:ln/>
          <a:effectLst>
            <a:outerShdw sx="100000" sy="100000" kx="0" ky="0" algn="bl" rotWithShape="0" blurRad="127000" dist="50800" dir="5400000">
              <a:srgbClr val="8A93A6">
                <a:alpha val="13000"/>
              </a:srgbClr>
            </a:outerShdw>
          </a:effectLst>
        </p:spPr>
      </p:sp>
      <p:sp>
        <p:nvSpPr>
          <p:cNvPr id="23" name="Shape 17"/>
          <p:cNvSpPr/>
          <p:nvPr/>
        </p:nvSpPr>
        <p:spPr>
          <a:xfrm>
            <a:off x="8375904" y="1984248"/>
            <a:ext cx="731520" cy="731520"/>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24" name="Image 4" descr="preencoded.png">    </p:cNvPr>
          <p:cNvPicPr>
            <a:picLocks noChangeAspect="1"/>
          </p:cNvPicPr>
          <p:nvPr/>
        </p:nvPicPr>
        <p:blipFill>
          <a:blip r:embed="rId5"/>
          <a:stretch>
            <a:fillRect/>
          </a:stretch>
        </p:blipFill>
        <p:spPr>
          <a:xfrm>
            <a:off x="8573414" y="2181758"/>
            <a:ext cx="336499" cy="336499"/>
          </a:xfrm>
          <a:prstGeom prst="rect">
            <a:avLst/>
          </a:prstGeom>
        </p:spPr>
      </p:pic>
      <p:sp>
        <p:nvSpPr>
          <p:cNvPr id="25" name="Text 18"/>
          <p:cNvSpPr/>
          <p:nvPr/>
        </p:nvSpPr>
        <p:spPr>
          <a:xfrm>
            <a:off x="9290304" y="2020824"/>
            <a:ext cx="2194560" cy="365760"/>
          </a:xfrm>
          <a:prstGeom prst="rect">
            <a:avLst/>
          </a:prstGeom>
          <a:noFill/>
          <a:ln/>
        </p:spPr>
        <p:txBody>
          <a:bodyPr wrap="square" lIns="0" tIns="0" rIns="0" bIns="0" rtlCol="0" anchor="ctr"/>
          <a:lstStyle/>
          <a:p>
            <a:pPr indent="0" marL="0">
              <a:buNone/>
            </a:pPr>
            <a:r>
              <a:rPr lang="en-US" sz="1650" b="1" dirty="0">
                <a:solidFill>
                  <a:srgbClr val="1A2238"/>
                </a:solidFill>
                <a:latin typeface="Cambria" pitchFamily="34" charset="0"/>
                <a:ea typeface="Cambria" pitchFamily="34" charset="-122"/>
                <a:cs typeface="Cambria" pitchFamily="34" charset="-120"/>
              </a:rPr>
              <a:t>Phase 3 — Run</a:t>
            </a:r>
            <a:endParaRPr lang="en-US" sz="1650" dirty="0"/>
          </a:p>
        </p:txBody>
      </p:sp>
      <p:sp>
        <p:nvSpPr>
          <p:cNvPr id="26" name="Text 19"/>
          <p:cNvSpPr/>
          <p:nvPr/>
        </p:nvSpPr>
        <p:spPr>
          <a:xfrm>
            <a:off x="9290304" y="2423160"/>
            <a:ext cx="2194560" cy="27432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9–18 months</a:t>
            </a:r>
            <a:endParaRPr lang="en-US" sz="1200" dirty="0"/>
          </a:p>
        </p:txBody>
      </p:sp>
      <p:sp>
        <p:nvSpPr>
          <p:cNvPr id="27" name="Text 20"/>
          <p:cNvSpPr/>
          <p:nvPr/>
        </p:nvSpPr>
        <p:spPr>
          <a:xfrm>
            <a:off x="8394192" y="3017520"/>
            <a:ext cx="2980944" cy="109728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Personalized feeds, hybrid models, real-time ranking.</a:t>
            </a:r>
            <a:endParaRPr lang="en-US" sz="1300" dirty="0"/>
          </a:p>
        </p:txBody>
      </p:sp>
      <p:sp>
        <p:nvSpPr>
          <p:cNvPr id="28" name="Shape 21"/>
          <p:cNvSpPr/>
          <p:nvPr/>
        </p:nvSpPr>
        <p:spPr>
          <a:xfrm>
            <a:off x="8513064" y="4325112"/>
            <a:ext cx="2743200" cy="384048"/>
          </a:xfrm>
          <a:prstGeom prst="roundRect">
            <a:avLst>
              <a:gd name="adj" fmla="val 50000"/>
            </a:avLst>
          </a:prstGeom>
          <a:solidFill>
            <a:srgbClr val="C9A227"/>
          </a:solidFill>
          <a:ln/>
        </p:spPr>
      </p:sp>
      <p:sp>
        <p:nvSpPr>
          <p:cNvPr id="29" name="Text 22"/>
          <p:cNvSpPr/>
          <p:nvPr/>
        </p:nvSpPr>
        <p:spPr>
          <a:xfrm>
            <a:off x="8513064" y="4325112"/>
            <a:ext cx="2743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Compounding returns</a:t>
            </a:r>
            <a:endParaRPr lang="en-US" sz="1100" dirty="0"/>
          </a:p>
        </p:txBody>
      </p:sp>
      <p:sp>
        <p:nvSpPr>
          <p:cNvPr id="30" name="Text 23"/>
          <p:cNvSpPr/>
          <p:nvPr/>
        </p:nvSpPr>
        <p:spPr>
          <a:xfrm>
            <a:off x="640080" y="5056632"/>
            <a:ext cx="10927080" cy="45720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Each phase ships value on its own and gates the next on measured lift. The next slide shows a real platform that followed this exact path.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REAL-WORLD PRECEDENT</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How Amazon actually walked this path</a:t>
            </a:r>
            <a:endParaRPr lang="en-US" sz="2700" dirty="0"/>
          </a:p>
        </p:txBody>
      </p:sp>
      <p:sp>
        <p:nvSpPr>
          <p:cNvPr id="4" name="Text 2"/>
          <p:cNvSpPr/>
          <p:nvPr/>
        </p:nvSpPr>
        <p:spPr>
          <a:xfrm>
            <a:off x="640080" y="1371600"/>
            <a:ext cx="10927080" cy="292608"/>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Amazon's own published history maps directly onto the crawl → walk → run plan.</a:t>
            </a:r>
            <a:endParaRPr lang="en-US" sz="1350" dirty="0"/>
          </a:p>
        </p:txBody>
      </p:sp>
      <p:sp>
        <p:nvSpPr>
          <p:cNvPr id="5" name="Shape 3"/>
          <p:cNvSpPr/>
          <p:nvPr/>
        </p:nvSpPr>
        <p:spPr>
          <a:xfrm>
            <a:off x="822960" y="2350008"/>
            <a:ext cx="8339328" cy="0"/>
          </a:xfrm>
          <a:prstGeom prst="line">
            <a:avLst/>
          </a:prstGeom>
          <a:noFill/>
          <a:ln w="25400">
            <a:solidFill>
              <a:srgbClr val="DCE3F0"/>
            </a:solidFill>
            <a:prstDash val="solid"/>
          </a:ln>
        </p:spPr>
      </p:sp>
      <p:sp>
        <p:nvSpPr>
          <p:cNvPr id="6" name="Shape 4"/>
          <p:cNvSpPr/>
          <p:nvPr/>
        </p:nvSpPr>
        <p:spPr>
          <a:xfrm>
            <a:off x="685800" y="2130552"/>
            <a:ext cx="438912" cy="438912"/>
          </a:xfrm>
          <a:prstGeom prst="ellipse">
            <a:avLst/>
          </a:prstGeom>
          <a:solidFill>
            <a:srgbClr val="4A6FA5"/>
          </a:solidFill>
          <a:ln/>
        </p:spPr>
      </p:sp>
      <p:sp>
        <p:nvSpPr>
          <p:cNvPr id="7" name="Text 5"/>
          <p:cNvSpPr/>
          <p:nvPr/>
        </p:nvSpPr>
        <p:spPr>
          <a:xfrm>
            <a:off x="685800" y="21305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Shape 6"/>
          <p:cNvSpPr/>
          <p:nvPr/>
        </p:nvSpPr>
        <p:spPr>
          <a:xfrm>
            <a:off x="1280160" y="2185416"/>
            <a:ext cx="1325880" cy="329184"/>
          </a:xfrm>
          <a:prstGeom prst="roundRect">
            <a:avLst>
              <a:gd name="adj" fmla="val 50000"/>
            </a:avLst>
          </a:prstGeom>
          <a:solidFill>
            <a:srgbClr val="1A2238"/>
          </a:solidFill>
          <a:ln/>
        </p:spPr>
      </p:sp>
      <p:sp>
        <p:nvSpPr>
          <p:cNvPr id="9" name="Text 7"/>
          <p:cNvSpPr/>
          <p:nvPr/>
        </p:nvSpPr>
        <p:spPr>
          <a:xfrm>
            <a:off x="1280160" y="2185416"/>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Pre-1998</a:t>
            </a:r>
            <a:endParaRPr lang="en-US" sz="1100" dirty="0"/>
          </a:p>
        </p:txBody>
      </p:sp>
      <p:sp>
        <p:nvSpPr>
          <p:cNvPr id="10" name="Shape 8"/>
          <p:cNvSpPr/>
          <p:nvPr/>
        </p:nvSpPr>
        <p:spPr>
          <a:xfrm>
            <a:off x="640080" y="2834640"/>
            <a:ext cx="2670048" cy="2788920"/>
          </a:xfrm>
          <a:prstGeom prst="roundRect">
            <a:avLst>
              <a:gd name="adj" fmla="val 4110"/>
            </a:avLst>
          </a:prstGeom>
          <a:solidFill>
            <a:srgbClr val="F3F6FC"/>
          </a:solidFill>
          <a:ln/>
          <a:effectLst>
            <a:outerShdw sx="100000" sy="100000" kx="0" ky="0" algn="bl" rotWithShape="0" blurRad="127000" dist="50800" dir="5400000">
              <a:srgbClr val="8A93A6">
                <a:alpha val="13000"/>
              </a:srgbClr>
            </a:outerShdw>
          </a:effectLst>
        </p:spPr>
      </p:sp>
      <p:sp>
        <p:nvSpPr>
          <p:cNvPr id="11" name="Shape 9"/>
          <p:cNvSpPr/>
          <p:nvPr/>
        </p:nvSpPr>
        <p:spPr>
          <a:xfrm>
            <a:off x="841248" y="3044952"/>
            <a:ext cx="1097280" cy="310896"/>
          </a:xfrm>
          <a:prstGeom prst="roundRect">
            <a:avLst>
              <a:gd name="adj" fmla="val 50000"/>
            </a:avLst>
          </a:prstGeom>
          <a:solidFill>
            <a:srgbClr val="4A6FA5"/>
          </a:solidFill>
          <a:ln/>
        </p:spPr>
      </p:sp>
      <p:sp>
        <p:nvSpPr>
          <p:cNvPr id="12" name="Text 10"/>
          <p:cNvSpPr/>
          <p:nvPr/>
        </p:nvSpPr>
        <p:spPr>
          <a:xfrm>
            <a:off x="841248" y="3044952"/>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Crawl</a:t>
            </a:r>
            <a:endParaRPr lang="en-US" sz="1000" dirty="0"/>
          </a:p>
        </p:txBody>
      </p:sp>
      <p:sp>
        <p:nvSpPr>
          <p:cNvPr id="13" name="Text 11"/>
          <p:cNvSpPr/>
          <p:nvPr/>
        </p:nvSpPr>
        <p:spPr>
          <a:xfrm>
            <a:off x="841248" y="3447288"/>
            <a:ext cx="2267712" cy="685800"/>
          </a:xfrm>
          <a:prstGeom prst="rect">
            <a:avLst/>
          </a:prstGeom>
          <a:noFill/>
          <a:ln/>
        </p:spPr>
        <p:txBody>
          <a:bodyPr wrap="square" lIns="0" tIns="0" rIns="0" bIns="0" rtlCol="0" anchor="ctr"/>
          <a:lstStyle/>
          <a:p>
            <a:pPr indent="0" marL="0">
              <a:buNone/>
            </a:pPr>
            <a:r>
              <a:rPr lang="en-US" sz="1350" b="1" dirty="0">
                <a:solidFill>
                  <a:srgbClr val="1A2238"/>
                </a:solidFill>
                <a:latin typeface="Cambria" pitchFamily="34" charset="0"/>
                <a:ea typeface="Cambria" pitchFamily="34" charset="-122"/>
                <a:cs typeface="Cambria" pitchFamily="34" charset="-120"/>
              </a:rPr>
              <a:t>Editorial picks &amp; popularity</a:t>
            </a:r>
            <a:endParaRPr lang="en-US" sz="1350" dirty="0"/>
          </a:p>
        </p:txBody>
      </p:sp>
      <p:sp>
        <p:nvSpPr>
          <p:cNvPr id="14" name="Text 12"/>
          <p:cNvSpPr/>
          <p:nvPr/>
        </p:nvSpPr>
        <p:spPr>
          <a:xfrm>
            <a:off x="841248" y="4160520"/>
            <a:ext cx="2267712" cy="137160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Early Amazon surfaced best-sellers and hand-curated lists across a mostly-books catalog.</a:t>
            </a:r>
            <a:endParaRPr lang="en-US" sz="1100" dirty="0"/>
          </a:p>
        </p:txBody>
      </p:sp>
      <p:pic>
        <p:nvPicPr>
          <p:cNvPr id="15" name="Image 0" descr="preencoded.png">    </p:cNvPr>
          <p:cNvPicPr>
            <a:picLocks noChangeAspect="1"/>
          </p:cNvPicPr>
          <p:nvPr/>
        </p:nvPicPr>
        <p:blipFill>
          <a:blip r:embed="rId1"/>
          <a:stretch>
            <a:fillRect/>
          </a:stretch>
        </p:blipFill>
        <p:spPr>
          <a:xfrm>
            <a:off x="3291840" y="2240280"/>
            <a:ext cx="237744" cy="118872"/>
          </a:xfrm>
          <a:prstGeom prst="rect">
            <a:avLst/>
          </a:prstGeom>
        </p:spPr>
      </p:pic>
      <p:sp>
        <p:nvSpPr>
          <p:cNvPr id="16" name="Shape 13"/>
          <p:cNvSpPr/>
          <p:nvPr/>
        </p:nvSpPr>
        <p:spPr>
          <a:xfrm>
            <a:off x="3465576" y="2130552"/>
            <a:ext cx="438912" cy="438912"/>
          </a:xfrm>
          <a:prstGeom prst="ellipse">
            <a:avLst/>
          </a:prstGeom>
          <a:solidFill>
            <a:srgbClr val="1E2761"/>
          </a:solidFill>
          <a:ln/>
        </p:spPr>
      </p:sp>
      <p:sp>
        <p:nvSpPr>
          <p:cNvPr id="17" name="Text 14"/>
          <p:cNvSpPr/>
          <p:nvPr/>
        </p:nvSpPr>
        <p:spPr>
          <a:xfrm>
            <a:off x="3465576" y="21305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8" name="Shape 15"/>
          <p:cNvSpPr/>
          <p:nvPr/>
        </p:nvSpPr>
        <p:spPr>
          <a:xfrm>
            <a:off x="4059936" y="2185416"/>
            <a:ext cx="1325880" cy="329184"/>
          </a:xfrm>
          <a:prstGeom prst="roundRect">
            <a:avLst>
              <a:gd name="adj" fmla="val 50000"/>
            </a:avLst>
          </a:prstGeom>
          <a:solidFill>
            <a:srgbClr val="1A2238"/>
          </a:solidFill>
          <a:ln/>
        </p:spPr>
      </p:sp>
      <p:sp>
        <p:nvSpPr>
          <p:cNvPr id="19" name="Text 16"/>
          <p:cNvSpPr/>
          <p:nvPr/>
        </p:nvSpPr>
        <p:spPr>
          <a:xfrm>
            <a:off x="4059936" y="2185416"/>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1998</a:t>
            </a:r>
            <a:endParaRPr lang="en-US" sz="1100" dirty="0"/>
          </a:p>
        </p:txBody>
      </p:sp>
      <p:sp>
        <p:nvSpPr>
          <p:cNvPr id="20" name="Shape 17"/>
          <p:cNvSpPr/>
          <p:nvPr/>
        </p:nvSpPr>
        <p:spPr>
          <a:xfrm>
            <a:off x="3419856" y="2834640"/>
            <a:ext cx="2670048" cy="2788920"/>
          </a:xfrm>
          <a:prstGeom prst="roundRect">
            <a:avLst>
              <a:gd name="adj" fmla="val 4110"/>
            </a:avLst>
          </a:prstGeom>
          <a:solidFill>
            <a:srgbClr val="F3F6FC"/>
          </a:solidFill>
          <a:ln/>
          <a:effectLst>
            <a:outerShdw sx="100000" sy="100000" kx="0" ky="0" algn="bl" rotWithShape="0" blurRad="127000" dist="50800" dir="5400000">
              <a:srgbClr val="8A93A6">
                <a:alpha val="13000"/>
              </a:srgbClr>
            </a:outerShdw>
          </a:effectLst>
        </p:spPr>
      </p:sp>
      <p:sp>
        <p:nvSpPr>
          <p:cNvPr id="21" name="Shape 18"/>
          <p:cNvSpPr/>
          <p:nvPr/>
        </p:nvSpPr>
        <p:spPr>
          <a:xfrm>
            <a:off x="3621024" y="3044952"/>
            <a:ext cx="1097280" cy="310896"/>
          </a:xfrm>
          <a:prstGeom prst="roundRect">
            <a:avLst>
              <a:gd name="adj" fmla="val 50000"/>
            </a:avLst>
          </a:prstGeom>
          <a:solidFill>
            <a:srgbClr val="1E2761"/>
          </a:solidFill>
          <a:ln/>
        </p:spPr>
      </p:sp>
      <p:sp>
        <p:nvSpPr>
          <p:cNvPr id="22" name="Text 19"/>
          <p:cNvSpPr/>
          <p:nvPr/>
        </p:nvSpPr>
        <p:spPr>
          <a:xfrm>
            <a:off x="3621024" y="3044952"/>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Walk</a:t>
            </a:r>
            <a:endParaRPr lang="en-US" sz="1000" dirty="0"/>
          </a:p>
        </p:txBody>
      </p:sp>
      <p:sp>
        <p:nvSpPr>
          <p:cNvPr id="23" name="Text 20"/>
          <p:cNvSpPr/>
          <p:nvPr/>
        </p:nvSpPr>
        <p:spPr>
          <a:xfrm>
            <a:off x="3621024" y="3447288"/>
            <a:ext cx="2267712" cy="685800"/>
          </a:xfrm>
          <a:prstGeom prst="rect">
            <a:avLst/>
          </a:prstGeom>
          <a:noFill/>
          <a:ln/>
        </p:spPr>
        <p:txBody>
          <a:bodyPr wrap="square" lIns="0" tIns="0" rIns="0" bIns="0" rtlCol="0" anchor="ctr"/>
          <a:lstStyle/>
          <a:p>
            <a:pPr indent="0" marL="0">
              <a:buNone/>
            </a:pPr>
            <a:r>
              <a:rPr lang="en-US" sz="1350" b="1" dirty="0">
                <a:solidFill>
                  <a:srgbClr val="1A2238"/>
                </a:solidFill>
                <a:latin typeface="Cambria" pitchFamily="34" charset="0"/>
                <a:ea typeface="Cambria" pitchFamily="34" charset="-122"/>
                <a:cs typeface="Cambria" pitchFamily="34" charset="-120"/>
              </a:rPr>
              <a:t>Item-to-item collaborative filtering</a:t>
            </a:r>
            <a:endParaRPr lang="en-US" sz="1350" dirty="0"/>
          </a:p>
        </p:txBody>
      </p:sp>
      <p:sp>
        <p:nvSpPr>
          <p:cNvPr id="24" name="Text 21"/>
          <p:cNvSpPr/>
          <p:nvPr/>
        </p:nvSpPr>
        <p:spPr>
          <a:xfrm>
            <a:off x="3621024" y="4160520"/>
            <a:ext cx="2267712" cy="137160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Launched “customers who bought this also bought,” computing item-item similarities offline for fast lookups.</a:t>
            </a:r>
            <a:endParaRPr lang="en-US" sz="1100" dirty="0"/>
          </a:p>
        </p:txBody>
      </p:sp>
      <p:pic>
        <p:nvPicPr>
          <p:cNvPr id="25" name="Image 1" descr="preencoded.png">    </p:cNvPr>
          <p:cNvPicPr>
            <a:picLocks noChangeAspect="1"/>
          </p:cNvPicPr>
          <p:nvPr/>
        </p:nvPicPr>
        <p:blipFill>
          <a:blip r:embed="rId2"/>
          <a:stretch>
            <a:fillRect/>
          </a:stretch>
        </p:blipFill>
        <p:spPr>
          <a:xfrm>
            <a:off x="6071616" y="2240280"/>
            <a:ext cx="237744" cy="118872"/>
          </a:xfrm>
          <a:prstGeom prst="rect">
            <a:avLst/>
          </a:prstGeom>
        </p:spPr>
      </p:pic>
      <p:sp>
        <p:nvSpPr>
          <p:cNvPr id="26" name="Shape 22"/>
          <p:cNvSpPr/>
          <p:nvPr/>
        </p:nvSpPr>
        <p:spPr>
          <a:xfrm>
            <a:off x="6245352" y="2130552"/>
            <a:ext cx="438912" cy="438912"/>
          </a:xfrm>
          <a:prstGeom prst="ellipse">
            <a:avLst/>
          </a:prstGeom>
          <a:solidFill>
            <a:srgbClr val="1E2761"/>
          </a:solidFill>
          <a:ln/>
        </p:spPr>
      </p:sp>
      <p:sp>
        <p:nvSpPr>
          <p:cNvPr id="27" name="Text 23"/>
          <p:cNvSpPr/>
          <p:nvPr/>
        </p:nvSpPr>
        <p:spPr>
          <a:xfrm>
            <a:off x="6245352" y="21305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Shape 24"/>
          <p:cNvSpPr/>
          <p:nvPr/>
        </p:nvSpPr>
        <p:spPr>
          <a:xfrm>
            <a:off x="6839712" y="2185416"/>
            <a:ext cx="1325880" cy="329184"/>
          </a:xfrm>
          <a:prstGeom prst="roundRect">
            <a:avLst>
              <a:gd name="adj" fmla="val 50000"/>
            </a:avLst>
          </a:prstGeom>
          <a:solidFill>
            <a:srgbClr val="1A2238"/>
          </a:solidFill>
          <a:ln/>
        </p:spPr>
      </p:sp>
      <p:sp>
        <p:nvSpPr>
          <p:cNvPr id="29" name="Text 25"/>
          <p:cNvSpPr/>
          <p:nvPr/>
        </p:nvSpPr>
        <p:spPr>
          <a:xfrm>
            <a:off x="6839712" y="2185416"/>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2003</a:t>
            </a:r>
            <a:endParaRPr lang="en-US" sz="1100" dirty="0"/>
          </a:p>
        </p:txBody>
      </p:sp>
      <p:sp>
        <p:nvSpPr>
          <p:cNvPr id="30" name="Shape 26"/>
          <p:cNvSpPr/>
          <p:nvPr/>
        </p:nvSpPr>
        <p:spPr>
          <a:xfrm>
            <a:off x="6199632" y="2834640"/>
            <a:ext cx="2670048" cy="2788920"/>
          </a:xfrm>
          <a:prstGeom prst="roundRect">
            <a:avLst>
              <a:gd name="adj" fmla="val 4110"/>
            </a:avLst>
          </a:prstGeom>
          <a:solidFill>
            <a:srgbClr val="F3F6FC"/>
          </a:solidFill>
          <a:ln/>
          <a:effectLst>
            <a:outerShdw sx="100000" sy="100000" kx="0" ky="0" algn="bl" rotWithShape="0" blurRad="127000" dist="50800" dir="5400000">
              <a:srgbClr val="8A93A6">
                <a:alpha val="13000"/>
              </a:srgbClr>
            </a:outerShdw>
          </a:effectLst>
        </p:spPr>
      </p:sp>
      <p:sp>
        <p:nvSpPr>
          <p:cNvPr id="31" name="Shape 27"/>
          <p:cNvSpPr/>
          <p:nvPr/>
        </p:nvSpPr>
        <p:spPr>
          <a:xfrm>
            <a:off x="6400800" y="3044952"/>
            <a:ext cx="1097280" cy="310896"/>
          </a:xfrm>
          <a:prstGeom prst="roundRect">
            <a:avLst>
              <a:gd name="adj" fmla="val 50000"/>
            </a:avLst>
          </a:prstGeom>
          <a:solidFill>
            <a:srgbClr val="1E2761"/>
          </a:solidFill>
          <a:ln/>
        </p:spPr>
      </p:sp>
      <p:sp>
        <p:nvSpPr>
          <p:cNvPr id="32" name="Text 28"/>
          <p:cNvSpPr/>
          <p:nvPr/>
        </p:nvSpPr>
        <p:spPr>
          <a:xfrm>
            <a:off x="6400800" y="3044952"/>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Walk</a:t>
            </a:r>
            <a:endParaRPr lang="en-US" sz="1000" dirty="0"/>
          </a:p>
        </p:txBody>
      </p:sp>
      <p:sp>
        <p:nvSpPr>
          <p:cNvPr id="33" name="Text 29"/>
          <p:cNvSpPr/>
          <p:nvPr/>
        </p:nvSpPr>
        <p:spPr>
          <a:xfrm>
            <a:off x="6400800" y="3447288"/>
            <a:ext cx="2267712" cy="685800"/>
          </a:xfrm>
          <a:prstGeom prst="rect">
            <a:avLst/>
          </a:prstGeom>
          <a:noFill/>
          <a:ln/>
        </p:spPr>
        <p:txBody>
          <a:bodyPr wrap="square" lIns="0" tIns="0" rIns="0" bIns="0" rtlCol="0" anchor="ctr"/>
          <a:lstStyle/>
          <a:p>
            <a:pPr indent="0" marL="0">
              <a:buNone/>
            </a:pPr>
            <a:r>
              <a:rPr lang="en-US" sz="1350" b="1" dirty="0">
                <a:solidFill>
                  <a:srgbClr val="1A2238"/>
                </a:solidFill>
                <a:latin typeface="Cambria" pitchFamily="34" charset="0"/>
                <a:ea typeface="Cambria" pitchFamily="34" charset="-122"/>
                <a:cs typeface="Cambria" pitchFamily="34" charset="-120"/>
              </a:rPr>
              <a:t>Published &amp; proven to scale</a:t>
            </a:r>
            <a:endParaRPr lang="en-US" sz="1350" dirty="0"/>
          </a:p>
        </p:txBody>
      </p:sp>
      <p:sp>
        <p:nvSpPr>
          <p:cNvPr id="34" name="Text 30"/>
          <p:cNvSpPr/>
          <p:nvPr/>
        </p:nvSpPr>
        <p:spPr>
          <a:xfrm>
            <a:off x="6400800" y="4160520"/>
            <a:ext cx="2267712" cy="137160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Detailed in IEEE Internet Computing; scaled where user-based methods couldn't, and spread across the web.</a:t>
            </a:r>
            <a:endParaRPr lang="en-US" sz="1100" dirty="0"/>
          </a:p>
        </p:txBody>
      </p:sp>
      <p:pic>
        <p:nvPicPr>
          <p:cNvPr id="35" name="Image 2" descr="preencoded.png">    </p:cNvPr>
          <p:cNvPicPr>
            <a:picLocks noChangeAspect="1"/>
          </p:cNvPicPr>
          <p:nvPr/>
        </p:nvPicPr>
        <p:blipFill>
          <a:blip r:embed="rId3"/>
          <a:stretch>
            <a:fillRect/>
          </a:stretch>
        </p:blipFill>
        <p:spPr>
          <a:xfrm>
            <a:off x="8851392" y="2240280"/>
            <a:ext cx="237744" cy="118872"/>
          </a:xfrm>
          <a:prstGeom prst="rect">
            <a:avLst/>
          </a:prstGeom>
        </p:spPr>
      </p:pic>
      <p:sp>
        <p:nvSpPr>
          <p:cNvPr id="36" name="Shape 31"/>
          <p:cNvSpPr/>
          <p:nvPr/>
        </p:nvSpPr>
        <p:spPr>
          <a:xfrm>
            <a:off x="9025128" y="2130552"/>
            <a:ext cx="438912" cy="438912"/>
          </a:xfrm>
          <a:prstGeom prst="ellipse">
            <a:avLst/>
          </a:prstGeom>
          <a:solidFill>
            <a:srgbClr val="C9A227"/>
          </a:solidFill>
          <a:ln/>
        </p:spPr>
      </p:sp>
      <p:sp>
        <p:nvSpPr>
          <p:cNvPr id="37" name="Text 32"/>
          <p:cNvSpPr/>
          <p:nvPr/>
        </p:nvSpPr>
        <p:spPr>
          <a:xfrm>
            <a:off x="9025128" y="21305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8" name="Shape 33"/>
          <p:cNvSpPr/>
          <p:nvPr/>
        </p:nvSpPr>
        <p:spPr>
          <a:xfrm>
            <a:off x="9619488" y="2185416"/>
            <a:ext cx="1325880" cy="329184"/>
          </a:xfrm>
          <a:prstGeom prst="roundRect">
            <a:avLst>
              <a:gd name="adj" fmla="val 50000"/>
            </a:avLst>
          </a:prstGeom>
          <a:solidFill>
            <a:srgbClr val="1A2238"/>
          </a:solidFill>
          <a:ln/>
        </p:spPr>
      </p:sp>
      <p:sp>
        <p:nvSpPr>
          <p:cNvPr id="39" name="Text 34"/>
          <p:cNvSpPr/>
          <p:nvPr/>
        </p:nvSpPr>
        <p:spPr>
          <a:xfrm>
            <a:off x="9619488" y="2185416"/>
            <a:ext cx="13258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2017+</a:t>
            </a:r>
            <a:endParaRPr lang="en-US" sz="1100" dirty="0"/>
          </a:p>
        </p:txBody>
      </p:sp>
      <p:sp>
        <p:nvSpPr>
          <p:cNvPr id="40" name="Shape 35"/>
          <p:cNvSpPr/>
          <p:nvPr/>
        </p:nvSpPr>
        <p:spPr>
          <a:xfrm>
            <a:off x="8979408" y="2834640"/>
            <a:ext cx="2670048" cy="2788920"/>
          </a:xfrm>
          <a:prstGeom prst="roundRect">
            <a:avLst>
              <a:gd name="adj" fmla="val 4110"/>
            </a:avLst>
          </a:prstGeom>
          <a:solidFill>
            <a:srgbClr val="F3F6FC"/>
          </a:solidFill>
          <a:ln/>
          <a:effectLst>
            <a:outerShdw sx="100000" sy="100000" kx="0" ky="0" algn="bl" rotWithShape="0" blurRad="127000" dist="50800" dir="5400000">
              <a:srgbClr val="8A93A6">
                <a:alpha val="13000"/>
              </a:srgbClr>
            </a:outerShdw>
          </a:effectLst>
        </p:spPr>
      </p:sp>
      <p:sp>
        <p:nvSpPr>
          <p:cNvPr id="41" name="Shape 36"/>
          <p:cNvSpPr/>
          <p:nvPr/>
        </p:nvSpPr>
        <p:spPr>
          <a:xfrm>
            <a:off x="9180576" y="3044952"/>
            <a:ext cx="1097280" cy="310896"/>
          </a:xfrm>
          <a:prstGeom prst="roundRect">
            <a:avLst>
              <a:gd name="adj" fmla="val 50000"/>
            </a:avLst>
          </a:prstGeom>
          <a:solidFill>
            <a:srgbClr val="C9A227"/>
          </a:solidFill>
          <a:ln/>
        </p:spPr>
      </p:sp>
      <p:sp>
        <p:nvSpPr>
          <p:cNvPr id="42" name="Text 37"/>
          <p:cNvSpPr/>
          <p:nvPr/>
        </p:nvSpPr>
        <p:spPr>
          <a:xfrm>
            <a:off x="9180576" y="3044952"/>
            <a:ext cx="10972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Run</a:t>
            </a:r>
            <a:endParaRPr lang="en-US" sz="1000" dirty="0"/>
          </a:p>
        </p:txBody>
      </p:sp>
      <p:sp>
        <p:nvSpPr>
          <p:cNvPr id="43" name="Text 38"/>
          <p:cNvSpPr/>
          <p:nvPr/>
        </p:nvSpPr>
        <p:spPr>
          <a:xfrm>
            <a:off x="9180576" y="3447288"/>
            <a:ext cx="2267712" cy="685800"/>
          </a:xfrm>
          <a:prstGeom prst="rect">
            <a:avLst/>
          </a:prstGeom>
          <a:noFill/>
          <a:ln/>
        </p:spPr>
        <p:txBody>
          <a:bodyPr wrap="square" lIns="0" tIns="0" rIns="0" bIns="0" rtlCol="0" anchor="ctr"/>
          <a:lstStyle/>
          <a:p>
            <a:pPr indent="0" marL="0">
              <a:buNone/>
            </a:pPr>
            <a:r>
              <a:rPr lang="en-US" sz="1350" b="1" dirty="0">
                <a:solidFill>
                  <a:srgbClr val="1A2238"/>
                </a:solidFill>
                <a:latin typeface="Cambria" pitchFamily="34" charset="0"/>
                <a:ea typeface="Cambria" pitchFamily="34" charset="-122"/>
                <a:cs typeface="Cambria" pitchFamily="34" charset="-120"/>
              </a:rPr>
              <a:t>A store for every customer</a:t>
            </a:r>
            <a:endParaRPr lang="en-US" sz="1350" dirty="0"/>
          </a:p>
        </p:txBody>
      </p:sp>
      <p:sp>
        <p:nvSpPr>
          <p:cNvPr id="44" name="Text 39"/>
          <p:cNvSpPr/>
          <p:nvPr/>
        </p:nvSpPr>
        <p:spPr>
          <a:xfrm>
            <a:off x="9180576" y="4160520"/>
            <a:ext cx="2267712" cy="1371600"/>
          </a:xfrm>
          <a:prstGeom prst="rect">
            <a:avLst/>
          </a:prstGeom>
          <a:noFill/>
          <a:ln/>
        </p:spPr>
        <p:txBody>
          <a:bodyPr wrap="square" lIns="0" tIns="0" rIns="0" bIns="0" rtlCol="0" anchor="ctr"/>
          <a:lstStyle/>
          <a:p>
            <a:pPr indent="0" marL="0">
              <a:buNone/>
            </a:pPr>
            <a:r>
              <a:rPr lang="en-US" sz="1100" dirty="0">
                <a:solidFill>
                  <a:srgbClr val="5B6478"/>
                </a:solidFill>
                <a:latin typeface="Calibri" pitchFamily="34" charset="0"/>
                <a:ea typeface="Calibri" pitchFamily="34" charset="-122"/>
                <a:cs typeface="Calibri" pitchFamily="34" charset="-120"/>
              </a:rPr>
              <a:t>Two decades of refinement: the whole store personalized per shopper, continuously A/B tested.</a:t>
            </a:r>
            <a:endParaRPr lang="en-US" sz="1100" dirty="0"/>
          </a:p>
        </p:txBody>
      </p:sp>
      <p:sp>
        <p:nvSpPr>
          <p:cNvPr id="45" name="Text 40"/>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Smith &amp; Linden, “Two Decades of Recommender Systems at Amazon.com,” IEEE Internet Computing (2017); Linden, Smith &amp; York, IEEE Internet Computing (2003).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HOW WE'LL PROVE ROI</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No claim ships without a controlled test</a:t>
            </a:r>
            <a:endParaRPr lang="en-US" sz="2700" dirty="0"/>
          </a:p>
        </p:txBody>
      </p:sp>
      <p:sp>
        <p:nvSpPr>
          <p:cNvPr id="4" name="Shape 2"/>
          <p:cNvSpPr/>
          <p:nvPr/>
        </p:nvSpPr>
        <p:spPr>
          <a:xfrm>
            <a:off x="640080" y="1691640"/>
            <a:ext cx="5486400" cy="3657600"/>
          </a:xfrm>
          <a:prstGeom prst="roundRect">
            <a:avLst>
              <a:gd name="adj" fmla="val 3500"/>
            </a:avLst>
          </a:prstGeom>
          <a:solidFill>
            <a:srgbClr val="F3F6FC"/>
          </a:solidFill>
          <a:ln/>
          <a:effectLst>
            <a:outerShdw sx="100000" sy="100000" kx="0" ky="0" algn="bl" rotWithShape="0" blurRad="127000" dist="50800" dir="5400000">
              <a:srgbClr val="8A93A6">
                <a:alpha val="13000"/>
              </a:srgbClr>
            </a:outerShdw>
          </a:effectLst>
        </p:spPr>
      </p:sp>
      <p:sp>
        <p:nvSpPr>
          <p:cNvPr id="5" name="Text 3"/>
          <p:cNvSpPr/>
          <p:nvPr/>
        </p:nvSpPr>
        <p:spPr>
          <a:xfrm>
            <a:off x="914400" y="1920240"/>
            <a:ext cx="4937760" cy="365760"/>
          </a:xfrm>
          <a:prstGeom prst="rect">
            <a:avLst/>
          </a:prstGeom>
          <a:noFill/>
          <a:ln/>
        </p:spPr>
        <p:txBody>
          <a:bodyPr wrap="square" lIns="0" tIns="0" rIns="0" bIns="0" rtlCol="0" anchor="ctr"/>
          <a:lstStyle/>
          <a:p>
            <a:pPr indent="0" marL="0">
              <a:buNone/>
            </a:pPr>
            <a:r>
              <a:rPr lang="en-US" sz="1600" b="1" dirty="0">
                <a:solidFill>
                  <a:srgbClr val="1A2238"/>
                </a:solidFill>
                <a:latin typeface="Cambria" pitchFamily="34" charset="0"/>
                <a:ea typeface="Cambria" pitchFamily="34" charset="-122"/>
                <a:cs typeface="Cambria" pitchFamily="34" charset="-120"/>
              </a:rPr>
              <a:t>The method</a:t>
            </a:r>
            <a:endParaRPr lang="en-US" sz="1600" dirty="0"/>
          </a:p>
        </p:txBody>
      </p:sp>
      <p:sp>
        <p:nvSpPr>
          <p:cNvPr id="6" name="Shape 4"/>
          <p:cNvSpPr/>
          <p:nvPr/>
        </p:nvSpPr>
        <p:spPr>
          <a:xfrm>
            <a:off x="914400" y="2468880"/>
            <a:ext cx="384048" cy="384048"/>
          </a:xfrm>
          <a:prstGeom prst="ellipse">
            <a:avLst/>
          </a:prstGeom>
          <a:solidFill>
            <a:srgbClr val="1E2761"/>
          </a:solidFill>
          <a:ln/>
        </p:spPr>
      </p:sp>
      <p:sp>
        <p:nvSpPr>
          <p:cNvPr id="7" name="Text 5"/>
          <p:cNvSpPr/>
          <p:nvPr/>
        </p:nvSpPr>
        <p:spPr>
          <a:xfrm>
            <a:off x="91440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44752" y="2423160"/>
            <a:ext cx="4526280" cy="502920"/>
          </a:xfrm>
          <a:prstGeom prst="rect">
            <a:avLst/>
          </a:prstGeom>
          <a:noFill/>
          <a:ln/>
        </p:spPr>
        <p:txBody>
          <a:bodyPr wrap="square" lIns="0" tIns="0" rIns="0" bIns="0" rtlCol="0" anchor="ctr"/>
          <a:lstStyle/>
          <a:p>
            <a:pPr indent="0" marL="0">
              <a:buNone/>
            </a:pPr>
            <a:r>
              <a:rPr lang="en-US" sz="1300" dirty="0">
                <a:solidFill>
                  <a:srgbClr val="1A2238"/>
                </a:solidFill>
                <a:latin typeface="Calibri" pitchFamily="34" charset="0"/>
                <a:ea typeface="Calibri" pitchFamily="34" charset="-122"/>
                <a:cs typeface="Calibri" pitchFamily="34" charset="-120"/>
              </a:rPr>
              <a:t>Show recommendations to a random half of traffic (A/B test)</a:t>
            </a:r>
            <a:endParaRPr lang="en-US" sz="1300" dirty="0"/>
          </a:p>
        </p:txBody>
      </p:sp>
      <p:sp>
        <p:nvSpPr>
          <p:cNvPr id="9" name="Shape 7"/>
          <p:cNvSpPr/>
          <p:nvPr/>
        </p:nvSpPr>
        <p:spPr>
          <a:xfrm>
            <a:off x="914400" y="3145536"/>
            <a:ext cx="384048" cy="384048"/>
          </a:xfrm>
          <a:prstGeom prst="ellipse">
            <a:avLst/>
          </a:prstGeom>
          <a:solidFill>
            <a:srgbClr val="1E2761"/>
          </a:solidFill>
          <a:ln/>
        </p:spPr>
      </p:sp>
      <p:sp>
        <p:nvSpPr>
          <p:cNvPr id="10" name="Text 8"/>
          <p:cNvSpPr/>
          <p:nvPr/>
        </p:nvSpPr>
        <p:spPr>
          <a:xfrm>
            <a:off x="91440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444752" y="3099816"/>
            <a:ext cx="4526280" cy="502920"/>
          </a:xfrm>
          <a:prstGeom prst="rect">
            <a:avLst/>
          </a:prstGeom>
          <a:noFill/>
          <a:ln/>
        </p:spPr>
        <p:txBody>
          <a:bodyPr wrap="square" lIns="0" tIns="0" rIns="0" bIns="0" rtlCol="0" anchor="ctr"/>
          <a:lstStyle/>
          <a:p>
            <a:pPr indent="0" marL="0">
              <a:buNone/>
            </a:pPr>
            <a:r>
              <a:rPr lang="en-US" sz="1300" dirty="0">
                <a:solidFill>
                  <a:srgbClr val="1A2238"/>
                </a:solidFill>
                <a:latin typeface="Calibri" pitchFamily="34" charset="0"/>
                <a:ea typeface="Calibri" pitchFamily="34" charset="-122"/>
                <a:cs typeface="Calibri" pitchFamily="34" charset="-120"/>
              </a:rPr>
              <a:t>Compare against the holdout over a fixed window</a:t>
            </a:r>
            <a:endParaRPr lang="en-US" sz="1300" dirty="0"/>
          </a:p>
        </p:txBody>
      </p:sp>
      <p:sp>
        <p:nvSpPr>
          <p:cNvPr id="12" name="Shape 10"/>
          <p:cNvSpPr/>
          <p:nvPr/>
        </p:nvSpPr>
        <p:spPr>
          <a:xfrm>
            <a:off x="914400" y="3822192"/>
            <a:ext cx="384048" cy="384048"/>
          </a:xfrm>
          <a:prstGeom prst="ellipse">
            <a:avLst/>
          </a:prstGeom>
          <a:solidFill>
            <a:srgbClr val="1E2761"/>
          </a:solidFill>
          <a:ln/>
        </p:spPr>
      </p:sp>
      <p:sp>
        <p:nvSpPr>
          <p:cNvPr id="13" name="Text 11"/>
          <p:cNvSpPr/>
          <p:nvPr/>
        </p:nvSpPr>
        <p:spPr>
          <a:xfrm>
            <a:off x="914400" y="3822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444752" y="3776472"/>
            <a:ext cx="4526280" cy="502920"/>
          </a:xfrm>
          <a:prstGeom prst="rect">
            <a:avLst/>
          </a:prstGeom>
          <a:noFill/>
          <a:ln/>
        </p:spPr>
        <p:txBody>
          <a:bodyPr wrap="square" lIns="0" tIns="0" rIns="0" bIns="0" rtlCol="0" anchor="ctr"/>
          <a:lstStyle/>
          <a:p>
            <a:pPr indent="0" marL="0">
              <a:buNone/>
            </a:pPr>
            <a:r>
              <a:rPr lang="en-US" sz="1300" dirty="0">
                <a:solidFill>
                  <a:srgbClr val="1A2238"/>
                </a:solidFill>
                <a:latin typeface="Calibri" pitchFamily="34" charset="0"/>
                <a:ea typeface="Calibri" pitchFamily="34" charset="-122"/>
                <a:cs typeface="Calibri" pitchFamily="34" charset="-120"/>
              </a:rPr>
              <a:t>Measure conversion, AOV, and revenue per session</a:t>
            </a:r>
            <a:endParaRPr lang="en-US" sz="1300" dirty="0"/>
          </a:p>
        </p:txBody>
      </p:sp>
      <p:sp>
        <p:nvSpPr>
          <p:cNvPr id="15" name="Shape 13"/>
          <p:cNvSpPr/>
          <p:nvPr/>
        </p:nvSpPr>
        <p:spPr>
          <a:xfrm>
            <a:off x="914400" y="4498848"/>
            <a:ext cx="384048" cy="384048"/>
          </a:xfrm>
          <a:prstGeom prst="ellipse">
            <a:avLst/>
          </a:prstGeom>
          <a:solidFill>
            <a:srgbClr val="1E2761"/>
          </a:solidFill>
          <a:ln/>
        </p:spPr>
      </p:sp>
      <p:sp>
        <p:nvSpPr>
          <p:cNvPr id="16" name="Text 14"/>
          <p:cNvSpPr/>
          <p:nvPr/>
        </p:nvSpPr>
        <p:spPr>
          <a:xfrm>
            <a:off x="91440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444752" y="4453128"/>
            <a:ext cx="4526280" cy="502920"/>
          </a:xfrm>
          <a:prstGeom prst="rect">
            <a:avLst/>
          </a:prstGeom>
          <a:noFill/>
          <a:ln/>
        </p:spPr>
        <p:txBody>
          <a:bodyPr wrap="square" lIns="0" tIns="0" rIns="0" bIns="0" rtlCol="0" anchor="ctr"/>
          <a:lstStyle/>
          <a:p>
            <a:pPr indent="0" marL="0">
              <a:buNone/>
            </a:pPr>
            <a:r>
              <a:rPr lang="en-US" sz="1300" dirty="0">
                <a:solidFill>
                  <a:srgbClr val="1A2238"/>
                </a:solidFill>
                <a:latin typeface="Calibri" pitchFamily="34" charset="0"/>
                <a:ea typeface="Calibri" pitchFamily="34" charset="-122"/>
                <a:cs typeface="Calibri" pitchFamily="34" charset="-120"/>
              </a:rPr>
              <a:t>Roll out only if lift is positive and statistically sound</a:t>
            </a:r>
            <a:endParaRPr lang="en-US" sz="1300" dirty="0"/>
          </a:p>
        </p:txBody>
      </p:sp>
      <p:sp>
        <p:nvSpPr>
          <p:cNvPr id="18" name="Shape 16"/>
          <p:cNvSpPr/>
          <p:nvPr/>
        </p:nvSpPr>
        <p:spPr>
          <a:xfrm>
            <a:off x="6446520" y="1691640"/>
            <a:ext cx="5120640" cy="3657600"/>
          </a:xfrm>
          <a:prstGeom prst="roundRect">
            <a:avLst>
              <a:gd name="adj" fmla="val 3000"/>
            </a:avLst>
          </a:prstGeom>
          <a:solidFill>
            <a:srgbClr val="FFFFFF"/>
          </a:solidFill>
          <a:ln/>
          <a:effectLst>
            <a:outerShdw sx="100000" sy="100000" kx="0" ky="0" algn="bl" rotWithShape="0" blurRad="127000" dist="50800" dir="5400000">
              <a:srgbClr val="8A93A6">
                <a:alpha val="13000"/>
              </a:srgbClr>
            </a:outerShdw>
          </a:effectLst>
        </p:spPr>
      </p:sp>
      <p:sp>
        <p:nvSpPr>
          <p:cNvPr id="19" name="Shape 17"/>
          <p:cNvSpPr/>
          <p:nvPr/>
        </p:nvSpPr>
        <p:spPr>
          <a:xfrm>
            <a:off x="6446520" y="1691640"/>
            <a:ext cx="5120640" cy="3657600"/>
          </a:xfrm>
          <a:prstGeom prst="roundRect">
            <a:avLst>
              <a:gd name="adj" fmla="val 3000"/>
            </a:avLst>
          </a:prstGeom>
          <a:solidFill>
            <a:srgbClr val="FFFFFF">
              <a:alpha val="0"/>
            </a:srgbClr>
          </a:solidFill>
          <a:ln w="12700">
            <a:solidFill>
              <a:srgbClr val="DCE3F0"/>
            </a:solidFill>
            <a:prstDash val="solid"/>
          </a:ln>
        </p:spPr>
      </p:sp>
      <p:sp>
        <p:nvSpPr>
          <p:cNvPr id="20" name="Text 18"/>
          <p:cNvSpPr/>
          <p:nvPr/>
        </p:nvSpPr>
        <p:spPr>
          <a:xfrm>
            <a:off x="6766560" y="1920240"/>
            <a:ext cx="4480560" cy="320040"/>
          </a:xfrm>
          <a:prstGeom prst="rect">
            <a:avLst/>
          </a:prstGeom>
          <a:noFill/>
          <a:ln/>
        </p:spPr>
        <p:txBody>
          <a:bodyPr wrap="square" lIns="0" tIns="0" rIns="0" bIns="0" rtlCol="0" anchor="ctr"/>
          <a:lstStyle/>
          <a:p>
            <a:pPr indent="0" marL="0">
              <a:buNone/>
            </a:pPr>
            <a:r>
              <a:rPr lang="en-US" sz="1350" b="1" dirty="0">
                <a:solidFill>
                  <a:srgbClr val="1A2238"/>
                </a:solidFill>
                <a:latin typeface="Calibri" pitchFamily="34" charset="0"/>
                <a:ea typeface="Calibri" pitchFamily="34" charset="-122"/>
                <a:cs typeface="Calibri" pitchFamily="34" charset="-120"/>
              </a:rPr>
              <a:t>What “good” looks like (published benchmark)</a:t>
            </a:r>
            <a:endParaRPr lang="en-US" sz="1350" dirty="0"/>
          </a:p>
        </p:txBody>
      </p:sp>
      <p:graphicFrame>
        <p:nvGraphicFramePr>
          <p:cNvPr id="21" name="Chart 0" descr=""/>
          <p:cNvGraphicFramePr/>
          <p:nvPr/>
        </p:nvGraphicFramePr>
        <p:xfrm>
          <a:off x="6675120" y="2331720"/>
          <a:ext cx="4663440" cy="23317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766560" y="4800600"/>
            <a:ext cx="4480560" cy="457200"/>
          </a:xfrm>
          <a:prstGeom prst="rect">
            <a:avLst/>
          </a:prstGeom>
          <a:noFill/>
          <a:ln/>
        </p:spPr>
        <p:txBody>
          <a:bodyPr wrap="square" lIns="0" tIns="0" rIns="0" bIns="0"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Personalization revenue-lift range — McKinsey (2021): most often 10–15%, sector range 5–25%.</a:t>
            </a:r>
            <a:endParaRPr lang="en-US" sz="1050" dirty="0"/>
          </a:p>
        </p:txBody>
      </p:sp>
      <p:sp>
        <p:nvSpPr>
          <p:cNvPr id="23" name="Text 20"/>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 McKinsey &amp; Company, “The value of getting personalization right—or wrong—is multiplying,” 2021.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3A"/>
        </a:solidFill>
      </p:bgPr>
    </p:bg>
    <p:spTree>
      <p:nvGrpSpPr>
        <p:cNvPr id="1" name=""/>
        <p:cNvGrpSpPr/>
        <p:nvPr/>
      </p:nvGrpSpPr>
      <p:grpSpPr>
        <a:xfrm>
          <a:off x="0" y="0"/>
          <a:ext cx="0" cy="0"/>
          <a:chOff x="0" y="0"/>
          <a:chExt cx="0" cy="0"/>
        </a:xfrm>
      </p:grpSpPr>
      <p:sp>
        <p:nvSpPr>
          <p:cNvPr id="2" name="Text 0"/>
          <p:cNvSpPr/>
          <p:nvPr/>
        </p:nvSpPr>
        <p:spPr>
          <a:xfrm>
            <a:off x="777240" y="640080"/>
            <a:ext cx="10607040" cy="365760"/>
          </a:xfrm>
          <a:prstGeom prst="rect">
            <a:avLst/>
          </a:prstGeom>
          <a:noFill/>
          <a:ln/>
        </p:spPr>
        <p:txBody>
          <a:bodyPr wrap="square" lIns="0" tIns="0" rIns="0" bIns="0"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THE ASK</a:t>
            </a:r>
            <a:endParaRPr lang="en-US" sz="1400" dirty="0"/>
          </a:p>
        </p:txBody>
      </p:sp>
      <p:sp>
        <p:nvSpPr>
          <p:cNvPr id="3" name="Text 1"/>
          <p:cNvSpPr/>
          <p:nvPr/>
        </p:nvSpPr>
        <p:spPr>
          <a:xfrm>
            <a:off x="749808" y="960120"/>
            <a:ext cx="10607040" cy="594360"/>
          </a:xfrm>
          <a:prstGeom prst="rect">
            <a:avLst/>
          </a:prstGeom>
          <a:noFill/>
          <a:ln/>
        </p:spPr>
        <p:txBody>
          <a:bodyPr wrap="square" lIns="0" tIns="0" rIns="0" bIns="0" rtlCol="0" anchor="ctr"/>
          <a:lstStyle/>
          <a:p>
            <a:pPr indent="0" marL="0">
              <a:buNone/>
            </a:pPr>
            <a:r>
              <a:rPr lang="en-US" sz="2800" b="1" dirty="0">
                <a:solidFill>
                  <a:srgbClr val="EAF0FB"/>
                </a:solidFill>
                <a:latin typeface="Cambria" pitchFamily="34" charset="0"/>
                <a:ea typeface="Cambria" pitchFamily="34" charset="-122"/>
                <a:cs typeface="Cambria" pitchFamily="34" charset="-120"/>
              </a:rPr>
              <a:t>What we'd like to move forward</a:t>
            </a:r>
            <a:endParaRPr lang="en-US" sz="2800" dirty="0"/>
          </a:p>
        </p:txBody>
      </p:sp>
      <p:sp>
        <p:nvSpPr>
          <p:cNvPr id="4" name="Shape 2"/>
          <p:cNvSpPr/>
          <p:nvPr/>
        </p:nvSpPr>
        <p:spPr>
          <a:xfrm>
            <a:off x="868680" y="1965960"/>
            <a:ext cx="713232" cy="713232"/>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61253" y="2158533"/>
            <a:ext cx="328087" cy="328087"/>
          </a:xfrm>
          <a:prstGeom prst="rect">
            <a:avLst/>
          </a:prstGeom>
        </p:spPr>
      </p:pic>
      <p:sp>
        <p:nvSpPr>
          <p:cNvPr id="6" name="Text 3"/>
          <p:cNvSpPr/>
          <p:nvPr/>
        </p:nvSpPr>
        <p:spPr>
          <a:xfrm>
            <a:off x="1828800" y="1947672"/>
            <a:ext cx="9509760" cy="411480"/>
          </a:xfrm>
          <a:prstGeom prst="rect">
            <a:avLst/>
          </a:prstGeom>
          <a:noFill/>
          <a:ln/>
        </p:spPr>
        <p:txBody>
          <a:bodyPr wrap="square" lIns="0" tIns="0" rIns="0" bIns="0" rtlCol="0" anchor="ctr"/>
          <a:lstStyle/>
          <a:p>
            <a:pPr indent="0" marL="0">
              <a:buNone/>
            </a:pPr>
            <a:r>
              <a:rPr lang="en-US" sz="1900" b="1" dirty="0">
                <a:solidFill>
                  <a:srgbClr val="EAF0FB"/>
                </a:solidFill>
                <a:latin typeface="Cambria" pitchFamily="34" charset="0"/>
                <a:ea typeface="Cambria" pitchFamily="34" charset="-122"/>
                <a:cs typeface="Cambria" pitchFamily="34" charset="-120"/>
              </a:rPr>
              <a:t>Approve a Phase 1 pilot</a:t>
            </a:r>
            <a:endParaRPr lang="en-US" sz="1900" dirty="0"/>
          </a:p>
        </p:txBody>
      </p:sp>
      <p:sp>
        <p:nvSpPr>
          <p:cNvPr id="7" name="Text 4"/>
          <p:cNvSpPr/>
          <p:nvPr/>
        </p:nvSpPr>
        <p:spPr>
          <a:xfrm>
            <a:off x="1828800" y="2386584"/>
            <a:ext cx="9509760" cy="457200"/>
          </a:xfrm>
          <a:prstGeom prst="rect">
            <a:avLst/>
          </a:prstGeom>
          <a:noFill/>
          <a:ln/>
        </p:spPr>
        <p:txBody>
          <a:bodyPr wrap="square" lIns="0" tIns="0" rIns="0" bIns="0" rtlCol="0" anchor="ctr"/>
          <a:lstStyle/>
          <a:p>
            <a:pPr indent="0" marL="0">
              <a:buNone/>
            </a:pPr>
            <a:r>
              <a:rPr lang="en-US" sz="1350" dirty="0">
                <a:solidFill>
                  <a:srgbClr val="EAF0FB"/>
                </a:solidFill>
                <a:latin typeface="Calibri" pitchFamily="34" charset="0"/>
                <a:ea typeface="Calibri" pitchFamily="34" charset="-122"/>
                <a:cs typeface="Calibri" pitchFamily="34" charset="-120"/>
              </a:rPr>
              <a:t>A scoped, time-boxed test on one or two high-traffic surfaces.</a:t>
            </a:r>
            <a:endParaRPr lang="en-US" sz="1350" dirty="0"/>
          </a:p>
        </p:txBody>
      </p:sp>
      <p:sp>
        <p:nvSpPr>
          <p:cNvPr id="8" name="Shape 5"/>
          <p:cNvSpPr/>
          <p:nvPr/>
        </p:nvSpPr>
        <p:spPr>
          <a:xfrm>
            <a:off x="868680" y="3200400"/>
            <a:ext cx="713232" cy="713232"/>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9" name="Image 1" descr="preencoded.png">    </p:cNvPr>
          <p:cNvPicPr>
            <a:picLocks noChangeAspect="1"/>
          </p:cNvPicPr>
          <p:nvPr/>
        </p:nvPicPr>
        <p:blipFill>
          <a:blip r:embed="rId2"/>
          <a:stretch>
            <a:fillRect/>
          </a:stretch>
        </p:blipFill>
        <p:spPr>
          <a:xfrm>
            <a:off x="1061253" y="3392973"/>
            <a:ext cx="328087" cy="328087"/>
          </a:xfrm>
          <a:prstGeom prst="rect">
            <a:avLst/>
          </a:prstGeom>
        </p:spPr>
      </p:pic>
      <p:sp>
        <p:nvSpPr>
          <p:cNvPr id="10" name="Text 6"/>
          <p:cNvSpPr/>
          <p:nvPr/>
        </p:nvSpPr>
        <p:spPr>
          <a:xfrm>
            <a:off x="1828800" y="3182112"/>
            <a:ext cx="9509760" cy="411480"/>
          </a:xfrm>
          <a:prstGeom prst="rect">
            <a:avLst/>
          </a:prstGeom>
          <a:noFill/>
          <a:ln/>
        </p:spPr>
        <p:txBody>
          <a:bodyPr wrap="square" lIns="0" tIns="0" rIns="0" bIns="0" rtlCol="0" anchor="ctr"/>
          <a:lstStyle/>
          <a:p>
            <a:pPr indent="0" marL="0">
              <a:buNone/>
            </a:pPr>
            <a:r>
              <a:rPr lang="en-US" sz="1900" b="1" dirty="0">
                <a:solidFill>
                  <a:srgbClr val="EAF0FB"/>
                </a:solidFill>
                <a:latin typeface="Cambria" pitchFamily="34" charset="0"/>
                <a:ea typeface="Cambria" pitchFamily="34" charset="-122"/>
                <a:cs typeface="Cambria" pitchFamily="34" charset="-120"/>
              </a:rPr>
              <a:t>Fund the team &amp; tooling</a:t>
            </a:r>
            <a:endParaRPr lang="en-US" sz="1900" dirty="0"/>
          </a:p>
        </p:txBody>
      </p:sp>
      <p:sp>
        <p:nvSpPr>
          <p:cNvPr id="11" name="Text 7"/>
          <p:cNvSpPr/>
          <p:nvPr/>
        </p:nvSpPr>
        <p:spPr>
          <a:xfrm>
            <a:off x="1828800" y="3621024"/>
            <a:ext cx="9509760" cy="457200"/>
          </a:xfrm>
          <a:prstGeom prst="rect">
            <a:avLst/>
          </a:prstGeom>
          <a:noFill/>
          <a:ln/>
        </p:spPr>
        <p:txBody>
          <a:bodyPr wrap="square" lIns="0" tIns="0" rIns="0" bIns="0" rtlCol="0" anchor="ctr"/>
          <a:lstStyle/>
          <a:p>
            <a:pPr indent="0" marL="0">
              <a:buNone/>
            </a:pPr>
            <a:r>
              <a:rPr lang="en-US" sz="1350" dirty="0">
                <a:solidFill>
                  <a:srgbClr val="EAF0FB"/>
                </a:solidFill>
                <a:latin typeface="Calibri" pitchFamily="34" charset="0"/>
                <a:ea typeface="Calibri" pitchFamily="34" charset="-122"/>
                <a:cs typeface="Calibri" pitchFamily="34" charset="-120"/>
              </a:rPr>
              <a:t>A small cross-functional team plus experimentation tooling.</a:t>
            </a:r>
            <a:endParaRPr lang="en-US" sz="1350" dirty="0"/>
          </a:p>
        </p:txBody>
      </p:sp>
      <p:sp>
        <p:nvSpPr>
          <p:cNvPr id="12" name="Shape 8"/>
          <p:cNvSpPr/>
          <p:nvPr/>
        </p:nvSpPr>
        <p:spPr>
          <a:xfrm>
            <a:off x="868680" y="4434840"/>
            <a:ext cx="713232" cy="713232"/>
          </a:xfrm>
          <a:prstGeom prst="ellipse">
            <a:avLst/>
          </a:prstGeom>
          <a:solidFill>
            <a:srgbClr val="C9A227"/>
          </a:solidFill>
          <a:ln/>
          <a:effectLst>
            <a:outerShdw sx="100000" sy="100000" kx="0" ky="0" algn="bl" rotWithShape="0" blurRad="127000" dist="50800" dir="5400000">
              <a:srgbClr val="8A93A6">
                <a:alpha val="13000"/>
              </a:srgbClr>
            </a:outerShdw>
          </a:effectLst>
        </p:spPr>
      </p:sp>
      <p:pic>
        <p:nvPicPr>
          <p:cNvPr id="13" name="Image 2" descr="preencoded.png">    </p:cNvPr>
          <p:cNvPicPr>
            <a:picLocks noChangeAspect="1"/>
          </p:cNvPicPr>
          <p:nvPr/>
        </p:nvPicPr>
        <p:blipFill>
          <a:blip r:embed="rId3"/>
          <a:stretch>
            <a:fillRect/>
          </a:stretch>
        </p:blipFill>
        <p:spPr>
          <a:xfrm>
            <a:off x="1061253" y="4627413"/>
            <a:ext cx="328087" cy="328087"/>
          </a:xfrm>
          <a:prstGeom prst="rect">
            <a:avLst/>
          </a:prstGeom>
        </p:spPr>
      </p:pic>
      <p:sp>
        <p:nvSpPr>
          <p:cNvPr id="14" name="Text 9"/>
          <p:cNvSpPr/>
          <p:nvPr/>
        </p:nvSpPr>
        <p:spPr>
          <a:xfrm>
            <a:off x="1828800" y="4416552"/>
            <a:ext cx="9509760" cy="411480"/>
          </a:xfrm>
          <a:prstGeom prst="rect">
            <a:avLst/>
          </a:prstGeom>
          <a:noFill/>
          <a:ln/>
        </p:spPr>
        <p:txBody>
          <a:bodyPr wrap="square" lIns="0" tIns="0" rIns="0" bIns="0" rtlCol="0" anchor="ctr"/>
          <a:lstStyle/>
          <a:p>
            <a:pPr indent="0" marL="0">
              <a:buNone/>
            </a:pPr>
            <a:r>
              <a:rPr lang="en-US" sz="1900" b="1" dirty="0">
                <a:solidFill>
                  <a:srgbClr val="EAF0FB"/>
                </a:solidFill>
                <a:latin typeface="Cambria" pitchFamily="34" charset="0"/>
                <a:ea typeface="Cambria" pitchFamily="34" charset="-122"/>
                <a:cs typeface="Cambria" pitchFamily="34" charset="-120"/>
              </a:rPr>
              <a:t>Agree success criteria</a:t>
            </a:r>
            <a:endParaRPr lang="en-US" sz="1900" dirty="0"/>
          </a:p>
        </p:txBody>
      </p:sp>
      <p:sp>
        <p:nvSpPr>
          <p:cNvPr id="15" name="Text 10"/>
          <p:cNvSpPr/>
          <p:nvPr/>
        </p:nvSpPr>
        <p:spPr>
          <a:xfrm>
            <a:off x="1828800" y="4855464"/>
            <a:ext cx="9509760" cy="457200"/>
          </a:xfrm>
          <a:prstGeom prst="rect">
            <a:avLst/>
          </a:prstGeom>
          <a:noFill/>
          <a:ln/>
        </p:spPr>
        <p:txBody>
          <a:bodyPr wrap="square" lIns="0" tIns="0" rIns="0" bIns="0" rtlCol="0" anchor="ctr"/>
          <a:lstStyle/>
          <a:p>
            <a:pPr indent="0" marL="0">
              <a:buNone/>
            </a:pPr>
            <a:r>
              <a:rPr lang="en-US" sz="1350" dirty="0">
                <a:solidFill>
                  <a:srgbClr val="EAF0FB"/>
                </a:solidFill>
                <a:latin typeface="Calibri" pitchFamily="34" charset="0"/>
                <a:ea typeface="Calibri" pitchFamily="34" charset="-122"/>
                <a:cs typeface="Calibri" pitchFamily="34" charset="-120"/>
              </a:rPr>
              <a:t>A clear lift target (benchmark: McKinsey 5–15%) that gates Phase 2.</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03A"/>
        </a:solidFill>
      </p:bgPr>
    </p:bg>
    <p:spTree>
      <p:nvGrpSpPr>
        <p:cNvPr id="1" name=""/>
        <p:cNvGrpSpPr/>
        <p:nvPr/>
      </p:nvGrpSpPr>
      <p:grpSpPr>
        <a:xfrm>
          <a:off x="0" y="0"/>
          <a:ext cx="0" cy="0"/>
          <a:chOff x="0" y="0"/>
          <a:chExt cx="0" cy="0"/>
        </a:xfrm>
      </p:grpSpPr>
      <p:sp>
        <p:nvSpPr>
          <p:cNvPr id="2" name="Text 0"/>
          <p:cNvSpPr/>
          <p:nvPr/>
        </p:nvSpPr>
        <p:spPr>
          <a:xfrm>
            <a:off x="777240" y="640080"/>
            <a:ext cx="10607040" cy="365760"/>
          </a:xfrm>
          <a:prstGeom prst="rect">
            <a:avLst/>
          </a:prstGeom>
          <a:noFill/>
          <a:ln/>
        </p:spPr>
        <p:txBody>
          <a:bodyPr wrap="square" lIns="0" tIns="0" rIns="0" bIns="0"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KEY TAKEAWAYS</a:t>
            </a:r>
            <a:endParaRPr lang="en-US" sz="1400" dirty="0"/>
          </a:p>
        </p:txBody>
      </p:sp>
      <p:sp>
        <p:nvSpPr>
          <p:cNvPr id="3" name="Text 1"/>
          <p:cNvSpPr/>
          <p:nvPr/>
        </p:nvSpPr>
        <p:spPr>
          <a:xfrm>
            <a:off x="749808" y="960120"/>
            <a:ext cx="10607040" cy="594360"/>
          </a:xfrm>
          <a:prstGeom prst="rect">
            <a:avLst/>
          </a:prstGeom>
          <a:noFill/>
          <a:ln/>
        </p:spPr>
        <p:txBody>
          <a:bodyPr wrap="square" lIns="0" tIns="0" rIns="0" bIns="0" rtlCol="0" anchor="ctr"/>
          <a:lstStyle/>
          <a:p>
            <a:pPr indent="0" marL="0">
              <a:buNone/>
            </a:pPr>
            <a:r>
              <a:rPr lang="en-US" sz="2700" b="1" dirty="0">
                <a:solidFill>
                  <a:srgbClr val="EAF0FB"/>
                </a:solidFill>
                <a:latin typeface="Cambria" pitchFamily="34" charset="0"/>
                <a:ea typeface="Cambria" pitchFamily="34" charset="-122"/>
                <a:cs typeface="Cambria" pitchFamily="34" charset="-120"/>
              </a:rPr>
              <a:t>What to carry out of this session</a:t>
            </a:r>
            <a:endParaRPr lang="en-US" sz="2700" dirty="0"/>
          </a:p>
        </p:txBody>
      </p:sp>
      <p:sp>
        <p:nvSpPr>
          <p:cNvPr id="4" name="Shape 2"/>
          <p:cNvSpPr/>
          <p:nvPr/>
        </p:nvSpPr>
        <p:spPr>
          <a:xfrm>
            <a:off x="777240" y="1874520"/>
            <a:ext cx="438912" cy="438912"/>
          </a:xfrm>
          <a:prstGeom prst="ellipse">
            <a:avLst/>
          </a:prstGeom>
          <a:solidFill>
            <a:srgbClr val="C9A227"/>
          </a:solidFill>
          <a:ln/>
        </p:spPr>
      </p:sp>
      <p:sp>
        <p:nvSpPr>
          <p:cNvPr id="5" name="Text 3"/>
          <p:cNvSpPr/>
          <p:nvPr/>
        </p:nvSpPr>
        <p:spPr>
          <a:xfrm>
            <a:off x="777240" y="1874520"/>
            <a:ext cx="438912" cy="438912"/>
          </a:xfrm>
          <a:prstGeom prst="rect">
            <a:avLst/>
          </a:prstGeom>
          <a:noFill/>
          <a:ln/>
        </p:spPr>
        <p:txBody>
          <a:bodyPr wrap="square" lIns="0" tIns="0" rIns="0" bIns="0" rtlCol="0" anchor="ctr"/>
          <a:lstStyle/>
          <a:p>
            <a:pPr algn="ctr" indent="0" marL="0">
              <a:buNone/>
            </a:pPr>
            <a:r>
              <a:rPr lang="en-US" sz="1500" b="1" dirty="0">
                <a:solidFill>
                  <a:srgbClr val="16203A"/>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417320" y="1828800"/>
            <a:ext cx="10058400" cy="548640"/>
          </a:xfrm>
          <a:prstGeom prst="rect">
            <a:avLst/>
          </a:prstGeom>
          <a:noFill/>
          <a:ln/>
        </p:spPr>
        <p:txBody>
          <a:bodyPr wrap="square" lIns="0" tIns="0" rIns="0" bIns="0" rtlCol="0" anchor="ctr"/>
          <a:lstStyle/>
          <a:p>
            <a:pPr indent="0" marL="0">
              <a:buNone/>
            </a:pPr>
            <a:r>
              <a:rPr lang="en-US" sz="1550" dirty="0">
                <a:solidFill>
                  <a:srgbClr val="EAF0FB"/>
                </a:solidFill>
                <a:latin typeface="Calibri" pitchFamily="34" charset="0"/>
                <a:ea typeface="Calibri" pitchFamily="34" charset="-122"/>
                <a:cs typeface="Calibri" pitchFamily="34" charset="-120"/>
              </a:rPr>
              <a:t>Recommendations turn a vast catalog into a personal storefront</a:t>
            </a:r>
            <a:endParaRPr lang="en-US" sz="1550" dirty="0"/>
          </a:p>
        </p:txBody>
      </p:sp>
      <p:sp>
        <p:nvSpPr>
          <p:cNvPr id="7" name="Shape 5"/>
          <p:cNvSpPr/>
          <p:nvPr/>
        </p:nvSpPr>
        <p:spPr>
          <a:xfrm>
            <a:off x="777240" y="2532888"/>
            <a:ext cx="438912" cy="438912"/>
          </a:xfrm>
          <a:prstGeom prst="ellipse">
            <a:avLst/>
          </a:prstGeom>
          <a:solidFill>
            <a:srgbClr val="C9A227"/>
          </a:solidFill>
          <a:ln/>
        </p:spPr>
      </p:sp>
      <p:sp>
        <p:nvSpPr>
          <p:cNvPr id="8" name="Text 6"/>
          <p:cNvSpPr/>
          <p:nvPr/>
        </p:nvSpPr>
        <p:spPr>
          <a:xfrm>
            <a:off x="777240" y="2532888"/>
            <a:ext cx="438912" cy="438912"/>
          </a:xfrm>
          <a:prstGeom prst="rect">
            <a:avLst/>
          </a:prstGeom>
          <a:noFill/>
          <a:ln/>
        </p:spPr>
        <p:txBody>
          <a:bodyPr wrap="square" lIns="0" tIns="0" rIns="0" bIns="0" rtlCol="0" anchor="ctr"/>
          <a:lstStyle/>
          <a:p>
            <a:pPr algn="ctr" indent="0" marL="0">
              <a:buNone/>
            </a:pPr>
            <a:r>
              <a:rPr lang="en-US" sz="1500" b="1" dirty="0">
                <a:solidFill>
                  <a:srgbClr val="16203A"/>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417320" y="2487168"/>
            <a:ext cx="10058400" cy="548640"/>
          </a:xfrm>
          <a:prstGeom prst="rect">
            <a:avLst/>
          </a:prstGeom>
          <a:noFill/>
          <a:ln/>
        </p:spPr>
        <p:txBody>
          <a:bodyPr wrap="square" lIns="0" tIns="0" rIns="0" bIns="0" rtlCol="0" anchor="ctr"/>
          <a:lstStyle/>
          <a:p>
            <a:pPr indent="0" marL="0">
              <a:buNone/>
            </a:pPr>
            <a:r>
              <a:rPr lang="en-US" sz="1550" dirty="0">
                <a:solidFill>
                  <a:srgbClr val="EAF0FB"/>
                </a:solidFill>
                <a:latin typeface="Calibri" pitchFamily="34" charset="0"/>
                <a:ea typeface="Calibri" pitchFamily="34" charset="-122"/>
                <a:cs typeface="Calibri" pitchFamily="34" charset="-120"/>
              </a:rPr>
              <a:t>Published research: personalization typically lifts revenue 5–15% (McKinsey)</a:t>
            </a:r>
            <a:endParaRPr lang="en-US" sz="1550" dirty="0"/>
          </a:p>
        </p:txBody>
      </p:sp>
      <p:sp>
        <p:nvSpPr>
          <p:cNvPr id="10" name="Shape 8"/>
          <p:cNvSpPr/>
          <p:nvPr/>
        </p:nvSpPr>
        <p:spPr>
          <a:xfrm>
            <a:off x="777240" y="3191256"/>
            <a:ext cx="438912" cy="438912"/>
          </a:xfrm>
          <a:prstGeom prst="ellipse">
            <a:avLst/>
          </a:prstGeom>
          <a:solidFill>
            <a:srgbClr val="C9A227"/>
          </a:solidFill>
          <a:ln/>
        </p:spPr>
      </p:sp>
      <p:sp>
        <p:nvSpPr>
          <p:cNvPr id="11" name="Text 9"/>
          <p:cNvSpPr/>
          <p:nvPr/>
        </p:nvSpPr>
        <p:spPr>
          <a:xfrm>
            <a:off x="777240" y="3191256"/>
            <a:ext cx="438912" cy="438912"/>
          </a:xfrm>
          <a:prstGeom prst="rect">
            <a:avLst/>
          </a:prstGeom>
          <a:noFill/>
          <a:ln/>
        </p:spPr>
        <p:txBody>
          <a:bodyPr wrap="square" lIns="0" tIns="0" rIns="0" bIns="0" rtlCol="0" anchor="ctr"/>
          <a:lstStyle/>
          <a:p>
            <a:pPr algn="ctr" indent="0" marL="0">
              <a:buNone/>
            </a:pPr>
            <a:r>
              <a:rPr lang="en-US" sz="1500" b="1" dirty="0">
                <a:solidFill>
                  <a:srgbClr val="16203A"/>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417320" y="3145536"/>
            <a:ext cx="10058400" cy="548640"/>
          </a:xfrm>
          <a:prstGeom prst="rect">
            <a:avLst/>
          </a:prstGeom>
          <a:noFill/>
          <a:ln/>
        </p:spPr>
        <p:txBody>
          <a:bodyPr wrap="square" lIns="0" tIns="0" rIns="0" bIns="0" rtlCol="0" anchor="ctr"/>
          <a:lstStyle/>
          <a:p>
            <a:pPr indent="0" marL="0">
              <a:buNone/>
            </a:pPr>
            <a:r>
              <a:rPr lang="en-US" sz="1550" dirty="0">
                <a:solidFill>
                  <a:srgbClr val="EAF0FB"/>
                </a:solidFill>
                <a:latin typeface="Calibri" pitchFamily="34" charset="0"/>
                <a:ea typeface="Calibri" pitchFamily="34" charset="-122"/>
                <a:cs typeface="Calibri" pitchFamily="34" charset="-120"/>
              </a:rPr>
              <a:t>Market leaders (Amazon, Taobao, JD.com) treat them as core infrastructure</a:t>
            </a:r>
            <a:endParaRPr lang="en-US" sz="1550" dirty="0"/>
          </a:p>
        </p:txBody>
      </p:sp>
      <p:sp>
        <p:nvSpPr>
          <p:cNvPr id="13" name="Shape 11"/>
          <p:cNvSpPr/>
          <p:nvPr/>
        </p:nvSpPr>
        <p:spPr>
          <a:xfrm>
            <a:off x="777240" y="3849624"/>
            <a:ext cx="438912" cy="438912"/>
          </a:xfrm>
          <a:prstGeom prst="ellipse">
            <a:avLst/>
          </a:prstGeom>
          <a:solidFill>
            <a:srgbClr val="C9A227"/>
          </a:solidFill>
          <a:ln/>
        </p:spPr>
      </p:sp>
      <p:sp>
        <p:nvSpPr>
          <p:cNvPr id="14" name="Text 12"/>
          <p:cNvSpPr/>
          <p:nvPr/>
        </p:nvSpPr>
        <p:spPr>
          <a:xfrm>
            <a:off x="777240" y="3849624"/>
            <a:ext cx="438912" cy="438912"/>
          </a:xfrm>
          <a:prstGeom prst="rect">
            <a:avLst/>
          </a:prstGeom>
          <a:noFill/>
          <a:ln/>
        </p:spPr>
        <p:txBody>
          <a:bodyPr wrap="square" lIns="0" tIns="0" rIns="0" bIns="0" rtlCol="0" anchor="ctr"/>
          <a:lstStyle/>
          <a:p>
            <a:pPr algn="ctr" indent="0" marL="0">
              <a:buNone/>
            </a:pPr>
            <a:r>
              <a:rPr lang="en-US" sz="1500" b="1" dirty="0">
                <a:solidFill>
                  <a:srgbClr val="16203A"/>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417320" y="3803904"/>
            <a:ext cx="10058400" cy="548640"/>
          </a:xfrm>
          <a:prstGeom prst="rect">
            <a:avLst/>
          </a:prstGeom>
          <a:noFill/>
          <a:ln/>
        </p:spPr>
        <p:txBody>
          <a:bodyPr wrap="square" lIns="0" tIns="0" rIns="0" bIns="0" rtlCol="0" anchor="ctr"/>
          <a:lstStyle/>
          <a:p>
            <a:pPr indent="0" marL="0">
              <a:buNone/>
            </a:pPr>
            <a:r>
              <a:rPr lang="en-US" sz="1550" dirty="0">
                <a:solidFill>
                  <a:srgbClr val="EAF0FB"/>
                </a:solidFill>
                <a:latin typeface="Calibri" pitchFamily="34" charset="0"/>
                <a:ea typeface="Calibri" pitchFamily="34" charset="-122"/>
                <a:cs typeface="Calibri" pitchFamily="34" charset="-120"/>
              </a:rPr>
              <a:t>Phase the investment along Amazon's proven crawl → walk → run path</a:t>
            </a:r>
            <a:endParaRPr lang="en-US" sz="1550" dirty="0"/>
          </a:p>
        </p:txBody>
      </p:sp>
      <p:sp>
        <p:nvSpPr>
          <p:cNvPr id="16" name="Shape 14"/>
          <p:cNvSpPr/>
          <p:nvPr/>
        </p:nvSpPr>
        <p:spPr>
          <a:xfrm>
            <a:off x="777240" y="4507992"/>
            <a:ext cx="438912" cy="438912"/>
          </a:xfrm>
          <a:prstGeom prst="ellipse">
            <a:avLst/>
          </a:prstGeom>
          <a:solidFill>
            <a:srgbClr val="C9A227"/>
          </a:solidFill>
          <a:ln/>
        </p:spPr>
      </p:sp>
      <p:sp>
        <p:nvSpPr>
          <p:cNvPr id="17" name="Text 15"/>
          <p:cNvSpPr/>
          <p:nvPr/>
        </p:nvSpPr>
        <p:spPr>
          <a:xfrm>
            <a:off x="777240" y="4507992"/>
            <a:ext cx="438912" cy="438912"/>
          </a:xfrm>
          <a:prstGeom prst="rect">
            <a:avLst/>
          </a:prstGeom>
          <a:noFill/>
          <a:ln/>
        </p:spPr>
        <p:txBody>
          <a:bodyPr wrap="square" lIns="0" tIns="0" rIns="0" bIns="0" rtlCol="0" anchor="ctr"/>
          <a:lstStyle/>
          <a:p>
            <a:pPr algn="ctr" indent="0" marL="0">
              <a:buNone/>
            </a:pPr>
            <a:r>
              <a:rPr lang="en-US" sz="1500" b="1" dirty="0">
                <a:solidFill>
                  <a:srgbClr val="16203A"/>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417320" y="4462272"/>
            <a:ext cx="10058400" cy="548640"/>
          </a:xfrm>
          <a:prstGeom prst="rect">
            <a:avLst/>
          </a:prstGeom>
          <a:noFill/>
          <a:ln/>
        </p:spPr>
        <p:txBody>
          <a:bodyPr wrap="square" lIns="0" tIns="0" rIns="0" bIns="0" rtlCol="0" anchor="ctr"/>
          <a:lstStyle/>
          <a:p>
            <a:pPr indent="0" marL="0">
              <a:buNone/>
            </a:pPr>
            <a:r>
              <a:rPr lang="en-US" sz="1550" dirty="0">
                <a:solidFill>
                  <a:srgbClr val="EAF0FB"/>
                </a:solidFill>
                <a:latin typeface="Calibri" pitchFamily="34" charset="0"/>
                <a:ea typeface="Calibri" pitchFamily="34" charset="-122"/>
                <a:cs typeface="Calibri" pitchFamily="34" charset="-120"/>
              </a:rPr>
              <a:t>Prove every claim with A/B tests; manage privacy, bias, and fairness</a:t>
            </a:r>
            <a:endParaRPr lang="en-US" sz="1550" dirty="0"/>
          </a:p>
        </p:txBody>
      </p:sp>
      <p:sp>
        <p:nvSpPr>
          <p:cNvPr id="19" name="Shape 17"/>
          <p:cNvSpPr/>
          <p:nvPr/>
        </p:nvSpPr>
        <p:spPr>
          <a:xfrm>
            <a:off x="795528" y="5239512"/>
            <a:ext cx="3657600" cy="0"/>
          </a:xfrm>
          <a:prstGeom prst="line">
            <a:avLst/>
          </a:prstGeom>
          <a:noFill/>
          <a:ln w="9525">
            <a:solidFill>
              <a:srgbClr val="EAF0FB">
                <a:alpha val="45000"/>
              </a:srgbClr>
            </a:solidFill>
            <a:prstDash val="solid"/>
          </a:ln>
        </p:spPr>
      </p:sp>
      <p:sp>
        <p:nvSpPr>
          <p:cNvPr id="20" name="Text 18"/>
          <p:cNvSpPr/>
          <p:nvPr/>
        </p:nvSpPr>
        <p:spPr>
          <a:xfrm>
            <a:off x="749808" y="5367528"/>
            <a:ext cx="10607040" cy="548640"/>
          </a:xfrm>
          <a:prstGeom prst="rect">
            <a:avLst/>
          </a:prstGeom>
          <a:noFill/>
          <a:ln/>
        </p:spPr>
        <p:txBody>
          <a:bodyPr wrap="square" lIns="0" tIns="0" rIns="0" bIns="0" rtlCol="0" anchor="ctr"/>
          <a:lstStyle/>
          <a:p>
            <a:pPr indent="0" marL="0">
              <a:buNone/>
            </a:pPr>
            <a:r>
              <a:rPr lang="en-US" sz="1800" b="1" i="1" dirty="0">
                <a:solidFill>
                  <a:srgbClr val="C9A227"/>
                </a:solidFill>
                <a:latin typeface="Cambria" pitchFamily="34" charset="0"/>
                <a:ea typeface="Cambria" pitchFamily="34" charset="-122"/>
                <a:cs typeface="Cambria" pitchFamily="34" charset="-120"/>
              </a:rPr>
              <a:t>Let's approve a focused pilot and measure the lift.</a:t>
            </a:r>
            <a:endParaRPr lang="en-US" sz="1800" dirty="0"/>
          </a:p>
        </p:txBody>
      </p:sp>
      <p:sp>
        <p:nvSpPr>
          <p:cNvPr id="21" name="Text 19"/>
          <p:cNvSpPr/>
          <p:nvPr/>
        </p:nvSpPr>
        <p:spPr>
          <a:xfrm>
            <a:off x="749808" y="5952744"/>
            <a:ext cx="5486400" cy="365760"/>
          </a:xfrm>
          <a:prstGeom prst="rect">
            <a:avLst/>
          </a:prstGeom>
          <a:noFill/>
          <a:ln/>
        </p:spPr>
        <p:txBody>
          <a:bodyPr wrap="square" lIns="0" tIns="0" rIns="0" bIns="0" rtlCol="0" anchor="ctr"/>
          <a:lstStyle/>
          <a:p>
            <a:pPr indent="0" marL="0">
              <a:buNone/>
            </a:pPr>
            <a:r>
              <a:rPr lang="en-US" sz="1300" dirty="0">
                <a:solidFill>
                  <a:srgbClr val="EAF0FB"/>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SOURCES &amp; REFERENCES</a:t>
            </a:r>
            <a:endParaRPr lang="en-US" sz="1200" dirty="0"/>
          </a:p>
        </p:txBody>
      </p:sp>
      <p:sp>
        <p:nvSpPr>
          <p:cNvPr id="3" name="Text 1"/>
          <p:cNvSpPr/>
          <p:nvPr/>
        </p:nvSpPr>
        <p:spPr>
          <a:xfrm>
            <a:off x="640080" y="630936"/>
            <a:ext cx="10927080" cy="731520"/>
          </a:xfrm>
          <a:prstGeom prst="rect">
            <a:avLst/>
          </a:prstGeom>
          <a:noFill/>
          <a:ln/>
        </p:spPr>
        <p:txBody>
          <a:bodyPr wrap="square" lIns="0" tIns="0" rIns="0" bIns="0" rtlCol="0" anchor="ctr"/>
          <a:lstStyle/>
          <a:p>
            <a:pPr indent="0" marL="0">
              <a:buNone/>
            </a:pPr>
            <a:r>
              <a:rPr lang="en-US" sz="2700" b="1" dirty="0">
                <a:solidFill>
                  <a:srgbClr val="1A2238"/>
                </a:solidFill>
                <a:latin typeface="Cambria" pitchFamily="34" charset="0"/>
                <a:ea typeface="Cambria" pitchFamily="34" charset="-122"/>
                <a:cs typeface="Cambria" pitchFamily="34" charset="-120"/>
              </a:rPr>
              <a:t>Every figure in this deck is publicly sourced</a:t>
            </a:r>
            <a:endParaRPr lang="en-US" sz="2700" dirty="0"/>
          </a:p>
        </p:txBody>
      </p:sp>
      <p:sp>
        <p:nvSpPr>
          <p:cNvPr id="4" name="Shape 2"/>
          <p:cNvSpPr/>
          <p:nvPr/>
        </p:nvSpPr>
        <p:spPr>
          <a:xfrm>
            <a:off x="640080" y="1627632"/>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5" name="Text 3"/>
          <p:cNvSpPr/>
          <p:nvPr/>
        </p:nvSpPr>
        <p:spPr>
          <a:xfrm>
            <a:off x="868680" y="171907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Salesforce Shopping Index (2024)</a:t>
            </a:r>
            <a:endParaRPr lang="en-US" sz="1150" dirty="0"/>
          </a:p>
        </p:txBody>
      </p:sp>
      <p:sp>
        <p:nvSpPr>
          <p:cNvPr id="6" name="Text 4"/>
          <p:cNvSpPr/>
          <p:nvPr/>
        </p:nvSpPr>
        <p:spPr>
          <a:xfrm>
            <a:off x="3794760" y="170078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Holiday-peak analysis of 1.5B shoppers. — AI (incl. personalized recommendations) drove 17% of global online orders; +7% AOV for retailers using generative AI.</a:t>
            </a:r>
            <a:endParaRPr lang="en-US" sz="1000" dirty="0"/>
          </a:p>
        </p:txBody>
      </p:sp>
      <p:sp>
        <p:nvSpPr>
          <p:cNvPr id="7" name="Text 5"/>
          <p:cNvSpPr/>
          <p:nvPr/>
        </p:nvSpPr>
        <p:spPr>
          <a:xfrm>
            <a:off x="3794760" y="208483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salesforce.com/news/stories/ai-for-holiday-shopping-predictions</a:t>
            </a:r>
            <a:endParaRPr lang="en-US" sz="850" dirty="0"/>
          </a:p>
        </p:txBody>
      </p:sp>
      <p:sp>
        <p:nvSpPr>
          <p:cNvPr id="8" name="Shape 6"/>
          <p:cNvSpPr/>
          <p:nvPr/>
        </p:nvSpPr>
        <p:spPr>
          <a:xfrm>
            <a:off x="640080" y="2450592"/>
            <a:ext cx="10927080" cy="749808"/>
          </a:xfrm>
          <a:prstGeom prst="roundRect">
            <a:avLst>
              <a:gd name="adj" fmla="val 9756"/>
            </a:avLst>
          </a:prstGeom>
          <a:solidFill>
            <a:srgbClr val="FFFFFF"/>
          </a:solidFill>
          <a:ln/>
        </p:spPr>
      </p:sp>
      <p:sp>
        <p:nvSpPr>
          <p:cNvPr id="9" name="Shape 7"/>
          <p:cNvSpPr/>
          <p:nvPr/>
        </p:nvSpPr>
        <p:spPr>
          <a:xfrm>
            <a:off x="640080" y="2450592"/>
            <a:ext cx="10927080" cy="749808"/>
          </a:xfrm>
          <a:prstGeom prst="roundRect">
            <a:avLst>
              <a:gd name="adj" fmla="val 9756"/>
            </a:avLst>
          </a:prstGeom>
          <a:solidFill>
            <a:srgbClr val="FFFFFF">
              <a:alpha val="0"/>
            </a:srgbClr>
          </a:solidFill>
          <a:ln w="12700">
            <a:solidFill>
              <a:srgbClr val="DCE3F0"/>
            </a:solidFill>
            <a:prstDash val="solid"/>
          </a:ln>
        </p:spPr>
      </p:sp>
      <p:sp>
        <p:nvSpPr>
          <p:cNvPr id="10" name="Text 8"/>
          <p:cNvSpPr/>
          <p:nvPr/>
        </p:nvSpPr>
        <p:spPr>
          <a:xfrm>
            <a:off x="868680" y="254203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McKinsey &amp; Company (2021)</a:t>
            </a:r>
            <a:endParaRPr lang="en-US" sz="1150" dirty="0"/>
          </a:p>
        </p:txBody>
      </p:sp>
      <p:sp>
        <p:nvSpPr>
          <p:cNvPr id="11" name="Text 9"/>
          <p:cNvSpPr/>
          <p:nvPr/>
        </p:nvSpPr>
        <p:spPr>
          <a:xfrm>
            <a:off x="3794760" y="252374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“The value of getting personalization right—or wrong—is multiplying.” — 5–15% revenue lift; CAC up to −50%; marketing ROI +10–30%; 71%/76% expectation; ~5% downside if done poorly.</a:t>
            </a:r>
            <a:endParaRPr lang="en-US" sz="1000" dirty="0"/>
          </a:p>
        </p:txBody>
      </p:sp>
      <p:sp>
        <p:nvSpPr>
          <p:cNvPr id="12" name="Text 10"/>
          <p:cNvSpPr/>
          <p:nvPr/>
        </p:nvSpPr>
        <p:spPr>
          <a:xfrm>
            <a:off x="3794760" y="290779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mckinsey.com/capabilities/growth-marketing-and-sales/our-insights</a:t>
            </a:r>
            <a:endParaRPr lang="en-US" sz="850" dirty="0"/>
          </a:p>
        </p:txBody>
      </p:sp>
      <p:sp>
        <p:nvSpPr>
          <p:cNvPr id="13" name="Shape 11"/>
          <p:cNvSpPr/>
          <p:nvPr/>
        </p:nvSpPr>
        <p:spPr>
          <a:xfrm>
            <a:off x="640080" y="3273552"/>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14" name="Text 12"/>
          <p:cNvSpPr/>
          <p:nvPr/>
        </p:nvSpPr>
        <p:spPr>
          <a:xfrm>
            <a:off x="868680" y="336499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Gomez-Uribe &amp; Hunt (2015)</a:t>
            </a:r>
            <a:endParaRPr lang="en-US" sz="1150" dirty="0"/>
          </a:p>
        </p:txBody>
      </p:sp>
      <p:sp>
        <p:nvSpPr>
          <p:cNvPr id="15" name="Text 13"/>
          <p:cNvSpPr/>
          <p:nvPr/>
        </p:nvSpPr>
        <p:spPr>
          <a:xfrm>
            <a:off x="3794760" y="334670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“The Netflix Recommender System: Algorithms, Business Value, and Innovation,” ACM TMIS. — Recommendations estimated worth ~$1B/year via reduced churn.</a:t>
            </a:r>
            <a:endParaRPr lang="en-US" sz="1000" dirty="0"/>
          </a:p>
        </p:txBody>
      </p:sp>
      <p:sp>
        <p:nvSpPr>
          <p:cNvPr id="16" name="Text 14"/>
          <p:cNvSpPr/>
          <p:nvPr/>
        </p:nvSpPr>
        <p:spPr>
          <a:xfrm>
            <a:off x="3794760" y="373075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ACM Transactions on Management Information Systems, 6(4)</a:t>
            </a:r>
            <a:endParaRPr lang="en-US" sz="850" dirty="0"/>
          </a:p>
        </p:txBody>
      </p:sp>
      <p:sp>
        <p:nvSpPr>
          <p:cNvPr id="17" name="Shape 15"/>
          <p:cNvSpPr/>
          <p:nvPr/>
        </p:nvSpPr>
        <p:spPr>
          <a:xfrm>
            <a:off x="640080" y="4096512"/>
            <a:ext cx="10927080" cy="749808"/>
          </a:xfrm>
          <a:prstGeom prst="roundRect">
            <a:avLst>
              <a:gd name="adj" fmla="val 9756"/>
            </a:avLst>
          </a:prstGeom>
          <a:solidFill>
            <a:srgbClr val="FFFFFF"/>
          </a:solidFill>
          <a:ln/>
        </p:spPr>
      </p:sp>
      <p:sp>
        <p:nvSpPr>
          <p:cNvPr id="18" name="Shape 16"/>
          <p:cNvSpPr/>
          <p:nvPr/>
        </p:nvSpPr>
        <p:spPr>
          <a:xfrm>
            <a:off x="640080" y="4096512"/>
            <a:ext cx="10927080" cy="749808"/>
          </a:xfrm>
          <a:prstGeom prst="roundRect">
            <a:avLst>
              <a:gd name="adj" fmla="val 9756"/>
            </a:avLst>
          </a:prstGeom>
          <a:solidFill>
            <a:srgbClr val="FFFFFF">
              <a:alpha val="0"/>
            </a:srgbClr>
          </a:solidFill>
          <a:ln w="12700">
            <a:solidFill>
              <a:srgbClr val="DCE3F0"/>
            </a:solidFill>
            <a:prstDash val="solid"/>
          </a:ln>
        </p:spPr>
      </p:sp>
      <p:sp>
        <p:nvSpPr>
          <p:cNvPr id="19" name="Text 17"/>
          <p:cNvSpPr/>
          <p:nvPr/>
        </p:nvSpPr>
        <p:spPr>
          <a:xfrm>
            <a:off x="868680" y="418795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Smith &amp; Linden (2017); Linden et al. (2003)</a:t>
            </a:r>
            <a:endParaRPr lang="en-US" sz="1150" dirty="0"/>
          </a:p>
        </p:txBody>
      </p:sp>
      <p:sp>
        <p:nvSpPr>
          <p:cNvPr id="20" name="Text 18"/>
          <p:cNvSpPr/>
          <p:nvPr/>
        </p:nvSpPr>
        <p:spPr>
          <a:xfrm>
            <a:off x="3794760" y="416966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“Two Decades of Recommender Systems at Amazon.com” and “Amazon.com Recommendations: Item-to-Item Collaborative Filtering,” IEEE Internet Computing.</a:t>
            </a:r>
            <a:endParaRPr lang="en-US" sz="1000" dirty="0"/>
          </a:p>
        </p:txBody>
      </p:sp>
      <p:sp>
        <p:nvSpPr>
          <p:cNvPr id="21" name="Text 19"/>
          <p:cNvSpPr/>
          <p:nvPr/>
        </p:nvSpPr>
        <p:spPr>
          <a:xfrm>
            <a:off x="3794760" y="455371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ieeexplore.ieee.org/document/7927889</a:t>
            </a:r>
            <a:endParaRPr lang="en-US" sz="850" dirty="0"/>
          </a:p>
        </p:txBody>
      </p:sp>
      <p:sp>
        <p:nvSpPr>
          <p:cNvPr id="22" name="Shape 20"/>
          <p:cNvSpPr/>
          <p:nvPr/>
        </p:nvSpPr>
        <p:spPr>
          <a:xfrm>
            <a:off x="640080" y="4919472"/>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23" name="Text 21"/>
          <p:cNvSpPr/>
          <p:nvPr/>
        </p:nvSpPr>
        <p:spPr>
          <a:xfrm>
            <a:off x="868680" y="501091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Wang et al. (2018)</a:t>
            </a:r>
            <a:endParaRPr lang="en-US" sz="1150" dirty="0"/>
          </a:p>
        </p:txBody>
      </p:sp>
      <p:sp>
        <p:nvSpPr>
          <p:cNvPr id="24" name="Text 22"/>
          <p:cNvSpPr/>
          <p:nvPr/>
        </p:nvSpPr>
        <p:spPr>
          <a:xfrm>
            <a:off x="3794760" y="499262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“Billion-scale Commodity Embedding for E-commerce Recommendation in Alibaba,” KDD 2018 — Taobao EGES graph embeddings; A/B-tested CTR gains.</a:t>
            </a:r>
            <a:endParaRPr lang="en-US" sz="1000" dirty="0"/>
          </a:p>
        </p:txBody>
      </p:sp>
      <p:sp>
        <p:nvSpPr>
          <p:cNvPr id="25" name="Text 23"/>
          <p:cNvSpPr/>
          <p:nvPr/>
        </p:nvSpPr>
        <p:spPr>
          <a:xfrm>
            <a:off x="3794760" y="537667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arxiv.org/abs/1803.02349</a:t>
            </a:r>
            <a:endParaRPr lang="en-US" sz="850" dirty="0"/>
          </a:p>
        </p:txBody>
      </p:sp>
      <p:sp>
        <p:nvSpPr>
          <p:cNvPr id="26" name="Shape 24"/>
          <p:cNvSpPr/>
          <p:nvPr/>
        </p:nvSpPr>
        <p:spPr>
          <a:xfrm>
            <a:off x="640080" y="5742432"/>
            <a:ext cx="10927080" cy="749808"/>
          </a:xfrm>
          <a:prstGeom prst="roundRect">
            <a:avLst>
              <a:gd name="adj" fmla="val 9756"/>
            </a:avLst>
          </a:prstGeom>
          <a:solidFill>
            <a:srgbClr val="FFFFFF"/>
          </a:solidFill>
          <a:ln/>
        </p:spPr>
      </p:sp>
      <p:sp>
        <p:nvSpPr>
          <p:cNvPr id="27" name="Shape 25"/>
          <p:cNvSpPr/>
          <p:nvPr/>
        </p:nvSpPr>
        <p:spPr>
          <a:xfrm>
            <a:off x="640080" y="5742432"/>
            <a:ext cx="10927080" cy="749808"/>
          </a:xfrm>
          <a:prstGeom prst="roundRect">
            <a:avLst>
              <a:gd name="adj" fmla="val 9756"/>
            </a:avLst>
          </a:prstGeom>
          <a:solidFill>
            <a:srgbClr val="FFFFFF">
              <a:alpha val="0"/>
            </a:srgbClr>
          </a:solidFill>
          <a:ln w="12700">
            <a:solidFill>
              <a:srgbClr val="DCE3F0"/>
            </a:solidFill>
            <a:prstDash val="solid"/>
          </a:ln>
        </p:spPr>
      </p:sp>
      <p:sp>
        <p:nvSpPr>
          <p:cNvPr id="28" name="Text 26"/>
          <p:cNvSpPr/>
          <p:nvPr/>
        </p:nvSpPr>
        <p:spPr>
          <a:xfrm>
            <a:off x="868680" y="5833872"/>
            <a:ext cx="2834640" cy="566928"/>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JD.com — Li et al. (2021); Zhao et al. (2017)</a:t>
            </a:r>
            <a:endParaRPr lang="en-US" sz="1150" dirty="0"/>
          </a:p>
        </p:txBody>
      </p:sp>
      <p:sp>
        <p:nvSpPr>
          <p:cNvPr id="29" name="Text 27"/>
          <p:cNvSpPr/>
          <p:nvPr/>
        </p:nvSpPr>
        <p:spPr>
          <a:xfrm>
            <a:off x="3794760" y="5815584"/>
            <a:ext cx="7589520" cy="384048"/>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“From Semantic Retrieval to Pairwise Ranking”; JD scale (hundreds of millions of users, ~$100B GMV).</a:t>
            </a:r>
            <a:endParaRPr lang="en-US" sz="1000" dirty="0"/>
          </a:p>
        </p:txBody>
      </p:sp>
      <p:sp>
        <p:nvSpPr>
          <p:cNvPr id="30" name="Text 28"/>
          <p:cNvSpPr/>
          <p:nvPr/>
        </p:nvSpPr>
        <p:spPr>
          <a:xfrm>
            <a:off x="3794760" y="6199632"/>
            <a:ext cx="7589520" cy="256032"/>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arxiv.org/abs/2103.12982 · arxiv.org/abs/1709.00300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03A"/>
        </a:solidFill>
      </p:bgPr>
    </p:bg>
    <p:spTree>
      <p:nvGrpSpPr>
        <p:cNvPr id="1" name=""/>
        <p:cNvGrpSpPr/>
        <p:nvPr/>
      </p:nvGrpSpPr>
      <p:grpSpPr>
        <a:xfrm>
          <a:off x="0" y="0"/>
          <a:ext cx="0" cy="0"/>
          <a:chOff x="0" y="0"/>
          <a:chExt cx="0" cy="0"/>
        </a:xfrm>
      </p:grpSpPr>
      <p:sp>
        <p:nvSpPr>
          <p:cNvPr id="2" name="Text 0"/>
          <p:cNvSpPr/>
          <p:nvPr/>
        </p:nvSpPr>
        <p:spPr>
          <a:xfrm>
            <a:off x="777240" y="2651760"/>
            <a:ext cx="10607040" cy="457200"/>
          </a:xfrm>
          <a:prstGeom prst="rect">
            <a:avLst/>
          </a:prstGeom>
          <a:noFill/>
          <a:ln/>
        </p:spPr>
        <p:txBody>
          <a:bodyPr wrap="square" lIns="0" tIns="0" rIns="0" bIns="0" rtlCol="0" anchor="ctr"/>
          <a:lstStyle/>
          <a:p>
            <a:pPr indent="0" marL="0">
              <a:buNone/>
            </a:pPr>
            <a:r>
              <a:rPr lang="en-US" sz="1500" b="1" spc="400" kern="0" dirty="0">
                <a:solidFill>
                  <a:srgbClr val="C9A227"/>
                </a:solidFill>
                <a:latin typeface="Calibri" pitchFamily="34" charset="0"/>
                <a:ea typeface="Calibri" pitchFamily="34" charset="-122"/>
                <a:cs typeface="Calibri" pitchFamily="34" charset="-120"/>
              </a:rPr>
              <a:t>APPENDIX</a:t>
            </a:r>
            <a:endParaRPr lang="en-US" sz="1500" dirty="0"/>
          </a:p>
        </p:txBody>
      </p:sp>
      <p:sp>
        <p:nvSpPr>
          <p:cNvPr id="3" name="Text 1"/>
          <p:cNvSpPr/>
          <p:nvPr/>
        </p:nvSpPr>
        <p:spPr>
          <a:xfrm>
            <a:off x="749808" y="3063240"/>
            <a:ext cx="10607040" cy="731520"/>
          </a:xfrm>
          <a:prstGeom prst="rect">
            <a:avLst/>
          </a:prstGeom>
          <a:noFill/>
          <a:ln/>
        </p:spPr>
        <p:txBody>
          <a:bodyPr wrap="square" lIns="0" tIns="0" rIns="0" bIns="0" rtlCol="0" anchor="ctr"/>
          <a:lstStyle/>
          <a:p>
            <a:pPr indent="0" marL="0">
              <a:buNone/>
            </a:pPr>
            <a:r>
              <a:rPr lang="en-US" sz="3400" b="1" dirty="0">
                <a:solidFill>
                  <a:srgbClr val="EAF0FB"/>
                </a:solidFill>
                <a:latin typeface="Cambria" pitchFamily="34" charset="0"/>
                <a:ea typeface="Cambria" pitchFamily="34" charset="-122"/>
                <a:cs typeface="Cambria" pitchFamily="34" charset="-120"/>
              </a:rPr>
              <a:t>Platform deep-dive</a:t>
            </a:r>
            <a:endParaRPr lang="en-US" sz="3400" dirty="0"/>
          </a:p>
        </p:txBody>
      </p:sp>
      <p:sp>
        <p:nvSpPr>
          <p:cNvPr id="4" name="Text 2"/>
          <p:cNvSpPr/>
          <p:nvPr/>
        </p:nvSpPr>
        <p:spPr>
          <a:xfrm>
            <a:off x="777240" y="3886200"/>
            <a:ext cx="10058400" cy="914400"/>
          </a:xfrm>
          <a:prstGeom prst="rect">
            <a:avLst/>
          </a:prstGeom>
          <a:noFill/>
          <a:ln/>
        </p:spPr>
        <p:txBody>
          <a:bodyPr wrap="square" lIns="0" tIns="0" rIns="0" bIns="0" rtlCol="0" anchor="ctr"/>
          <a:lstStyle/>
          <a:p>
            <a:pPr indent="0" marL="0">
              <a:buNone/>
            </a:pPr>
            <a:r>
              <a:rPr lang="en-US" sz="1400" i="1" dirty="0">
                <a:solidFill>
                  <a:srgbClr val="EAF0FB"/>
                </a:solidFill>
                <a:latin typeface="Calibri" pitchFamily="34" charset="0"/>
                <a:ea typeface="Calibri" pitchFamily="34" charset="-122"/>
                <a:cs typeface="Calibri" pitchFamily="34" charset="-120"/>
              </a:rPr>
              <a:t>Development history (pre- and post-GPT) and effectiveness by user class — Amazon, Taobao / Alibaba, and JD.com. All figures cited from sources published in 2024–2026.</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APPENDIX · PLATFORM DEEP-DIVE</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A2238"/>
                </a:solidFill>
                <a:latin typeface="Cambria" pitchFamily="34" charset="0"/>
                <a:ea typeface="Cambria" pitchFamily="34" charset="-122"/>
                <a:cs typeface="Cambria" pitchFamily="34" charset="-120"/>
              </a:rPr>
              <a:t>Amazon — recommendation system history</a:t>
            </a:r>
            <a:endParaRPr lang="en-US" sz="2500" dirty="0"/>
          </a:p>
        </p:txBody>
      </p:sp>
      <p:sp>
        <p:nvSpPr>
          <p:cNvPr id="4" name="Shape 2"/>
          <p:cNvSpPr/>
          <p:nvPr/>
        </p:nvSpPr>
        <p:spPr>
          <a:xfrm>
            <a:off x="10698480" y="566928"/>
            <a:ext cx="777240" cy="7772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From item-to-item collaborative filtering to a generative AI shopping assistant.</a:t>
            </a:r>
            <a:endParaRPr lang="en-US" sz="1300" dirty="0"/>
          </a:p>
        </p:txBody>
      </p:sp>
      <p:sp>
        <p:nvSpPr>
          <p:cNvPr id="7" name="Text 4"/>
          <p:cNvSpPr/>
          <p:nvPr/>
        </p:nvSpPr>
        <p:spPr>
          <a:xfrm>
            <a:off x="640080"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5B6478"/>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7295083"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7A3EA8"/>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7212787" y="1874520"/>
            <a:ext cx="0" cy="2606040"/>
          </a:xfrm>
          <a:prstGeom prst="line">
            <a:avLst/>
          </a:prstGeom>
          <a:noFill/>
          <a:ln w="15875">
            <a:solidFill>
              <a:srgbClr val="7A3EA8"/>
            </a:solidFill>
            <a:prstDash val="dash"/>
          </a:ln>
        </p:spPr>
      </p:sp>
      <p:sp>
        <p:nvSpPr>
          <p:cNvPr id="10" name="Shape 7"/>
          <p:cNvSpPr/>
          <p:nvPr/>
        </p:nvSpPr>
        <p:spPr>
          <a:xfrm>
            <a:off x="640080"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1E2761"/>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1998</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Item-to-item CF</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“Customers who bought this also bought.”</a:t>
            </a:r>
            <a:endParaRPr lang="en-US" sz="960" dirty="0"/>
          </a:p>
        </p:txBody>
      </p:sp>
      <p:sp>
        <p:nvSpPr>
          <p:cNvPr id="15" name="Shape 12"/>
          <p:cNvSpPr/>
          <p:nvPr/>
        </p:nvSpPr>
        <p:spPr>
          <a:xfrm>
            <a:off x="2858414"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1E2761"/>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2003</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Published (IEEE)</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Offline similarity → fast lookups; scales.</a:t>
            </a:r>
            <a:endParaRPr lang="en-US" sz="960" dirty="0"/>
          </a:p>
        </p:txBody>
      </p:sp>
      <p:sp>
        <p:nvSpPr>
          <p:cNvPr id="20" name="Shape 17"/>
          <p:cNvSpPr/>
          <p:nvPr/>
        </p:nvSpPr>
        <p:spPr>
          <a:xfrm>
            <a:off x="5076749"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1E2761"/>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Whole-store personalization</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Deep learning across the catalog.</a:t>
            </a:r>
            <a:endParaRPr lang="en-US" sz="960" dirty="0"/>
          </a:p>
        </p:txBody>
      </p:sp>
      <p:sp>
        <p:nvSpPr>
          <p:cNvPr id="25" name="Shape 22"/>
          <p:cNvSpPr/>
          <p:nvPr/>
        </p:nvSpPr>
        <p:spPr>
          <a:xfrm>
            <a:off x="7295083"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7A3EA8"/>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2024</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Rufus + COSMO</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GenAI assistant on Bedrock (RAG) + commonsense knowledge graph.</a:t>
            </a:r>
            <a:endParaRPr lang="en-US" sz="960" dirty="0"/>
          </a:p>
        </p:txBody>
      </p:sp>
      <p:sp>
        <p:nvSpPr>
          <p:cNvPr id="30" name="Shape 27"/>
          <p:cNvSpPr/>
          <p:nvPr/>
        </p:nvSpPr>
        <p:spPr>
          <a:xfrm>
            <a:off x="9513418"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7A3EA8"/>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Rufus at scale</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Cross-ecosystem memory; per-shopper answers.</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7A3EA8"/>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2819400" cy="822960"/>
          </a:xfrm>
          <a:prstGeom prst="roundRect">
            <a:avLst>
              <a:gd name="adj" fmla="val 11111"/>
            </a:avLst>
          </a:prstGeom>
          <a:solidFill>
            <a:srgbClr val="FFFFFF">
              <a:alpha val="0"/>
            </a:srgbClr>
          </a:solidFill>
          <a:ln w="12700">
            <a:solidFill>
              <a:srgbClr val="DCE3F0"/>
            </a:solidFill>
            <a:prstDash val="solid"/>
          </a:ln>
        </p:spPr>
      </p:sp>
      <p:sp>
        <p:nvSpPr>
          <p:cNvPr id="38" name="Text 35"/>
          <p:cNvSpPr/>
          <p:nvPr/>
        </p:nvSpPr>
        <p:spPr>
          <a:xfrm>
            <a:off x="2852928" y="4709160"/>
            <a:ext cx="259994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~$12B</a:t>
            </a:r>
            <a:endParaRPr lang="en-US" sz="1600" dirty="0"/>
          </a:p>
        </p:txBody>
      </p:sp>
      <p:sp>
        <p:nvSpPr>
          <p:cNvPr id="39" name="Text 36"/>
          <p:cNvSpPr/>
          <p:nvPr/>
        </p:nvSpPr>
        <p:spPr>
          <a:xfrm>
            <a:off x="2852928" y="5074920"/>
            <a:ext cx="259994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incremental annualized sales (Amazon Q4 2025)</a:t>
            </a:r>
            <a:endParaRPr lang="en-US" sz="880" dirty="0"/>
          </a:p>
        </p:txBody>
      </p:sp>
      <p:sp>
        <p:nvSpPr>
          <p:cNvPr id="40" name="Shape 37"/>
          <p:cNvSpPr/>
          <p:nvPr/>
        </p:nvSpPr>
        <p:spPr>
          <a:xfrm>
            <a:off x="574548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5745480" y="4617720"/>
            <a:ext cx="2819400" cy="822960"/>
          </a:xfrm>
          <a:prstGeom prst="roundRect">
            <a:avLst>
              <a:gd name="adj" fmla="val 11111"/>
            </a:avLst>
          </a:prstGeom>
          <a:solidFill>
            <a:srgbClr val="FFFFFF">
              <a:alpha val="0"/>
            </a:srgbClr>
          </a:solidFill>
          <a:ln w="12700">
            <a:solidFill>
              <a:srgbClr val="DCE3F0"/>
            </a:solidFill>
            <a:prstDash val="solid"/>
          </a:ln>
        </p:spPr>
      </p:sp>
      <p:sp>
        <p:nvSpPr>
          <p:cNvPr id="42" name="Text 39"/>
          <p:cNvSpPr/>
          <p:nvPr/>
        </p:nvSpPr>
        <p:spPr>
          <a:xfrm>
            <a:off x="5855208" y="4709160"/>
            <a:ext cx="259994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300M+</a:t>
            </a:r>
            <a:endParaRPr lang="en-US" sz="1600" dirty="0"/>
          </a:p>
        </p:txBody>
      </p:sp>
      <p:sp>
        <p:nvSpPr>
          <p:cNvPr id="43" name="Text 40"/>
          <p:cNvSpPr/>
          <p:nvPr/>
        </p:nvSpPr>
        <p:spPr>
          <a:xfrm>
            <a:off x="5855208" y="5074920"/>
            <a:ext cx="259994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Rufus users · 149% YoY active-user growth</a:t>
            </a:r>
            <a:endParaRPr lang="en-US" sz="880" dirty="0"/>
          </a:p>
        </p:txBody>
      </p:sp>
      <p:sp>
        <p:nvSpPr>
          <p:cNvPr id="44" name="Shape 41"/>
          <p:cNvSpPr/>
          <p:nvPr/>
        </p:nvSpPr>
        <p:spPr>
          <a:xfrm>
            <a:off x="8747760" y="4617720"/>
            <a:ext cx="281940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5" name="Shape 42"/>
          <p:cNvSpPr/>
          <p:nvPr/>
        </p:nvSpPr>
        <p:spPr>
          <a:xfrm>
            <a:off x="8747760" y="4617720"/>
            <a:ext cx="2819400" cy="822960"/>
          </a:xfrm>
          <a:prstGeom prst="roundRect">
            <a:avLst>
              <a:gd name="adj" fmla="val 11111"/>
            </a:avLst>
          </a:prstGeom>
          <a:solidFill>
            <a:srgbClr val="FFFFFF">
              <a:alpha val="0"/>
            </a:srgbClr>
          </a:solidFill>
          <a:ln w="12700">
            <a:solidFill>
              <a:srgbClr val="DCE3F0"/>
            </a:solidFill>
            <a:prstDash val="solid"/>
          </a:ln>
        </p:spPr>
      </p:sp>
      <p:sp>
        <p:nvSpPr>
          <p:cNvPr id="46" name="Text 43"/>
          <p:cNvSpPr/>
          <p:nvPr/>
        </p:nvSpPr>
        <p:spPr>
          <a:xfrm>
            <a:off x="8857488" y="4709160"/>
            <a:ext cx="259994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+60%</a:t>
            </a:r>
            <a:endParaRPr lang="en-US" sz="1600" dirty="0"/>
          </a:p>
        </p:txBody>
      </p:sp>
      <p:sp>
        <p:nvSpPr>
          <p:cNvPr id="47" name="Text 44"/>
          <p:cNvSpPr/>
          <p:nvPr/>
        </p:nvSpPr>
        <p:spPr>
          <a:xfrm>
            <a:off x="8857488" y="5074920"/>
            <a:ext cx="259994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purchase completion among Rufus-engaged shoppers</a:t>
            </a:r>
            <a:endParaRPr lang="en-US" sz="880" dirty="0"/>
          </a:p>
        </p:txBody>
      </p:sp>
      <p:sp>
        <p:nvSpPr>
          <p:cNvPr id="48" name="Text 45"/>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Amazon Science (2024); Amazon Q4 2025 earnings; COSMO — ACM SIGMOD 2024; Linden et al., IEEE Internet Computing (2003, historical).</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APPENDIX · PLATFORM DEEP-DIVE</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A2238"/>
                </a:solidFill>
                <a:latin typeface="Cambria" pitchFamily="34" charset="0"/>
                <a:ea typeface="Cambria" pitchFamily="34" charset="-122"/>
                <a:cs typeface="Cambria" pitchFamily="34" charset="-120"/>
              </a:rPr>
              <a:t>Taobao / Alibaba — recommendation system history</a:t>
            </a:r>
            <a:endParaRPr lang="en-US" sz="2500" dirty="0"/>
          </a:p>
        </p:txBody>
      </p:sp>
      <p:sp>
        <p:nvSpPr>
          <p:cNvPr id="4" name="Shape 2"/>
          <p:cNvSpPr/>
          <p:nvPr/>
        </p:nvSpPr>
        <p:spPr>
          <a:xfrm>
            <a:off x="10698480" y="566928"/>
            <a:ext cx="777240" cy="7772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From graph embeddings to LLM-based, intent-centric generative recommendation.</a:t>
            </a:r>
            <a:endParaRPr lang="en-US" sz="1300" dirty="0"/>
          </a:p>
        </p:txBody>
      </p:sp>
      <p:sp>
        <p:nvSpPr>
          <p:cNvPr id="7" name="Text 4"/>
          <p:cNvSpPr/>
          <p:nvPr/>
        </p:nvSpPr>
        <p:spPr>
          <a:xfrm>
            <a:off x="640080"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5B6478"/>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5076749"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7A3EA8"/>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4994453" y="1874520"/>
            <a:ext cx="0" cy="2606040"/>
          </a:xfrm>
          <a:prstGeom prst="line">
            <a:avLst/>
          </a:prstGeom>
          <a:noFill/>
          <a:ln w="15875">
            <a:solidFill>
              <a:srgbClr val="7A3EA8"/>
            </a:solidFill>
            <a:prstDash val="dash"/>
          </a:ln>
        </p:spPr>
      </p:sp>
      <p:sp>
        <p:nvSpPr>
          <p:cNvPr id="10" name="Shape 7"/>
          <p:cNvSpPr/>
          <p:nvPr/>
        </p:nvSpPr>
        <p:spPr>
          <a:xfrm>
            <a:off x="640080"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1E2761"/>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EGES graph embeddings</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Powers “Guess What You Like.” (KDD 2018)</a:t>
            </a:r>
            <a:endParaRPr lang="en-US" sz="960" dirty="0"/>
          </a:p>
        </p:txBody>
      </p:sp>
      <p:sp>
        <p:nvSpPr>
          <p:cNvPr id="15" name="Shape 12"/>
          <p:cNvSpPr/>
          <p:nvPr/>
        </p:nvSpPr>
        <p:spPr>
          <a:xfrm>
            <a:off x="2858414"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1E2761"/>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Deep Interest Network</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Attention-based CTR modeling (KDD 2018).</a:t>
            </a:r>
            <a:endParaRPr lang="en-US" sz="960" dirty="0"/>
          </a:p>
        </p:txBody>
      </p:sp>
      <p:sp>
        <p:nvSpPr>
          <p:cNvPr id="20" name="Shape 17"/>
          <p:cNvSpPr/>
          <p:nvPr/>
        </p:nvSpPr>
        <p:spPr>
          <a:xfrm>
            <a:off x="5076749"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7A3EA8"/>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LUM — Large User Model</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Scaling-law user model; Taobao search A/B gains.</a:t>
            </a:r>
            <a:endParaRPr lang="en-US" sz="960" dirty="0"/>
          </a:p>
        </p:txBody>
      </p:sp>
      <p:sp>
        <p:nvSpPr>
          <p:cNvPr id="25" name="Shape 22"/>
          <p:cNvSpPr/>
          <p:nvPr/>
        </p:nvSpPr>
        <p:spPr>
          <a:xfrm>
            <a:off x="7295083"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7A3EA8"/>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URM universal retriever</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LLM retrieval; tens-of-ms latency.</a:t>
            </a:r>
            <a:endParaRPr lang="en-US" sz="960" dirty="0"/>
          </a:p>
        </p:txBody>
      </p:sp>
      <p:sp>
        <p:nvSpPr>
          <p:cNvPr id="30" name="Shape 27"/>
          <p:cNvSpPr/>
          <p:nvPr/>
        </p:nvSpPr>
        <p:spPr>
          <a:xfrm>
            <a:off x="9513418"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7A3EA8"/>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RecGPT</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Intent-centric LLM recommendation framework.</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7A3EA8"/>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4320540" cy="822960"/>
          </a:xfrm>
          <a:prstGeom prst="roundRect">
            <a:avLst>
              <a:gd name="adj" fmla="val 11111"/>
            </a:avLst>
          </a:prstGeom>
          <a:solidFill>
            <a:srgbClr val="FFFFFF">
              <a:alpha val="0"/>
            </a:srgbClr>
          </a:solidFill>
          <a:ln w="12700">
            <a:solidFill>
              <a:srgbClr val="DCE3F0"/>
            </a:solidFill>
            <a:prstDash val="solid"/>
          </a:ln>
        </p:spPr>
      </p:sp>
      <p:sp>
        <p:nvSpPr>
          <p:cNvPr id="38" name="Text 35"/>
          <p:cNvSpPr/>
          <p:nvPr/>
        </p:nvSpPr>
        <p:spPr>
          <a:xfrm>
            <a:off x="2852928" y="4709160"/>
            <a:ext cx="410108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+2.9% / +1.2%</a:t>
            </a:r>
            <a:endParaRPr lang="en-US" sz="1600" dirty="0"/>
          </a:p>
        </p:txBody>
      </p:sp>
      <p:sp>
        <p:nvSpPr>
          <p:cNvPr id="39" name="Text 36"/>
          <p:cNvSpPr/>
          <p:nvPr/>
        </p:nvSpPr>
        <p:spPr>
          <a:xfrm>
            <a:off x="2852928" y="5074920"/>
            <a:ext cx="410108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CTR / RPM in Taobao search A/B — LUM (2025)</a:t>
            </a:r>
            <a:endParaRPr lang="en-US" sz="880" dirty="0"/>
          </a:p>
        </p:txBody>
      </p:sp>
      <p:sp>
        <p:nvSpPr>
          <p:cNvPr id="40" name="Shape 37"/>
          <p:cNvSpPr/>
          <p:nvPr/>
        </p:nvSpPr>
        <p:spPr>
          <a:xfrm>
            <a:off x="724662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7246620" y="4617720"/>
            <a:ext cx="4320540" cy="822960"/>
          </a:xfrm>
          <a:prstGeom prst="roundRect">
            <a:avLst>
              <a:gd name="adj" fmla="val 11111"/>
            </a:avLst>
          </a:prstGeom>
          <a:solidFill>
            <a:srgbClr val="FFFFFF">
              <a:alpha val="0"/>
            </a:srgbClr>
          </a:solidFill>
          <a:ln w="12700">
            <a:solidFill>
              <a:srgbClr val="DCE3F0"/>
            </a:solidFill>
            <a:prstDash val="solid"/>
          </a:ln>
        </p:spPr>
      </p:sp>
      <p:sp>
        <p:nvSpPr>
          <p:cNvPr id="42" name="Text 39"/>
          <p:cNvSpPr/>
          <p:nvPr/>
        </p:nvSpPr>
        <p:spPr>
          <a:xfrm>
            <a:off x="7356348" y="4709160"/>
            <a:ext cx="410108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18.8% → 46.2%</a:t>
            </a:r>
            <a:endParaRPr lang="en-US" sz="1600" dirty="0"/>
          </a:p>
        </p:txBody>
      </p:sp>
      <p:sp>
        <p:nvSpPr>
          <p:cNvPr id="43" name="Text 40"/>
          <p:cNvSpPr/>
          <p:nvPr/>
        </p:nvSpPr>
        <p:spPr>
          <a:xfrm>
            <a:off x="7356348" y="5074920"/>
            <a:ext cx="410108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new-category discovery via serendipity retrieval — URM (2025)</a:t>
            </a:r>
            <a:endParaRPr lang="en-US" sz="880" dirty="0"/>
          </a:p>
        </p:txBody>
      </p:sp>
      <p:sp>
        <p:nvSpPr>
          <p:cNvPr id="44" name="Text 41"/>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Wang et al., KDD 2018 (EGES); Zhou et al., KDD 2018 (DIN); Yan et al., 2025 (LUM); Jiang et al., 2025 (URM, arXiv:2502.03041); Yi et al., 2025 (RecGPT).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APPENDIX · PLATFORM DEEP-DIVE</a:t>
            </a:r>
            <a:endParaRPr lang="en-US" sz="1200" dirty="0"/>
          </a:p>
        </p:txBody>
      </p:sp>
      <p:sp>
        <p:nvSpPr>
          <p:cNvPr id="3" name="Text 1"/>
          <p:cNvSpPr/>
          <p:nvPr/>
        </p:nvSpPr>
        <p:spPr>
          <a:xfrm>
            <a:off x="640080" y="630936"/>
            <a:ext cx="8778240" cy="548640"/>
          </a:xfrm>
          <a:prstGeom prst="rect">
            <a:avLst/>
          </a:prstGeom>
          <a:noFill/>
          <a:ln/>
        </p:spPr>
        <p:txBody>
          <a:bodyPr wrap="square" lIns="0" tIns="0" rIns="0" bIns="0" rtlCol="0" anchor="ctr"/>
          <a:lstStyle/>
          <a:p>
            <a:pPr indent="0" marL="0">
              <a:buNone/>
            </a:pPr>
            <a:r>
              <a:rPr lang="en-US" sz="2500" b="1" dirty="0">
                <a:solidFill>
                  <a:srgbClr val="1A2238"/>
                </a:solidFill>
                <a:latin typeface="Cambria" pitchFamily="34" charset="0"/>
                <a:ea typeface="Cambria" pitchFamily="34" charset="-122"/>
                <a:cs typeface="Cambria" pitchFamily="34" charset="-120"/>
              </a:rPr>
              <a:t>JD.com (Jingdong) — recommendation system history</a:t>
            </a:r>
            <a:endParaRPr lang="en-US" sz="2500" dirty="0"/>
          </a:p>
        </p:txBody>
      </p:sp>
      <p:sp>
        <p:nvSpPr>
          <p:cNvPr id="4" name="Shape 2"/>
          <p:cNvSpPr/>
          <p:nvPr/>
        </p:nvSpPr>
        <p:spPr>
          <a:xfrm>
            <a:off x="10698480" y="566928"/>
            <a:ext cx="777240" cy="777240"/>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10908335" y="776783"/>
            <a:ext cx="357530" cy="357530"/>
          </a:xfrm>
          <a:prstGeom prst="rect">
            <a:avLst/>
          </a:prstGeom>
        </p:spPr>
      </p:pic>
      <p:sp>
        <p:nvSpPr>
          <p:cNvPr id="6" name="Text 3"/>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From deep-learning retrieval to generative CTR and generative retrieval in production.</a:t>
            </a:r>
            <a:endParaRPr lang="en-US" sz="1300" dirty="0"/>
          </a:p>
        </p:txBody>
      </p:sp>
      <p:sp>
        <p:nvSpPr>
          <p:cNvPr id="7" name="Text 4"/>
          <p:cNvSpPr/>
          <p:nvPr/>
        </p:nvSpPr>
        <p:spPr>
          <a:xfrm>
            <a:off x="640080" y="1947672"/>
            <a:ext cx="4272077" cy="274320"/>
          </a:xfrm>
          <a:prstGeom prst="rect">
            <a:avLst/>
          </a:prstGeom>
          <a:noFill/>
          <a:ln/>
        </p:spPr>
        <p:txBody>
          <a:bodyPr wrap="square" lIns="0" tIns="0" rIns="0" bIns="0" rtlCol="0" anchor="ctr"/>
          <a:lstStyle/>
          <a:p>
            <a:pPr algn="ctr" indent="0" marL="0">
              <a:buNone/>
            </a:pPr>
            <a:r>
              <a:rPr lang="en-US" sz="1100" b="1" spc="100" kern="0" dirty="0">
                <a:solidFill>
                  <a:srgbClr val="5B6478"/>
                </a:solidFill>
                <a:latin typeface="Calibri" pitchFamily="34" charset="0"/>
                <a:ea typeface="Calibri" pitchFamily="34" charset="-122"/>
                <a:cs typeface="Calibri" pitchFamily="34" charset="-120"/>
              </a:rPr>
              <a:t>PRE-GPT ERA</a:t>
            </a:r>
            <a:endParaRPr lang="en-US" sz="1100" dirty="0"/>
          </a:p>
        </p:txBody>
      </p:sp>
      <p:sp>
        <p:nvSpPr>
          <p:cNvPr id="8" name="Text 5"/>
          <p:cNvSpPr/>
          <p:nvPr/>
        </p:nvSpPr>
        <p:spPr>
          <a:xfrm>
            <a:off x="5076749" y="1947672"/>
            <a:ext cx="6490411" cy="274320"/>
          </a:xfrm>
          <a:prstGeom prst="rect">
            <a:avLst/>
          </a:prstGeom>
          <a:noFill/>
          <a:ln/>
        </p:spPr>
        <p:txBody>
          <a:bodyPr wrap="square" lIns="0" tIns="0" rIns="0" bIns="0" rtlCol="0" anchor="ctr"/>
          <a:lstStyle/>
          <a:p>
            <a:pPr algn="ctr" indent="0" marL="0">
              <a:buNone/>
            </a:pPr>
            <a:r>
              <a:rPr lang="en-US" sz="1100" b="1" spc="100" kern="0" dirty="0">
                <a:solidFill>
                  <a:srgbClr val="7A3EA8"/>
                </a:solidFill>
                <a:latin typeface="Calibri" pitchFamily="34" charset="0"/>
                <a:ea typeface="Calibri" pitchFamily="34" charset="-122"/>
                <a:cs typeface="Calibri" pitchFamily="34" charset="-120"/>
              </a:rPr>
              <a:t>GPT / LLM ERA</a:t>
            </a:r>
            <a:endParaRPr lang="en-US" sz="1100" dirty="0"/>
          </a:p>
        </p:txBody>
      </p:sp>
      <p:sp>
        <p:nvSpPr>
          <p:cNvPr id="9" name="Shape 6"/>
          <p:cNvSpPr/>
          <p:nvPr/>
        </p:nvSpPr>
        <p:spPr>
          <a:xfrm>
            <a:off x="4994453" y="1874520"/>
            <a:ext cx="0" cy="2606040"/>
          </a:xfrm>
          <a:prstGeom prst="line">
            <a:avLst/>
          </a:prstGeom>
          <a:noFill/>
          <a:ln w="15875">
            <a:solidFill>
              <a:srgbClr val="7A3EA8"/>
            </a:solidFill>
            <a:prstDash val="dash"/>
          </a:ln>
        </p:spPr>
      </p:sp>
      <p:sp>
        <p:nvSpPr>
          <p:cNvPr id="10" name="Shape 7"/>
          <p:cNvSpPr/>
          <p:nvPr/>
        </p:nvSpPr>
        <p:spPr>
          <a:xfrm>
            <a:off x="640080"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1" name="Shape 8"/>
          <p:cNvSpPr/>
          <p:nvPr/>
        </p:nvSpPr>
        <p:spPr>
          <a:xfrm>
            <a:off x="804672" y="2496312"/>
            <a:ext cx="1724558" cy="365760"/>
          </a:xfrm>
          <a:prstGeom prst="roundRect">
            <a:avLst>
              <a:gd name="adj" fmla="val 50000"/>
            </a:avLst>
          </a:prstGeom>
          <a:solidFill>
            <a:srgbClr val="1E2761"/>
          </a:solidFill>
          <a:ln/>
        </p:spPr>
      </p:sp>
      <p:sp>
        <p:nvSpPr>
          <p:cNvPr id="12" name="Text 9"/>
          <p:cNvSpPr/>
          <p:nvPr/>
        </p:nvSpPr>
        <p:spPr>
          <a:xfrm>
            <a:off x="804672"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13" name="Text 10"/>
          <p:cNvSpPr/>
          <p:nvPr/>
        </p:nvSpPr>
        <p:spPr>
          <a:xfrm>
            <a:off x="777240"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Telepath</a:t>
            </a:r>
            <a:endParaRPr lang="en-US" sz="1200" dirty="0"/>
          </a:p>
        </p:txBody>
      </p:sp>
      <p:sp>
        <p:nvSpPr>
          <p:cNvPr id="14" name="Text 11"/>
          <p:cNvSpPr/>
          <p:nvPr/>
        </p:nvSpPr>
        <p:spPr>
          <a:xfrm>
            <a:off x="786384"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Deep-learning, vision-aware recommender.</a:t>
            </a:r>
            <a:endParaRPr lang="en-US" sz="960" dirty="0"/>
          </a:p>
        </p:txBody>
      </p:sp>
      <p:sp>
        <p:nvSpPr>
          <p:cNvPr id="15" name="Shape 12"/>
          <p:cNvSpPr/>
          <p:nvPr/>
        </p:nvSpPr>
        <p:spPr>
          <a:xfrm>
            <a:off x="2858414" y="2331720"/>
            <a:ext cx="2053742" cy="1965960"/>
          </a:xfrm>
          <a:prstGeom prst="roundRect">
            <a:avLst>
              <a:gd name="adj" fmla="val 5581"/>
            </a:avLst>
          </a:prstGeom>
          <a:solidFill>
            <a:srgbClr val="F3F6FC"/>
          </a:solidFill>
          <a:ln/>
          <a:effectLst>
            <a:outerShdw sx="100000" sy="100000" kx="0" ky="0" algn="bl" rotWithShape="0" blurRad="127000" dist="50800" dir="5400000">
              <a:srgbClr val="8A93A6">
                <a:alpha val="13000"/>
              </a:srgbClr>
            </a:outerShdw>
          </a:effectLst>
        </p:spPr>
      </p:sp>
      <p:sp>
        <p:nvSpPr>
          <p:cNvPr id="16" name="Shape 13"/>
          <p:cNvSpPr/>
          <p:nvPr/>
        </p:nvSpPr>
        <p:spPr>
          <a:xfrm>
            <a:off x="3023006" y="2496312"/>
            <a:ext cx="1724558" cy="365760"/>
          </a:xfrm>
          <a:prstGeom prst="roundRect">
            <a:avLst>
              <a:gd name="adj" fmla="val 50000"/>
            </a:avLst>
          </a:prstGeom>
          <a:solidFill>
            <a:srgbClr val="1E2761"/>
          </a:solidFill>
          <a:ln/>
        </p:spPr>
      </p:sp>
      <p:sp>
        <p:nvSpPr>
          <p:cNvPr id="17" name="Text 14"/>
          <p:cNvSpPr/>
          <p:nvPr/>
        </p:nvSpPr>
        <p:spPr>
          <a:xfrm>
            <a:off x="3023006"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2021</a:t>
            </a:r>
            <a:endParaRPr lang="en-US" sz="1200" dirty="0"/>
          </a:p>
        </p:txBody>
      </p:sp>
      <p:sp>
        <p:nvSpPr>
          <p:cNvPr id="18" name="Text 15"/>
          <p:cNvSpPr/>
          <p:nvPr/>
        </p:nvSpPr>
        <p:spPr>
          <a:xfrm>
            <a:off x="2995574"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Semantic retrieval + re-rank</a:t>
            </a:r>
            <a:endParaRPr lang="en-US" sz="1200" dirty="0"/>
          </a:p>
        </p:txBody>
      </p:sp>
      <p:sp>
        <p:nvSpPr>
          <p:cNvPr id="19" name="Text 16"/>
          <p:cNvSpPr/>
          <p:nvPr/>
        </p:nvSpPr>
        <p:spPr>
          <a:xfrm>
            <a:off x="3004718"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Deep retrieval with pairwise ranking for search.</a:t>
            </a:r>
            <a:endParaRPr lang="en-US" sz="960" dirty="0"/>
          </a:p>
        </p:txBody>
      </p:sp>
      <p:sp>
        <p:nvSpPr>
          <p:cNvPr id="20" name="Shape 17"/>
          <p:cNvSpPr/>
          <p:nvPr/>
        </p:nvSpPr>
        <p:spPr>
          <a:xfrm>
            <a:off x="5076749"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21" name="Shape 18"/>
          <p:cNvSpPr/>
          <p:nvPr/>
        </p:nvSpPr>
        <p:spPr>
          <a:xfrm>
            <a:off x="5241341" y="2496312"/>
            <a:ext cx="1724558" cy="365760"/>
          </a:xfrm>
          <a:prstGeom prst="roundRect">
            <a:avLst>
              <a:gd name="adj" fmla="val 50000"/>
            </a:avLst>
          </a:prstGeom>
          <a:solidFill>
            <a:srgbClr val="7A3EA8"/>
          </a:solidFill>
          <a:ln/>
        </p:spPr>
      </p:sp>
      <p:sp>
        <p:nvSpPr>
          <p:cNvPr id="22" name="Text 19"/>
          <p:cNvSpPr/>
          <p:nvPr/>
        </p:nvSpPr>
        <p:spPr>
          <a:xfrm>
            <a:off x="5241341"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3" name="Text 20"/>
          <p:cNvSpPr/>
          <p:nvPr/>
        </p:nvSpPr>
        <p:spPr>
          <a:xfrm>
            <a:off x="5213909"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GenCTR</a:t>
            </a:r>
            <a:endParaRPr lang="en-US" sz="1200" dirty="0"/>
          </a:p>
        </p:txBody>
      </p:sp>
      <p:sp>
        <p:nvSpPr>
          <p:cNvPr id="24" name="Text 21"/>
          <p:cNvSpPr/>
          <p:nvPr/>
        </p:nvSpPr>
        <p:spPr>
          <a:xfrm>
            <a:off x="5223053"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Generative CTR for search ads (gen→discriminative).</a:t>
            </a:r>
            <a:endParaRPr lang="en-US" sz="960" dirty="0"/>
          </a:p>
        </p:txBody>
      </p:sp>
      <p:sp>
        <p:nvSpPr>
          <p:cNvPr id="25" name="Shape 22"/>
          <p:cNvSpPr/>
          <p:nvPr/>
        </p:nvSpPr>
        <p:spPr>
          <a:xfrm>
            <a:off x="7295083"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26" name="Shape 23"/>
          <p:cNvSpPr/>
          <p:nvPr/>
        </p:nvSpPr>
        <p:spPr>
          <a:xfrm>
            <a:off x="7459675" y="2496312"/>
            <a:ext cx="1724558" cy="365760"/>
          </a:xfrm>
          <a:prstGeom prst="roundRect">
            <a:avLst>
              <a:gd name="adj" fmla="val 50000"/>
            </a:avLst>
          </a:prstGeom>
          <a:solidFill>
            <a:srgbClr val="7A3EA8"/>
          </a:solidFill>
          <a:ln/>
        </p:spPr>
      </p:sp>
      <p:sp>
        <p:nvSpPr>
          <p:cNvPr id="27" name="Text 24"/>
          <p:cNvSpPr/>
          <p:nvPr/>
        </p:nvSpPr>
        <p:spPr>
          <a:xfrm>
            <a:off x="7459675"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28" name="Text 25"/>
          <p:cNvSpPr/>
          <p:nvPr/>
        </p:nvSpPr>
        <p:spPr>
          <a:xfrm>
            <a:off x="7432243"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GRAM</a:t>
            </a:r>
            <a:endParaRPr lang="en-US" sz="1200" dirty="0"/>
          </a:p>
        </p:txBody>
      </p:sp>
      <p:sp>
        <p:nvSpPr>
          <p:cNvPr id="29" name="Text 26"/>
          <p:cNvSpPr/>
          <p:nvPr/>
        </p:nvSpPr>
        <p:spPr>
          <a:xfrm>
            <a:off x="7441387"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Generative retrieval &amp; alignment for e-commerce.</a:t>
            </a:r>
            <a:endParaRPr lang="en-US" sz="960" dirty="0"/>
          </a:p>
        </p:txBody>
      </p:sp>
      <p:sp>
        <p:nvSpPr>
          <p:cNvPr id="30" name="Shape 27"/>
          <p:cNvSpPr/>
          <p:nvPr/>
        </p:nvSpPr>
        <p:spPr>
          <a:xfrm>
            <a:off x="9513418" y="2331720"/>
            <a:ext cx="2053742" cy="1965960"/>
          </a:xfrm>
          <a:prstGeom prst="roundRect">
            <a:avLst>
              <a:gd name="adj" fmla="val 5581"/>
            </a:avLst>
          </a:prstGeom>
          <a:solidFill>
            <a:srgbClr val="F5F0FB"/>
          </a:solidFill>
          <a:ln/>
          <a:effectLst>
            <a:outerShdw sx="100000" sy="100000" kx="0" ky="0" algn="bl" rotWithShape="0" blurRad="127000" dist="50800" dir="5400000">
              <a:srgbClr val="8A93A6">
                <a:alpha val="13000"/>
              </a:srgbClr>
            </a:outerShdw>
          </a:effectLst>
        </p:spPr>
      </p:sp>
      <p:sp>
        <p:nvSpPr>
          <p:cNvPr id="31" name="Shape 28"/>
          <p:cNvSpPr/>
          <p:nvPr/>
        </p:nvSpPr>
        <p:spPr>
          <a:xfrm>
            <a:off x="9678010" y="2496312"/>
            <a:ext cx="1724558" cy="365760"/>
          </a:xfrm>
          <a:prstGeom prst="roundRect">
            <a:avLst>
              <a:gd name="adj" fmla="val 50000"/>
            </a:avLst>
          </a:prstGeom>
          <a:solidFill>
            <a:srgbClr val="7A3EA8"/>
          </a:solidFill>
          <a:ln/>
        </p:spPr>
      </p:sp>
      <p:sp>
        <p:nvSpPr>
          <p:cNvPr id="32" name="Text 29"/>
          <p:cNvSpPr/>
          <p:nvPr/>
        </p:nvSpPr>
        <p:spPr>
          <a:xfrm>
            <a:off x="9678010" y="2496312"/>
            <a:ext cx="172455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2025</a:t>
            </a:r>
            <a:endParaRPr lang="en-US" sz="1200" dirty="0"/>
          </a:p>
        </p:txBody>
      </p:sp>
      <p:sp>
        <p:nvSpPr>
          <p:cNvPr id="33" name="Text 30"/>
          <p:cNvSpPr/>
          <p:nvPr/>
        </p:nvSpPr>
        <p:spPr>
          <a:xfrm>
            <a:off x="9650578" y="2971800"/>
            <a:ext cx="1779422" cy="566928"/>
          </a:xfrm>
          <a:prstGeom prst="rect">
            <a:avLst/>
          </a:prstGeom>
          <a:noFill/>
          <a:ln/>
        </p:spPr>
        <p:txBody>
          <a:bodyPr wrap="square" lIns="0" tIns="0" rIns="0" bIns="0" rtlCol="0" anchor="ctr"/>
          <a:lstStyle/>
          <a:p>
            <a:pPr algn="ctr" indent="0" marL="0">
              <a:buNone/>
            </a:pPr>
            <a:r>
              <a:rPr lang="en-US" sz="1200" b="1" dirty="0">
                <a:solidFill>
                  <a:srgbClr val="1A2238"/>
                </a:solidFill>
                <a:latin typeface="Cambria" pitchFamily="34" charset="0"/>
                <a:ea typeface="Cambria" pitchFamily="34" charset="-122"/>
                <a:cs typeface="Cambria" pitchFamily="34" charset="-120"/>
              </a:rPr>
              <a:t>CFRAG</a:t>
            </a:r>
            <a:endParaRPr lang="en-US" sz="1200" dirty="0"/>
          </a:p>
        </p:txBody>
      </p:sp>
      <p:sp>
        <p:nvSpPr>
          <p:cNvPr id="34" name="Text 31"/>
          <p:cNvSpPr/>
          <p:nvPr/>
        </p:nvSpPr>
        <p:spPr>
          <a:xfrm>
            <a:off x="9659722" y="3520440"/>
            <a:ext cx="1761134" cy="749808"/>
          </a:xfrm>
          <a:prstGeom prst="rect">
            <a:avLst/>
          </a:prstGeom>
          <a:noFill/>
          <a:ln/>
        </p:spPr>
        <p:txBody>
          <a:bodyPr wrap="square" lIns="0" tIns="0" rIns="0" bIns="0" rtlCol="0" anchor="ctr"/>
          <a:lstStyle/>
          <a:p>
            <a:pPr algn="ctr" indent="0" marL="0">
              <a:buNone/>
            </a:pPr>
            <a:r>
              <a:rPr lang="en-US" sz="960" dirty="0">
                <a:solidFill>
                  <a:srgbClr val="5B6478"/>
                </a:solidFill>
                <a:latin typeface="Calibri" pitchFamily="34" charset="0"/>
                <a:ea typeface="Calibri" pitchFamily="34" charset="-122"/>
                <a:cs typeface="Calibri" pitchFamily="34" charset="-120"/>
              </a:rPr>
              <a:t>LLM-embedding-augmented recall (RAG for rec).</a:t>
            </a:r>
            <a:endParaRPr lang="en-US" sz="960" dirty="0"/>
          </a:p>
        </p:txBody>
      </p:sp>
      <p:sp>
        <p:nvSpPr>
          <p:cNvPr id="35" name="Text 32"/>
          <p:cNvSpPr/>
          <p:nvPr/>
        </p:nvSpPr>
        <p:spPr>
          <a:xfrm>
            <a:off x="640080" y="4599432"/>
            <a:ext cx="2103120" cy="822960"/>
          </a:xfrm>
          <a:prstGeom prst="rect">
            <a:avLst/>
          </a:prstGeom>
          <a:noFill/>
          <a:ln/>
        </p:spPr>
        <p:txBody>
          <a:bodyPr wrap="square" lIns="0" tIns="0" rIns="0" bIns="0" rtlCol="0" anchor="ctr"/>
          <a:lstStyle/>
          <a:p>
            <a:pPr indent="0" marL="0">
              <a:buNone/>
            </a:pPr>
            <a:r>
              <a:rPr lang="en-US" sz="1300" b="1" dirty="0">
                <a:solidFill>
                  <a:srgbClr val="7A3EA8"/>
                </a:solidFill>
                <a:latin typeface="Cambria" pitchFamily="34" charset="0"/>
                <a:ea typeface="Cambria" pitchFamily="34" charset="-122"/>
                <a:cs typeface="Cambria" pitchFamily="34" charset="-120"/>
              </a:rPr>
              <a:t>GPT-era impact</a:t>
            </a:r>
            <a:endParaRPr lang="en-US" sz="1300" dirty="0"/>
          </a:p>
        </p:txBody>
      </p:sp>
      <p:sp>
        <p:nvSpPr>
          <p:cNvPr id="36" name="Shape 33"/>
          <p:cNvSpPr/>
          <p:nvPr/>
        </p:nvSpPr>
        <p:spPr>
          <a:xfrm>
            <a:off x="274320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37" name="Shape 34"/>
          <p:cNvSpPr/>
          <p:nvPr/>
        </p:nvSpPr>
        <p:spPr>
          <a:xfrm>
            <a:off x="2743200" y="4617720"/>
            <a:ext cx="4320540" cy="822960"/>
          </a:xfrm>
          <a:prstGeom prst="roundRect">
            <a:avLst>
              <a:gd name="adj" fmla="val 11111"/>
            </a:avLst>
          </a:prstGeom>
          <a:solidFill>
            <a:srgbClr val="FFFFFF">
              <a:alpha val="0"/>
            </a:srgbClr>
          </a:solidFill>
          <a:ln w="12700">
            <a:solidFill>
              <a:srgbClr val="DCE3F0"/>
            </a:solidFill>
            <a:prstDash val="solid"/>
          </a:ln>
        </p:spPr>
      </p:sp>
      <p:sp>
        <p:nvSpPr>
          <p:cNvPr id="38" name="Text 35"/>
          <p:cNvSpPr/>
          <p:nvPr/>
        </p:nvSpPr>
        <p:spPr>
          <a:xfrm>
            <a:off x="2852928" y="4709160"/>
            <a:ext cx="410108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Generative CTR</a:t>
            </a:r>
            <a:endParaRPr lang="en-US" sz="1600" dirty="0"/>
          </a:p>
        </p:txBody>
      </p:sp>
      <p:sp>
        <p:nvSpPr>
          <p:cNvPr id="39" name="Text 36"/>
          <p:cNvSpPr/>
          <p:nvPr/>
        </p:nvSpPr>
        <p:spPr>
          <a:xfrm>
            <a:off x="2852928" y="5074920"/>
            <a:ext cx="410108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generative→discriminative transfer in production (2025)</a:t>
            </a:r>
            <a:endParaRPr lang="en-US" sz="880" dirty="0"/>
          </a:p>
        </p:txBody>
      </p:sp>
      <p:sp>
        <p:nvSpPr>
          <p:cNvPr id="40" name="Shape 37"/>
          <p:cNvSpPr/>
          <p:nvPr/>
        </p:nvSpPr>
        <p:spPr>
          <a:xfrm>
            <a:off x="7246620" y="4617720"/>
            <a:ext cx="4320540" cy="822960"/>
          </a:xfrm>
          <a:prstGeom prst="roundRect">
            <a:avLst>
              <a:gd name="adj" fmla="val 11111"/>
            </a:avLst>
          </a:prstGeom>
          <a:solidFill>
            <a:srgbClr val="FFFFFF"/>
          </a:solidFill>
          <a:ln/>
          <a:effectLst>
            <a:outerShdw sx="100000" sy="100000" kx="0" ky="0" algn="bl" rotWithShape="0" blurRad="127000" dist="50800" dir="5400000">
              <a:srgbClr val="8A93A6">
                <a:alpha val="13000"/>
              </a:srgbClr>
            </a:outerShdw>
          </a:effectLst>
        </p:spPr>
      </p:sp>
      <p:sp>
        <p:nvSpPr>
          <p:cNvPr id="41" name="Shape 38"/>
          <p:cNvSpPr/>
          <p:nvPr/>
        </p:nvSpPr>
        <p:spPr>
          <a:xfrm>
            <a:off x="7246620" y="4617720"/>
            <a:ext cx="4320540" cy="822960"/>
          </a:xfrm>
          <a:prstGeom prst="roundRect">
            <a:avLst>
              <a:gd name="adj" fmla="val 11111"/>
            </a:avLst>
          </a:prstGeom>
          <a:solidFill>
            <a:srgbClr val="FFFFFF">
              <a:alpha val="0"/>
            </a:srgbClr>
          </a:solidFill>
          <a:ln w="12700">
            <a:solidFill>
              <a:srgbClr val="DCE3F0"/>
            </a:solidFill>
            <a:prstDash val="solid"/>
          </a:ln>
        </p:spPr>
      </p:sp>
      <p:sp>
        <p:nvSpPr>
          <p:cNvPr id="42" name="Text 39"/>
          <p:cNvSpPr/>
          <p:nvPr/>
        </p:nvSpPr>
        <p:spPr>
          <a:xfrm>
            <a:off x="7356348" y="4709160"/>
            <a:ext cx="4101084" cy="365760"/>
          </a:xfrm>
          <a:prstGeom prst="rect">
            <a:avLst/>
          </a:prstGeom>
          <a:noFill/>
          <a:ln/>
        </p:spPr>
        <p:txBody>
          <a:bodyPr wrap="square" lIns="0" tIns="0" rIns="0" bIns="0" rtlCol="0" anchor="ctr"/>
          <a:lstStyle/>
          <a:p>
            <a:pPr algn="ctr" indent="0" marL="0">
              <a:buNone/>
            </a:pPr>
            <a:r>
              <a:rPr lang="en-US" sz="1600" b="1" dirty="0">
                <a:solidFill>
                  <a:srgbClr val="7A3EA8"/>
                </a:solidFill>
                <a:latin typeface="Cambria" pitchFamily="34" charset="0"/>
                <a:ea typeface="Cambria" pitchFamily="34" charset="-122"/>
                <a:cs typeface="Cambria" pitchFamily="34" charset="-120"/>
              </a:rPr>
              <a:t>Generative retrieval</a:t>
            </a:r>
            <a:endParaRPr lang="en-US" sz="1600" dirty="0"/>
          </a:p>
        </p:txBody>
      </p:sp>
      <p:sp>
        <p:nvSpPr>
          <p:cNvPr id="43" name="Text 40"/>
          <p:cNvSpPr/>
          <p:nvPr/>
        </p:nvSpPr>
        <p:spPr>
          <a:xfrm>
            <a:off x="7356348" y="5074920"/>
            <a:ext cx="4101084" cy="329184"/>
          </a:xfrm>
          <a:prstGeom prst="rect">
            <a:avLst/>
          </a:prstGeom>
          <a:noFill/>
          <a:ln/>
        </p:spPr>
        <p:txBody>
          <a:bodyPr wrap="square" lIns="0" tIns="0" rIns="0" bIns="0" rtlCol="0" anchor="ctr"/>
          <a:lstStyle/>
          <a:p>
            <a:pPr algn="ctr" indent="0" marL="0">
              <a:buNone/>
            </a:pPr>
            <a:r>
              <a:rPr lang="en-US" sz="880" dirty="0">
                <a:solidFill>
                  <a:srgbClr val="5B6478"/>
                </a:solidFill>
                <a:latin typeface="Calibri" pitchFamily="34" charset="0"/>
                <a:ea typeface="Calibri" pitchFamily="34" charset="-122"/>
                <a:cs typeface="Calibri" pitchFamily="34" charset="-120"/>
              </a:rPr>
              <a:t>GRAM &amp; CFRAG bring LLM retrieval to JD search (2025)</a:t>
            </a:r>
            <a:endParaRPr lang="en-US" sz="880" dirty="0"/>
          </a:p>
        </p:txBody>
      </p:sp>
      <p:sp>
        <p:nvSpPr>
          <p:cNvPr id="44" name="Text 41"/>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Zhao et al. (Telepath), 2017; Li et al., 2021; Kong et al., 2025 (GenCTR, arXiv:2507.11246); JD GRAM &amp; CFRAG, 2025.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APPENDIX · PLATFORM DEEP-DIVE</a:t>
            </a:r>
            <a:endParaRPr lang="en-US" sz="1200" dirty="0"/>
          </a:p>
        </p:txBody>
      </p:sp>
      <p:sp>
        <p:nvSpPr>
          <p:cNvPr id="3" name="Text 1"/>
          <p:cNvSpPr/>
          <p:nvPr/>
        </p:nvSpPr>
        <p:spPr>
          <a:xfrm>
            <a:off x="640080" y="630936"/>
            <a:ext cx="10927080" cy="548640"/>
          </a:xfrm>
          <a:prstGeom prst="rect">
            <a:avLst/>
          </a:prstGeom>
          <a:noFill/>
          <a:ln/>
        </p:spPr>
        <p:txBody>
          <a:bodyPr wrap="square" lIns="0" tIns="0" rIns="0" bIns="0" rtlCol="0" anchor="ctr"/>
          <a:lstStyle/>
          <a:p>
            <a:pPr indent="0" marL="0">
              <a:buNone/>
            </a:pPr>
            <a:r>
              <a:rPr lang="en-US" sz="2500" b="1" dirty="0">
                <a:solidFill>
                  <a:srgbClr val="1A2238"/>
                </a:solidFill>
                <a:latin typeface="Cambria" pitchFamily="34" charset="0"/>
                <a:ea typeface="Cambria" pitchFamily="34" charset="-122"/>
                <a:cs typeface="Cambria" pitchFamily="34" charset="-120"/>
              </a:rPr>
              <a:t>Effectiveness by user class (LLM era)</a:t>
            </a:r>
            <a:endParaRPr lang="en-US" sz="2500" dirty="0"/>
          </a:p>
        </p:txBody>
      </p:sp>
      <p:sp>
        <p:nvSpPr>
          <p:cNvPr id="4" name="Text 2"/>
          <p:cNvSpPr/>
          <p:nvPr/>
        </p:nvSpPr>
        <p:spPr>
          <a:xfrm>
            <a:off x="640080" y="1298448"/>
            <a:ext cx="10927080" cy="292608"/>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Recent studies show the generative/LLM shift helps most where classical methods struggle — new and cold-start users.</a:t>
            </a:r>
            <a:endParaRPr lang="en-US" sz="1300" dirty="0"/>
          </a:p>
        </p:txBody>
      </p:sp>
      <p:sp>
        <p:nvSpPr>
          <p:cNvPr id="5" name="Shape 3"/>
          <p:cNvSpPr/>
          <p:nvPr/>
        </p:nvSpPr>
        <p:spPr>
          <a:xfrm>
            <a:off x="640080" y="1783080"/>
            <a:ext cx="3566160" cy="3703320"/>
          </a:xfrm>
          <a:prstGeom prst="roundRect">
            <a:avLst>
              <a:gd name="adj" fmla="val 3590"/>
            </a:avLst>
          </a:prstGeom>
          <a:solidFill>
            <a:srgbClr val="F3F6FC"/>
          </a:solidFill>
          <a:ln/>
          <a:effectLst>
            <a:outerShdw sx="100000" sy="100000" kx="0" ky="0" algn="bl" rotWithShape="0" blurRad="127000" dist="50800" dir="5400000">
              <a:srgbClr val="8A93A6">
                <a:alpha val="13000"/>
              </a:srgbClr>
            </a:outerShdw>
          </a:effectLst>
        </p:spPr>
      </p:sp>
      <p:sp>
        <p:nvSpPr>
          <p:cNvPr id="6" name="Shape 4"/>
          <p:cNvSpPr/>
          <p:nvPr/>
        </p:nvSpPr>
        <p:spPr>
          <a:xfrm>
            <a:off x="640080" y="1783080"/>
            <a:ext cx="3566160" cy="109728"/>
          </a:xfrm>
          <a:prstGeom prst="roundRect">
            <a:avLst>
              <a:gd name="adj" fmla="val 50000"/>
            </a:avLst>
          </a:prstGeom>
          <a:solidFill>
            <a:srgbClr val="7A3EA8"/>
          </a:solidFill>
          <a:ln/>
        </p:spPr>
      </p:sp>
      <p:sp>
        <p:nvSpPr>
          <p:cNvPr id="7" name="Shape 5"/>
          <p:cNvSpPr/>
          <p:nvPr/>
        </p:nvSpPr>
        <p:spPr>
          <a:xfrm>
            <a:off x="914400" y="2075688"/>
            <a:ext cx="658368" cy="658368"/>
          </a:xfrm>
          <a:prstGeom prst="ellipse">
            <a:avLst/>
          </a:prstGeom>
          <a:solidFill>
            <a:srgbClr val="7A3EA8"/>
          </a:solidFill>
          <a:ln/>
          <a:effectLst>
            <a:outerShdw sx="100000" sy="100000" kx="0" ky="0" algn="bl" rotWithShape="0" blurRad="127000" dist="50800" dir="5400000">
              <a:srgbClr val="8A93A6">
                <a:alpha val="13000"/>
              </a:srgbClr>
            </a:outerShdw>
          </a:effectLst>
        </p:spPr>
      </p:sp>
      <p:pic>
        <p:nvPicPr>
          <p:cNvPr id="8" name="Image 0" descr="preencoded.png">    </p:cNvPr>
          <p:cNvPicPr>
            <a:picLocks noChangeAspect="1"/>
          </p:cNvPicPr>
          <p:nvPr/>
        </p:nvPicPr>
        <p:blipFill>
          <a:blip r:embed="rId1"/>
          <a:stretch>
            <a:fillRect/>
          </a:stretch>
        </p:blipFill>
        <p:spPr>
          <a:xfrm>
            <a:off x="1092159" y="2253447"/>
            <a:ext cx="302849" cy="302849"/>
          </a:xfrm>
          <a:prstGeom prst="rect">
            <a:avLst/>
          </a:prstGeom>
        </p:spPr>
      </p:pic>
      <p:sp>
        <p:nvSpPr>
          <p:cNvPr id="9" name="Text 6"/>
          <p:cNvSpPr/>
          <p:nvPr/>
        </p:nvSpPr>
        <p:spPr>
          <a:xfrm>
            <a:off x="1737360" y="2093976"/>
            <a:ext cx="2286000" cy="365760"/>
          </a:xfrm>
          <a:prstGeom prst="rect">
            <a:avLst/>
          </a:prstGeom>
          <a:noFill/>
          <a:ln/>
        </p:spPr>
        <p:txBody>
          <a:bodyPr wrap="square" lIns="0" tIns="0" rIns="0" bIns="0" rtlCol="0" anchor="ctr"/>
          <a:lstStyle/>
          <a:p>
            <a:pPr indent="0" marL="0">
              <a:buNone/>
            </a:pPr>
            <a:r>
              <a:rPr lang="en-US" sz="1550" b="1" dirty="0">
                <a:solidFill>
                  <a:srgbClr val="1A2238"/>
                </a:solidFill>
                <a:latin typeface="Cambria" pitchFamily="34" charset="0"/>
                <a:ea typeface="Cambria" pitchFamily="34" charset="-122"/>
                <a:cs typeface="Cambria" pitchFamily="34" charset="-120"/>
              </a:rPr>
              <a:t>New &amp; cold-start</a:t>
            </a:r>
            <a:endParaRPr lang="en-US" sz="1550" dirty="0"/>
          </a:p>
        </p:txBody>
      </p:sp>
      <p:sp>
        <p:nvSpPr>
          <p:cNvPr id="10" name="Text 7"/>
          <p:cNvSpPr/>
          <p:nvPr/>
        </p:nvSpPr>
        <p:spPr>
          <a:xfrm>
            <a:off x="1737360" y="2459736"/>
            <a:ext cx="2286000" cy="274320"/>
          </a:xfrm>
          <a:prstGeom prst="rect">
            <a:avLst/>
          </a:prstGeom>
          <a:noFill/>
          <a:ln/>
        </p:spPr>
        <p:txBody>
          <a:bodyPr wrap="square" lIns="0" tIns="0" rIns="0" bIns="0"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Little or no history</a:t>
            </a:r>
            <a:endParaRPr lang="en-US" sz="1050" dirty="0"/>
          </a:p>
        </p:txBody>
      </p:sp>
      <p:sp>
        <p:nvSpPr>
          <p:cNvPr id="11" name="Shape 8"/>
          <p:cNvSpPr/>
          <p:nvPr/>
        </p:nvSpPr>
        <p:spPr>
          <a:xfrm>
            <a:off x="932688" y="3072384"/>
            <a:ext cx="109728" cy="109728"/>
          </a:xfrm>
          <a:prstGeom prst="ellipse">
            <a:avLst/>
          </a:prstGeom>
          <a:solidFill>
            <a:srgbClr val="7A3EA8"/>
          </a:solidFill>
          <a:ln/>
        </p:spPr>
      </p:sp>
      <p:sp>
        <p:nvSpPr>
          <p:cNvPr id="12" name="Text 9"/>
          <p:cNvSpPr/>
          <p:nvPr/>
        </p:nvSpPr>
        <p:spPr>
          <a:xfrm>
            <a:off x="1152144" y="2980944"/>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Alibaba URM: </a:t>
            </a:r>
            <a:pPr indent="0" marL="0">
              <a:buNone/>
            </a:pPr>
            <a:r>
              <a:rPr lang="en-US" sz="1030" dirty="0">
                <a:solidFill>
                  <a:srgbClr val="5B6478"/>
                </a:solidFill>
                <a:latin typeface="Calibri" pitchFamily="34" charset="0"/>
                <a:ea typeface="Calibri" pitchFamily="34" charset="-122"/>
                <a:cs typeface="Calibri" pitchFamily="34" charset="-120"/>
              </a:rPr>
              <a:t>new-category discovery 18.8% → 46.2% (2025)</a:t>
            </a:r>
            <a:endParaRPr lang="en-US" sz="1030" dirty="0"/>
          </a:p>
        </p:txBody>
      </p:sp>
      <p:sp>
        <p:nvSpPr>
          <p:cNvPr id="13" name="Shape 10"/>
          <p:cNvSpPr/>
          <p:nvPr/>
        </p:nvSpPr>
        <p:spPr>
          <a:xfrm>
            <a:off x="932688" y="3913632"/>
            <a:ext cx="109728" cy="109728"/>
          </a:xfrm>
          <a:prstGeom prst="ellipse">
            <a:avLst/>
          </a:prstGeom>
          <a:solidFill>
            <a:srgbClr val="7A3EA8"/>
          </a:solidFill>
          <a:ln/>
        </p:spPr>
      </p:sp>
      <p:sp>
        <p:nvSpPr>
          <p:cNvPr id="14" name="Text 11"/>
          <p:cNvSpPr/>
          <p:nvPr/>
        </p:nvSpPr>
        <p:spPr>
          <a:xfrm>
            <a:off x="1152144" y="3822192"/>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Video platform: </a:t>
            </a:r>
            <a:pPr indent="0" marL="0">
              <a:buNone/>
            </a:pPr>
            <a:r>
              <a:rPr lang="en-US" sz="1030" dirty="0">
                <a:solidFill>
                  <a:srgbClr val="5B6478"/>
                </a:solidFill>
                <a:latin typeface="Calibri" pitchFamily="34" charset="0"/>
                <a:ea typeface="Calibri" pitchFamily="34" charset="-122"/>
                <a:cs typeface="Calibri" pitchFamily="34" charset="-120"/>
              </a:rPr>
              <a:t>+120% Recall@200 for coldest items; +36% cold-item share (2025)</a:t>
            </a:r>
            <a:endParaRPr lang="en-US" sz="1030" dirty="0"/>
          </a:p>
        </p:txBody>
      </p:sp>
      <p:sp>
        <p:nvSpPr>
          <p:cNvPr id="15" name="Shape 12"/>
          <p:cNvSpPr/>
          <p:nvPr/>
        </p:nvSpPr>
        <p:spPr>
          <a:xfrm>
            <a:off x="932688" y="4754880"/>
            <a:ext cx="109728" cy="109728"/>
          </a:xfrm>
          <a:prstGeom prst="ellipse">
            <a:avLst/>
          </a:prstGeom>
          <a:solidFill>
            <a:srgbClr val="7A3EA8"/>
          </a:solidFill>
          <a:ln/>
        </p:spPr>
      </p:sp>
      <p:sp>
        <p:nvSpPr>
          <p:cNvPr id="16" name="Text 13"/>
          <p:cNvSpPr/>
          <p:nvPr/>
        </p:nvSpPr>
        <p:spPr>
          <a:xfrm>
            <a:off x="1152144" y="4663440"/>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Netflix: </a:t>
            </a:r>
            <a:pPr indent="0" marL="0">
              <a:buNone/>
            </a:pPr>
            <a:r>
              <a:rPr lang="en-US" sz="1030" dirty="0">
                <a:solidFill>
                  <a:srgbClr val="5B6478"/>
                </a:solidFill>
                <a:latin typeface="Calibri" pitchFamily="34" charset="0"/>
                <a:ea typeface="Calibri" pitchFamily="34" charset="-122"/>
                <a:cs typeface="Calibri" pitchFamily="34" charset="-120"/>
              </a:rPr>
              <a:t>+8% recall on novel-content discovery (2025)</a:t>
            </a:r>
            <a:endParaRPr lang="en-US" sz="1030" dirty="0"/>
          </a:p>
        </p:txBody>
      </p:sp>
      <p:sp>
        <p:nvSpPr>
          <p:cNvPr id="17" name="Shape 14"/>
          <p:cNvSpPr/>
          <p:nvPr/>
        </p:nvSpPr>
        <p:spPr>
          <a:xfrm>
            <a:off x="4370832" y="1783080"/>
            <a:ext cx="3566160" cy="3703320"/>
          </a:xfrm>
          <a:prstGeom prst="roundRect">
            <a:avLst>
              <a:gd name="adj" fmla="val 3590"/>
            </a:avLst>
          </a:prstGeom>
          <a:solidFill>
            <a:srgbClr val="F3F6FC"/>
          </a:solidFill>
          <a:ln/>
          <a:effectLst>
            <a:outerShdw sx="100000" sy="100000" kx="0" ky="0" algn="bl" rotWithShape="0" blurRad="127000" dist="50800" dir="5400000">
              <a:srgbClr val="8A93A6">
                <a:alpha val="13000"/>
              </a:srgbClr>
            </a:outerShdw>
          </a:effectLst>
        </p:spPr>
      </p:sp>
      <p:sp>
        <p:nvSpPr>
          <p:cNvPr id="18" name="Shape 15"/>
          <p:cNvSpPr/>
          <p:nvPr/>
        </p:nvSpPr>
        <p:spPr>
          <a:xfrm>
            <a:off x="4370832" y="1783080"/>
            <a:ext cx="3566160" cy="109728"/>
          </a:xfrm>
          <a:prstGeom prst="roundRect">
            <a:avLst>
              <a:gd name="adj" fmla="val 50000"/>
            </a:avLst>
          </a:prstGeom>
          <a:solidFill>
            <a:srgbClr val="4A6FA5"/>
          </a:solidFill>
          <a:ln/>
        </p:spPr>
      </p:sp>
      <p:sp>
        <p:nvSpPr>
          <p:cNvPr id="19" name="Shape 16"/>
          <p:cNvSpPr/>
          <p:nvPr/>
        </p:nvSpPr>
        <p:spPr>
          <a:xfrm>
            <a:off x="4645152" y="2075688"/>
            <a:ext cx="658368" cy="658368"/>
          </a:xfrm>
          <a:prstGeom prst="ellipse">
            <a:avLst/>
          </a:prstGeom>
          <a:solidFill>
            <a:srgbClr val="4A6FA5"/>
          </a:solidFill>
          <a:ln/>
          <a:effectLst>
            <a:outerShdw sx="100000" sy="100000" kx="0" ky="0" algn="bl" rotWithShape="0" blurRad="127000" dist="50800" dir="5400000">
              <a:srgbClr val="8A93A6">
                <a:alpha val="13000"/>
              </a:srgbClr>
            </a:outerShdw>
          </a:effectLst>
        </p:spPr>
      </p:sp>
      <p:pic>
        <p:nvPicPr>
          <p:cNvPr id="20" name="Image 1" descr="preencoded.png">    </p:cNvPr>
          <p:cNvPicPr>
            <a:picLocks noChangeAspect="1"/>
          </p:cNvPicPr>
          <p:nvPr/>
        </p:nvPicPr>
        <p:blipFill>
          <a:blip r:embed="rId2"/>
          <a:stretch>
            <a:fillRect/>
          </a:stretch>
        </p:blipFill>
        <p:spPr>
          <a:xfrm>
            <a:off x="4822911" y="2253447"/>
            <a:ext cx="302849" cy="302849"/>
          </a:xfrm>
          <a:prstGeom prst="rect">
            <a:avLst/>
          </a:prstGeom>
        </p:spPr>
      </p:pic>
      <p:sp>
        <p:nvSpPr>
          <p:cNvPr id="21" name="Text 17"/>
          <p:cNvSpPr/>
          <p:nvPr/>
        </p:nvSpPr>
        <p:spPr>
          <a:xfrm>
            <a:off x="5468112" y="2093976"/>
            <a:ext cx="2286000" cy="365760"/>
          </a:xfrm>
          <a:prstGeom prst="rect">
            <a:avLst/>
          </a:prstGeom>
          <a:noFill/>
          <a:ln/>
        </p:spPr>
        <p:txBody>
          <a:bodyPr wrap="square" lIns="0" tIns="0" rIns="0" bIns="0" rtlCol="0" anchor="ctr"/>
          <a:lstStyle/>
          <a:p>
            <a:pPr indent="0" marL="0">
              <a:buNone/>
            </a:pPr>
            <a:r>
              <a:rPr lang="en-US" sz="1550" b="1" dirty="0">
                <a:solidFill>
                  <a:srgbClr val="1A2238"/>
                </a:solidFill>
                <a:latin typeface="Cambria" pitchFamily="34" charset="0"/>
                <a:ea typeface="Cambria" pitchFamily="34" charset="-122"/>
                <a:cs typeface="Cambria" pitchFamily="34" charset="-120"/>
              </a:rPr>
              <a:t>Casual &amp; returning</a:t>
            </a:r>
            <a:endParaRPr lang="en-US" sz="1550" dirty="0"/>
          </a:p>
        </p:txBody>
      </p:sp>
      <p:sp>
        <p:nvSpPr>
          <p:cNvPr id="22" name="Text 18"/>
          <p:cNvSpPr/>
          <p:nvPr/>
        </p:nvSpPr>
        <p:spPr>
          <a:xfrm>
            <a:off x="5468112" y="2459736"/>
            <a:ext cx="2286000" cy="274320"/>
          </a:xfrm>
          <a:prstGeom prst="rect">
            <a:avLst/>
          </a:prstGeom>
          <a:noFill/>
          <a:ln/>
        </p:spPr>
        <p:txBody>
          <a:bodyPr wrap="square" lIns="0" tIns="0" rIns="0" bIns="0"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Sporadic, intent-led visits</a:t>
            </a:r>
            <a:endParaRPr lang="en-US" sz="1050" dirty="0"/>
          </a:p>
        </p:txBody>
      </p:sp>
      <p:sp>
        <p:nvSpPr>
          <p:cNvPr id="23" name="Shape 19"/>
          <p:cNvSpPr/>
          <p:nvPr/>
        </p:nvSpPr>
        <p:spPr>
          <a:xfrm>
            <a:off x="4663440" y="3072384"/>
            <a:ext cx="109728" cy="109728"/>
          </a:xfrm>
          <a:prstGeom prst="ellipse">
            <a:avLst/>
          </a:prstGeom>
          <a:solidFill>
            <a:srgbClr val="4A6FA5"/>
          </a:solidFill>
          <a:ln/>
        </p:spPr>
      </p:sp>
      <p:sp>
        <p:nvSpPr>
          <p:cNvPr id="24" name="Text 20"/>
          <p:cNvSpPr/>
          <p:nvPr/>
        </p:nvSpPr>
        <p:spPr>
          <a:xfrm>
            <a:off x="4882896" y="2980944"/>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Amazon Rufus: </a:t>
            </a:r>
            <a:pPr indent="0" marL="0">
              <a:buNone/>
            </a:pPr>
            <a:r>
              <a:rPr lang="en-US" sz="1030" dirty="0">
                <a:solidFill>
                  <a:srgbClr val="5B6478"/>
                </a:solidFill>
                <a:latin typeface="Calibri" pitchFamily="34" charset="0"/>
                <a:ea typeface="Calibri" pitchFamily="34" charset="-122"/>
                <a:cs typeface="Calibri" pitchFamily="34" charset="-120"/>
              </a:rPr>
              <a:t>per-shopper answers; cross-ecosystem memory (Nov 2025)</a:t>
            </a:r>
            <a:endParaRPr lang="en-US" sz="1030" dirty="0"/>
          </a:p>
        </p:txBody>
      </p:sp>
      <p:sp>
        <p:nvSpPr>
          <p:cNvPr id="25" name="Shape 21"/>
          <p:cNvSpPr/>
          <p:nvPr/>
        </p:nvSpPr>
        <p:spPr>
          <a:xfrm>
            <a:off x="4663440" y="3913632"/>
            <a:ext cx="109728" cy="109728"/>
          </a:xfrm>
          <a:prstGeom prst="ellipse">
            <a:avLst/>
          </a:prstGeom>
          <a:solidFill>
            <a:srgbClr val="4A6FA5"/>
          </a:solidFill>
          <a:ln/>
        </p:spPr>
      </p:sp>
      <p:sp>
        <p:nvSpPr>
          <p:cNvPr id="26" name="Text 22"/>
          <p:cNvSpPr/>
          <p:nvPr/>
        </p:nvSpPr>
        <p:spPr>
          <a:xfrm>
            <a:off x="4882896" y="3822192"/>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RecGPT (Taobao): </a:t>
            </a:r>
            <a:pPr indent="0" marL="0">
              <a:buNone/>
            </a:pPr>
            <a:r>
              <a:rPr lang="en-US" sz="1030" dirty="0">
                <a:solidFill>
                  <a:srgbClr val="5B6478"/>
                </a:solidFill>
                <a:latin typeface="Calibri" pitchFamily="34" charset="0"/>
                <a:ea typeface="Calibri" pitchFamily="34" charset="-122"/>
                <a:cs typeface="Calibri" pitchFamily="34" charset="-120"/>
              </a:rPr>
              <a:t>intent-centric reasoning replaces log-fitting (2025)</a:t>
            </a:r>
            <a:endParaRPr lang="en-US" sz="1030" dirty="0"/>
          </a:p>
        </p:txBody>
      </p:sp>
      <p:sp>
        <p:nvSpPr>
          <p:cNvPr id="27" name="Shape 23"/>
          <p:cNvSpPr/>
          <p:nvPr/>
        </p:nvSpPr>
        <p:spPr>
          <a:xfrm>
            <a:off x="4663440" y="4754880"/>
            <a:ext cx="109728" cy="109728"/>
          </a:xfrm>
          <a:prstGeom prst="ellipse">
            <a:avLst/>
          </a:prstGeom>
          <a:solidFill>
            <a:srgbClr val="4A6FA5"/>
          </a:solidFill>
          <a:ln/>
        </p:spPr>
      </p:sp>
      <p:sp>
        <p:nvSpPr>
          <p:cNvPr id="28" name="Text 24"/>
          <p:cNvSpPr/>
          <p:nvPr/>
        </p:nvSpPr>
        <p:spPr>
          <a:xfrm>
            <a:off x="4882896" y="4663440"/>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Conversational search: </a:t>
            </a:r>
            <a:pPr indent="0" marL="0">
              <a:buNone/>
            </a:pPr>
            <a:r>
              <a:rPr lang="en-US" sz="1030" dirty="0">
                <a:solidFill>
                  <a:srgbClr val="5B6478"/>
                </a:solidFill>
                <a:latin typeface="Calibri" pitchFamily="34" charset="0"/>
                <a:ea typeface="Calibri" pitchFamily="34" charset="-122"/>
                <a:cs typeface="Calibri" pitchFamily="34" charset="-120"/>
              </a:rPr>
              <a:t>natural-language intent matching over keywords</a:t>
            </a:r>
            <a:endParaRPr lang="en-US" sz="1030" dirty="0"/>
          </a:p>
        </p:txBody>
      </p:sp>
      <p:sp>
        <p:nvSpPr>
          <p:cNvPr id="29" name="Shape 25"/>
          <p:cNvSpPr/>
          <p:nvPr/>
        </p:nvSpPr>
        <p:spPr>
          <a:xfrm>
            <a:off x="8101584" y="1783080"/>
            <a:ext cx="3566160" cy="3703320"/>
          </a:xfrm>
          <a:prstGeom prst="roundRect">
            <a:avLst>
              <a:gd name="adj" fmla="val 3590"/>
            </a:avLst>
          </a:prstGeom>
          <a:solidFill>
            <a:srgbClr val="F3F6FC"/>
          </a:solidFill>
          <a:ln/>
          <a:effectLst>
            <a:outerShdw sx="100000" sy="100000" kx="0" ky="0" algn="bl" rotWithShape="0" blurRad="127000" dist="50800" dir="5400000">
              <a:srgbClr val="8A93A6">
                <a:alpha val="13000"/>
              </a:srgbClr>
            </a:outerShdw>
          </a:effectLst>
        </p:spPr>
      </p:sp>
      <p:sp>
        <p:nvSpPr>
          <p:cNvPr id="30" name="Shape 26"/>
          <p:cNvSpPr/>
          <p:nvPr/>
        </p:nvSpPr>
        <p:spPr>
          <a:xfrm>
            <a:off x="8101584" y="1783080"/>
            <a:ext cx="3566160" cy="109728"/>
          </a:xfrm>
          <a:prstGeom prst="roundRect">
            <a:avLst>
              <a:gd name="adj" fmla="val 50000"/>
            </a:avLst>
          </a:prstGeom>
          <a:solidFill>
            <a:srgbClr val="1E2761"/>
          </a:solidFill>
          <a:ln/>
        </p:spPr>
      </p:sp>
      <p:sp>
        <p:nvSpPr>
          <p:cNvPr id="31" name="Shape 27"/>
          <p:cNvSpPr/>
          <p:nvPr/>
        </p:nvSpPr>
        <p:spPr>
          <a:xfrm>
            <a:off x="8375904" y="2075688"/>
            <a:ext cx="658368" cy="658368"/>
          </a:xfrm>
          <a:prstGeom prst="ellipse">
            <a:avLst/>
          </a:prstGeom>
          <a:solidFill>
            <a:srgbClr val="1E2761"/>
          </a:solidFill>
          <a:ln/>
          <a:effectLst>
            <a:outerShdw sx="100000" sy="100000" kx="0" ky="0" algn="bl" rotWithShape="0" blurRad="127000" dist="50800" dir="5400000">
              <a:srgbClr val="8A93A6">
                <a:alpha val="13000"/>
              </a:srgbClr>
            </a:outerShdw>
          </a:effectLst>
        </p:spPr>
      </p:sp>
      <p:pic>
        <p:nvPicPr>
          <p:cNvPr id="32" name="Image 2" descr="preencoded.png">    </p:cNvPr>
          <p:cNvPicPr>
            <a:picLocks noChangeAspect="1"/>
          </p:cNvPicPr>
          <p:nvPr/>
        </p:nvPicPr>
        <p:blipFill>
          <a:blip r:embed="rId3"/>
          <a:stretch>
            <a:fillRect/>
          </a:stretch>
        </p:blipFill>
        <p:spPr>
          <a:xfrm>
            <a:off x="8553663" y="2253447"/>
            <a:ext cx="302849" cy="302849"/>
          </a:xfrm>
          <a:prstGeom prst="rect">
            <a:avLst/>
          </a:prstGeom>
        </p:spPr>
      </p:pic>
      <p:sp>
        <p:nvSpPr>
          <p:cNvPr id="33" name="Text 28"/>
          <p:cNvSpPr/>
          <p:nvPr/>
        </p:nvSpPr>
        <p:spPr>
          <a:xfrm>
            <a:off x="9198864" y="2093976"/>
            <a:ext cx="2286000" cy="365760"/>
          </a:xfrm>
          <a:prstGeom prst="rect">
            <a:avLst/>
          </a:prstGeom>
          <a:noFill/>
          <a:ln/>
        </p:spPr>
        <p:txBody>
          <a:bodyPr wrap="square" lIns="0" tIns="0" rIns="0" bIns="0" rtlCol="0" anchor="ctr"/>
          <a:lstStyle/>
          <a:p>
            <a:pPr indent="0" marL="0">
              <a:buNone/>
            </a:pPr>
            <a:r>
              <a:rPr lang="en-US" sz="1550" b="1" dirty="0">
                <a:solidFill>
                  <a:srgbClr val="1A2238"/>
                </a:solidFill>
                <a:latin typeface="Cambria" pitchFamily="34" charset="0"/>
                <a:ea typeface="Cambria" pitchFamily="34" charset="-122"/>
                <a:cs typeface="Cambria" pitchFamily="34" charset="-120"/>
              </a:rPr>
              <a:t>Core &amp; power users</a:t>
            </a:r>
            <a:endParaRPr lang="en-US" sz="1550" dirty="0"/>
          </a:p>
        </p:txBody>
      </p:sp>
      <p:sp>
        <p:nvSpPr>
          <p:cNvPr id="34" name="Text 29"/>
          <p:cNvSpPr/>
          <p:nvPr/>
        </p:nvSpPr>
        <p:spPr>
          <a:xfrm>
            <a:off x="9198864" y="2459736"/>
            <a:ext cx="2286000" cy="274320"/>
          </a:xfrm>
          <a:prstGeom prst="rect">
            <a:avLst/>
          </a:prstGeom>
          <a:noFill/>
          <a:ln/>
        </p:spPr>
        <p:txBody>
          <a:bodyPr wrap="square" lIns="0" tIns="0" rIns="0" bIns="0" rtlCol="0" anchor="ctr"/>
          <a:lstStyle/>
          <a:p>
            <a:pPr indent="0" marL="0">
              <a:buNone/>
            </a:pPr>
            <a:r>
              <a:rPr lang="en-US" sz="1050" i="1" dirty="0">
                <a:solidFill>
                  <a:srgbClr val="5B6478"/>
                </a:solidFill>
                <a:latin typeface="Calibri" pitchFamily="34" charset="0"/>
                <a:ea typeface="Calibri" pitchFamily="34" charset="-122"/>
                <a:cs typeface="Calibri" pitchFamily="34" charset="-120"/>
              </a:rPr>
              <a:t>Long, rich histories</a:t>
            </a:r>
            <a:endParaRPr lang="en-US" sz="1050" dirty="0"/>
          </a:p>
        </p:txBody>
      </p:sp>
      <p:sp>
        <p:nvSpPr>
          <p:cNvPr id="35" name="Shape 30"/>
          <p:cNvSpPr/>
          <p:nvPr/>
        </p:nvSpPr>
        <p:spPr>
          <a:xfrm>
            <a:off x="8394192" y="3072384"/>
            <a:ext cx="109728" cy="109728"/>
          </a:xfrm>
          <a:prstGeom prst="ellipse">
            <a:avLst/>
          </a:prstGeom>
          <a:solidFill>
            <a:srgbClr val="1E2761"/>
          </a:solidFill>
          <a:ln/>
        </p:spPr>
      </p:sp>
      <p:sp>
        <p:nvSpPr>
          <p:cNvPr id="36" name="Text 31"/>
          <p:cNvSpPr/>
          <p:nvPr/>
        </p:nvSpPr>
        <p:spPr>
          <a:xfrm>
            <a:off x="8613648" y="2980944"/>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Amazon Rufus: </a:t>
            </a:r>
            <a:pPr indent="0" marL="0">
              <a:buNone/>
            </a:pPr>
            <a:r>
              <a:rPr lang="en-US" sz="1030" dirty="0">
                <a:solidFill>
                  <a:srgbClr val="5B6478"/>
                </a:solidFill>
                <a:latin typeface="Calibri" pitchFamily="34" charset="0"/>
                <a:ea typeface="Calibri" pitchFamily="34" charset="-122"/>
                <a:cs typeface="Calibri" pitchFamily="34" charset="-120"/>
              </a:rPr>
              <a:t>+60% purchase completion among engaged shoppers (2025)</a:t>
            </a:r>
            <a:endParaRPr lang="en-US" sz="1030" dirty="0"/>
          </a:p>
        </p:txBody>
      </p:sp>
      <p:sp>
        <p:nvSpPr>
          <p:cNvPr id="37" name="Shape 32"/>
          <p:cNvSpPr/>
          <p:nvPr/>
        </p:nvSpPr>
        <p:spPr>
          <a:xfrm>
            <a:off x="8394192" y="3913632"/>
            <a:ext cx="109728" cy="109728"/>
          </a:xfrm>
          <a:prstGeom prst="ellipse">
            <a:avLst/>
          </a:prstGeom>
          <a:solidFill>
            <a:srgbClr val="1E2761"/>
          </a:solidFill>
          <a:ln/>
        </p:spPr>
      </p:sp>
      <p:sp>
        <p:nvSpPr>
          <p:cNvPr id="38" name="Text 33"/>
          <p:cNvSpPr/>
          <p:nvPr/>
        </p:nvSpPr>
        <p:spPr>
          <a:xfrm>
            <a:off x="8613648" y="3822192"/>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Alibaba LUM: </a:t>
            </a:r>
            <a:pPr indent="0" marL="0">
              <a:buNone/>
            </a:pPr>
            <a:r>
              <a:rPr lang="en-US" sz="1030" dirty="0">
                <a:solidFill>
                  <a:srgbClr val="5B6478"/>
                </a:solidFill>
                <a:latin typeface="Calibri" pitchFamily="34" charset="0"/>
                <a:ea typeface="Calibri" pitchFamily="34" charset="-122"/>
                <a:cs typeface="Calibri" pitchFamily="34" charset="-120"/>
              </a:rPr>
              <a:t>+2.9% CTR from scaling the user model (2025)</a:t>
            </a:r>
            <a:endParaRPr lang="en-US" sz="1030" dirty="0"/>
          </a:p>
        </p:txBody>
      </p:sp>
      <p:sp>
        <p:nvSpPr>
          <p:cNvPr id="39" name="Shape 34"/>
          <p:cNvSpPr/>
          <p:nvPr/>
        </p:nvSpPr>
        <p:spPr>
          <a:xfrm>
            <a:off x="8394192" y="4754880"/>
            <a:ext cx="109728" cy="109728"/>
          </a:xfrm>
          <a:prstGeom prst="ellipse">
            <a:avLst/>
          </a:prstGeom>
          <a:solidFill>
            <a:srgbClr val="1E2761"/>
          </a:solidFill>
          <a:ln/>
        </p:spPr>
      </p:sp>
      <p:sp>
        <p:nvSpPr>
          <p:cNvPr id="40" name="Text 35"/>
          <p:cNvSpPr/>
          <p:nvPr/>
        </p:nvSpPr>
        <p:spPr>
          <a:xfrm>
            <a:off x="8613648" y="4663440"/>
            <a:ext cx="2816352" cy="777240"/>
          </a:xfrm>
          <a:prstGeom prst="rect">
            <a:avLst/>
          </a:prstGeom>
          <a:noFill/>
          <a:ln/>
        </p:spPr>
        <p:txBody>
          <a:bodyPr wrap="square" lIns="0" tIns="0" rIns="0" bIns="0" rtlCol="0" anchor="t"/>
          <a:lstStyle/>
          <a:p>
            <a:pPr indent="0" marL="0">
              <a:buNone/>
            </a:pPr>
            <a:r>
              <a:rPr lang="en-US" sz="1030" b="1" dirty="0">
                <a:solidFill>
                  <a:srgbClr val="1A2238"/>
                </a:solidFill>
                <a:latin typeface="Calibri" pitchFamily="34" charset="0"/>
                <a:ea typeface="Calibri" pitchFamily="34" charset="-122"/>
                <a:cs typeface="Calibri" pitchFamily="34" charset="-120"/>
              </a:rPr>
              <a:t>Long-sequence models: </a:t>
            </a:r>
            <a:pPr indent="0" marL="0">
              <a:buNone/>
            </a:pPr>
            <a:r>
              <a:rPr lang="en-US" sz="1030" dirty="0">
                <a:solidFill>
                  <a:srgbClr val="5B6478"/>
                </a:solidFill>
                <a:latin typeface="Calibri" pitchFamily="34" charset="0"/>
                <a:ea typeface="Calibri" pitchFamily="34" charset="-122"/>
                <a:cs typeface="Calibri" pitchFamily="34" charset="-120"/>
              </a:rPr>
              <a:t>large user models exploit deep history</a:t>
            </a:r>
            <a:endParaRPr lang="en-US" sz="1030" dirty="0"/>
          </a:p>
        </p:txBody>
      </p:sp>
      <p:sp>
        <p:nvSpPr>
          <p:cNvPr id="41" name="Text 36"/>
          <p:cNvSpPr/>
          <p:nvPr/>
        </p:nvSpPr>
        <p:spPr>
          <a:xfrm>
            <a:off x="640080" y="6437376"/>
            <a:ext cx="10927080" cy="274320"/>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Sources (2025): Jiang et al. (URM); Yan et al. (LUM); Amazon Q4 2025; Li et al., Nov 2025 (Netflix); cold-start video study, Aug 2025. Platform-level per-segment figures are rarely disclosed; cross-industry studies used as directional evidence.</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2708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APPENDIX · SOURCES</a:t>
            </a:r>
            <a:endParaRPr lang="en-US" sz="1200" dirty="0"/>
          </a:p>
        </p:txBody>
      </p:sp>
      <p:sp>
        <p:nvSpPr>
          <p:cNvPr id="3" name="Text 1"/>
          <p:cNvSpPr/>
          <p:nvPr/>
        </p:nvSpPr>
        <p:spPr>
          <a:xfrm>
            <a:off x="640080" y="630936"/>
            <a:ext cx="10927080" cy="548640"/>
          </a:xfrm>
          <a:prstGeom prst="rect">
            <a:avLst/>
          </a:prstGeom>
          <a:noFill/>
          <a:ln/>
        </p:spPr>
        <p:txBody>
          <a:bodyPr wrap="square" lIns="0" tIns="0" rIns="0" bIns="0" rtlCol="0" anchor="ctr"/>
          <a:lstStyle/>
          <a:p>
            <a:pPr indent="0" marL="0">
              <a:buNone/>
            </a:pPr>
            <a:r>
              <a:rPr lang="en-US" sz="2500" b="1" dirty="0">
                <a:solidFill>
                  <a:srgbClr val="1A2238"/>
                </a:solidFill>
                <a:latin typeface="Cambria" pitchFamily="34" charset="0"/>
                <a:ea typeface="Cambria" pitchFamily="34" charset="-122"/>
                <a:cs typeface="Cambria" pitchFamily="34" charset="-120"/>
              </a:rPr>
              <a:t>LLM-era sources (2024–2026)</a:t>
            </a:r>
            <a:endParaRPr lang="en-US" sz="2500" dirty="0"/>
          </a:p>
        </p:txBody>
      </p:sp>
      <p:sp>
        <p:nvSpPr>
          <p:cNvPr id="4" name="Shape 2"/>
          <p:cNvSpPr/>
          <p:nvPr/>
        </p:nvSpPr>
        <p:spPr>
          <a:xfrm>
            <a:off x="640080" y="1554480"/>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5" name="Text 3"/>
          <p:cNvSpPr/>
          <p:nvPr/>
        </p:nvSpPr>
        <p:spPr>
          <a:xfrm>
            <a:off x="868680" y="164592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Amazon — Rufus</a:t>
            </a:r>
            <a:endParaRPr lang="en-US" sz="1100" dirty="0"/>
          </a:p>
        </p:txBody>
      </p:sp>
      <p:sp>
        <p:nvSpPr>
          <p:cNvPr id="6" name="Text 4"/>
          <p:cNvSpPr/>
          <p:nvPr/>
        </p:nvSpPr>
        <p:spPr>
          <a:xfrm>
            <a:off x="3703320" y="162763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Amazon Science, “The technology behind Amazon's GenAI shopping assistant, Rufus” (2024); scale &amp; sales via Amazon Q4 2025 earnings.</a:t>
            </a:r>
            <a:endParaRPr lang="en-US" sz="1000" dirty="0"/>
          </a:p>
        </p:txBody>
      </p:sp>
      <p:sp>
        <p:nvSpPr>
          <p:cNvPr id="7" name="Text 5"/>
          <p:cNvSpPr/>
          <p:nvPr/>
        </p:nvSpPr>
        <p:spPr>
          <a:xfrm>
            <a:off x="3703320" y="202996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amazon.science/blog/…-rufus</a:t>
            </a:r>
            <a:endParaRPr lang="en-US" sz="850" dirty="0"/>
          </a:p>
        </p:txBody>
      </p:sp>
      <p:sp>
        <p:nvSpPr>
          <p:cNvPr id="8" name="Shape 6"/>
          <p:cNvSpPr/>
          <p:nvPr/>
        </p:nvSpPr>
        <p:spPr>
          <a:xfrm>
            <a:off x="640080" y="2377440"/>
            <a:ext cx="10927080" cy="749808"/>
          </a:xfrm>
          <a:prstGeom prst="roundRect">
            <a:avLst>
              <a:gd name="adj" fmla="val 9756"/>
            </a:avLst>
          </a:prstGeom>
          <a:solidFill>
            <a:srgbClr val="FFFFFF"/>
          </a:solidFill>
          <a:ln/>
        </p:spPr>
      </p:sp>
      <p:sp>
        <p:nvSpPr>
          <p:cNvPr id="9" name="Shape 7"/>
          <p:cNvSpPr/>
          <p:nvPr/>
        </p:nvSpPr>
        <p:spPr>
          <a:xfrm>
            <a:off x="640080" y="2377440"/>
            <a:ext cx="10927080" cy="749808"/>
          </a:xfrm>
          <a:prstGeom prst="roundRect">
            <a:avLst>
              <a:gd name="adj" fmla="val 9756"/>
            </a:avLst>
          </a:prstGeom>
          <a:solidFill>
            <a:srgbClr val="FFFFFF">
              <a:alpha val="0"/>
            </a:srgbClr>
          </a:solidFill>
          <a:ln w="12700">
            <a:solidFill>
              <a:srgbClr val="DCE3F0"/>
            </a:solidFill>
            <a:prstDash val="solid"/>
          </a:ln>
        </p:spPr>
      </p:sp>
      <p:sp>
        <p:nvSpPr>
          <p:cNvPr id="10" name="Text 8"/>
          <p:cNvSpPr/>
          <p:nvPr/>
        </p:nvSpPr>
        <p:spPr>
          <a:xfrm>
            <a:off x="868680" y="246888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Amazon — COSMO</a:t>
            </a:r>
            <a:endParaRPr lang="en-US" sz="1100" dirty="0"/>
          </a:p>
        </p:txBody>
      </p:sp>
      <p:sp>
        <p:nvSpPr>
          <p:cNvPr id="11" name="Text 9"/>
          <p:cNvSpPr/>
          <p:nvPr/>
        </p:nvSpPr>
        <p:spPr>
          <a:xfrm>
            <a:off x="3703320" y="245059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Commonsense knowledge graph built with LLMs, ACM SIGMOD 2024.</a:t>
            </a:r>
            <a:endParaRPr lang="en-US" sz="1000" dirty="0"/>
          </a:p>
        </p:txBody>
      </p:sp>
      <p:sp>
        <p:nvSpPr>
          <p:cNvPr id="12" name="Text 10"/>
          <p:cNvSpPr/>
          <p:nvPr/>
        </p:nvSpPr>
        <p:spPr>
          <a:xfrm>
            <a:off x="3703320" y="285292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amazon.science (COSMO, SIGMOD 2024)</a:t>
            </a:r>
            <a:endParaRPr lang="en-US" sz="850" dirty="0"/>
          </a:p>
        </p:txBody>
      </p:sp>
      <p:sp>
        <p:nvSpPr>
          <p:cNvPr id="13" name="Shape 11"/>
          <p:cNvSpPr/>
          <p:nvPr/>
        </p:nvSpPr>
        <p:spPr>
          <a:xfrm>
            <a:off x="640080" y="3200400"/>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14" name="Text 12"/>
          <p:cNvSpPr/>
          <p:nvPr/>
        </p:nvSpPr>
        <p:spPr>
          <a:xfrm>
            <a:off x="868680" y="329184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Alibaba — URM</a:t>
            </a:r>
            <a:endParaRPr lang="en-US" sz="1100" dirty="0"/>
          </a:p>
        </p:txBody>
      </p:sp>
      <p:sp>
        <p:nvSpPr>
          <p:cNvPr id="15" name="Text 13"/>
          <p:cNvSpPr/>
          <p:nvPr/>
        </p:nvSpPr>
        <p:spPr>
          <a:xfrm>
            <a:off x="3703320" y="327355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Jiang et al., “LLM as Universal Retriever in Industrial-Scale Recommender System” (2025).</a:t>
            </a:r>
            <a:endParaRPr lang="en-US" sz="1000" dirty="0"/>
          </a:p>
        </p:txBody>
      </p:sp>
      <p:sp>
        <p:nvSpPr>
          <p:cNvPr id="16" name="Text 14"/>
          <p:cNvSpPr/>
          <p:nvPr/>
        </p:nvSpPr>
        <p:spPr>
          <a:xfrm>
            <a:off x="3703320" y="367588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arxiv.org/abs/2502.03041</a:t>
            </a:r>
            <a:endParaRPr lang="en-US" sz="850" dirty="0"/>
          </a:p>
        </p:txBody>
      </p:sp>
      <p:sp>
        <p:nvSpPr>
          <p:cNvPr id="17" name="Shape 15"/>
          <p:cNvSpPr/>
          <p:nvPr/>
        </p:nvSpPr>
        <p:spPr>
          <a:xfrm>
            <a:off x="640080" y="4023360"/>
            <a:ext cx="10927080" cy="749808"/>
          </a:xfrm>
          <a:prstGeom prst="roundRect">
            <a:avLst>
              <a:gd name="adj" fmla="val 9756"/>
            </a:avLst>
          </a:prstGeom>
          <a:solidFill>
            <a:srgbClr val="FFFFFF"/>
          </a:solidFill>
          <a:ln/>
        </p:spPr>
      </p:sp>
      <p:sp>
        <p:nvSpPr>
          <p:cNvPr id="18" name="Shape 16"/>
          <p:cNvSpPr/>
          <p:nvPr/>
        </p:nvSpPr>
        <p:spPr>
          <a:xfrm>
            <a:off x="640080" y="4023360"/>
            <a:ext cx="10927080" cy="749808"/>
          </a:xfrm>
          <a:prstGeom prst="roundRect">
            <a:avLst>
              <a:gd name="adj" fmla="val 9756"/>
            </a:avLst>
          </a:prstGeom>
          <a:solidFill>
            <a:srgbClr val="FFFFFF">
              <a:alpha val="0"/>
            </a:srgbClr>
          </a:solidFill>
          <a:ln w="12700">
            <a:solidFill>
              <a:srgbClr val="DCE3F0"/>
            </a:solidFill>
            <a:prstDash val="solid"/>
          </a:ln>
        </p:spPr>
      </p:sp>
      <p:sp>
        <p:nvSpPr>
          <p:cNvPr id="19" name="Text 17"/>
          <p:cNvSpPr/>
          <p:nvPr/>
        </p:nvSpPr>
        <p:spPr>
          <a:xfrm>
            <a:off x="868680" y="411480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Alibaba — LUM &amp; RecGPT</a:t>
            </a:r>
            <a:endParaRPr lang="en-US" sz="1100" dirty="0"/>
          </a:p>
        </p:txBody>
      </p:sp>
      <p:sp>
        <p:nvSpPr>
          <p:cNvPr id="20" name="Text 18"/>
          <p:cNvSpPr/>
          <p:nvPr/>
        </p:nvSpPr>
        <p:spPr>
          <a:xfrm>
            <a:off x="3703320" y="409651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Yan et al., “Large User Model” (2025); Yi et al., “RecGPT Technical Report” (2025).</a:t>
            </a:r>
            <a:endParaRPr lang="en-US" sz="1000" dirty="0"/>
          </a:p>
        </p:txBody>
      </p:sp>
      <p:sp>
        <p:nvSpPr>
          <p:cNvPr id="21" name="Text 19"/>
          <p:cNvSpPr/>
          <p:nvPr/>
        </p:nvSpPr>
        <p:spPr>
          <a:xfrm>
            <a:off x="3703320" y="449884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 2025 (LUM); RecGPT report, Aug 2025</a:t>
            </a:r>
            <a:endParaRPr lang="en-US" sz="850" dirty="0"/>
          </a:p>
        </p:txBody>
      </p:sp>
      <p:sp>
        <p:nvSpPr>
          <p:cNvPr id="22" name="Shape 20"/>
          <p:cNvSpPr/>
          <p:nvPr/>
        </p:nvSpPr>
        <p:spPr>
          <a:xfrm>
            <a:off x="640080" y="4846320"/>
            <a:ext cx="10927080" cy="749808"/>
          </a:xfrm>
          <a:prstGeom prst="roundRect">
            <a:avLst>
              <a:gd name="adj" fmla="val 9756"/>
            </a:avLst>
          </a:prstGeom>
          <a:solidFill>
            <a:srgbClr val="F3F6FC"/>
          </a:solidFill>
          <a:ln/>
          <a:effectLst>
            <a:outerShdw sx="100000" sy="100000" kx="0" ky="0" algn="bl" rotWithShape="0" blurRad="127000" dist="50800" dir="5400000">
              <a:srgbClr val="8A93A6">
                <a:alpha val="13000"/>
              </a:srgbClr>
            </a:outerShdw>
          </a:effectLst>
        </p:spPr>
      </p:sp>
      <p:sp>
        <p:nvSpPr>
          <p:cNvPr id="23" name="Text 21"/>
          <p:cNvSpPr/>
          <p:nvPr/>
        </p:nvSpPr>
        <p:spPr>
          <a:xfrm>
            <a:off x="868680" y="493776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JD.com — GenCTR &amp; GRAM</a:t>
            </a:r>
            <a:endParaRPr lang="en-US" sz="1100" dirty="0"/>
          </a:p>
        </p:txBody>
      </p:sp>
      <p:sp>
        <p:nvSpPr>
          <p:cNvPr id="24" name="Text 22"/>
          <p:cNvSpPr/>
          <p:nvPr/>
        </p:nvSpPr>
        <p:spPr>
          <a:xfrm>
            <a:off x="3703320" y="491947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Kong et al., “Generative CTR Prediction…” (2025); JD “GRAM: Generative Retrieval and Alignment” (2025).</a:t>
            </a:r>
            <a:endParaRPr lang="en-US" sz="1000" dirty="0"/>
          </a:p>
        </p:txBody>
      </p:sp>
      <p:sp>
        <p:nvSpPr>
          <p:cNvPr id="25" name="Text 23"/>
          <p:cNvSpPr/>
          <p:nvPr/>
        </p:nvSpPr>
        <p:spPr>
          <a:xfrm>
            <a:off x="3703320" y="532180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arxiv.org/abs/2507.11246</a:t>
            </a:r>
            <a:endParaRPr lang="en-US" sz="850" dirty="0"/>
          </a:p>
        </p:txBody>
      </p:sp>
      <p:sp>
        <p:nvSpPr>
          <p:cNvPr id="26" name="Shape 24"/>
          <p:cNvSpPr/>
          <p:nvPr/>
        </p:nvSpPr>
        <p:spPr>
          <a:xfrm>
            <a:off x="640080" y="5669280"/>
            <a:ext cx="10927080" cy="749808"/>
          </a:xfrm>
          <a:prstGeom prst="roundRect">
            <a:avLst>
              <a:gd name="adj" fmla="val 9756"/>
            </a:avLst>
          </a:prstGeom>
          <a:solidFill>
            <a:srgbClr val="FFFFFF"/>
          </a:solidFill>
          <a:ln/>
        </p:spPr>
      </p:sp>
      <p:sp>
        <p:nvSpPr>
          <p:cNvPr id="27" name="Shape 25"/>
          <p:cNvSpPr/>
          <p:nvPr/>
        </p:nvSpPr>
        <p:spPr>
          <a:xfrm>
            <a:off x="640080" y="5669280"/>
            <a:ext cx="10927080" cy="749808"/>
          </a:xfrm>
          <a:prstGeom prst="roundRect">
            <a:avLst>
              <a:gd name="adj" fmla="val 9756"/>
            </a:avLst>
          </a:prstGeom>
          <a:solidFill>
            <a:srgbClr val="FFFFFF">
              <a:alpha val="0"/>
            </a:srgbClr>
          </a:solidFill>
          <a:ln w="12700">
            <a:solidFill>
              <a:srgbClr val="DCE3F0"/>
            </a:solidFill>
            <a:prstDash val="solid"/>
          </a:ln>
        </p:spPr>
      </p:sp>
      <p:sp>
        <p:nvSpPr>
          <p:cNvPr id="28" name="Text 26"/>
          <p:cNvSpPr/>
          <p:nvPr/>
        </p:nvSpPr>
        <p:spPr>
          <a:xfrm>
            <a:off x="868680" y="5760720"/>
            <a:ext cx="2743200" cy="566928"/>
          </a:xfrm>
          <a:prstGeom prst="rect">
            <a:avLst/>
          </a:prstGeom>
          <a:noFill/>
          <a:ln/>
        </p:spPr>
        <p:txBody>
          <a:bodyPr wrap="square" lIns="0" tIns="0" rIns="0" bIns="0"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User-class / cold-start</a:t>
            </a:r>
            <a:endParaRPr lang="en-US" sz="1100" dirty="0"/>
          </a:p>
        </p:txBody>
      </p:sp>
      <p:sp>
        <p:nvSpPr>
          <p:cNvPr id="29" name="Text 27"/>
          <p:cNvSpPr/>
          <p:nvPr/>
        </p:nvSpPr>
        <p:spPr>
          <a:xfrm>
            <a:off x="3703320" y="5742432"/>
            <a:ext cx="7680960" cy="402336"/>
          </a:xfrm>
          <a:prstGeom prst="rect">
            <a:avLst/>
          </a:prstGeom>
          <a:noFill/>
          <a:ln/>
        </p:spPr>
        <p:txBody>
          <a:bodyPr wrap="square" lIns="0" tIns="0" rIns="0" bIns="0" rtlCol="0" anchor="t"/>
          <a:lstStyle/>
          <a:p>
            <a:pPr indent="0" marL="0">
              <a:buNone/>
            </a:pPr>
            <a:r>
              <a:rPr lang="en-US" sz="1000" dirty="0">
                <a:solidFill>
                  <a:srgbClr val="1A2238"/>
                </a:solidFill>
                <a:latin typeface="Calibri" pitchFamily="34" charset="0"/>
                <a:ea typeface="Calibri" pitchFamily="34" charset="-122"/>
                <a:cs typeface="Calibri" pitchFamily="34" charset="-120"/>
              </a:rPr>
              <a:t>Netflix cold-start (Li et al., Nov 2025); video-platform cold-start study (Aug 2025); cold-start LLM survey (2025).</a:t>
            </a:r>
            <a:endParaRPr lang="en-US" sz="1000" dirty="0"/>
          </a:p>
        </p:txBody>
      </p:sp>
      <p:sp>
        <p:nvSpPr>
          <p:cNvPr id="30" name="Text 28"/>
          <p:cNvSpPr/>
          <p:nvPr/>
        </p:nvSpPr>
        <p:spPr>
          <a:xfrm>
            <a:off x="3703320" y="6144768"/>
            <a:ext cx="7680960" cy="237744"/>
          </a:xfrm>
          <a:prstGeom prst="rect">
            <a:avLst/>
          </a:prstGeom>
          <a:noFill/>
          <a:ln/>
        </p:spPr>
        <p:txBody>
          <a:bodyPr wrap="square" lIns="0" tIns="0" rIns="0" bIns="0" rtlCol="0" anchor="ctr"/>
          <a:lstStyle/>
          <a:p>
            <a:pPr indent="0" marL="0">
              <a:buNone/>
            </a:pPr>
            <a:r>
              <a:rPr lang="en-US" sz="850" i="1" dirty="0">
                <a:solidFill>
                  <a:srgbClr val="5B6478"/>
                </a:solidFill>
                <a:latin typeface="Calibri" pitchFamily="34" charset="0"/>
                <a:ea typeface="Calibri" pitchFamily="34" charset="-122"/>
                <a:cs typeface="Calibri" pitchFamily="34" charset="-120"/>
              </a:rPr>
              <a:t>arXiv 2025</a:t>
            </a:r>
            <a:endParaRPr lang="en-US" sz="850" dirty="0"/>
          </a:p>
        </p:txBody>
      </p:sp>
      <p:sp>
        <p:nvSpPr>
          <p:cNvPr id="31" name="Text 29"/>
          <p:cNvSpPr/>
          <p:nvPr/>
        </p:nvSpPr>
        <p:spPr>
          <a:xfrm>
            <a:off x="640080" y="6537960"/>
            <a:ext cx="10927080" cy="365760"/>
          </a:xfrm>
          <a:prstGeom prst="rect">
            <a:avLst/>
          </a:prstGeom>
          <a:noFill/>
          <a:ln/>
        </p:spPr>
        <p:txBody>
          <a:bodyPr wrap="square" lIns="0" tIns="0" rIns="0" bIns="0" rtlCol="0" anchor="ctr"/>
          <a:lstStyle/>
          <a:p>
            <a:pPr indent="0" marL="0">
              <a:buNone/>
            </a:pPr>
            <a:r>
              <a:rPr lang="en-US" sz="950" i="1" dirty="0">
                <a:solidFill>
                  <a:srgbClr val="5B6478"/>
                </a:solidFill>
                <a:latin typeface="Calibri" pitchFamily="34" charset="0"/>
                <a:ea typeface="Calibri" pitchFamily="34" charset="-122"/>
                <a:cs typeface="Calibri" pitchFamily="34" charset="-120"/>
              </a:rPr>
              <a:t>Note: pre-GPT milestones (item-to-item CF 1998/2003; EGES &amp; DIN 2018; JD Telepath 2017) are historical; all quantitative effectiveness figures above are from 2024–2026 publications.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Recommendation Systems in E-Commerce — Business Stakeholders</dc:title>
  <dc:subject>PptxGenJS Presentation</dc:subject>
  <dc:creator>Recommendation Systems Briefing</dc:creator>
  <cp:lastModifiedBy>Recommendation Systems Briefing</cp:lastModifiedBy>
  <cp:revision>1</cp:revision>
  <dcterms:created xsi:type="dcterms:W3CDTF">2026-07-01T05:15:30Z</dcterms:created>
  <dcterms:modified xsi:type="dcterms:W3CDTF">2026-07-01T05:15:30Z</dcterms:modified>
</cp:coreProperties>
</file>