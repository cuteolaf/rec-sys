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c:v>
                </c:pt>
              </c:strCache>
            </c:strRef>
          </c:tx>
          <c:spPr>
            <a:solidFill>
              <a:srgbClr val="1E2761"/>
            </a:solidFill>
            <a:effectLst/>
          </c:spPr>
          <c:invertIfNegative val="0"/>
          <c:dLbls>
            <c:numFmt formatCode="#,##0" sourceLinked="0"/>
            <c:txPr>
              <a:bodyPr/>
              <a:lstStyle/>
              <a:p>
                <a:pPr>
                  <a:defRPr b="1" i="0" strike="noStrike" sz="1100" u="none">
                    <a:solidFill>
                      <a:srgbClr val="1A2238"/>
                    </a:solidFill>
                    <a:latin typeface="Arial"/>
                  </a:defRPr>
                </a:pPr>
              </a:p>
            </c:txPr>
            <c:showLegendKey val="0"/>
            <c:showVal val="1"/>
            <c:showCatName val="0"/>
            <c:showSerName val="0"/>
            <c:showPercent val="0"/>
            <c:showBubbleSize val="0"/>
            <c:showLeaderLines val="0"/>
          </c:dLbls>
          <c:cat>
            <c:multiLvlStrRef>
              <c:f>Sheet1!$A$2:$A$3</c:f>
              <c:multiLvlStrCache>
                <c:ptCount val="2"/>
                <c:lvl>
                  <c:pt idx="0">
                    <c:v>Amazon</c:v>
                  </c:pt>
                  <c:pt idx="1">
                    <c:v>Netflix</c:v>
                  </c:pt>
                </c:lvl>
              </c:multiLvlStrCache>
            </c:multiLvlStrRef>
          </c:cat>
          <c:val>
            <c:numRef>
              <c:f>Sheet1!$B$2:$B$3</c:f>
              <c:numCache>
                <c:formatCode>General</c:formatCode>
                <c:ptCount val="2"/>
                <c:pt idx="0">
                  <c:v>35</c:v>
                </c:pt>
                <c:pt idx="1">
                  <c:v>75</c:v>
                </c:pt>
              </c:numCache>
            </c:numRef>
          </c:val>
        </c:ser>
        <c:dLbls>
          <c:numFmt formatCode="#,##0" sourceLinked="0"/>
          <c:txPr>
            <a:bodyPr/>
            <a:lstStyle/>
            <a:p>
              <a:pPr>
                <a:defRPr b="1" i="0" strike="noStrike" sz="1100" u="none">
                  <a:solidFill>
                    <a:srgbClr val="1A223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478"/>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cvr</c:v>
                </c:pt>
              </c:strCache>
            </c:strRef>
          </c:tx>
          <c:spPr>
            <a:solidFill>
              <a:srgbClr val="1E2761"/>
            </a:solidFill>
            <a:effectLst/>
          </c:spPr>
          <c:invertIfNegative val="0"/>
          <c:dLbls>
            <c:numFmt formatCode="0.0&quot;%&quot;" sourceLinked="0"/>
            <c:txPr>
              <a:bodyPr/>
              <a:lstStyle/>
              <a:p>
                <a:pPr>
                  <a:defRPr b="1" i="0" strike="noStrike" sz="1300" u="none">
                    <a:solidFill>
                      <a:srgbClr val="1A2238"/>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C9A227"/>
              </a:solidFill>
              <a:effectLst/>
            </c:spPr>
          </c:dPt>
          <c:cat>
            <c:multiLvlStrRef>
              <c:f>Sheet1!$A$2:$A$3</c:f>
              <c:multiLvlStrCache>
                <c:ptCount val="2"/>
                <c:lvl>
                  <c:pt idx="0">
                    <c:v>Current</c:v>
                  </c:pt>
                  <c:pt idx="1">
                    <c:v>New model</c:v>
                  </c:pt>
                </c:lvl>
              </c:multiLvlStrCache>
            </c:multiLvlStrRef>
          </c:cat>
          <c:val>
            <c:numRef>
              <c:f>Sheet1!$B$2:$B$3</c:f>
              <c:numCache>
                <c:formatCode>General</c:formatCode>
                <c:ptCount val="2"/>
                <c:pt idx="0">
                  <c:v>3.2</c:v>
                </c:pt>
                <c:pt idx="1">
                  <c:v>3.9</c:v>
                </c:pt>
              </c:numCache>
            </c:numRef>
          </c:val>
        </c:ser>
        <c:dLbls>
          <c:numFmt formatCode="0.0&quot;%&quot;" sourceLinked="0"/>
          <c:txPr>
            <a:bodyPr/>
            <a:lstStyle/>
            <a:p>
              <a:pPr>
                <a:defRPr b="1" i="0" strike="noStrike" sz="1300" u="none">
                  <a:solidFill>
                    <a:srgbClr val="1A2238"/>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8"/>
                </a:solidFill>
                <a:latin typeface="Arial"/>
              </a:defRPr>
            </a:pPr>
            <a:endParaRPr lang="en-US"/>
          </a:p>
        </c:txPr>
        <c:crossAx val="2094734552"/>
        <c:crosses val="autoZero"/>
        <c:auto val="1"/>
        <c:lblAlgn val="ctr"/>
        <c:noMultiLvlLbl val="1"/>
      </c:catAx>
      <c:valAx>
        <c:axId val="2094734552"/>
        <c:scaling>
          <c:orientation val="minMax"/>
          <c:max val="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profile</c:v>
                </c:pt>
              </c:strCache>
            </c:strRef>
          </c:tx>
          <c:spPr>
            <a:solidFill>
              <a:srgbClr val="4A6F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Catalog scale</c:v>
                  </c:pt>
                  <c:pt idx="1">
                    <c:v>Personalization</c:v>
                  </c:pt>
                  <c:pt idx="2">
                    <c:v>Revenue impact</c:v>
                  </c:pt>
                </c:lvl>
              </c:multiLvlStrCache>
            </c:multiLvlStrRef>
          </c:cat>
          <c:val>
            <c:numRef>
              <c:f>Sheet1!$B$2:$B$4</c:f>
              <c:numCache>
                <c:formatCode>General</c:formatCode>
                <c:ptCount val="3"/>
                <c:pt idx="0">
                  <c:v>95</c:v>
                </c:pt>
                <c:pt idx="1">
                  <c:v>85</c:v>
                </c:pt>
                <c:pt idx="2">
                  <c:v>90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A2238"/>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Business Stakeholders session. Frame the topic: product recommendation systems are the engines behind "recommended for you," "frequently bought together," and personalized storefronts. State who this is for (a briefing for business stakeholders) and the arc: we'll go from the problem, to how these systems work, to their real-world impact and trade-offs. Replace the placeholder name and date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concrete. The discovery problem: catalogs are enormous, attention is scarce. Choice overload genuinely suppresses purchases — more options can mean fewer sales. Then the business case: recommendations lift conversion, raise average order value through cross-sell, and improve retention by making the experience feel tailored. The Amazon (~35% of sales) and Netflix (~75% of viewing) figures are widely cited estimates — present them as directional proof that recommendations drive a large share of engagement, not as precise current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clean definition: a recommender predicts which items a user is most likely to want, then ranks them. Walk the pipeline left to right — Input (who the user is, their history, the current context) feeds the Model (which scores relevance), producing a Ranked output (a short ordered list). Emphasize that every recommendation surface you'll see later is a variation on this same input → model → ranked-output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surfaces shoppers actually see. Personalized ('recommended for you') is individual-level. Frequently bought together drives basket size at the cart. Trending/popular is a strong default when you know little about a user. Similar items keeps a browsing session alive, and recently viewed gives an easy way back in. Key point: these are different presentations powered by the same underlying techniques we'll cover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then a forward look. Content-based matches on item attributes (good for new items). Collaborative filtering learns from user–item interactions — mention user-based ('people like you') vs item-based ('items like this'). Matrix factorization / embeddings compress those interactions into latent taste vectors that make matching fast and accurate. Hybrid systems blend methods to cover each other's weaknesses. Close with deep learning and sequence/session-based models, which capture in-the-moment intent. Tailor depth to the room — keep it conceptual for non-specialists, go into ALS/two-tower/SASRec for engineers.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explicit signals (ratings, reviews, likes — high-quality but sparse, because most users never rate) from implicit signals (clicks, purchases, dwell time, cart events — abundant but noisy and biased). Most production signal is implicit. The strongest systems combine both. For technical audiences, add: implicit feedback should be modeled as weighted positives with exposure/position bias in mind, not treated as clean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start is the recommender's chicken-and-egg problem. A new user has no interaction history, so collaborative methods can't place them. A new item has no interactions, so it can't be learned from behavior. Walk through the workarounds: fall back to popular/trending, ask a few onboarding preferences to seed taste, use item attributes (content-based) to bootstrap new items, and lean on context like location, device, and time. For engineers, mention exploration/bandit strategies to gather signal on new items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measurement worlds. Offline metrics run on historical data and are cheap and fast: precision@k and recall ask whether good items appear in the top-k; NDCG rewards putting the best items highest. They're proxies. Online metrics are the real test — click-through, conversion, and revenue measured with A/B tests on live traffic. The chart shows an illustrative lift from a new model. The discipline: offline metrics narrow the field, but only a live A/B test (ideally statistically significant) decides what ships. Offline and online results don't always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production shape. Candidate generation cheaply narrows a massive catalog to a manageable set (often via approximate nearest-neighbor search over embeddings) — optimized for recall. Ranking applies a heavier, more accurate model to score that shortlist for the specific user. Re-ranking layers in business rules: diversity, de-duplication, in-stock, promotions, and policy. Finally, the real-time vs batch split: embeddings, indexes, and candidate lists are precomputed in batch; feature lookup, ranking, and re-ranking happen live per request within a tight latency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Recommenders shape what millions of people see, so the trade-offs are real. Filter bubbles narrow discovery; popularity bias lets best-sellers crowd out the long tail; diversity must be balanced against relevance so results aren't repetitive or random. Privacy matters because personalization runs on personal data — respect consent and minimize collection. Fairness means even-handed exposure across customer groups and sellers. For technical teams, point to concrete levers: exploration to counter feedback loops, debiasing/re-weighting for popularity, MMR or DPP for diversity, and exposure-parity audits for 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everything in one concrete example: Amazon's item-to-item collaborative filtering. The insight was to flip the problem — instead of finding users similar to you (which doesn't scale as users grow and churn), precompute, for each item, the items most often bought or viewed alongside it. That similarity computation is done offline; at serve time it's a fast lookup keyed on what you're viewing or have in your cart. This is what powers 'customers who bought this also bought.' The takeaway — decoupling expensive offline computation from cheap online serving — is why the approach scaled to enormous catalogs and became a retail benchmark. The bar chart is an illustrative strength profile, not measured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message. Recap the arc in one breath: recommendations solve discovery, are powered by content-based and collaborative methods over explicit and implicit data, follow a retrieve→rank→re-rank pipeline, and must be validated online while balancing relevance against diversity, privacy, and fairness. Read the five takeaways, then deliver the closing line and open for discussion. Swap in real contact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3A"/>
        </a:solidFill>
      </p:bgPr>
    </p:bg>
    <p:spTree>
      <p:nvGrpSpPr>
        <p:cNvPr id="1" name=""/>
        <p:cNvGrpSpPr/>
        <p:nvPr/>
      </p:nvGrpSpPr>
      <p:grpSpPr>
        <a:xfrm>
          <a:off x="0" y="0"/>
          <a:ext cx="0" cy="0"/>
          <a:chOff x="0" y="0"/>
          <a:chExt cx="0" cy="0"/>
        </a:xfrm>
      </p:grpSpPr>
      <p:sp>
        <p:nvSpPr>
          <p:cNvPr id="2" name="Shape 0"/>
          <p:cNvSpPr/>
          <p:nvPr/>
        </p:nvSpPr>
        <p:spPr>
          <a:xfrm>
            <a:off x="9738360" y="3977640"/>
            <a:ext cx="1828800" cy="-1554480"/>
          </a:xfrm>
          <a:prstGeom prst="line">
            <a:avLst/>
          </a:prstGeom>
          <a:noFill/>
          <a:ln w="15875">
            <a:solidFill>
              <a:srgbClr val="C9A227">
                <a:alpha val="55000"/>
              </a:srgbClr>
            </a:solidFill>
            <a:prstDash val="solid"/>
          </a:ln>
        </p:spPr>
      </p:sp>
      <p:sp>
        <p:nvSpPr>
          <p:cNvPr id="3" name="Shape 1"/>
          <p:cNvSpPr/>
          <p:nvPr/>
        </p:nvSpPr>
        <p:spPr>
          <a:xfrm>
            <a:off x="9738360" y="3977640"/>
            <a:ext cx="2331720" cy="-91440"/>
          </a:xfrm>
          <a:prstGeom prst="line">
            <a:avLst/>
          </a:prstGeom>
          <a:noFill/>
          <a:ln w="15875">
            <a:solidFill>
              <a:srgbClr val="C9A227">
                <a:alpha val="55000"/>
              </a:srgbClr>
            </a:solidFill>
            <a:prstDash val="solid"/>
          </a:ln>
        </p:spPr>
      </p:sp>
      <p:sp>
        <p:nvSpPr>
          <p:cNvPr id="4" name="Shape 2"/>
          <p:cNvSpPr/>
          <p:nvPr/>
        </p:nvSpPr>
        <p:spPr>
          <a:xfrm>
            <a:off x="9738360" y="3977640"/>
            <a:ext cx="1737360" cy="1371600"/>
          </a:xfrm>
          <a:prstGeom prst="line">
            <a:avLst/>
          </a:prstGeom>
          <a:noFill/>
          <a:ln w="15875">
            <a:solidFill>
              <a:srgbClr val="C9A227">
                <a:alpha val="55000"/>
              </a:srgbClr>
            </a:solidFill>
            <a:prstDash val="solid"/>
          </a:ln>
        </p:spPr>
      </p:sp>
      <p:sp>
        <p:nvSpPr>
          <p:cNvPr id="5" name="Shape 3"/>
          <p:cNvSpPr/>
          <p:nvPr/>
        </p:nvSpPr>
        <p:spPr>
          <a:xfrm>
            <a:off x="9738360" y="3977640"/>
            <a:ext cx="-457200" cy="1737360"/>
          </a:xfrm>
          <a:prstGeom prst="line">
            <a:avLst/>
          </a:prstGeom>
          <a:noFill/>
          <a:ln w="15875">
            <a:solidFill>
              <a:srgbClr val="C9A227">
                <a:alpha val="55000"/>
              </a:srgbClr>
            </a:solidFill>
            <a:prstDash val="solid"/>
          </a:ln>
        </p:spPr>
      </p:sp>
      <p:sp>
        <p:nvSpPr>
          <p:cNvPr id="6" name="Shape 4"/>
          <p:cNvSpPr/>
          <p:nvPr/>
        </p:nvSpPr>
        <p:spPr>
          <a:xfrm>
            <a:off x="9738360" y="3977640"/>
            <a:ext cx="-1554480" cy="548640"/>
          </a:xfrm>
          <a:prstGeom prst="line">
            <a:avLst/>
          </a:prstGeom>
          <a:noFill/>
          <a:ln w="15875">
            <a:solidFill>
              <a:srgbClr val="C9A227">
                <a:alpha val="55000"/>
              </a:srgbClr>
            </a:solidFill>
            <a:prstDash val="solid"/>
          </a:ln>
        </p:spPr>
      </p:sp>
      <p:sp>
        <p:nvSpPr>
          <p:cNvPr id="7" name="Shape 5"/>
          <p:cNvSpPr/>
          <p:nvPr/>
        </p:nvSpPr>
        <p:spPr>
          <a:xfrm>
            <a:off x="9738360" y="3977640"/>
            <a:ext cx="-1280160" cy="-1280160"/>
          </a:xfrm>
          <a:prstGeom prst="line">
            <a:avLst/>
          </a:prstGeom>
          <a:noFill/>
          <a:ln w="15875">
            <a:solidFill>
              <a:srgbClr val="C9A227">
                <a:alpha val="55000"/>
              </a:srgbClr>
            </a:solidFill>
            <a:prstDash val="solid"/>
          </a:ln>
        </p:spPr>
      </p:sp>
      <p:sp>
        <p:nvSpPr>
          <p:cNvPr id="8" name="Shape 6"/>
          <p:cNvSpPr/>
          <p:nvPr/>
        </p:nvSpPr>
        <p:spPr>
          <a:xfrm>
            <a:off x="11155680" y="2011680"/>
            <a:ext cx="457200" cy="457200"/>
          </a:xfrm>
          <a:prstGeom prst="ellipse">
            <a:avLst/>
          </a:prstGeom>
          <a:solidFill>
            <a:srgbClr val="EAF0FB">
              <a:alpha val="82000"/>
            </a:srgbClr>
          </a:solidFill>
          <a:ln/>
        </p:spPr>
      </p:sp>
      <p:sp>
        <p:nvSpPr>
          <p:cNvPr id="9" name="Shape 7"/>
          <p:cNvSpPr/>
          <p:nvPr/>
        </p:nvSpPr>
        <p:spPr>
          <a:xfrm>
            <a:off x="11658600" y="3474720"/>
            <a:ext cx="457200" cy="457200"/>
          </a:xfrm>
          <a:prstGeom prst="ellipse">
            <a:avLst/>
          </a:prstGeom>
          <a:solidFill>
            <a:srgbClr val="EAF0FB">
              <a:alpha val="82000"/>
            </a:srgbClr>
          </a:solidFill>
          <a:ln/>
        </p:spPr>
      </p:sp>
      <p:sp>
        <p:nvSpPr>
          <p:cNvPr id="10" name="Shape 8"/>
          <p:cNvSpPr/>
          <p:nvPr/>
        </p:nvSpPr>
        <p:spPr>
          <a:xfrm>
            <a:off x="11064240" y="4937760"/>
            <a:ext cx="457200" cy="457200"/>
          </a:xfrm>
          <a:prstGeom prst="ellipse">
            <a:avLst/>
          </a:prstGeom>
          <a:solidFill>
            <a:srgbClr val="EAF0FB">
              <a:alpha val="82000"/>
            </a:srgbClr>
          </a:solidFill>
          <a:ln/>
        </p:spPr>
      </p:sp>
      <p:sp>
        <p:nvSpPr>
          <p:cNvPr id="11" name="Shape 9"/>
          <p:cNvSpPr/>
          <p:nvPr/>
        </p:nvSpPr>
        <p:spPr>
          <a:xfrm>
            <a:off x="8869680" y="5303520"/>
            <a:ext cx="457200" cy="457200"/>
          </a:xfrm>
          <a:prstGeom prst="ellipse">
            <a:avLst/>
          </a:prstGeom>
          <a:solidFill>
            <a:srgbClr val="EAF0FB">
              <a:alpha val="82000"/>
            </a:srgbClr>
          </a:solidFill>
          <a:ln/>
        </p:spPr>
      </p:sp>
      <p:sp>
        <p:nvSpPr>
          <p:cNvPr id="12" name="Shape 10"/>
          <p:cNvSpPr/>
          <p:nvPr/>
        </p:nvSpPr>
        <p:spPr>
          <a:xfrm>
            <a:off x="7772400" y="4114800"/>
            <a:ext cx="457200" cy="457200"/>
          </a:xfrm>
          <a:prstGeom prst="ellipse">
            <a:avLst/>
          </a:prstGeom>
          <a:solidFill>
            <a:srgbClr val="EAF0FB">
              <a:alpha val="82000"/>
            </a:srgbClr>
          </a:solidFill>
          <a:ln/>
        </p:spPr>
      </p:sp>
      <p:sp>
        <p:nvSpPr>
          <p:cNvPr id="13" name="Shape 11"/>
          <p:cNvSpPr/>
          <p:nvPr/>
        </p:nvSpPr>
        <p:spPr>
          <a:xfrm>
            <a:off x="8046720" y="2286000"/>
            <a:ext cx="457200" cy="457200"/>
          </a:xfrm>
          <a:prstGeom prst="ellipse">
            <a:avLst/>
          </a:prstGeom>
          <a:solidFill>
            <a:srgbClr val="EAF0FB">
              <a:alpha val="82000"/>
            </a:srgbClr>
          </a:solidFill>
          <a:ln/>
        </p:spPr>
      </p:sp>
      <p:sp>
        <p:nvSpPr>
          <p:cNvPr id="14" name="Shape 12"/>
          <p:cNvSpPr/>
          <p:nvPr/>
        </p:nvSpPr>
        <p:spPr>
          <a:xfrm>
            <a:off x="9326880" y="3566160"/>
            <a:ext cx="822960" cy="822960"/>
          </a:xfrm>
          <a:prstGeom prst="ellipse">
            <a:avLst/>
          </a:prstGeom>
          <a:solidFill>
            <a:srgbClr val="C9A227"/>
          </a:solidFill>
          <a:ln/>
        </p:spPr>
      </p:sp>
      <p:pic>
        <p:nvPicPr>
          <p:cNvPr id="15" name="Image 0" descr="preencoded.png">    </p:cNvPr>
          <p:cNvPicPr>
            <a:picLocks noChangeAspect="1"/>
          </p:cNvPicPr>
          <p:nvPr/>
        </p:nvPicPr>
        <p:blipFill>
          <a:blip r:embed="rId1"/>
          <a:stretch>
            <a:fillRect/>
          </a:stretch>
        </p:blipFill>
        <p:spPr>
          <a:xfrm>
            <a:off x="9546336" y="3767328"/>
            <a:ext cx="384048" cy="420624"/>
          </a:xfrm>
          <a:prstGeom prst="rect">
            <a:avLst/>
          </a:prstGeom>
        </p:spPr>
      </p:pic>
      <p:sp>
        <p:nvSpPr>
          <p:cNvPr id="16" name="Text 13"/>
          <p:cNvSpPr/>
          <p:nvPr/>
        </p:nvSpPr>
        <p:spPr>
          <a:xfrm>
            <a:off x="777240" y="1234440"/>
            <a:ext cx="7315200" cy="274320"/>
          </a:xfrm>
          <a:prstGeom prst="rect">
            <a:avLst/>
          </a:prstGeom>
          <a:noFill/>
          <a:ln/>
        </p:spPr>
        <p:txBody>
          <a:bodyPr wrap="square" lIns="0" tIns="0" rIns="0" bIns="0" rtlCol="0" anchor="ctr"/>
          <a:lstStyle/>
          <a:p>
            <a:pPr indent="0" marL="0">
              <a:buNone/>
            </a:pPr>
            <a:r>
              <a:rPr lang="en-US" sz="1300" b="1" spc="200" kern="0" dirty="0">
                <a:solidFill>
                  <a:srgbClr val="C9A227"/>
                </a:solidFill>
                <a:latin typeface="Calibri" pitchFamily="34" charset="0"/>
                <a:ea typeface="Calibri" pitchFamily="34" charset="-122"/>
                <a:cs typeface="Calibri" pitchFamily="34" charset="-120"/>
              </a:rPr>
              <a:t>E-COMMERCE  ·  BUSINESS BRIEFING</a:t>
            </a:r>
            <a:endParaRPr lang="en-US" sz="1300" dirty="0"/>
          </a:p>
        </p:txBody>
      </p:sp>
      <p:sp>
        <p:nvSpPr>
          <p:cNvPr id="17" name="Text 14"/>
          <p:cNvSpPr/>
          <p:nvPr/>
        </p:nvSpPr>
        <p:spPr>
          <a:xfrm>
            <a:off x="749808" y="1691640"/>
            <a:ext cx="7223760" cy="1828800"/>
          </a:xfrm>
          <a:prstGeom prst="rect">
            <a:avLst/>
          </a:prstGeom>
          <a:noFill/>
          <a:ln/>
        </p:spPr>
        <p:txBody>
          <a:bodyPr wrap="square" lIns="0" tIns="0" rIns="0" bIns="0" rtlCol="0" anchor="ctr"/>
          <a:lstStyle/>
          <a:p>
            <a:pPr indent="0" marL="0">
              <a:lnSpc>
                <a:spcPct val="102000"/>
              </a:lnSpc>
              <a:buNone/>
            </a:pPr>
            <a:r>
              <a:rPr lang="en-US" sz="4300" b="1" dirty="0">
                <a:solidFill>
                  <a:srgbClr val="EAF0FB"/>
                </a:solidFill>
                <a:latin typeface="Cambria" pitchFamily="34" charset="0"/>
                <a:ea typeface="Cambria" pitchFamily="34" charset="-122"/>
                <a:cs typeface="Cambria" pitchFamily="34" charset="-120"/>
              </a:rPr>
              <a:t>Product Recommendation Systems in E-Commerce</a:t>
            </a:r>
            <a:endParaRPr lang="en-US" sz="4300" dirty="0"/>
          </a:p>
        </p:txBody>
      </p:sp>
      <p:sp>
        <p:nvSpPr>
          <p:cNvPr id="18" name="Text 15"/>
          <p:cNvSpPr/>
          <p:nvPr/>
        </p:nvSpPr>
        <p:spPr>
          <a:xfrm>
            <a:off x="777240" y="3611880"/>
            <a:ext cx="6949440" cy="457200"/>
          </a:xfrm>
          <a:prstGeom prst="rect">
            <a:avLst/>
          </a:prstGeom>
          <a:noFill/>
          <a:ln/>
        </p:spPr>
        <p:txBody>
          <a:bodyPr wrap="square" lIns="0" tIns="0" rIns="0" bIns="0" rtlCol="0" anchor="ctr"/>
          <a:lstStyle/>
          <a:p>
            <a:pPr indent="0" marL="0">
              <a:buNone/>
            </a:pPr>
            <a:r>
              <a:rPr lang="en-US" sz="1900" i="1" dirty="0">
                <a:solidFill>
                  <a:srgbClr val="C9A227"/>
                </a:solidFill>
                <a:latin typeface="Calibri" pitchFamily="34" charset="0"/>
                <a:ea typeface="Calibri" pitchFamily="34" charset="-122"/>
                <a:cs typeface="Calibri" pitchFamily="34" charset="-120"/>
              </a:rPr>
              <a:t>From Browsing to Buying — The Business Case</a:t>
            </a:r>
            <a:endParaRPr lang="en-US" sz="1900" dirty="0"/>
          </a:p>
        </p:txBody>
      </p:sp>
      <p:sp>
        <p:nvSpPr>
          <p:cNvPr id="19" name="Text 16"/>
          <p:cNvSpPr/>
          <p:nvPr/>
        </p:nvSpPr>
        <p:spPr>
          <a:xfrm>
            <a:off x="777240" y="4160520"/>
            <a:ext cx="6949440" cy="365760"/>
          </a:xfrm>
          <a:prstGeom prst="rect">
            <a:avLst/>
          </a:prstGeom>
          <a:noFill/>
          <a:ln/>
        </p:spPr>
        <p:txBody>
          <a:bodyPr wrap="square" lIns="0" tIns="0" rIns="0" bIns="0" rtlCol="0" anchor="ctr"/>
          <a:lstStyle/>
          <a:p>
            <a:pPr indent="0" marL="0">
              <a:buNone/>
            </a:pPr>
            <a:r>
              <a:rPr lang="en-US" sz="1500" dirty="0">
                <a:solidFill>
                  <a:srgbClr val="EAF0FB"/>
                </a:solidFill>
                <a:latin typeface="Calibri" pitchFamily="34" charset="0"/>
                <a:ea typeface="Calibri" pitchFamily="34" charset="-122"/>
                <a:cs typeface="Calibri" pitchFamily="34" charset="-120"/>
              </a:rPr>
              <a:t>A Briefing for Business Stakeholders</a:t>
            </a:r>
            <a:endParaRPr lang="en-US" sz="1500" dirty="0"/>
          </a:p>
        </p:txBody>
      </p:sp>
      <p:sp>
        <p:nvSpPr>
          <p:cNvPr id="20" name="Shape 17"/>
          <p:cNvSpPr/>
          <p:nvPr/>
        </p:nvSpPr>
        <p:spPr>
          <a:xfrm>
            <a:off x="795528" y="5074920"/>
            <a:ext cx="2926080" cy="0"/>
          </a:xfrm>
          <a:prstGeom prst="line">
            <a:avLst/>
          </a:prstGeom>
          <a:noFill/>
          <a:ln w="9525">
            <a:solidFill>
              <a:srgbClr val="EAF0FB">
                <a:alpha val="45000"/>
              </a:srgbClr>
            </a:solidFill>
            <a:prstDash val="solid"/>
          </a:ln>
        </p:spPr>
      </p:sp>
      <p:sp>
        <p:nvSpPr>
          <p:cNvPr id="21" name="Text 18"/>
          <p:cNvSpPr/>
          <p:nvPr/>
        </p:nvSpPr>
        <p:spPr>
          <a:xfrm>
            <a:off x="777240" y="5212080"/>
            <a:ext cx="6949440" cy="320040"/>
          </a:xfrm>
          <a:prstGeom prst="rect">
            <a:avLst/>
          </a:prstGeom>
          <a:noFill/>
          <a:ln/>
        </p:spPr>
        <p:txBody>
          <a:bodyPr wrap="square" lIns="0" tIns="0" rIns="0" bIns="0" rtlCol="0" anchor="ctr"/>
          <a:lstStyle/>
          <a:p>
            <a:pPr indent="0" marL="0">
              <a:buNone/>
            </a:pPr>
            <a:r>
              <a:rPr lang="en-US" sz="1300" dirty="0">
                <a:solidFill>
                  <a:srgbClr val="EAF0FB"/>
                </a:solidFill>
                <a:latin typeface="Calibri" pitchFamily="34" charset="0"/>
                <a:ea typeface="Calibri" pitchFamily="34" charset="-122"/>
                <a:cs typeface="Calibri" pitchFamily="34" charset="-120"/>
              </a:rPr>
              <a:t>Presented by Your Name   ·   June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WHY RECOMMENDATIONS MATTER</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Helping shoppers find what they didn't know to search for</a:t>
            </a:r>
            <a:endParaRPr lang="en-US" sz="2700" dirty="0"/>
          </a:p>
        </p:txBody>
      </p:sp>
      <p:sp>
        <p:nvSpPr>
          <p:cNvPr id="4" name="Shape 2"/>
          <p:cNvSpPr/>
          <p:nvPr/>
        </p:nvSpPr>
        <p:spPr>
          <a:xfrm>
            <a:off x="685800" y="1691640"/>
            <a:ext cx="566928" cy="56692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5" name="Image 0" descr="preencoded.png">    </p:cNvPr>
          <p:cNvPicPr>
            <a:picLocks noChangeAspect="1"/>
          </p:cNvPicPr>
          <p:nvPr/>
        </p:nvPicPr>
        <p:blipFill>
          <a:blip r:embed="rId1"/>
          <a:stretch>
            <a:fillRect/>
          </a:stretch>
        </p:blipFill>
        <p:spPr>
          <a:xfrm>
            <a:off x="838871" y="1844711"/>
            <a:ext cx="260787" cy="260787"/>
          </a:xfrm>
          <a:prstGeom prst="rect">
            <a:avLst/>
          </a:prstGeom>
        </p:spPr>
      </p:pic>
      <p:sp>
        <p:nvSpPr>
          <p:cNvPr id="6" name="Text 3"/>
          <p:cNvSpPr/>
          <p:nvPr/>
        </p:nvSpPr>
        <p:spPr>
          <a:xfrm>
            <a:off x="1417320" y="1655064"/>
            <a:ext cx="521208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The discovery problem</a:t>
            </a:r>
            <a:endParaRPr lang="en-US" sz="1650" dirty="0"/>
          </a:p>
        </p:txBody>
      </p:sp>
      <p:sp>
        <p:nvSpPr>
          <p:cNvPr id="7" name="Text 4"/>
          <p:cNvSpPr/>
          <p:nvPr/>
        </p:nvSpPr>
        <p:spPr>
          <a:xfrm>
            <a:off x="1417320" y="2020824"/>
            <a:ext cx="5349240" cy="777240"/>
          </a:xfrm>
          <a:prstGeom prst="rect">
            <a:avLst/>
          </a:prstGeom>
          <a:noFill/>
          <a:ln/>
        </p:spPr>
        <p:txBody>
          <a:bodyPr wrap="square" lIns="0" tIns="0" rIns="0" bIns="0" rtlCol="0" anchor="ctr"/>
          <a:lstStyle/>
          <a:p>
            <a:pPr indent="0" marL="0">
              <a:buNone/>
            </a:pPr>
            <a:r>
              <a:rPr lang="en-US" sz="1350" dirty="0">
                <a:solidFill>
                  <a:srgbClr val="5B6478"/>
                </a:solidFill>
                <a:latin typeface="Calibri" pitchFamily="34" charset="0"/>
                <a:ea typeface="Calibri" pitchFamily="34" charset="-122"/>
                <a:cs typeface="Calibri" pitchFamily="34" charset="-120"/>
              </a:rPr>
              <a:t>Catalogs hold millions of items; each shopper realistically sees only a handful.</a:t>
            </a:r>
            <a:endParaRPr lang="en-US" sz="1350" dirty="0"/>
          </a:p>
        </p:txBody>
      </p:sp>
      <p:sp>
        <p:nvSpPr>
          <p:cNvPr id="8" name="Shape 5"/>
          <p:cNvSpPr/>
          <p:nvPr/>
        </p:nvSpPr>
        <p:spPr>
          <a:xfrm>
            <a:off x="685800" y="3172968"/>
            <a:ext cx="566928" cy="56692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9" name="Image 1" descr="preencoded.png">    </p:cNvPr>
          <p:cNvPicPr>
            <a:picLocks noChangeAspect="1"/>
          </p:cNvPicPr>
          <p:nvPr/>
        </p:nvPicPr>
        <p:blipFill>
          <a:blip r:embed="rId2"/>
          <a:stretch>
            <a:fillRect/>
          </a:stretch>
        </p:blipFill>
        <p:spPr>
          <a:xfrm>
            <a:off x="838871" y="3326039"/>
            <a:ext cx="260787" cy="260787"/>
          </a:xfrm>
          <a:prstGeom prst="rect">
            <a:avLst/>
          </a:prstGeom>
        </p:spPr>
      </p:pic>
      <p:sp>
        <p:nvSpPr>
          <p:cNvPr id="10" name="Text 6"/>
          <p:cNvSpPr/>
          <p:nvPr/>
        </p:nvSpPr>
        <p:spPr>
          <a:xfrm>
            <a:off x="1417320" y="3136392"/>
            <a:ext cx="521208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Choice overload</a:t>
            </a:r>
            <a:endParaRPr lang="en-US" sz="1650" dirty="0"/>
          </a:p>
        </p:txBody>
      </p:sp>
      <p:sp>
        <p:nvSpPr>
          <p:cNvPr id="11" name="Text 7"/>
          <p:cNvSpPr/>
          <p:nvPr/>
        </p:nvSpPr>
        <p:spPr>
          <a:xfrm>
            <a:off x="1417320" y="3502152"/>
            <a:ext cx="5349240" cy="777240"/>
          </a:xfrm>
          <a:prstGeom prst="rect">
            <a:avLst/>
          </a:prstGeom>
          <a:noFill/>
          <a:ln/>
        </p:spPr>
        <p:txBody>
          <a:bodyPr wrap="square" lIns="0" tIns="0" rIns="0" bIns="0" rtlCol="0" anchor="ctr"/>
          <a:lstStyle/>
          <a:p>
            <a:pPr indent="0" marL="0">
              <a:buNone/>
            </a:pPr>
            <a:r>
              <a:rPr lang="en-US" sz="1350" dirty="0">
                <a:solidFill>
                  <a:srgbClr val="5B6478"/>
                </a:solidFill>
                <a:latin typeface="Calibri" pitchFamily="34" charset="0"/>
                <a:ea typeface="Calibri" pitchFamily="34" charset="-122"/>
                <a:cs typeface="Calibri" pitchFamily="34" charset="-120"/>
              </a:rPr>
              <a:t>Too many options causes hesitation — and hesitation costs sales.</a:t>
            </a:r>
            <a:endParaRPr lang="en-US" sz="1350" dirty="0"/>
          </a:p>
        </p:txBody>
      </p:sp>
      <p:sp>
        <p:nvSpPr>
          <p:cNvPr id="12" name="Shape 8"/>
          <p:cNvSpPr/>
          <p:nvPr/>
        </p:nvSpPr>
        <p:spPr>
          <a:xfrm>
            <a:off x="685800" y="4654296"/>
            <a:ext cx="566928" cy="566928"/>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13" name="Image 2" descr="preencoded.png">    </p:cNvPr>
          <p:cNvPicPr>
            <a:picLocks noChangeAspect="1"/>
          </p:cNvPicPr>
          <p:nvPr/>
        </p:nvPicPr>
        <p:blipFill>
          <a:blip r:embed="rId3"/>
          <a:stretch>
            <a:fillRect/>
          </a:stretch>
        </p:blipFill>
        <p:spPr>
          <a:xfrm>
            <a:off x="838871" y="4807367"/>
            <a:ext cx="260787" cy="260787"/>
          </a:xfrm>
          <a:prstGeom prst="rect">
            <a:avLst/>
          </a:prstGeom>
        </p:spPr>
      </p:pic>
      <p:sp>
        <p:nvSpPr>
          <p:cNvPr id="14" name="Text 9"/>
          <p:cNvSpPr/>
          <p:nvPr/>
        </p:nvSpPr>
        <p:spPr>
          <a:xfrm>
            <a:off x="1417320" y="4617720"/>
            <a:ext cx="5212080" cy="365760"/>
          </a:xfrm>
          <a:prstGeom prst="rect">
            <a:avLst/>
          </a:prstGeom>
          <a:noFill/>
          <a:ln/>
        </p:spPr>
        <p:txBody>
          <a:bodyPr wrap="square" lIns="0" tIns="0" rIns="0" bIns="0" rtlCol="0" anchor="ctr"/>
          <a:lstStyle/>
          <a:p>
            <a:pPr indent="0" marL="0">
              <a:buNone/>
            </a:pPr>
            <a:r>
              <a:rPr lang="en-US" sz="1650" b="1" dirty="0">
                <a:solidFill>
                  <a:srgbClr val="1A2238"/>
                </a:solidFill>
                <a:latin typeface="Cambria" pitchFamily="34" charset="0"/>
                <a:ea typeface="Cambria" pitchFamily="34" charset="-122"/>
                <a:cs typeface="Cambria" pitchFamily="34" charset="-120"/>
              </a:rPr>
              <a:t>The business case</a:t>
            </a:r>
            <a:endParaRPr lang="en-US" sz="1650" dirty="0"/>
          </a:p>
        </p:txBody>
      </p:sp>
      <p:sp>
        <p:nvSpPr>
          <p:cNvPr id="15" name="Text 10"/>
          <p:cNvSpPr/>
          <p:nvPr/>
        </p:nvSpPr>
        <p:spPr>
          <a:xfrm>
            <a:off x="1417320" y="4983480"/>
            <a:ext cx="5349240" cy="777240"/>
          </a:xfrm>
          <a:prstGeom prst="rect">
            <a:avLst/>
          </a:prstGeom>
          <a:noFill/>
          <a:ln/>
        </p:spPr>
        <p:txBody>
          <a:bodyPr wrap="square" lIns="0" tIns="0" rIns="0" bIns="0" rtlCol="0" anchor="ctr"/>
          <a:lstStyle/>
          <a:p>
            <a:pPr indent="0" marL="0">
              <a:buNone/>
            </a:pPr>
            <a:r>
              <a:rPr lang="en-US" sz="1350" dirty="0">
                <a:solidFill>
                  <a:srgbClr val="5B6478"/>
                </a:solidFill>
                <a:latin typeface="Calibri" pitchFamily="34" charset="0"/>
                <a:ea typeface="Calibri" pitchFamily="34" charset="-122"/>
                <a:cs typeface="Calibri" pitchFamily="34" charset="-120"/>
              </a:rPr>
              <a:t>Better matching lifts conversion, raises average order value, and deepens retention.</a:t>
            </a:r>
            <a:endParaRPr lang="en-US" sz="1350" dirty="0"/>
          </a:p>
        </p:txBody>
      </p:sp>
      <p:sp>
        <p:nvSpPr>
          <p:cNvPr id="16" name="Shape 11"/>
          <p:cNvSpPr/>
          <p:nvPr/>
        </p:nvSpPr>
        <p:spPr>
          <a:xfrm>
            <a:off x="7178040" y="1691640"/>
            <a:ext cx="4370832" cy="4434840"/>
          </a:xfrm>
          <a:prstGeom prst="roundRect">
            <a:avLst>
              <a:gd name="adj" fmla="val 2929"/>
            </a:avLst>
          </a:prstGeom>
          <a:solidFill>
            <a:srgbClr val="F3F6FC"/>
          </a:solidFill>
          <a:ln/>
          <a:effectLst>
            <a:outerShdw sx="100000" sy="100000" kx="0" ky="0" algn="bl" rotWithShape="0" blurRad="127000" dist="50800" dir="5400000">
              <a:srgbClr val="8A93A6">
                <a:alpha val="13000"/>
              </a:srgbClr>
            </a:outerShdw>
          </a:effectLst>
        </p:spPr>
      </p:sp>
      <p:sp>
        <p:nvSpPr>
          <p:cNvPr id="17" name="Text 12"/>
          <p:cNvSpPr/>
          <p:nvPr/>
        </p:nvSpPr>
        <p:spPr>
          <a:xfrm>
            <a:off x="7498080" y="1920240"/>
            <a:ext cx="1773936" cy="640080"/>
          </a:xfrm>
          <a:prstGeom prst="rect">
            <a:avLst/>
          </a:prstGeom>
          <a:noFill/>
          <a:ln/>
        </p:spPr>
        <p:txBody>
          <a:bodyPr wrap="square" lIns="0" tIns="0" rIns="0" bIns="0" rtlCol="0" anchor="ctr"/>
          <a:lstStyle/>
          <a:p>
            <a:pPr algn="ctr" indent="0" marL="0">
              <a:buNone/>
            </a:pPr>
            <a:r>
              <a:rPr lang="en-US" sz="3800" b="1" dirty="0">
                <a:solidFill>
                  <a:srgbClr val="1E2761"/>
                </a:solidFill>
                <a:latin typeface="Cambria" pitchFamily="34" charset="0"/>
                <a:ea typeface="Cambria" pitchFamily="34" charset="-122"/>
                <a:cs typeface="Cambria" pitchFamily="34" charset="-120"/>
              </a:rPr>
              <a:t>~35%</a:t>
            </a:r>
            <a:endParaRPr lang="en-US" sz="3800" dirty="0"/>
          </a:p>
        </p:txBody>
      </p:sp>
      <p:sp>
        <p:nvSpPr>
          <p:cNvPr id="18" name="Text 13"/>
          <p:cNvSpPr/>
          <p:nvPr/>
        </p:nvSpPr>
        <p:spPr>
          <a:xfrm>
            <a:off x="7498080" y="2578608"/>
            <a:ext cx="1773936" cy="64008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of Amazon sales linked to recommendations</a:t>
            </a:r>
            <a:endParaRPr lang="en-US" sz="1100" dirty="0"/>
          </a:p>
        </p:txBody>
      </p:sp>
      <p:sp>
        <p:nvSpPr>
          <p:cNvPr id="19" name="Text 14"/>
          <p:cNvSpPr/>
          <p:nvPr/>
        </p:nvSpPr>
        <p:spPr>
          <a:xfrm>
            <a:off x="9454896" y="1920240"/>
            <a:ext cx="1773936" cy="640080"/>
          </a:xfrm>
          <a:prstGeom prst="rect">
            <a:avLst/>
          </a:prstGeom>
          <a:noFill/>
          <a:ln/>
        </p:spPr>
        <p:txBody>
          <a:bodyPr wrap="square" lIns="0" tIns="0" rIns="0" bIns="0" rtlCol="0" anchor="ctr"/>
          <a:lstStyle/>
          <a:p>
            <a:pPr algn="ctr" indent="0" marL="0">
              <a:buNone/>
            </a:pPr>
            <a:r>
              <a:rPr lang="en-US" sz="3800" b="1" dirty="0">
                <a:solidFill>
                  <a:srgbClr val="4A6FA5"/>
                </a:solidFill>
                <a:latin typeface="Cambria" pitchFamily="34" charset="0"/>
                <a:ea typeface="Cambria" pitchFamily="34" charset="-122"/>
                <a:cs typeface="Cambria" pitchFamily="34" charset="-120"/>
              </a:rPr>
              <a:t>~75%</a:t>
            </a:r>
            <a:endParaRPr lang="en-US" sz="3800" dirty="0"/>
          </a:p>
        </p:txBody>
      </p:sp>
      <p:sp>
        <p:nvSpPr>
          <p:cNvPr id="20" name="Text 15"/>
          <p:cNvSpPr/>
          <p:nvPr/>
        </p:nvSpPr>
        <p:spPr>
          <a:xfrm>
            <a:off x="9454896" y="2578608"/>
            <a:ext cx="1773936" cy="64008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of Netflix viewing driven by recommendations</a:t>
            </a:r>
            <a:endParaRPr lang="en-US" sz="1100" dirty="0"/>
          </a:p>
        </p:txBody>
      </p:sp>
      <p:sp>
        <p:nvSpPr>
          <p:cNvPr id="21" name="Text 16"/>
          <p:cNvSpPr/>
          <p:nvPr/>
        </p:nvSpPr>
        <p:spPr>
          <a:xfrm>
            <a:off x="7498080" y="3383280"/>
            <a:ext cx="3730752" cy="274320"/>
          </a:xfrm>
          <a:prstGeom prst="rect">
            <a:avLst/>
          </a:prstGeom>
          <a:noFill/>
          <a:ln/>
        </p:spPr>
        <p:txBody>
          <a:bodyPr wrap="square" lIns="0" tIns="0" rIns="0" bIns="0" rtlCol="0" anchor="ctr"/>
          <a:lstStyle/>
          <a:p>
            <a:pPr indent="0" marL="0">
              <a:buNone/>
            </a:pPr>
            <a:r>
              <a:rPr lang="en-US" sz="1250" b="1" dirty="0">
                <a:solidFill>
                  <a:srgbClr val="1A2238"/>
                </a:solidFill>
                <a:latin typeface="Calibri" pitchFamily="34" charset="0"/>
                <a:ea typeface="Calibri" pitchFamily="34" charset="-122"/>
                <a:cs typeface="Calibri" pitchFamily="34" charset="-120"/>
              </a:rPr>
              <a:t>Activity driven by recommendations</a:t>
            </a:r>
            <a:endParaRPr lang="en-US" sz="1250" dirty="0"/>
          </a:p>
        </p:txBody>
      </p:sp>
      <p:graphicFrame>
        <p:nvGraphicFramePr>
          <p:cNvPr id="22" name="Chart 0" descr=""/>
          <p:cNvGraphicFramePr/>
          <p:nvPr/>
        </p:nvGraphicFramePr>
        <p:xfrm>
          <a:off x="7360920" y="3657600"/>
          <a:ext cx="4005072" cy="1874520"/>
        </p:xfrm>
        <a:graphic xmlns:a="http://schemas.openxmlformats.org/drawingml/2006/main">
          <a:graphicData uri="http://schemas.openxmlformats.org/drawingml/2006/chart">
            <c:chart xmlns:c="http://schemas.openxmlformats.org/drawingml/2006/chart" r:id="rId4"/>
          </a:graphicData>
        </a:graphic>
      </p:graphicFrame>
      <p:sp>
        <p:nvSpPr>
          <p:cNvPr id="23" name="Text 17"/>
          <p:cNvSpPr/>
          <p:nvPr/>
        </p:nvSpPr>
        <p:spPr>
          <a:xfrm>
            <a:off x="7498080" y="5650992"/>
            <a:ext cx="3730752" cy="365760"/>
          </a:xfrm>
          <a:prstGeom prst="rect">
            <a:avLst/>
          </a:prstGeom>
          <a:noFill/>
          <a:ln/>
        </p:spPr>
        <p:txBody>
          <a:bodyPr wrap="square" lIns="0" tIns="0" rIns="0" bIns="0"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Widely cited industry estimates — directional, not exact.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WHAT A RECOMMENDER DOES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Predict relevance, then rank</a:t>
            </a:r>
            <a:endParaRPr lang="en-US" sz="2700" dirty="0"/>
          </a:p>
        </p:txBody>
      </p:sp>
      <p:sp>
        <p:nvSpPr>
          <p:cNvPr id="4" name="Shape 2"/>
          <p:cNvSpPr/>
          <p:nvPr/>
        </p:nvSpPr>
        <p:spPr>
          <a:xfrm>
            <a:off x="640080" y="1600200"/>
            <a:ext cx="10927080" cy="1024128"/>
          </a:xfrm>
          <a:prstGeom prst="roundRect">
            <a:avLst>
              <a:gd name="adj" fmla="val 10714"/>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819656"/>
            <a:ext cx="566928" cy="566928"/>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49183" y="1972727"/>
            <a:ext cx="260787" cy="260787"/>
          </a:xfrm>
          <a:prstGeom prst="rect">
            <a:avLst/>
          </a:prstGeom>
        </p:spPr>
      </p:pic>
      <p:sp>
        <p:nvSpPr>
          <p:cNvPr id="7" name="Text 4"/>
          <p:cNvSpPr/>
          <p:nvPr/>
        </p:nvSpPr>
        <p:spPr>
          <a:xfrm>
            <a:off x="1691640" y="1700784"/>
            <a:ext cx="9646920" cy="841248"/>
          </a:xfrm>
          <a:prstGeom prst="rect">
            <a:avLst/>
          </a:prstGeom>
          <a:noFill/>
          <a:ln/>
        </p:spPr>
        <p:txBody>
          <a:bodyPr wrap="square" lIns="0" tIns="0" rIns="0" bIns="0" rtlCol="0" anchor="ctr"/>
          <a:lstStyle/>
          <a:p>
            <a:pPr indent="0" marL="0">
              <a:buNone/>
            </a:pPr>
            <a:r>
              <a:rPr lang="en-US" sz="1450" dirty="0">
                <a:solidFill>
                  <a:srgbClr val="1A2238"/>
                </a:solidFill>
                <a:latin typeface="Calibri" pitchFamily="34" charset="0"/>
                <a:ea typeface="Calibri" pitchFamily="34" charset="-122"/>
                <a:cs typeface="Calibri" pitchFamily="34" charset="-120"/>
              </a:rPr>
              <a:t>A recommender predicts which products a customer is most likely to want next — and presents them in the right order, at the right moment.</a:t>
            </a:r>
            <a:endParaRPr lang="en-US" sz="1450" dirty="0"/>
          </a:p>
        </p:txBody>
      </p:sp>
      <p:sp>
        <p:nvSpPr>
          <p:cNvPr id="8" name="Shape 5"/>
          <p:cNvSpPr/>
          <p:nvPr/>
        </p:nvSpPr>
        <p:spPr>
          <a:xfrm>
            <a:off x="640080" y="3063240"/>
            <a:ext cx="3154680" cy="2331720"/>
          </a:xfrm>
          <a:prstGeom prst="roundRect">
            <a:avLst>
              <a:gd name="adj" fmla="val 4706"/>
            </a:avLst>
          </a:prstGeom>
          <a:solidFill>
            <a:srgbClr val="FFFFFF"/>
          </a:solidFill>
          <a:ln/>
          <a:effectLst>
            <a:outerShdw sx="100000" sy="100000" kx="0" ky="0" algn="bl" rotWithShape="0" blurRad="127000" dist="50800" dir="5400000">
              <a:srgbClr val="8A93A6">
                <a:alpha val="13000"/>
              </a:srgbClr>
            </a:outerShdw>
          </a:effectLst>
        </p:spPr>
      </p:sp>
      <p:sp>
        <p:nvSpPr>
          <p:cNvPr id="9" name="Shape 6"/>
          <p:cNvSpPr/>
          <p:nvPr/>
        </p:nvSpPr>
        <p:spPr>
          <a:xfrm>
            <a:off x="640080" y="3063240"/>
            <a:ext cx="3154680" cy="2331720"/>
          </a:xfrm>
          <a:prstGeom prst="roundRect">
            <a:avLst>
              <a:gd name="adj" fmla="val 4706"/>
            </a:avLst>
          </a:prstGeom>
          <a:solidFill>
            <a:srgbClr val="FFFFFF">
              <a:alpha val="0"/>
            </a:srgbClr>
          </a:solidFill>
          <a:ln w="12700">
            <a:solidFill>
              <a:srgbClr val="DCE3F0"/>
            </a:solidFill>
            <a:prstDash val="solid"/>
          </a:ln>
        </p:spPr>
      </p:sp>
      <p:sp>
        <p:nvSpPr>
          <p:cNvPr id="10" name="Shape 7"/>
          <p:cNvSpPr/>
          <p:nvPr/>
        </p:nvSpPr>
        <p:spPr>
          <a:xfrm>
            <a:off x="1888236" y="3355848"/>
            <a:ext cx="658368" cy="65836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2065995" y="3533607"/>
            <a:ext cx="302849" cy="302849"/>
          </a:xfrm>
          <a:prstGeom prst="rect">
            <a:avLst/>
          </a:prstGeom>
        </p:spPr>
      </p:pic>
      <p:sp>
        <p:nvSpPr>
          <p:cNvPr id="12" name="Text 8"/>
          <p:cNvSpPr/>
          <p:nvPr/>
        </p:nvSpPr>
        <p:spPr>
          <a:xfrm>
            <a:off x="822960" y="4142232"/>
            <a:ext cx="2788920" cy="365760"/>
          </a:xfrm>
          <a:prstGeom prst="rect">
            <a:avLst/>
          </a:prstGeom>
          <a:noFill/>
          <a:ln/>
        </p:spPr>
        <p:txBody>
          <a:bodyPr wrap="square" lIns="0" tIns="0" rIns="0" bIns="0" rtlCol="0" anchor="ctr"/>
          <a:lstStyle/>
          <a:p>
            <a:pPr algn="ctr" indent="0" marL="0">
              <a:buNone/>
            </a:pPr>
            <a:r>
              <a:rPr lang="en-US" sz="1700" b="1" dirty="0">
                <a:solidFill>
                  <a:srgbClr val="1A2238"/>
                </a:solidFill>
                <a:latin typeface="Cambria" pitchFamily="34" charset="0"/>
                <a:ea typeface="Cambria" pitchFamily="34" charset="-122"/>
                <a:cs typeface="Cambria" pitchFamily="34" charset="-120"/>
              </a:rPr>
              <a:t>Input</a:t>
            </a:r>
            <a:endParaRPr lang="en-US" sz="1700" dirty="0"/>
          </a:p>
        </p:txBody>
      </p:sp>
      <p:sp>
        <p:nvSpPr>
          <p:cNvPr id="13" name="Text 9"/>
          <p:cNvSpPr/>
          <p:nvPr/>
        </p:nvSpPr>
        <p:spPr>
          <a:xfrm>
            <a:off x="896112" y="4526280"/>
            <a:ext cx="2642616" cy="777240"/>
          </a:xfrm>
          <a:prstGeom prst="rect">
            <a:avLst/>
          </a:prstGeom>
          <a:noFill/>
          <a:ln/>
        </p:spPr>
        <p:txBody>
          <a:bodyPr wrap="square" lIns="0" tIns="0" rIns="0" bIns="0" rtlCol="0" anchor="ctr"/>
          <a:lstStyle/>
          <a:p>
            <a:pPr algn="ctr" indent="0" marL="0">
              <a:buNone/>
            </a:pPr>
            <a:r>
              <a:rPr lang="en-US" sz="1250" dirty="0">
                <a:solidFill>
                  <a:srgbClr val="5B6478"/>
                </a:solidFill>
                <a:latin typeface="Calibri" pitchFamily="34" charset="0"/>
                <a:ea typeface="Calibri" pitchFamily="34" charset="-122"/>
                <a:cs typeface="Calibri" pitchFamily="34" charset="-120"/>
              </a:rPr>
              <a:t>Who the customer is, what they've browsed and bought, and the current context.</a:t>
            </a:r>
            <a:endParaRPr lang="en-US" sz="1250" dirty="0"/>
          </a:p>
        </p:txBody>
      </p:sp>
      <p:pic>
        <p:nvPicPr>
          <p:cNvPr id="14" name="Image 2" descr="preencoded.png">    </p:cNvPr>
          <p:cNvPicPr>
            <a:picLocks noChangeAspect="1"/>
          </p:cNvPicPr>
          <p:nvPr/>
        </p:nvPicPr>
        <p:blipFill>
          <a:blip r:embed="rId3"/>
          <a:stretch>
            <a:fillRect/>
          </a:stretch>
        </p:blipFill>
        <p:spPr>
          <a:xfrm>
            <a:off x="3904488" y="4055364"/>
            <a:ext cx="347472" cy="173736"/>
          </a:xfrm>
          <a:prstGeom prst="rect">
            <a:avLst/>
          </a:prstGeom>
        </p:spPr>
      </p:pic>
      <p:sp>
        <p:nvSpPr>
          <p:cNvPr id="15" name="Shape 10"/>
          <p:cNvSpPr/>
          <p:nvPr/>
        </p:nvSpPr>
        <p:spPr>
          <a:xfrm>
            <a:off x="4361688" y="3063240"/>
            <a:ext cx="3154680" cy="2331720"/>
          </a:xfrm>
          <a:prstGeom prst="roundRect">
            <a:avLst>
              <a:gd name="adj" fmla="val 4706"/>
            </a:avLst>
          </a:prstGeom>
          <a:solidFill>
            <a:srgbClr val="FFFFFF"/>
          </a:solidFill>
          <a:ln/>
          <a:effectLst>
            <a:outerShdw sx="100000" sy="100000" kx="0" ky="0" algn="bl" rotWithShape="0" blurRad="127000" dist="50800" dir="5400000">
              <a:srgbClr val="8A93A6">
                <a:alpha val="13000"/>
              </a:srgbClr>
            </a:outerShdw>
          </a:effectLst>
        </p:spPr>
      </p:sp>
      <p:sp>
        <p:nvSpPr>
          <p:cNvPr id="16" name="Shape 11"/>
          <p:cNvSpPr/>
          <p:nvPr/>
        </p:nvSpPr>
        <p:spPr>
          <a:xfrm>
            <a:off x="4361688" y="3063240"/>
            <a:ext cx="3154680" cy="2331720"/>
          </a:xfrm>
          <a:prstGeom prst="roundRect">
            <a:avLst>
              <a:gd name="adj" fmla="val 4706"/>
            </a:avLst>
          </a:prstGeom>
          <a:solidFill>
            <a:srgbClr val="FFFFFF">
              <a:alpha val="0"/>
            </a:srgbClr>
          </a:solidFill>
          <a:ln w="12700">
            <a:solidFill>
              <a:srgbClr val="DCE3F0"/>
            </a:solidFill>
            <a:prstDash val="solid"/>
          </a:ln>
        </p:spPr>
      </p:sp>
      <p:sp>
        <p:nvSpPr>
          <p:cNvPr id="17" name="Shape 12"/>
          <p:cNvSpPr/>
          <p:nvPr/>
        </p:nvSpPr>
        <p:spPr>
          <a:xfrm>
            <a:off x="5609844" y="3355848"/>
            <a:ext cx="658368" cy="65836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8" name="Image 3" descr="preencoded.png">    </p:cNvPr>
          <p:cNvPicPr>
            <a:picLocks noChangeAspect="1"/>
          </p:cNvPicPr>
          <p:nvPr/>
        </p:nvPicPr>
        <p:blipFill>
          <a:blip r:embed="rId4"/>
          <a:stretch>
            <a:fillRect/>
          </a:stretch>
        </p:blipFill>
        <p:spPr>
          <a:xfrm>
            <a:off x="5787603" y="3533607"/>
            <a:ext cx="302849" cy="302849"/>
          </a:xfrm>
          <a:prstGeom prst="rect">
            <a:avLst/>
          </a:prstGeom>
        </p:spPr>
      </p:pic>
      <p:sp>
        <p:nvSpPr>
          <p:cNvPr id="19" name="Text 13"/>
          <p:cNvSpPr/>
          <p:nvPr/>
        </p:nvSpPr>
        <p:spPr>
          <a:xfrm>
            <a:off x="4544568" y="4142232"/>
            <a:ext cx="2788920" cy="365760"/>
          </a:xfrm>
          <a:prstGeom prst="rect">
            <a:avLst/>
          </a:prstGeom>
          <a:noFill/>
          <a:ln/>
        </p:spPr>
        <p:txBody>
          <a:bodyPr wrap="square" lIns="0" tIns="0" rIns="0" bIns="0" rtlCol="0" anchor="ctr"/>
          <a:lstStyle/>
          <a:p>
            <a:pPr algn="ctr" indent="0" marL="0">
              <a:buNone/>
            </a:pPr>
            <a:r>
              <a:rPr lang="en-US" sz="1700" b="1" dirty="0">
                <a:solidFill>
                  <a:srgbClr val="1A2238"/>
                </a:solidFill>
                <a:latin typeface="Cambria" pitchFamily="34" charset="0"/>
                <a:ea typeface="Cambria" pitchFamily="34" charset="-122"/>
                <a:cs typeface="Cambria" pitchFamily="34" charset="-120"/>
              </a:rPr>
              <a:t>Model</a:t>
            </a:r>
            <a:endParaRPr lang="en-US" sz="1700" dirty="0"/>
          </a:p>
        </p:txBody>
      </p:sp>
      <p:sp>
        <p:nvSpPr>
          <p:cNvPr id="20" name="Text 14"/>
          <p:cNvSpPr/>
          <p:nvPr/>
        </p:nvSpPr>
        <p:spPr>
          <a:xfrm>
            <a:off x="4617720" y="4526280"/>
            <a:ext cx="2642616" cy="777240"/>
          </a:xfrm>
          <a:prstGeom prst="rect">
            <a:avLst/>
          </a:prstGeom>
          <a:noFill/>
          <a:ln/>
        </p:spPr>
        <p:txBody>
          <a:bodyPr wrap="square" lIns="0" tIns="0" rIns="0" bIns="0" rtlCol="0" anchor="ctr"/>
          <a:lstStyle/>
          <a:p>
            <a:pPr algn="ctr" indent="0" marL="0">
              <a:buNone/>
            </a:pPr>
            <a:r>
              <a:rPr lang="en-US" sz="1250" dirty="0">
                <a:solidFill>
                  <a:srgbClr val="5B6478"/>
                </a:solidFill>
                <a:latin typeface="Calibri" pitchFamily="34" charset="0"/>
                <a:ea typeface="Calibri" pitchFamily="34" charset="-122"/>
                <a:cs typeface="Calibri" pitchFamily="34" charset="-120"/>
              </a:rPr>
              <a:t>Scores how relevant each product is to this customer right now.</a:t>
            </a:r>
            <a:endParaRPr lang="en-US" sz="1250" dirty="0"/>
          </a:p>
        </p:txBody>
      </p:sp>
      <p:pic>
        <p:nvPicPr>
          <p:cNvPr id="21" name="Image 4" descr="preencoded.png">    </p:cNvPr>
          <p:cNvPicPr>
            <a:picLocks noChangeAspect="1"/>
          </p:cNvPicPr>
          <p:nvPr/>
        </p:nvPicPr>
        <p:blipFill>
          <a:blip r:embed="rId5"/>
          <a:stretch>
            <a:fillRect/>
          </a:stretch>
        </p:blipFill>
        <p:spPr>
          <a:xfrm>
            <a:off x="7626096" y="4055364"/>
            <a:ext cx="347472" cy="173736"/>
          </a:xfrm>
          <a:prstGeom prst="rect">
            <a:avLst/>
          </a:prstGeom>
        </p:spPr>
      </p:pic>
      <p:sp>
        <p:nvSpPr>
          <p:cNvPr id="22" name="Shape 15"/>
          <p:cNvSpPr/>
          <p:nvPr/>
        </p:nvSpPr>
        <p:spPr>
          <a:xfrm>
            <a:off x="8083296" y="3063240"/>
            <a:ext cx="3154680" cy="2331720"/>
          </a:xfrm>
          <a:prstGeom prst="roundRect">
            <a:avLst>
              <a:gd name="adj" fmla="val 4706"/>
            </a:avLst>
          </a:prstGeom>
          <a:solidFill>
            <a:srgbClr val="FFFFFF"/>
          </a:solidFill>
          <a:ln/>
          <a:effectLst>
            <a:outerShdw sx="100000" sy="100000" kx="0" ky="0" algn="bl" rotWithShape="0" blurRad="127000" dist="50800" dir="5400000">
              <a:srgbClr val="8A93A6">
                <a:alpha val="13000"/>
              </a:srgbClr>
            </a:outerShdw>
          </a:effectLst>
        </p:spPr>
      </p:sp>
      <p:sp>
        <p:nvSpPr>
          <p:cNvPr id="23" name="Shape 16"/>
          <p:cNvSpPr/>
          <p:nvPr/>
        </p:nvSpPr>
        <p:spPr>
          <a:xfrm>
            <a:off x="8083296" y="3063240"/>
            <a:ext cx="3154680" cy="2331720"/>
          </a:xfrm>
          <a:prstGeom prst="roundRect">
            <a:avLst>
              <a:gd name="adj" fmla="val 4706"/>
            </a:avLst>
          </a:prstGeom>
          <a:solidFill>
            <a:srgbClr val="FFFFFF">
              <a:alpha val="0"/>
            </a:srgbClr>
          </a:solidFill>
          <a:ln w="12700">
            <a:solidFill>
              <a:srgbClr val="DCE3F0"/>
            </a:solidFill>
            <a:prstDash val="solid"/>
          </a:ln>
        </p:spPr>
      </p:sp>
      <p:sp>
        <p:nvSpPr>
          <p:cNvPr id="24" name="Shape 17"/>
          <p:cNvSpPr/>
          <p:nvPr/>
        </p:nvSpPr>
        <p:spPr>
          <a:xfrm>
            <a:off x="9331452" y="3355848"/>
            <a:ext cx="658368" cy="658368"/>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25" name="Image 5" descr="preencoded.png">    </p:cNvPr>
          <p:cNvPicPr>
            <a:picLocks noChangeAspect="1"/>
          </p:cNvPicPr>
          <p:nvPr/>
        </p:nvPicPr>
        <p:blipFill>
          <a:blip r:embed="rId6"/>
          <a:stretch>
            <a:fillRect/>
          </a:stretch>
        </p:blipFill>
        <p:spPr>
          <a:xfrm>
            <a:off x="9509211" y="3533607"/>
            <a:ext cx="302849" cy="302849"/>
          </a:xfrm>
          <a:prstGeom prst="rect">
            <a:avLst/>
          </a:prstGeom>
        </p:spPr>
      </p:pic>
      <p:sp>
        <p:nvSpPr>
          <p:cNvPr id="26" name="Text 18"/>
          <p:cNvSpPr/>
          <p:nvPr/>
        </p:nvSpPr>
        <p:spPr>
          <a:xfrm>
            <a:off x="8266176" y="4142232"/>
            <a:ext cx="2788920" cy="365760"/>
          </a:xfrm>
          <a:prstGeom prst="rect">
            <a:avLst/>
          </a:prstGeom>
          <a:noFill/>
          <a:ln/>
        </p:spPr>
        <p:txBody>
          <a:bodyPr wrap="square" lIns="0" tIns="0" rIns="0" bIns="0" rtlCol="0" anchor="ctr"/>
          <a:lstStyle/>
          <a:p>
            <a:pPr algn="ctr" indent="0" marL="0">
              <a:buNone/>
            </a:pPr>
            <a:r>
              <a:rPr lang="en-US" sz="1700" b="1" dirty="0">
                <a:solidFill>
                  <a:srgbClr val="1A2238"/>
                </a:solidFill>
                <a:latin typeface="Cambria" pitchFamily="34" charset="0"/>
                <a:ea typeface="Cambria" pitchFamily="34" charset="-122"/>
                <a:cs typeface="Cambria" pitchFamily="34" charset="-120"/>
              </a:rPr>
              <a:t>Ranked output</a:t>
            </a:r>
            <a:endParaRPr lang="en-US" sz="1700" dirty="0"/>
          </a:p>
        </p:txBody>
      </p:sp>
      <p:sp>
        <p:nvSpPr>
          <p:cNvPr id="27" name="Text 19"/>
          <p:cNvSpPr/>
          <p:nvPr/>
        </p:nvSpPr>
        <p:spPr>
          <a:xfrm>
            <a:off x="8339328" y="4526280"/>
            <a:ext cx="2642616" cy="777240"/>
          </a:xfrm>
          <a:prstGeom prst="rect">
            <a:avLst/>
          </a:prstGeom>
          <a:noFill/>
          <a:ln/>
        </p:spPr>
        <p:txBody>
          <a:bodyPr wrap="square" lIns="0" tIns="0" rIns="0" bIns="0" rtlCol="0" anchor="ctr"/>
          <a:lstStyle/>
          <a:p>
            <a:pPr algn="ctr" indent="0" marL="0">
              <a:buNone/>
            </a:pPr>
            <a:r>
              <a:rPr lang="en-US" sz="1250" dirty="0">
                <a:solidFill>
                  <a:srgbClr val="5B6478"/>
                </a:solidFill>
                <a:latin typeface="Calibri" pitchFamily="34" charset="0"/>
                <a:ea typeface="Calibri" pitchFamily="34" charset="-122"/>
                <a:cs typeface="Calibri" pitchFamily="34" charset="-120"/>
              </a:rPr>
              <a:t>A short, ordered list of the best products to show.</a:t>
            </a:r>
            <a:endParaRPr lang="en-US" sz="1250" dirty="0"/>
          </a:p>
        </p:txBody>
      </p:sp>
      <p:sp>
        <p:nvSpPr>
          <p:cNvPr id="28" name="Text 20"/>
          <p:cNvSpPr/>
          <p:nvPr/>
        </p:nvSpPr>
        <p:spPr>
          <a:xfrm>
            <a:off x="640080" y="5623560"/>
            <a:ext cx="10927080" cy="365760"/>
          </a:xfrm>
          <a:prstGeom prst="rect">
            <a:avLst/>
          </a:prstGeom>
          <a:noFill/>
          <a:ln/>
        </p:spPr>
        <p:txBody>
          <a:bodyPr wrap="square" lIns="0" tIns="0" rIns="0" bIns="0" rtlCol="0" anchor="ctr"/>
          <a:lstStyle/>
          <a:p>
            <a:pPr algn="ctr" indent="0" marL="0">
              <a:buNone/>
            </a:pPr>
            <a:r>
              <a:rPr lang="en-US" sz="1200" i="1" dirty="0">
                <a:solidFill>
                  <a:srgbClr val="4A6FA5"/>
                </a:solidFill>
                <a:latin typeface="Calibri" pitchFamily="34" charset="0"/>
                <a:ea typeface="Calibri" pitchFamily="34" charset="-122"/>
                <a:cs typeface="Calibri" pitchFamily="34" charset="-120"/>
              </a:rPr>
              <a:t>The goal is relevance: the right products, in the right order, surfaced automatically.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TYPES OF RECOMMENDATIONS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The same engine, many storefront surfaces</a:t>
            </a:r>
            <a:endParaRPr lang="en-US" sz="2700" dirty="0"/>
          </a:p>
        </p:txBody>
      </p:sp>
      <p:sp>
        <p:nvSpPr>
          <p:cNvPr id="4" name="Shape 2"/>
          <p:cNvSpPr/>
          <p:nvPr/>
        </p:nvSpPr>
        <p:spPr>
          <a:xfrm>
            <a:off x="640080" y="1600200"/>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11096"/>
            <a:ext cx="640080" cy="64008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05510" y="2083918"/>
            <a:ext cx="294437" cy="294437"/>
          </a:xfrm>
          <a:prstGeom prst="rect">
            <a:avLst/>
          </a:prstGeom>
        </p:spPr>
      </p:pic>
      <p:sp>
        <p:nvSpPr>
          <p:cNvPr id="7" name="Text 4"/>
          <p:cNvSpPr/>
          <p:nvPr/>
        </p:nvSpPr>
        <p:spPr>
          <a:xfrm>
            <a:off x="932688" y="2660904"/>
            <a:ext cx="2907792" cy="365760"/>
          </a:xfrm>
          <a:prstGeom prst="rect">
            <a:avLst/>
          </a:prstGeom>
          <a:noFill/>
          <a:ln/>
        </p:spPr>
        <p:txBody>
          <a:bodyPr wrap="square" lIns="0" tIns="0" rIns="0" bIns="0" rtlCol="0" anchor="ctr"/>
          <a:lstStyle/>
          <a:p>
            <a:pPr indent="0" marL="0">
              <a:buNone/>
            </a:pPr>
            <a:r>
              <a:rPr lang="en-US" sz="1550" b="1" dirty="0">
                <a:solidFill>
                  <a:srgbClr val="1A2238"/>
                </a:solidFill>
                <a:latin typeface="Cambria" pitchFamily="34" charset="0"/>
                <a:ea typeface="Cambria" pitchFamily="34" charset="-122"/>
                <a:cs typeface="Cambria" pitchFamily="34" charset="-120"/>
              </a:rPr>
              <a:t>Personalized</a:t>
            </a:r>
            <a:endParaRPr lang="en-US" sz="1550" dirty="0"/>
          </a:p>
        </p:txBody>
      </p:sp>
      <p:sp>
        <p:nvSpPr>
          <p:cNvPr id="8" name="Text 5"/>
          <p:cNvSpPr/>
          <p:nvPr/>
        </p:nvSpPr>
        <p:spPr>
          <a:xfrm>
            <a:off x="932688" y="3026664"/>
            <a:ext cx="2907792" cy="50292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“Recommended for you,” tuned to each individual.</a:t>
            </a:r>
            <a:endParaRPr lang="en-US" sz="1250" dirty="0"/>
          </a:p>
        </p:txBody>
      </p:sp>
      <p:sp>
        <p:nvSpPr>
          <p:cNvPr id="9" name="Shape 6"/>
          <p:cNvSpPr/>
          <p:nvPr/>
        </p:nvSpPr>
        <p:spPr>
          <a:xfrm>
            <a:off x="4379976" y="1600200"/>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10" name="Shape 7"/>
          <p:cNvSpPr/>
          <p:nvPr/>
        </p:nvSpPr>
        <p:spPr>
          <a:xfrm>
            <a:off x="4672584" y="1911096"/>
            <a:ext cx="640080" cy="640080"/>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4845406" y="2083918"/>
            <a:ext cx="294437" cy="294437"/>
          </a:xfrm>
          <a:prstGeom prst="rect">
            <a:avLst/>
          </a:prstGeom>
        </p:spPr>
      </p:pic>
      <p:sp>
        <p:nvSpPr>
          <p:cNvPr id="12" name="Text 8"/>
          <p:cNvSpPr/>
          <p:nvPr/>
        </p:nvSpPr>
        <p:spPr>
          <a:xfrm>
            <a:off x="4672584" y="2660904"/>
            <a:ext cx="2907792" cy="365760"/>
          </a:xfrm>
          <a:prstGeom prst="rect">
            <a:avLst/>
          </a:prstGeom>
          <a:noFill/>
          <a:ln/>
        </p:spPr>
        <p:txBody>
          <a:bodyPr wrap="square" lIns="0" tIns="0" rIns="0" bIns="0" rtlCol="0" anchor="ctr"/>
          <a:lstStyle/>
          <a:p>
            <a:pPr indent="0" marL="0">
              <a:buNone/>
            </a:pPr>
            <a:r>
              <a:rPr lang="en-US" sz="1550" b="1" dirty="0">
                <a:solidFill>
                  <a:srgbClr val="1A2238"/>
                </a:solidFill>
                <a:latin typeface="Cambria" pitchFamily="34" charset="0"/>
                <a:ea typeface="Cambria" pitchFamily="34" charset="-122"/>
                <a:cs typeface="Cambria" pitchFamily="34" charset="-120"/>
              </a:rPr>
              <a:t>Frequently bought together</a:t>
            </a:r>
            <a:endParaRPr lang="en-US" sz="1550" dirty="0"/>
          </a:p>
        </p:txBody>
      </p:sp>
      <p:sp>
        <p:nvSpPr>
          <p:cNvPr id="13" name="Text 9"/>
          <p:cNvSpPr/>
          <p:nvPr/>
        </p:nvSpPr>
        <p:spPr>
          <a:xfrm>
            <a:off x="4672584" y="3026664"/>
            <a:ext cx="2907792" cy="50292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Complementary add-ons at the cart and product page.</a:t>
            </a:r>
            <a:endParaRPr lang="en-US" sz="1250" dirty="0"/>
          </a:p>
        </p:txBody>
      </p:sp>
      <p:sp>
        <p:nvSpPr>
          <p:cNvPr id="14" name="Shape 10"/>
          <p:cNvSpPr/>
          <p:nvPr/>
        </p:nvSpPr>
        <p:spPr>
          <a:xfrm>
            <a:off x="8119872" y="1600200"/>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15" name="Shape 11"/>
          <p:cNvSpPr/>
          <p:nvPr/>
        </p:nvSpPr>
        <p:spPr>
          <a:xfrm>
            <a:off x="8412480" y="1911096"/>
            <a:ext cx="640080" cy="64008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6" name="Image 2" descr="preencoded.png">    </p:cNvPr>
          <p:cNvPicPr>
            <a:picLocks noChangeAspect="1"/>
          </p:cNvPicPr>
          <p:nvPr/>
        </p:nvPicPr>
        <p:blipFill>
          <a:blip r:embed="rId3"/>
          <a:stretch>
            <a:fillRect/>
          </a:stretch>
        </p:blipFill>
        <p:spPr>
          <a:xfrm>
            <a:off x="8585302" y="2083918"/>
            <a:ext cx="294437" cy="294437"/>
          </a:xfrm>
          <a:prstGeom prst="rect">
            <a:avLst/>
          </a:prstGeom>
        </p:spPr>
      </p:pic>
      <p:sp>
        <p:nvSpPr>
          <p:cNvPr id="17" name="Text 12"/>
          <p:cNvSpPr/>
          <p:nvPr/>
        </p:nvSpPr>
        <p:spPr>
          <a:xfrm>
            <a:off x="8412480" y="2660904"/>
            <a:ext cx="2907792" cy="365760"/>
          </a:xfrm>
          <a:prstGeom prst="rect">
            <a:avLst/>
          </a:prstGeom>
          <a:noFill/>
          <a:ln/>
        </p:spPr>
        <p:txBody>
          <a:bodyPr wrap="square" lIns="0" tIns="0" rIns="0" bIns="0" rtlCol="0" anchor="ctr"/>
          <a:lstStyle/>
          <a:p>
            <a:pPr indent="0" marL="0">
              <a:buNone/>
            </a:pPr>
            <a:r>
              <a:rPr lang="en-US" sz="1550" b="1" dirty="0">
                <a:solidFill>
                  <a:srgbClr val="1A2238"/>
                </a:solidFill>
                <a:latin typeface="Cambria" pitchFamily="34" charset="0"/>
                <a:ea typeface="Cambria" pitchFamily="34" charset="-122"/>
                <a:cs typeface="Cambria" pitchFamily="34" charset="-120"/>
              </a:rPr>
              <a:t>Trending &amp; popular</a:t>
            </a:r>
            <a:endParaRPr lang="en-US" sz="1550" dirty="0"/>
          </a:p>
        </p:txBody>
      </p:sp>
      <p:sp>
        <p:nvSpPr>
          <p:cNvPr id="18" name="Text 13"/>
          <p:cNvSpPr/>
          <p:nvPr/>
        </p:nvSpPr>
        <p:spPr>
          <a:xfrm>
            <a:off x="8412480" y="3026664"/>
            <a:ext cx="2907792" cy="50292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What's hot right now — great for new or undecided shoppers.</a:t>
            </a:r>
            <a:endParaRPr lang="en-US" sz="1250" dirty="0"/>
          </a:p>
        </p:txBody>
      </p:sp>
      <p:sp>
        <p:nvSpPr>
          <p:cNvPr id="19" name="Shape 14"/>
          <p:cNvSpPr/>
          <p:nvPr/>
        </p:nvSpPr>
        <p:spPr>
          <a:xfrm>
            <a:off x="2510028" y="3904488"/>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20" name="Shape 15"/>
          <p:cNvSpPr/>
          <p:nvPr/>
        </p:nvSpPr>
        <p:spPr>
          <a:xfrm>
            <a:off x="2802636" y="4215384"/>
            <a:ext cx="640080" cy="640080"/>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21" name="Image 3" descr="preencoded.png">    </p:cNvPr>
          <p:cNvPicPr>
            <a:picLocks noChangeAspect="1"/>
          </p:cNvPicPr>
          <p:nvPr/>
        </p:nvPicPr>
        <p:blipFill>
          <a:blip r:embed="rId4"/>
          <a:stretch>
            <a:fillRect/>
          </a:stretch>
        </p:blipFill>
        <p:spPr>
          <a:xfrm>
            <a:off x="2975458" y="4388206"/>
            <a:ext cx="294437" cy="294437"/>
          </a:xfrm>
          <a:prstGeom prst="rect">
            <a:avLst/>
          </a:prstGeom>
        </p:spPr>
      </p:pic>
      <p:sp>
        <p:nvSpPr>
          <p:cNvPr id="22" name="Text 16"/>
          <p:cNvSpPr/>
          <p:nvPr/>
        </p:nvSpPr>
        <p:spPr>
          <a:xfrm>
            <a:off x="2802636" y="4965192"/>
            <a:ext cx="2907792" cy="365760"/>
          </a:xfrm>
          <a:prstGeom prst="rect">
            <a:avLst/>
          </a:prstGeom>
          <a:noFill/>
          <a:ln/>
        </p:spPr>
        <p:txBody>
          <a:bodyPr wrap="square" lIns="0" tIns="0" rIns="0" bIns="0" rtlCol="0" anchor="ctr"/>
          <a:lstStyle/>
          <a:p>
            <a:pPr indent="0" marL="0">
              <a:buNone/>
            </a:pPr>
            <a:r>
              <a:rPr lang="en-US" sz="1550" b="1" dirty="0">
                <a:solidFill>
                  <a:srgbClr val="1A2238"/>
                </a:solidFill>
                <a:latin typeface="Cambria" pitchFamily="34" charset="0"/>
                <a:ea typeface="Cambria" pitchFamily="34" charset="-122"/>
                <a:cs typeface="Cambria" pitchFamily="34" charset="-120"/>
              </a:rPr>
              <a:t>Similar items</a:t>
            </a:r>
            <a:endParaRPr lang="en-US" sz="1550" dirty="0"/>
          </a:p>
        </p:txBody>
      </p:sp>
      <p:sp>
        <p:nvSpPr>
          <p:cNvPr id="23" name="Text 17"/>
          <p:cNvSpPr/>
          <p:nvPr/>
        </p:nvSpPr>
        <p:spPr>
          <a:xfrm>
            <a:off x="2802636" y="5330952"/>
            <a:ext cx="2907792" cy="50292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“More like this” to keep the browsing journey going.</a:t>
            </a:r>
            <a:endParaRPr lang="en-US" sz="1250" dirty="0"/>
          </a:p>
        </p:txBody>
      </p:sp>
      <p:sp>
        <p:nvSpPr>
          <p:cNvPr id="24" name="Shape 18"/>
          <p:cNvSpPr/>
          <p:nvPr/>
        </p:nvSpPr>
        <p:spPr>
          <a:xfrm>
            <a:off x="6249924" y="3904488"/>
            <a:ext cx="3456432" cy="1993392"/>
          </a:xfrm>
          <a:prstGeom prst="roundRect">
            <a:avLst>
              <a:gd name="adj" fmla="val 5505"/>
            </a:avLst>
          </a:prstGeom>
          <a:solidFill>
            <a:srgbClr val="F3F6FC"/>
          </a:solidFill>
          <a:ln/>
          <a:effectLst>
            <a:outerShdw sx="100000" sy="100000" kx="0" ky="0" algn="bl" rotWithShape="0" blurRad="127000" dist="50800" dir="5400000">
              <a:srgbClr val="8A93A6">
                <a:alpha val="13000"/>
              </a:srgbClr>
            </a:outerShdw>
          </a:effectLst>
        </p:spPr>
      </p:sp>
      <p:sp>
        <p:nvSpPr>
          <p:cNvPr id="25" name="Shape 19"/>
          <p:cNvSpPr/>
          <p:nvPr/>
        </p:nvSpPr>
        <p:spPr>
          <a:xfrm>
            <a:off x="6542532" y="4215384"/>
            <a:ext cx="640080" cy="64008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26" name="Image 4" descr="preencoded.png">    </p:cNvPr>
          <p:cNvPicPr>
            <a:picLocks noChangeAspect="1"/>
          </p:cNvPicPr>
          <p:nvPr/>
        </p:nvPicPr>
        <p:blipFill>
          <a:blip r:embed="rId5"/>
          <a:stretch>
            <a:fillRect/>
          </a:stretch>
        </p:blipFill>
        <p:spPr>
          <a:xfrm>
            <a:off x="6715354" y="4388206"/>
            <a:ext cx="294437" cy="294437"/>
          </a:xfrm>
          <a:prstGeom prst="rect">
            <a:avLst/>
          </a:prstGeom>
        </p:spPr>
      </p:pic>
      <p:sp>
        <p:nvSpPr>
          <p:cNvPr id="27" name="Text 20"/>
          <p:cNvSpPr/>
          <p:nvPr/>
        </p:nvSpPr>
        <p:spPr>
          <a:xfrm>
            <a:off x="6542532" y="4965192"/>
            <a:ext cx="2907792" cy="365760"/>
          </a:xfrm>
          <a:prstGeom prst="rect">
            <a:avLst/>
          </a:prstGeom>
          <a:noFill/>
          <a:ln/>
        </p:spPr>
        <p:txBody>
          <a:bodyPr wrap="square" lIns="0" tIns="0" rIns="0" bIns="0" rtlCol="0" anchor="ctr"/>
          <a:lstStyle/>
          <a:p>
            <a:pPr indent="0" marL="0">
              <a:buNone/>
            </a:pPr>
            <a:r>
              <a:rPr lang="en-US" sz="1550" b="1" dirty="0">
                <a:solidFill>
                  <a:srgbClr val="1A2238"/>
                </a:solidFill>
                <a:latin typeface="Cambria" pitchFamily="34" charset="0"/>
                <a:ea typeface="Cambria" pitchFamily="34" charset="-122"/>
                <a:cs typeface="Cambria" pitchFamily="34" charset="-120"/>
              </a:rPr>
              <a:t>Recently viewed</a:t>
            </a:r>
            <a:endParaRPr lang="en-US" sz="1550" dirty="0"/>
          </a:p>
        </p:txBody>
      </p:sp>
      <p:sp>
        <p:nvSpPr>
          <p:cNvPr id="28" name="Text 21"/>
          <p:cNvSpPr/>
          <p:nvPr/>
        </p:nvSpPr>
        <p:spPr>
          <a:xfrm>
            <a:off x="6542532" y="5330952"/>
            <a:ext cx="2907792" cy="50292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Easy re-entry to products a shopper already considered.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CORE APPROACHES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How a recommender decides what to show</a:t>
            </a:r>
            <a:endParaRPr lang="en-US" sz="2700" dirty="0"/>
          </a:p>
        </p:txBody>
      </p:sp>
      <p:sp>
        <p:nvSpPr>
          <p:cNvPr id="4" name="Text 2"/>
          <p:cNvSpPr/>
          <p:nvPr/>
        </p:nvSpPr>
        <p:spPr>
          <a:xfrm>
            <a:off x="640080" y="1371600"/>
            <a:ext cx="10881360" cy="292608"/>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Five families of techniques — each suited to different goals and data.</a:t>
            </a:r>
            <a:endParaRPr lang="en-US" sz="1300" dirty="0"/>
          </a:p>
        </p:txBody>
      </p:sp>
      <p:sp>
        <p:nvSpPr>
          <p:cNvPr id="5" name="Shape 3"/>
          <p:cNvSpPr/>
          <p:nvPr/>
        </p:nvSpPr>
        <p:spPr>
          <a:xfrm>
            <a:off x="640080" y="1783080"/>
            <a:ext cx="5349240" cy="1627632"/>
          </a:xfrm>
          <a:prstGeom prst="roundRect">
            <a:avLst>
              <a:gd name="adj" fmla="val 6742"/>
            </a:avLst>
          </a:prstGeom>
          <a:solidFill>
            <a:srgbClr val="F3F6FC"/>
          </a:solidFill>
          <a:ln/>
          <a:effectLst>
            <a:outerShdw sx="100000" sy="100000" kx="0" ky="0" algn="bl" rotWithShape="0" blurRad="127000" dist="50800" dir="5400000">
              <a:srgbClr val="8A93A6">
                <a:alpha val="13000"/>
              </a:srgbClr>
            </a:outerShdw>
          </a:effectLst>
        </p:spPr>
      </p:sp>
      <p:sp>
        <p:nvSpPr>
          <p:cNvPr id="6" name="Shape 4"/>
          <p:cNvSpPr/>
          <p:nvPr/>
        </p:nvSpPr>
        <p:spPr>
          <a:xfrm>
            <a:off x="914400" y="2057400"/>
            <a:ext cx="713232" cy="71323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7" name="Image 0" descr="preencoded.png">    </p:cNvPr>
          <p:cNvPicPr>
            <a:picLocks noChangeAspect="1"/>
          </p:cNvPicPr>
          <p:nvPr/>
        </p:nvPicPr>
        <p:blipFill>
          <a:blip r:embed="rId1"/>
          <a:stretch>
            <a:fillRect/>
          </a:stretch>
        </p:blipFill>
        <p:spPr>
          <a:xfrm>
            <a:off x="1106973" y="2249973"/>
            <a:ext cx="328087" cy="328087"/>
          </a:xfrm>
          <a:prstGeom prst="rect">
            <a:avLst/>
          </a:prstGeom>
        </p:spPr>
      </p:pic>
      <p:sp>
        <p:nvSpPr>
          <p:cNvPr id="8" name="Text 5"/>
          <p:cNvSpPr/>
          <p:nvPr/>
        </p:nvSpPr>
        <p:spPr>
          <a:xfrm>
            <a:off x="1810512" y="2039112"/>
            <a:ext cx="397764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Content-based</a:t>
            </a:r>
            <a:endParaRPr lang="en-US" sz="1600" dirty="0"/>
          </a:p>
        </p:txBody>
      </p:sp>
      <p:sp>
        <p:nvSpPr>
          <p:cNvPr id="9" name="Text 6"/>
          <p:cNvSpPr/>
          <p:nvPr/>
        </p:nvSpPr>
        <p:spPr>
          <a:xfrm>
            <a:off x="1810512" y="2441448"/>
            <a:ext cx="3977640" cy="8229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Match items by their attributes (brand, category, price).</a:t>
            </a:r>
            <a:endParaRPr lang="en-US" sz="1250" dirty="0"/>
          </a:p>
        </p:txBody>
      </p:sp>
      <p:sp>
        <p:nvSpPr>
          <p:cNvPr id="10" name="Shape 7"/>
          <p:cNvSpPr/>
          <p:nvPr/>
        </p:nvSpPr>
        <p:spPr>
          <a:xfrm>
            <a:off x="6217920" y="1783080"/>
            <a:ext cx="5349240" cy="1627632"/>
          </a:xfrm>
          <a:prstGeom prst="roundRect">
            <a:avLst>
              <a:gd name="adj" fmla="val 6742"/>
            </a:avLst>
          </a:prstGeom>
          <a:solidFill>
            <a:srgbClr val="F3F6FC"/>
          </a:solidFill>
          <a:ln/>
          <a:effectLst>
            <a:outerShdw sx="100000" sy="100000" kx="0" ky="0" algn="bl" rotWithShape="0" blurRad="127000" dist="50800" dir="5400000">
              <a:srgbClr val="8A93A6">
                <a:alpha val="13000"/>
              </a:srgbClr>
            </a:outerShdw>
          </a:effectLst>
        </p:spPr>
      </p:sp>
      <p:sp>
        <p:nvSpPr>
          <p:cNvPr id="11" name="Shape 8"/>
          <p:cNvSpPr/>
          <p:nvPr/>
        </p:nvSpPr>
        <p:spPr>
          <a:xfrm>
            <a:off x="6492240" y="2057400"/>
            <a:ext cx="713232" cy="713232"/>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2" name="Image 1" descr="preencoded.png">    </p:cNvPr>
          <p:cNvPicPr>
            <a:picLocks noChangeAspect="1"/>
          </p:cNvPicPr>
          <p:nvPr/>
        </p:nvPicPr>
        <p:blipFill>
          <a:blip r:embed="rId2"/>
          <a:stretch>
            <a:fillRect/>
          </a:stretch>
        </p:blipFill>
        <p:spPr>
          <a:xfrm>
            <a:off x="6684813" y="2249973"/>
            <a:ext cx="328087" cy="328087"/>
          </a:xfrm>
          <a:prstGeom prst="rect">
            <a:avLst/>
          </a:prstGeom>
        </p:spPr>
      </p:pic>
      <p:sp>
        <p:nvSpPr>
          <p:cNvPr id="13" name="Text 9"/>
          <p:cNvSpPr/>
          <p:nvPr/>
        </p:nvSpPr>
        <p:spPr>
          <a:xfrm>
            <a:off x="7388352" y="2039112"/>
            <a:ext cx="397764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Collaborative filtering</a:t>
            </a:r>
            <a:endParaRPr lang="en-US" sz="1600" dirty="0"/>
          </a:p>
        </p:txBody>
      </p:sp>
      <p:sp>
        <p:nvSpPr>
          <p:cNvPr id="14" name="Text 10"/>
          <p:cNvSpPr/>
          <p:nvPr/>
        </p:nvSpPr>
        <p:spPr>
          <a:xfrm>
            <a:off x="7388352" y="2441448"/>
            <a:ext cx="3977640" cy="8229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“Customers like you also liked…” — learns from behavior.</a:t>
            </a:r>
            <a:endParaRPr lang="en-US" sz="1250" dirty="0"/>
          </a:p>
        </p:txBody>
      </p:sp>
      <p:sp>
        <p:nvSpPr>
          <p:cNvPr id="15" name="Shape 11"/>
          <p:cNvSpPr/>
          <p:nvPr/>
        </p:nvSpPr>
        <p:spPr>
          <a:xfrm>
            <a:off x="640080" y="3648456"/>
            <a:ext cx="5349240" cy="1627632"/>
          </a:xfrm>
          <a:prstGeom prst="roundRect">
            <a:avLst>
              <a:gd name="adj" fmla="val 6742"/>
            </a:avLst>
          </a:prstGeom>
          <a:solidFill>
            <a:srgbClr val="F3F6FC"/>
          </a:solidFill>
          <a:ln/>
          <a:effectLst>
            <a:outerShdw sx="100000" sy="100000" kx="0" ky="0" algn="bl" rotWithShape="0" blurRad="127000" dist="50800" dir="5400000">
              <a:srgbClr val="8A93A6">
                <a:alpha val="13000"/>
              </a:srgbClr>
            </a:outerShdw>
          </a:effectLst>
        </p:spPr>
      </p:sp>
      <p:sp>
        <p:nvSpPr>
          <p:cNvPr id="16" name="Shape 12"/>
          <p:cNvSpPr/>
          <p:nvPr/>
        </p:nvSpPr>
        <p:spPr>
          <a:xfrm>
            <a:off x="914400" y="3922776"/>
            <a:ext cx="713232" cy="713232"/>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7" name="Image 2" descr="preencoded.png">    </p:cNvPr>
          <p:cNvPicPr>
            <a:picLocks noChangeAspect="1"/>
          </p:cNvPicPr>
          <p:nvPr/>
        </p:nvPicPr>
        <p:blipFill>
          <a:blip r:embed="rId3"/>
          <a:stretch>
            <a:fillRect/>
          </a:stretch>
        </p:blipFill>
        <p:spPr>
          <a:xfrm>
            <a:off x="1106973" y="4115349"/>
            <a:ext cx="328087" cy="328087"/>
          </a:xfrm>
          <a:prstGeom prst="rect">
            <a:avLst/>
          </a:prstGeom>
        </p:spPr>
      </p:pic>
      <p:sp>
        <p:nvSpPr>
          <p:cNvPr id="18" name="Text 13"/>
          <p:cNvSpPr/>
          <p:nvPr/>
        </p:nvSpPr>
        <p:spPr>
          <a:xfrm>
            <a:off x="1810512" y="3904488"/>
            <a:ext cx="397764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Embeddings</a:t>
            </a:r>
            <a:endParaRPr lang="en-US" sz="1600" dirty="0"/>
          </a:p>
        </p:txBody>
      </p:sp>
      <p:sp>
        <p:nvSpPr>
          <p:cNvPr id="19" name="Text 14"/>
          <p:cNvSpPr/>
          <p:nvPr/>
        </p:nvSpPr>
        <p:spPr>
          <a:xfrm>
            <a:off x="1810512" y="4306824"/>
            <a:ext cx="3977640" cy="8229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Compact patterns of taste that power fast, accurate matching.</a:t>
            </a:r>
            <a:endParaRPr lang="en-US" sz="1250" dirty="0"/>
          </a:p>
        </p:txBody>
      </p:sp>
      <p:sp>
        <p:nvSpPr>
          <p:cNvPr id="20" name="Shape 15"/>
          <p:cNvSpPr/>
          <p:nvPr/>
        </p:nvSpPr>
        <p:spPr>
          <a:xfrm>
            <a:off x="6217920" y="3648456"/>
            <a:ext cx="5349240" cy="1627632"/>
          </a:xfrm>
          <a:prstGeom prst="roundRect">
            <a:avLst>
              <a:gd name="adj" fmla="val 6742"/>
            </a:avLst>
          </a:prstGeom>
          <a:solidFill>
            <a:srgbClr val="F3F6FC"/>
          </a:solidFill>
          <a:ln/>
          <a:effectLst>
            <a:outerShdw sx="100000" sy="100000" kx="0" ky="0" algn="bl" rotWithShape="0" blurRad="127000" dist="50800" dir="5400000">
              <a:srgbClr val="8A93A6">
                <a:alpha val="13000"/>
              </a:srgbClr>
            </a:outerShdw>
          </a:effectLst>
        </p:spPr>
      </p:sp>
      <p:sp>
        <p:nvSpPr>
          <p:cNvPr id="21" name="Shape 16"/>
          <p:cNvSpPr/>
          <p:nvPr/>
        </p:nvSpPr>
        <p:spPr>
          <a:xfrm>
            <a:off x="6492240" y="3922776"/>
            <a:ext cx="713232" cy="71323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2" name="Image 3" descr="preencoded.png">    </p:cNvPr>
          <p:cNvPicPr>
            <a:picLocks noChangeAspect="1"/>
          </p:cNvPicPr>
          <p:nvPr/>
        </p:nvPicPr>
        <p:blipFill>
          <a:blip r:embed="rId4"/>
          <a:stretch>
            <a:fillRect/>
          </a:stretch>
        </p:blipFill>
        <p:spPr>
          <a:xfrm>
            <a:off x="6684813" y="4115349"/>
            <a:ext cx="328087" cy="328087"/>
          </a:xfrm>
          <a:prstGeom prst="rect">
            <a:avLst/>
          </a:prstGeom>
        </p:spPr>
      </p:pic>
      <p:sp>
        <p:nvSpPr>
          <p:cNvPr id="23" name="Text 17"/>
          <p:cNvSpPr/>
          <p:nvPr/>
        </p:nvSpPr>
        <p:spPr>
          <a:xfrm>
            <a:off x="7388352" y="3904488"/>
            <a:ext cx="397764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Hybrid</a:t>
            </a:r>
            <a:endParaRPr lang="en-US" sz="1600" dirty="0"/>
          </a:p>
        </p:txBody>
      </p:sp>
      <p:sp>
        <p:nvSpPr>
          <p:cNvPr id="24" name="Text 18"/>
          <p:cNvSpPr/>
          <p:nvPr/>
        </p:nvSpPr>
        <p:spPr>
          <a:xfrm>
            <a:off x="7388352" y="4306824"/>
            <a:ext cx="3977640" cy="8229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Blend several methods for the best of each.</a:t>
            </a:r>
            <a:endParaRPr lang="en-US" sz="1250" dirty="0"/>
          </a:p>
        </p:txBody>
      </p:sp>
      <p:sp>
        <p:nvSpPr>
          <p:cNvPr id="25" name="Shape 19"/>
          <p:cNvSpPr/>
          <p:nvPr/>
        </p:nvSpPr>
        <p:spPr>
          <a:xfrm>
            <a:off x="640080" y="5312664"/>
            <a:ext cx="10927080" cy="841248"/>
          </a:xfrm>
          <a:prstGeom prst="roundRect">
            <a:avLst>
              <a:gd name="adj" fmla="val 13043"/>
            </a:avLst>
          </a:prstGeom>
          <a:solidFill>
            <a:srgbClr val="FBF4E3"/>
          </a:solidFill>
          <a:ln/>
          <a:effectLst>
            <a:outerShdw sx="100000" sy="100000" kx="0" ky="0" algn="bl" rotWithShape="0" blurRad="127000" dist="50800" dir="5400000">
              <a:srgbClr val="8A93A6">
                <a:alpha val="13000"/>
              </a:srgbClr>
            </a:outerShdw>
          </a:effectLst>
        </p:spPr>
      </p:sp>
      <p:sp>
        <p:nvSpPr>
          <p:cNvPr id="26" name="Shape 20"/>
          <p:cNvSpPr/>
          <p:nvPr/>
        </p:nvSpPr>
        <p:spPr>
          <a:xfrm>
            <a:off x="896112" y="5458968"/>
            <a:ext cx="548640" cy="548640"/>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27" name="Image 4" descr="preencoded.png">    </p:cNvPr>
          <p:cNvPicPr>
            <a:picLocks noChangeAspect="1"/>
          </p:cNvPicPr>
          <p:nvPr/>
        </p:nvPicPr>
        <p:blipFill>
          <a:blip r:embed="rId5"/>
          <a:stretch>
            <a:fillRect/>
          </a:stretch>
        </p:blipFill>
        <p:spPr>
          <a:xfrm>
            <a:off x="1044245" y="5607101"/>
            <a:ext cx="252374" cy="252374"/>
          </a:xfrm>
          <a:prstGeom prst="rect">
            <a:avLst/>
          </a:prstGeom>
        </p:spPr>
      </p:pic>
      <p:sp>
        <p:nvSpPr>
          <p:cNvPr id="28" name="Text 21"/>
          <p:cNvSpPr/>
          <p:nvPr/>
        </p:nvSpPr>
        <p:spPr>
          <a:xfrm>
            <a:off x="1645920" y="5312664"/>
            <a:ext cx="9646920" cy="841248"/>
          </a:xfrm>
          <a:prstGeom prst="rect">
            <a:avLst/>
          </a:prstGeom>
          <a:noFill/>
          <a:ln/>
        </p:spPr>
        <p:txBody>
          <a:bodyPr wrap="square" lIns="0" tIns="0" rIns="0" bIns="0" rtlCol="0" anchor="ctr"/>
          <a:lstStyle/>
          <a:p>
            <a:pPr indent="0" marL="0">
              <a:buNone/>
            </a:pPr>
            <a:r>
              <a:rPr lang="en-US" sz="1250" dirty="0">
                <a:solidFill>
                  <a:srgbClr val="1A2238"/>
                </a:solidFill>
                <a:latin typeface="Calibri" pitchFamily="34" charset="0"/>
                <a:ea typeface="Calibri" pitchFamily="34" charset="-122"/>
                <a:cs typeface="Calibri" pitchFamily="34" charset="-120"/>
              </a:rPr>
              <a:t>Modern systems increasingly add deep learning and session-aware models to read intent in the moment.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DATA THAT POWERS IT</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Two kinds of signal: what users say vs. what they do</a:t>
            </a:r>
            <a:endParaRPr lang="en-US" sz="2700" dirty="0"/>
          </a:p>
        </p:txBody>
      </p:sp>
      <p:sp>
        <p:nvSpPr>
          <p:cNvPr id="4" name="Shape 2"/>
          <p:cNvSpPr/>
          <p:nvPr/>
        </p:nvSpPr>
        <p:spPr>
          <a:xfrm>
            <a:off x="640080" y="1691640"/>
            <a:ext cx="5120640" cy="3246120"/>
          </a:xfrm>
          <a:prstGeom prst="roundRect">
            <a:avLst>
              <a:gd name="adj" fmla="val 3944"/>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65960"/>
            <a:ext cx="603504" cy="603504"/>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95634" y="2128906"/>
            <a:ext cx="277612" cy="277612"/>
          </a:xfrm>
          <a:prstGeom prst="rect">
            <a:avLst/>
          </a:prstGeom>
        </p:spPr>
      </p:pic>
      <p:sp>
        <p:nvSpPr>
          <p:cNvPr id="7" name="Text 4"/>
          <p:cNvSpPr/>
          <p:nvPr/>
        </p:nvSpPr>
        <p:spPr>
          <a:xfrm>
            <a:off x="1691640" y="1965960"/>
            <a:ext cx="3840480" cy="365760"/>
          </a:xfrm>
          <a:prstGeom prst="rect">
            <a:avLst/>
          </a:prstGeom>
          <a:noFill/>
          <a:ln/>
        </p:spPr>
        <p:txBody>
          <a:bodyPr wrap="square" lIns="0" tIns="0" rIns="0" bIns="0" rtlCol="0" anchor="ctr"/>
          <a:lstStyle/>
          <a:p>
            <a:pPr indent="0" marL="0">
              <a:buNone/>
            </a:pPr>
            <a:r>
              <a:rPr lang="en-US" sz="1800" b="1" dirty="0">
                <a:solidFill>
                  <a:srgbClr val="1A2238"/>
                </a:solidFill>
                <a:latin typeface="Cambria" pitchFamily="34" charset="0"/>
                <a:ea typeface="Cambria" pitchFamily="34" charset="-122"/>
                <a:cs typeface="Cambria" pitchFamily="34" charset="-120"/>
              </a:rPr>
              <a:t>Explicit signals</a:t>
            </a:r>
            <a:endParaRPr lang="en-US" sz="1800" dirty="0"/>
          </a:p>
        </p:txBody>
      </p:sp>
      <p:sp>
        <p:nvSpPr>
          <p:cNvPr id="8" name="Text 5"/>
          <p:cNvSpPr/>
          <p:nvPr/>
        </p:nvSpPr>
        <p:spPr>
          <a:xfrm>
            <a:off x="1691640" y="2350008"/>
            <a:ext cx="3840480" cy="27432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Users tell us directly</a:t>
            </a:r>
            <a:endParaRPr lang="en-US" sz="1200" dirty="0"/>
          </a:p>
        </p:txBody>
      </p:sp>
      <p:pic>
        <p:nvPicPr>
          <p:cNvPr id="9" name="Image 1" descr="preencoded.png">    </p:cNvPr>
          <p:cNvPicPr>
            <a:picLocks noChangeAspect="1"/>
          </p:cNvPicPr>
          <p:nvPr/>
        </p:nvPicPr>
        <p:blipFill>
          <a:blip r:embed="rId2"/>
          <a:stretch>
            <a:fillRect/>
          </a:stretch>
        </p:blipFill>
        <p:spPr>
          <a:xfrm>
            <a:off x="1005840" y="2926080"/>
            <a:ext cx="219456" cy="219456"/>
          </a:xfrm>
          <a:prstGeom prst="rect">
            <a:avLst/>
          </a:prstGeom>
        </p:spPr>
      </p:pic>
      <p:sp>
        <p:nvSpPr>
          <p:cNvPr id="10" name="Text 6"/>
          <p:cNvSpPr/>
          <p:nvPr/>
        </p:nvSpPr>
        <p:spPr>
          <a:xfrm>
            <a:off x="1353312" y="28986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Star ratings</a:t>
            </a:r>
            <a:endParaRPr lang="en-US" sz="1350" dirty="0"/>
          </a:p>
        </p:txBody>
      </p:sp>
      <p:pic>
        <p:nvPicPr>
          <p:cNvPr id="11" name="Image 2" descr="preencoded.png">    </p:cNvPr>
          <p:cNvPicPr>
            <a:picLocks noChangeAspect="1"/>
          </p:cNvPicPr>
          <p:nvPr/>
        </p:nvPicPr>
        <p:blipFill>
          <a:blip r:embed="rId3"/>
          <a:stretch>
            <a:fillRect/>
          </a:stretch>
        </p:blipFill>
        <p:spPr>
          <a:xfrm>
            <a:off x="1005840" y="3383280"/>
            <a:ext cx="219456" cy="219456"/>
          </a:xfrm>
          <a:prstGeom prst="rect">
            <a:avLst/>
          </a:prstGeom>
        </p:spPr>
      </p:pic>
      <p:sp>
        <p:nvSpPr>
          <p:cNvPr id="12" name="Text 7"/>
          <p:cNvSpPr/>
          <p:nvPr/>
        </p:nvSpPr>
        <p:spPr>
          <a:xfrm>
            <a:off x="1353312" y="33558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Written reviews</a:t>
            </a:r>
            <a:endParaRPr lang="en-US" sz="1350" dirty="0"/>
          </a:p>
        </p:txBody>
      </p:sp>
      <p:pic>
        <p:nvPicPr>
          <p:cNvPr id="13" name="Image 3" descr="preencoded.png">    </p:cNvPr>
          <p:cNvPicPr>
            <a:picLocks noChangeAspect="1"/>
          </p:cNvPicPr>
          <p:nvPr/>
        </p:nvPicPr>
        <p:blipFill>
          <a:blip r:embed="rId4"/>
          <a:stretch>
            <a:fillRect/>
          </a:stretch>
        </p:blipFill>
        <p:spPr>
          <a:xfrm>
            <a:off x="1005840" y="3840480"/>
            <a:ext cx="219456" cy="219456"/>
          </a:xfrm>
          <a:prstGeom prst="rect">
            <a:avLst/>
          </a:prstGeom>
        </p:spPr>
      </p:pic>
      <p:sp>
        <p:nvSpPr>
          <p:cNvPr id="14" name="Text 8"/>
          <p:cNvSpPr/>
          <p:nvPr/>
        </p:nvSpPr>
        <p:spPr>
          <a:xfrm>
            <a:off x="1353312" y="38130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Likes &amp; wishlists</a:t>
            </a:r>
            <a:endParaRPr lang="en-US" sz="1350" dirty="0"/>
          </a:p>
        </p:txBody>
      </p:sp>
      <p:pic>
        <p:nvPicPr>
          <p:cNvPr id="15" name="Image 4" descr="preencoded.png">    </p:cNvPr>
          <p:cNvPicPr>
            <a:picLocks noChangeAspect="1"/>
          </p:cNvPicPr>
          <p:nvPr/>
        </p:nvPicPr>
        <p:blipFill>
          <a:blip r:embed="rId5"/>
          <a:stretch>
            <a:fillRect/>
          </a:stretch>
        </p:blipFill>
        <p:spPr>
          <a:xfrm>
            <a:off x="1005840" y="4297680"/>
            <a:ext cx="219456" cy="219456"/>
          </a:xfrm>
          <a:prstGeom prst="rect">
            <a:avLst/>
          </a:prstGeom>
        </p:spPr>
      </p:pic>
      <p:sp>
        <p:nvSpPr>
          <p:cNvPr id="16" name="Text 9"/>
          <p:cNvSpPr/>
          <p:nvPr/>
        </p:nvSpPr>
        <p:spPr>
          <a:xfrm>
            <a:off x="1353312" y="42702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Survey preferences</a:t>
            </a:r>
            <a:endParaRPr lang="en-US" sz="1350" dirty="0"/>
          </a:p>
        </p:txBody>
      </p:sp>
      <p:sp>
        <p:nvSpPr>
          <p:cNvPr id="17" name="Shape 10"/>
          <p:cNvSpPr/>
          <p:nvPr/>
        </p:nvSpPr>
        <p:spPr>
          <a:xfrm>
            <a:off x="6263640" y="1691640"/>
            <a:ext cx="5120640" cy="3246120"/>
          </a:xfrm>
          <a:prstGeom prst="roundRect">
            <a:avLst>
              <a:gd name="adj" fmla="val 3944"/>
            </a:avLst>
          </a:prstGeom>
          <a:solidFill>
            <a:srgbClr val="F3F6FC"/>
          </a:solidFill>
          <a:ln/>
          <a:effectLst>
            <a:outerShdw sx="100000" sy="100000" kx="0" ky="0" algn="bl" rotWithShape="0" blurRad="127000" dist="50800" dir="5400000">
              <a:srgbClr val="8A93A6">
                <a:alpha val="13000"/>
              </a:srgbClr>
            </a:outerShdw>
          </a:effectLst>
        </p:spPr>
      </p:sp>
      <p:sp>
        <p:nvSpPr>
          <p:cNvPr id="18" name="Shape 11"/>
          <p:cNvSpPr/>
          <p:nvPr/>
        </p:nvSpPr>
        <p:spPr>
          <a:xfrm>
            <a:off x="6556248" y="1965960"/>
            <a:ext cx="603504" cy="603504"/>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19" name="Image 5" descr="preencoded.png">    </p:cNvPr>
          <p:cNvPicPr>
            <a:picLocks noChangeAspect="1"/>
          </p:cNvPicPr>
          <p:nvPr/>
        </p:nvPicPr>
        <p:blipFill>
          <a:blip r:embed="rId6"/>
          <a:stretch>
            <a:fillRect/>
          </a:stretch>
        </p:blipFill>
        <p:spPr>
          <a:xfrm>
            <a:off x="6719194" y="2128906"/>
            <a:ext cx="277612" cy="277612"/>
          </a:xfrm>
          <a:prstGeom prst="rect">
            <a:avLst/>
          </a:prstGeom>
        </p:spPr>
      </p:pic>
      <p:sp>
        <p:nvSpPr>
          <p:cNvPr id="20" name="Text 12"/>
          <p:cNvSpPr/>
          <p:nvPr/>
        </p:nvSpPr>
        <p:spPr>
          <a:xfrm>
            <a:off x="7315200" y="1965960"/>
            <a:ext cx="3840480" cy="365760"/>
          </a:xfrm>
          <a:prstGeom prst="rect">
            <a:avLst/>
          </a:prstGeom>
          <a:noFill/>
          <a:ln/>
        </p:spPr>
        <p:txBody>
          <a:bodyPr wrap="square" lIns="0" tIns="0" rIns="0" bIns="0" rtlCol="0" anchor="ctr"/>
          <a:lstStyle/>
          <a:p>
            <a:pPr indent="0" marL="0">
              <a:buNone/>
            </a:pPr>
            <a:r>
              <a:rPr lang="en-US" sz="1800" b="1" dirty="0">
                <a:solidFill>
                  <a:srgbClr val="1A2238"/>
                </a:solidFill>
                <a:latin typeface="Cambria" pitchFamily="34" charset="0"/>
                <a:ea typeface="Cambria" pitchFamily="34" charset="-122"/>
                <a:cs typeface="Cambria" pitchFamily="34" charset="-120"/>
              </a:rPr>
              <a:t>Implicit signals</a:t>
            </a:r>
            <a:endParaRPr lang="en-US" sz="1800" dirty="0"/>
          </a:p>
        </p:txBody>
      </p:sp>
      <p:sp>
        <p:nvSpPr>
          <p:cNvPr id="21" name="Text 13"/>
          <p:cNvSpPr/>
          <p:nvPr/>
        </p:nvSpPr>
        <p:spPr>
          <a:xfrm>
            <a:off x="7315200" y="2350008"/>
            <a:ext cx="3840480" cy="27432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We observe behavior</a:t>
            </a:r>
            <a:endParaRPr lang="en-US" sz="1200" dirty="0"/>
          </a:p>
        </p:txBody>
      </p:sp>
      <p:pic>
        <p:nvPicPr>
          <p:cNvPr id="22" name="Image 6" descr="preencoded.png">    </p:cNvPr>
          <p:cNvPicPr>
            <a:picLocks noChangeAspect="1"/>
          </p:cNvPicPr>
          <p:nvPr/>
        </p:nvPicPr>
        <p:blipFill>
          <a:blip r:embed="rId7"/>
          <a:stretch>
            <a:fillRect/>
          </a:stretch>
        </p:blipFill>
        <p:spPr>
          <a:xfrm>
            <a:off x="6629400" y="2926080"/>
            <a:ext cx="219456" cy="219456"/>
          </a:xfrm>
          <a:prstGeom prst="rect">
            <a:avLst/>
          </a:prstGeom>
        </p:spPr>
      </p:pic>
      <p:sp>
        <p:nvSpPr>
          <p:cNvPr id="23" name="Text 14"/>
          <p:cNvSpPr/>
          <p:nvPr/>
        </p:nvSpPr>
        <p:spPr>
          <a:xfrm>
            <a:off x="6976872" y="28986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Clicks &amp; taps</a:t>
            </a:r>
            <a:endParaRPr lang="en-US" sz="1350" dirty="0"/>
          </a:p>
        </p:txBody>
      </p:sp>
      <p:pic>
        <p:nvPicPr>
          <p:cNvPr id="24" name="Image 7" descr="preencoded.png">    </p:cNvPr>
          <p:cNvPicPr>
            <a:picLocks noChangeAspect="1"/>
          </p:cNvPicPr>
          <p:nvPr/>
        </p:nvPicPr>
        <p:blipFill>
          <a:blip r:embed="rId8"/>
          <a:stretch>
            <a:fillRect/>
          </a:stretch>
        </p:blipFill>
        <p:spPr>
          <a:xfrm>
            <a:off x="6629400" y="3383280"/>
            <a:ext cx="219456" cy="219456"/>
          </a:xfrm>
          <a:prstGeom prst="rect">
            <a:avLst/>
          </a:prstGeom>
        </p:spPr>
      </p:pic>
      <p:sp>
        <p:nvSpPr>
          <p:cNvPr id="25" name="Text 15"/>
          <p:cNvSpPr/>
          <p:nvPr/>
        </p:nvSpPr>
        <p:spPr>
          <a:xfrm>
            <a:off x="6976872" y="33558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Purchases</a:t>
            </a:r>
            <a:endParaRPr lang="en-US" sz="1350" dirty="0"/>
          </a:p>
        </p:txBody>
      </p:sp>
      <p:pic>
        <p:nvPicPr>
          <p:cNvPr id="26" name="Image 8" descr="preencoded.png">    </p:cNvPr>
          <p:cNvPicPr>
            <a:picLocks noChangeAspect="1"/>
          </p:cNvPicPr>
          <p:nvPr/>
        </p:nvPicPr>
        <p:blipFill>
          <a:blip r:embed="rId9"/>
          <a:stretch>
            <a:fillRect/>
          </a:stretch>
        </p:blipFill>
        <p:spPr>
          <a:xfrm>
            <a:off x="6629400" y="3840480"/>
            <a:ext cx="219456" cy="219456"/>
          </a:xfrm>
          <a:prstGeom prst="rect">
            <a:avLst/>
          </a:prstGeom>
        </p:spPr>
      </p:pic>
      <p:sp>
        <p:nvSpPr>
          <p:cNvPr id="27" name="Text 16"/>
          <p:cNvSpPr/>
          <p:nvPr/>
        </p:nvSpPr>
        <p:spPr>
          <a:xfrm>
            <a:off x="6976872" y="38130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Time spent viewing</a:t>
            </a:r>
            <a:endParaRPr lang="en-US" sz="1350" dirty="0"/>
          </a:p>
        </p:txBody>
      </p:sp>
      <p:pic>
        <p:nvPicPr>
          <p:cNvPr id="28" name="Image 9" descr="preencoded.png">    </p:cNvPr>
          <p:cNvPicPr>
            <a:picLocks noChangeAspect="1"/>
          </p:cNvPicPr>
          <p:nvPr/>
        </p:nvPicPr>
        <p:blipFill>
          <a:blip r:embed="rId10"/>
          <a:stretch>
            <a:fillRect/>
          </a:stretch>
        </p:blipFill>
        <p:spPr>
          <a:xfrm>
            <a:off x="6629400" y="4297680"/>
            <a:ext cx="219456" cy="219456"/>
          </a:xfrm>
          <a:prstGeom prst="rect">
            <a:avLst/>
          </a:prstGeom>
        </p:spPr>
      </p:pic>
      <p:sp>
        <p:nvSpPr>
          <p:cNvPr id="29" name="Text 17"/>
          <p:cNvSpPr/>
          <p:nvPr/>
        </p:nvSpPr>
        <p:spPr>
          <a:xfrm>
            <a:off x="6976872" y="4270248"/>
            <a:ext cx="4114800" cy="2926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Add-to-cart &amp; removals</a:t>
            </a:r>
            <a:endParaRPr lang="en-US" sz="1350" dirty="0"/>
          </a:p>
        </p:txBody>
      </p:sp>
      <p:sp>
        <p:nvSpPr>
          <p:cNvPr id="30" name="Shape 18"/>
          <p:cNvSpPr/>
          <p:nvPr/>
        </p:nvSpPr>
        <p:spPr>
          <a:xfrm>
            <a:off x="640080" y="5138928"/>
            <a:ext cx="10927080" cy="713232"/>
          </a:xfrm>
          <a:prstGeom prst="roundRect">
            <a:avLst>
              <a:gd name="adj" fmla="val 15385"/>
            </a:avLst>
          </a:prstGeom>
          <a:solidFill>
            <a:srgbClr val="FBF4E3"/>
          </a:solidFill>
          <a:ln/>
          <a:effectLst>
            <a:outerShdw sx="100000" sy="100000" kx="0" ky="0" algn="bl" rotWithShape="0" blurRad="127000" dist="50800" dir="5400000">
              <a:srgbClr val="8A93A6">
                <a:alpha val="13000"/>
              </a:srgbClr>
            </a:outerShdw>
          </a:effectLst>
        </p:spPr>
      </p:sp>
      <p:sp>
        <p:nvSpPr>
          <p:cNvPr id="31" name="Shape 19"/>
          <p:cNvSpPr/>
          <p:nvPr/>
        </p:nvSpPr>
        <p:spPr>
          <a:xfrm>
            <a:off x="868680" y="5248656"/>
            <a:ext cx="493776" cy="493776"/>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32" name="Image 10" descr="preencoded.png">    </p:cNvPr>
          <p:cNvPicPr>
            <a:picLocks noChangeAspect="1"/>
          </p:cNvPicPr>
          <p:nvPr/>
        </p:nvPicPr>
        <p:blipFill>
          <a:blip r:embed="rId11"/>
          <a:stretch>
            <a:fillRect/>
          </a:stretch>
        </p:blipFill>
        <p:spPr>
          <a:xfrm>
            <a:off x="1002000" y="5381976"/>
            <a:ext cx="227137" cy="227137"/>
          </a:xfrm>
          <a:prstGeom prst="rect">
            <a:avLst/>
          </a:prstGeom>
        </p:spPr>
      </p:pic>
      <p:sp>
        <p:nvSpPr>
          <p:cNvPr id="33" name="Text 20"/>
          <p:cNvSpPr/>
          <p:nvPr/>
        </p:nvSpPr>
        <p:spPr>
          <a:xfrm>
            <a:off x="1554480" y="5138928"/>
            <a:ext cx="9875520" cy="713232"/>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Most signal is implicit — abundant, but quieter. The richest systems combine both.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COLD-START PROBLEM</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When there's no history to learn from</a:t>
            </a:r>
            <a:endParaRPr lang="en-US" sz="2700" dirty="0"/>
          </a:p>
        </p:txBody>
      </p:sp>
      <p:sp>
        <p:nvSpPr>
          <p:cNvPr id="4" name="Shape 2"/>
          <p:cNvSpPr/>
          <p:nvPr/>
        </p:nvSpPr>
        <p:spPr>
          <a:xfrm>
            <a:off x="640080" y="1645920"/>
            <a:ext cx="534924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38528"/>
            <a:ext cx="676656" cy="676656"/>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15385" y="2121225"/>
            <a:ext cx="311262" cy="311262"/>
          </a:xfrm>
          <a:prstGeom prst="rect">
            <a:avLst/>
          </a:prstGeom>
        </p:spPr>
      </p:pic>
      <p:sp>
        <p:nvSpPr>
          <p:cNvPr id="7" name="Text 4"/>
          <p:cNvSpPr/>
          <p:nvPr/>
        </p:nvSpPr>
        <p:spPr>
          <a:xfrm>
            <a:off x="1828800" y="1956816"/>
            <a:ext cx="3977640" cy="365760"/>
          </a:xfrm>
          <a:prstGeom prst="rect">
            <a:avLst/>
          </a:prstGeom>
          <a:noFill/>
          <a:ln/>
        </p:spPr>
        <p:txBody>
          <a:bodyPr wrap="square" lIns="0" tIns="0" rIns="0" bIns="0" rtlCol="0" anchor="ctr"/>
          <a:lstStyle/>
          <a:p>
            <a:pPr indent="0" marL="0">
              <a:buNone/>
            </a:pPr>
            <a:r>
              <a:rPr lang="en-US" sz="1700" b="1" dirty="0">
                <a:solidFill>
                  <a:srgbClr val="1A2238"/>
                </a:solidFill>
                <a:latin typeface="Cambria" pitchFamily="34" charset="0"/>
                <a:ea typeface="Cambria" pitchFamily="34" charset="-122"/>
                <a:cs typeface="Cambria" pitchFamily="34" charset="-120"/>
              </a:rPr>
              <a:t>New user</a:t>
            </a:r>
            <a:endParaRPr lang="en-US" sz="1700" dirty="0"/>
          </a:p>
        </p:txBody>
      </p:sp>
      <p:sp>
        <p:nvSpPr>
          <p:cNvPr id="8" name="Text 5"/>
          <p:cNvSpPr/>
          <p:nvPr/>
        </p:nvSpPr>
        <p:spPr>
          <a:xfrm>
            <a:off x="1828800" y="2377440"/>
            <a:ext cx="3931920" cy="82296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New customers arrive with no history — we don't yet know their taste.</a:t>
            </a:r>
            <a:endParaRPr lang="en-US" sz="1300" dirty="0"/>
          </a:p>
        </p:txBody>
      </p:sp>
      <p:sp>
        <p:nvSpPr>
          <p:cNvPr id="9" name="Shape 6"/>
          <p:cNvSpPr/>
          <p:nvPr/>
        </p:nvSpPr>
        <p:spPr>
          <a:xfrm>
            <a:off x="6217920" y="1645920"/>
            <a:ext cx="5349240" cy="1783080"/>
          </a:xfrm>
          <a:prstGeom prst="roundRect">
            <a:avLst>
              <a:gd name="adj" fmla="val 6154"/>
            </a:avLst>
          </a:prstGeom>
          <a:solidFill>
            <a:srgbClr val="F3F6FC"/>
          </a:solidFill>
          <a:ln/>
          <a:effectLst>
            <a:outerShdw sx="100000" sy="100000" kx="0" ky="0" algn="bl" rotWithShape="0" blurRad="127000" dist="50800" dir="5400000">
              <a:srgbClr val="8A93A6">
                <a:alpha val="13000"/>
              </a:srgbClr>
            </a:outerShdw>
          </a:effectLst>
        </p:spPr>
      </p:sp>
      <p:sp>
        <p:nvSpPr>
          <p:cNvPr id="10" name="Shape 7"/>
          <p:cNvSpPr/>
          <p:nvPr/>
        </p:nvSpPr>
        <p:spPr>
          <a:xfrm>
            <a:off x="6510528" y="1938528"/>
            <a:ext cx="676656" cy="676656"/>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6693225" y="2121225"/>
            <a:ext cx="311262" cy="311262"/>
          </a:xfrm>
          <a:prstGeom prst="rect">
            <a:avLst/>
          </a:prstGeom>
        </p:spPr>
      </p:pic>
      <p:sp>
        <p:nvSpPr>
          <p:cNvPr id="12" name="Text 8"/>
          <p:cNvSpPr/>
          <p:nvPr/>
        </p:nvSpPr>
        <p:spPr>
          <a:xfrm>
            <a:off x="7406640" y="1956816"/>
            <a:ext cx="3977640" cy="365760"/>
          </a:xfrm>
          <a:prstGeom prst="rect">
            <a:avLst/>
          </a:prstGeom>
          <a:noFill/>
          <a:ln/>
        </p:spPr>
        <p:txBody>
          <a:bodyPr wrap="square" lIns="0" tIns="0" rIns="0" bIns="0" rtlCol="0" anchor="ctr"/>
          <a:lstStyle/>
          <a:p>
            <a:pPr indent="0" marL="0">
              <a:buNone/>
            </a:pPr>
            <a:r>
              <a:rPr lang="en-US" sz="1700" b="1" dirty="0">
                <a:solidFill>
                  <a:srgbClr val="1A2238"/>
                </a:solidFill>
                <a:latin typeface="Cambria" pitchFamily="34" charset="0"/>
                <a:ea typeface="Cambria" pitchFamily="34" charset="-122"/>
                <a:cs typeface="Cambria" pitchFamily="34" charset="-120"/>
              </a:rPr>
              <a:t>New item</a:t>
            </a:r>
            <a:endParaRPr lang="en-US" sz="1700" dirty="0"/>
          </a:p>
        </p:txBody>
      </p:sp>
      <p:sp>
        <p:nvSpPr>
          <p:cNvPr id="13" name="Text 9"/>
          <p:cNvSpPr/>
          <p:nvPr/>
        </p:nvSpPr>
        <p:spPr>
          <a:xfrm>
            <a:off x="7406640" y="2377440"/>
            <a:ext cx="3931920" cy="82296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New products have no sales or views — nothing to learn from yet.</a:t>
            </a:r>
            <a:endParaRPr lang="en-US" sz="1300" dirty="0"/>
          </a:p>
        </p:txBody>
      </p:sp>
      <p:sp>
        <p:nvSpPr>
          <p:cNvPr id="14" name="Text 10"/>
          <p:cNvSpPr/>
          <p:nvPr/>
        </p:nvSpPr>
        <p:spPr>
          <a:xfrm>
            <a:off x="640080" y="3721608"/>
            <a:ext cx="1088136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Common workarounds</a:t>
            </a:r>
            <a:endParaRPr lang="en-US" sz="1600" dirty="0"/>
          </a:p>
        </p:txBody>
      </p:sp>
      <p:sp>
        <p:nvSpPr>
          <p:cNvPr id="15" name="Shape 11"/>
          <p:cNvSpPr/>
          <p:nvPr/>
        </p:nvSpPr>
        <p:spPr>
          <a:xfrm>
            <a:off x="640080" y="4178808"/>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16" name="Shape 12"/>
          <p:cNvSpPr/>
          <p:nvPr/>
        </p:nvSpPr>
        <p:spPr>
          <a:xfrm>
            <a:off x="640080" y="4178808"/>
            <a:ext cx="5349240" cy="749808"/>
          </a:xfrm>
          <a:prstGeom prst="roundRect">
            <a:avLst>
              <a:gd name="adj" fmla="val 12195"/>
            </a:avLst>
          </a:prstGeom>
          <a:solidFill>
            <a:srgbClr val="FFFFFF">
              <a:alpha val="0"/>
            </a:srgbClr>
          </a:solidFill>
          <a:ln w="12700">
            <a:solidFill>
              <a:srgbClr val="DCE3F0"/>
            </a:solidFill>
            <a:prstDash val="solid"/>
          </a:ln>
        </p:spPr>
      </p:sp>
      <p:pic>
        <p:nvPicPr>
          <p:cNvPr id="17" name="Image 2" descr="preencoded.png">    </p:cNvPr>
          <p:cNvPicPr>
            <a:picLocks noChangeAspect="1"/>
          </p:cNvPicPr>
          <p:nvPr/>
        </p:nvPicPr>
        <p:blipFill>
          <a:blip r:embed="rId3"/>
          <a:stretch>
            <a:fillRect/>
          </a:stretch>
        </p:blipFill>
        <p:spPr>
          <a:xfrm>
            <a:off x="896112" y="4407408"/>
            <a:ext cx="292608" cy="292608"/>
          </a:xfrm>
          <a:prstGeom prst="rect">
            <a:avLst/>
          </a:prstGeom>
        </p:spPr>
      </p:pic>
      <p:sp>
        <p:nvSpPr>
          <p:cNvPr id="18" name="Text 13"/>
          <p:cNvSpPr/>
          <p:nvPr/>
        </p:nvSpPr>
        <p:spPr>
          <a:xfrm>
            <a:off x="1353312" y="4178808"/>
            <a:ext cx="4434840" cy="7498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Lead with popular &amp; trending items</a:t>
            </a:r>
            <a:endParaRPr lang="en-US" sz="1350" dirty="0"/>
          </a:p>
        </p:txBody>
      </p:sp>
      <p:sp>
        <p:nvSpPr>
          <p:cNvPr id="19" name="Shape 14"/>
          <p:cNvSpPr/>
          <p:nvPr/>
        </p:nvSpPr>
        <p:spPr>
          <a:xfrm>
            <a:off x="6217920" y="4178808"/>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20" name="Shape 15"/>
          <p:cNvSpPr/>
          <p:nvPr/>
        </p:nvSpPr>
        <p:spPr>
          <a:xfrm>
            <a:off x="6217920" y="4178808"/>
            <a:ext cx="5349240" cy="749808"/>
          </a:xfrm>
          <a:prstGeom prst="roundRect">
            <a:avLst>
              <a:gd name="adj" fmla="val 12195"/>
            </a:avLst>
          </a:prstGeom>
          <a:solidFill>
            <a:srgbClr val="FFFFFF">
              <a:alpha val="0"/>
            </a:srgbClr>
          </a:solidFill>
          <a:ln w="12700">
            <a:solidFill>
              <a:srgbClr val="DCE3F0"/>
            </a:solidFill>
            <a:prstDash val="solid"/>
          </a:ln>
        </p:spPr>
      </p:sp>
      <p:pic>
        <p:nvPicPr>
          <p:cNvPr id="21" name="Image 3" descr="preencoded.png">    </p:cNvPr>
          <p:cNvPicPr>
            <a:picLocks noChangeAspect="1"/>
          </p:cNvPicPr>
          <p:nvPr/>
        </p:nvPicPr>
        <p:blipFill>
          <a:blip r:embed="rId4"/>
          <a:stretch>
            <a:fillRect/>
          </a:stretch>
        </p:blipFill>
        <p:spPr>
          <a:xfrm>
            <a:off x="6473952" y="4407408"/>
            <a:ext cx="292608" cy="292608"/>
          </a:xfrm>
          <a:prstGeom prst="rect">
            <a:avLst/>
          </a:prstGeom>
        </p:spPr>
      </p:pic>
      <p:sp>
        <p:nvSpPr>
          <p:cNvPr id="22" name="Text 16"/>
          <p:cNvSpPr/>
          <p:nvPr/>
        </p:nvSpPr>
        <p:spPr>
          <a:xfrm>
            <a:off x="6931152" y="4178808"/>
            <a:ext cx="4434840" cy="7498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Ask a few onboarding preferences</a:t>
            </a:r>
            <a:endParaRPr lang="en-US" sz="1350" dirty="0"/>
          </a:p>
        </p:txBody>
      </p:sp>
      <p:sp>
        <p:nvSpPr>
          <p:cNvPr id="23" name="Shape 17"/>
          <p:cNvSpPr/>
          <p:nvPr/>
        </p:nvSpPr>
        <p:spPr>
          <a:xfrm>
            <a:off x="640080" y="5111496"/>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24" name="Shape 18"/>
          <p:cNvSpPr/>
          <p:nvPr/>
        </p:nvSpPr>
        <p:spPr>
          <a:xfrm>
            <a:off x="640080" y="5111496"/>
            <a:ext cx="5349240" cy="749808"/>
          </a:xfrm>
          <a:prstGeom prst="roundRect">
            <a:avLst>
              <a:gd name="adj" fmla="val 12195"/>
            </a:avLst>
          </a:prstGeom>
          <a:solidFill>
            <a:srgbClr val="FFFFFF">
              <a:alpha val="0"/>
            </a:srgbClr>
          </a:solidFill>
          <a:ln w="12700">
            <a:solidFill>
              <a:srgbClr val="DCE3F0"/>
            </a:solidFill>
            <a:prstDash val="solid"/>
          </a:ln>
        </p:spPr>
      </p:sp>
      <p:pic>
        <p:nvPicPr>
          <p:cNvPr id="25" name="Image 4" descr="preencoded.png">    </p:cNvPr>
          <p:cNvPicPr>
            <a:picLocks noChangeAspect="1"/>
          </p:cNvPicPr>
          <p:nvPr/>
        </p:nvPicPr>
        <p:blipFill>
          <a:blip r:embed="rId5"/>
          <a:stretch>
            <a:fillRect/>
          </a:stretch>
        </p:blipFill>
        <p:spPr>
          <a:xfrm>
            <a:off x="896112" y="5340096"/>
            <a:ext cx="292608" cy="292608"/>
          </a:xfrm>
          <a:prstGeom prst="rect">
            <a:avLst/>
          </a:prstGeom>
        </p:spPr>
      </p:pic>
      <p:sp>
        <p:nvSpPr>
          <p:cNvPr id="26" name="Text 19"/>
          <p:cNvSpPr/>
          <p:nvPr/>
        </p:nvSpPr>
        <p:spPr>
          <a:xfrm>
            <a:off x="1353312" y="5111496"/>
            <a:ext cx="4434840" cy="7498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Use product attributes for brand-new items</a:t>
            </a:r>
            <a:endParaRPr lang="en-US" sz="1350" dirty="0"/>
          </a:p>
        </p:txBody>
      </p:sp>
      <p:sp>
        <p:nvSpPr>
          <p:cNvPr id="27" name="Shape 20"/>
          <p:cNvSpPr/>
          <p:nvPr/>
        </p:nvSpPr>
        <p:spPr>
          <a:xfrm>
            <a:off x="6217920" y="5111496"/>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28" name="Shape 21"/>
          <p:cNvSpPr/>
          <p:nvPr/>
        </p:nvSpPr>
        <p:spPr>
          <a:xfrm>
            <a:off x="6217920" y="5111496"/>
            <a:ext cx="5349240" cy="749808"/>
          </a:xfrm>
          <a:prstGeom prst="roundRect">
            <a:avLst>
              <a:gd name="adj" fmla="val 12195"/>
            </a:avLst>
          </a:prstGeom>
          <a:solidFill>
            <a:srgbClr val="FFFFFF">
              <a:alpha val="0"/>
            </a:srgbClr>
          </a:solidFill>
          <a:ln w="12700">
            <a:solidFill>
              <a:srgbClr val="DCE3F0"/>
            </a:solidFill>
            <a:prstDash val="solid"/>
          </a:ln>
        </p:spPr>
      </p:sp>
      <p:pic>
        <p:nvPicPr>
          <p:cNvPr id="29" name="Image 5" descr="preencoded.png">    </p:cNvPr>
          <p:cNvPicPr>
            <a:picLocks noChangeAspect="1"/>
          </p:cNvPicPr>
          <p:nvPr/>
        </p:nvPicPr>
        <p:blipFill>
          <a:blip r:embed="rId6"/>
          <a:stretch>
            <a:fillRect/>
          </a:stretch>
        </p:blipFill>
        <p:spPr>
          <a:xfrm>
            <a:off x="6473952" y="5340096"/>
            <a:ext cx="292608" cy="292608"/>
          </a:xfrm>
          <a:prstGeom prst="rect">
            <a:avLst/>
          </a:prstGeom>
        </p:spPr>
      </p:pic>
      <p:sp>
        <p:nvSpPr>
          <p:cNvPr id="30" name="Text 22"/>
          <p:cNvSpPr/>
          <p:nvPr/>
        </p:nvSpPr>
        <p:spPr>
          <a:xfrm>
            <a:off x="6931152" y="5111496"/>
            <a:ext cx="4434840" cy="749808"/>
          </a:xfrm>
          <a:prstGeom prst="rect">
            <a:avLst/>
          </a:prstGeom>
          <a:noFill/>
          <a:ln/>
        </p:spPr>
        <p:txBody>
          <a:bodyPr wrap="square" lIns="0" tIns="0" rIns="0" bIns="0" rtlCol="0" anchor="ctr"/>
          <a:lstStyle/>
          <a:p>
            <a:pPr indent="0" marL="0">
              <a:buNone/>
            </a:pPr>
            <a:r>
              <a:rPr lang="en-US" sz="1350" dirty="0">
                <a:solidFill>
                  <a:srgbClr val="1A2238"/>
                </a:solidFill>
                <a:latin typeface="Calibri" pitchFamily="34" charset="0"/>
                <a:ea typeface="Calibri" pitchFamily="34" charset="-122"/>
                <a:cs typeface="Calibri" pitchFamily="34" charset="-120"/>
              </a:rPr>
              <a:t>Lean on context: location, device, time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HOW WE MEASURE QUALITY</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Test offline to shortlist, test online to decide</a:t>
            </a:r>
            <a:endParaRPr lang="en-US" sz="2700" dirty="0"/>
          </a:p>
        </p:txBody>
      </p:sp>
      <p:sp>
        <p:nvSpPr>
          <p:cNvPr id="4" name="Shape 2"/>
          <p:cNvSpPr/>
          <p:nvPr/>
        </p:nvSpPr>
        <p:spPr>
          <a:xfrm>
            <a:off x="640080" y="1645920"/>
            <a:ext cx="5486400" cy="1508760"/>
          </a:xfrm>
          <a:prstGeom prst="roundRect">
            <a:avLst>
              <a:gd name="adj" fmla="val 7273"/>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920240"/>
            <a:ext cx="548640" cy="54864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44245" y="2068373"/>
            <a:ext cx="252374" cy="252374"/>
          </a:xfrm>
          <a:prstGeom prst="rect">
            <a:avLst/>
          </a:prstGeom>
        </p:spPr>
      </p:pic>
      <p:sp>
        <p:nvSpPr>
          <p:cNvPr id="7" name="Text 4"/>
          <p:cNvSpPr/>
          <p:nvPr/>
        </p:nvSpPr>
        <p:spPr>
          <a:xfrm>
            <a:off x="1600200" y="1883664"/>
            <a:ext cx="374904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Before launch (offline)</a:t>
            </a:r>
            <a:endParaRPr lang="en-US" sz="1600" dirty="0"/>
          </a:p>
        </p:txBody>
      </p:sp>
      <p:sp>
        <p:nvSpPr>
          <p:cNvPr id="8" name="Text 5"/>
          <p:cNvSpPr/>
          <p:nvPr/>
        </p:nvSpPr>
        <p:spPr>
          <a:xfrm>
            <a:off x="960120" y="2322576"/>
            <a:ext cx="4251960" cy="777240"/>
          </a:xfrm>
          <a:prstGeom prst="rect">
            <a:avLst/>
          </a:prstGeom>
          <a:noFill/>
          <a:ln/>
        </p:spPr>
        <p:txBody>
          <a:bodyPr wrap="square" lIns="0" tIns="0" rIns="0" bIns="0" rtlCol="0" anchor="ctr"/>
          <a:lstStyle/>
          <a:p>
            <a:pPr marL="177800" indent="-177800">
              <a:spcAft>
                <a:spcPts val="400"/>
              </a:spcAft>
              <a:buSzPct val="100000"/>
              <a:buChar char="•"/>
            </a:pPr>
            <a:r>
              <a:rPr lang="en-US" sz="1250" dirty="0">
                <a:solidFill>
                  <a:srgbClr val="5B6478"/>
                </a:solidFill>
                <a:latin typeface="Calibri" pitchFamily="34" charset="0"/>
                <a:ea typeface="Calibri" pitchFamily="34" charset="-122"/>
                <a:cs typeface="Calibri" pitchFamily="34" charset="-120"/>
              </a:rPr>
              <a:t>Does the model rank good items near the top?</a:t>
            </a:r>
            <a:endParaRPr lang="en-US" sz="1250" dirty="0"/>
          </a:p>
          <a:p>
            <a:pPr marL="177800" indent="-177800">
              <a:spcAft>
                <a:spcPts val="400"/>
              </a:spcAft>
              <a:buSzPct val="100000"/>
              <a:buChar char="•"/>
            </a:pPr>
            <a:r>
              <a:rPr lang="en-US" sz="1250" dirty="0">
                <a:solidFill>
                  <a:srgbClr val="5B6478"/>
                </a:solidFill>
                <a:latin typeface="Calibri" pitchFamily="34" charset="0"/>
                <a:ea typeface="Calibri" pitchFamily="34" charset="-122"/>
                <a:cs typeface="Calibri" pitchFamily="34" charset="-120"/>
              </a:rPr>
              <a:t>Tested on past data, fast and cheap</a:t>
            </a:r>
            <a:endParaRPr lang="en-US" sz="1250" dirty="0"/>
          </a:p>
        </p:txBody>
      </p:sp>
      <p:sp>
        <p:nvSpPr>
          <p:cNvPr id="9" name="Shape 6"/>
          <p:cNvSpPr/>
          <p:nvPr/>
        </p:nvSpPr>
        <p:spPr>
          <a:xfrm>
            <a:off x="640080" y="3337560"/>
            <a:ext cx="5486400" cy="1508760"/>
          </a:xfrm>
          <a:prstGeom prst="roundRect">
            <a:avLst>
              <a:gd name="adj" fmla="val 7273"/>
            </a:avLst>
          </a:prstGeom>
          <a:solidFill>
            <a:srgbClr val="F3F6FC"/>
          </a:solidFill>
          <a:ln/>
          <a:effectLst>
            <a:outerShdw sx="100000" sy="100000" kx="0" ky="0" algn="bl" rotWithShape="0" blurRad="127000" dist="50800" dir="5400000">
              <a:srgbClr val="8A93A6">
                <a:alpha val="13000"/>
              </a:srgbClr>
            </a:outerShdw>
          </a:effectLst>
        </p:spPr>
      </p:sp>
      <p:sp>
        <p:nvSpPr>
          <p:cNvPr id="10" name="Shape 7"/>
          <p:cNvSpPr/>
          <p:nvPr/>
        </p:nvSpPr>
        <p:spPr>
          <a:xfrm>
            <a:off x="896112" y="3611880"/>
            <a:ext cx="548640" cy="548640"/>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1044245" y="3760013"/>
            <a:ext cx="252374" cy="252374"/>
          </a:xfrm>
          <a:prstGeom prst="rect">
            <a:avLst/>
          </a:prstGeom>
        </p:spPr>
      </p:pic>
      <p:sp>
        <p:nvSpPr>
          <p:cNvPr id="12" name="Text 8"/>
          <p:cNvSpPr/>
          <p:nvPr/>
        </p:nvSpPr>
        <p:spPr>
          <a:xfrm>
            <a:off x="1600200" y="3575304"/>
            <a:ext cx="374904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In production (online)</a:t>
            </a:r>
            <a:endParaRPr lang="en-US" sz="1600" dirty="0"/>
          </a:p>
        </p:txBody>
      </p:sp>
      <p:sp>
        <p:nvSpPr>
          <p:cNvPr id="13" name="Text 9"/>
          <p:cNvSpPr/>
          <p:nvPr/>
        </p:nvSpPr>
        <p:spPr>
          <a:xfrm>
            <a:off x="960120" y="4014216"/>
            <a:ext cx="4251960" cy="777240"/>
          </a:xfrm>
          <a:prstGeom prst="rect">
            <a:avLst/>
          </a:prstGeom>
          <a:noFill/>
          <a:ln/>
        </p:spPr>
        <p:txBody>
          <a:bodyPr wrap="square" lIns="0" tIns="0" rIns="0" bIns="0" rtlCol="0" anchor="ctr"/>
          <a:lstStyle/>
          <a:p>
            <a:pPr marL="177800" indent="-177800">
              <a:spcAft>
                <a:spcPts val="400"/>
              </a:spcAft>
              <a:buSzPct val="100000"/>
              <a:buChar char="•"/>
            </a:pPr>
            <a:r>
              <a:rPr lang="en-US" sz="1250" dirty="0">
                <a:solidFill>
                  <a:srgbClr val="5B6478"/>
                </a:solidFill>
                <a:latin typeface="Calibri" pitchFamily="34" charset="0"/>
                <a:ea typeface="Calibri" pitchFamily="34" charset="-122"/>
                <a:cs typeface="Calibri" pitchFamily="34" charset="-120"/>
              </a:rPr>
              <a:t>Click-through, conversion, revenue, AOV</a:t>
            </a:r>
            <a:endParaRPr lang="en-US" sz="1250" dirty="0"/>
          </a:p>
          <a:p>
            <a:pPr marL="177800" indent="-177800">
              <a:spcAft>
                <a:spcPts val="400"/>
              </a:spcAft>
              <a:buSzPct val="100000"/>
              <a:buChar char="•"/>
            </a:pPr>
            <a:r>
              <a:rPr lang="en-US" sz="1250" dirty="0">
                <a:solidFill>
                  <a:srgbClr val="5B6478"/>
                </a:solidFill>
                <a:latin typeface="Calibri" pitchFamily="34" charset="0"/>
                <a:ea typeface="Calibri" pitchFamily="34" charset="-122"/>
                <a:cs typeface="Calibri" pitchFamily="34" charset="-120"/>
              </a:rPr>
              <a:t>Proven with controlled A/B tests</a:t>
            </a:r>
            <a:endParaRPr lang="en-US" sz="1250" dirty="0"/>
          </a:p>
        </p:txBody>
      </p:sp>
      <p:sp>
        <p:nvSpPr>
          <p:cNvPr id="14" name="Shape 10"/>
          <p:cNvSpPr/>
          <p:nvPr/>
        </p:nvSpPr>
        <p:spPr>
          <a:xfrm>
            <a:off x="6446520" y="1645920"/>
            <a:ext cx="5120640" cy="3200400"/>
          </a:xfrm>
          <a:prstGeom prst="roundRect">
            <a:avLst>
              <a:gd name="adj" fmla="val 3429"/>
            </a:avLst>
          </a:prstGeom>
          <a:solidFill>
            <a:srgbClr val="FFFFFF"/>
          </a:solidFill>
          <a:ln/>
          <a:effectLst>
            <a:outerShdw sx="100000" sy="100000" kx="0" ky="0" algn="bl" rotWithShape="0" blurRad="127000" dist="50800" dir="5400000">
              <a:srgbClr val="8A93A6">
                <a:alpha val="13000"/>
              </a:srgbClr>
            </a:outerShdw>
          </a:effectLst>
        </p:spPr>
      </p:sp>
      <p:sp>
        <p:nvSpPr>
          <p:cNvPr id="15" name="Shape 11"/>
          <p:cNvSpPr/>
          <p:nvPr/>
        </p:nvSpPr>
        <p:spPr>
          <a:xfrm>
            <a:off x="6446520" y="1645920"/>
            <a:ext cx="5120640" cy="3200400"/>
          </a:xfrm>
          <a:prstGeom prst="roundRect">
            <a:avLst>
              <a:gd name="adj" fmla="val 3429"/>
            </a:avLst>
          </a:prstGeom>
          <a:solidFill>
            <a:srgbClr val="FFFFFF">
              <a:alpha val="0"/>
            </a:srgbClr>
          </a:solidFill>
          <a:ln w="12700">
            <a:solidFill>
              <a:srgbClr val="DCE3F0"/>
            </a:solidFill>
            <a:prstDash val="solid"/>
          </a:ln>
        </p:spPr>
      </p:sp>
      <p:sp>
        <p:nvSpPr>
          <p:cNvPr id="16" name="Text 12"/>
          <p:cNvSpPr/>
          <p:nvPr/>
        </p:nvSpPr>
        <p:spPr>
          <a:xfrm>
            <a:off x="6766560" y="1874520"/>
            <a:ext cx="4480560" cy="320040"/>
          </a:xfrm>
          <a:prstGeom prst="rect">
            <a:avLst/>
          </a:prstGeom>
          <a:noFill/>
          <a:ln/>
        </p:spPr>
        <p:txBody>
          <a:bodyPr wrap="square" lIns="0" tIns="0" rIns="0" bIns="0" rtlCol="0" anchor="ctr"/>
          <a:lstStyle/>
          <a:p>
            <a:pPr indent="0" marL="0">
              <a:buNone/>
            </a:pPr>
            <a:r>
              <a:rPr lang="en-US" sz="1350" b="1" dirty="0">
                <a:solidFill>
                  <a:srgbClr val="1A2238"/>
                </a:solidFill>
                <a:latin typeface="Calibri" pitchFamily="34" charset="0"/>
                <a:ea typeface="Calibri" pitchFamily="34" charset="-122"/>
                <a:cs typeface="Calibri" pitchFamily="34" charset="-120"/>
              </a:rPr>
              <a:t>A/B test — conversion rate (%)</a:t>
            </a:r>
            <a:endParaRPr lang="en-US" sz="1350" dirty="0"/>
          </a:p>
        </p:txBody>
      </p:sp>
      <p:graphicFrame>
        <p:nvGraphicFramePr>
          <p:cNvPr id="17" name="Chart 0" descr=""/>
          <p:cNvGraphicFramePr/>
          <p:nvPr/>
        </p:nvGraphicFramePr>
        <p:xfrm>
          <a:off x="6675120" y="2286000"/>
          <a:ext cx="4663440" cy="2423160"/>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640080" y="4937760"/>
            <a:ext cx="10927080" cy="658368"/>
          </a:xfrm>
          <a:prstGeom prst="roundRect">
            <a:avLst>
              <a:gd name="adj" fmla="val 16667"/>
            </a:avLst>
          </a:prstGeom>
          <a:solidFill>
            <a:srgbClr val="FBF4E3"/>
          </a:solidFill>
          <a:ln/>
          <a:effectLst>
            <a:outerShdw sx="100000" sy="100000" kx="0" ky="0" algn="bl" rotWithShape="0" blurRad="127000" dist="50800" dir="5400000">
              <a:srgbClr val="8A93A6">
                <a:alpha val="13000"/>
              </a:srgbClr>
            </a:outerShdw>
          </a:effectLst>
        </p:spPr>
      </p:sp>
      <p:sp>
        <p:nvSpPr>
          <p:cNvPr id="19" name="Shape 14"/>
          <p:cNvSpPr/>
          <p:nvPr/>
        </p:nvSpPr>
        <p:spPr>
          <a:xfrm>
            <a:off x="868680" y="5029200"/>
            <a:ext cx="475488" cy="475488"/>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0" name="Image 2" descr="preencoded.png">    </p:cNvPr>
          <p:cNvPicPr>
            <a:picLocks noChangeAspect="1"/>
          </p:cNvPicPr>
          <p:nvPr/>
        </p:nvPicPr>
        <p:blipFill>
          <a:blip r:embed="rId4"/>
          <a:stretch>
            <a:fillRect/>
          </a:stretch>
        </p:blipFill>
        <p:spPr>
          <a:xfrm>
            <a:off x="997062" y="5157582"/>
            <a:ext cx="218724" cy="218724"/>
          </a:xfrm>
          <a:prstGeom prst="rect">
            <a:avLst/>
          </a:prstGeom>
        </p:spPr>
      </p:pic>
      <p:sp>
        <p:nvSpPr>
          <p:cNvPr id="21" name="Text 15"/>
          <p:cNvSpPr/>
          <p:nvPr/>
        </p:nvSpPr>
        <p:spPr>
          <a:xfrm>
            <a:off x="1508760" y="4937760"/>
            <a:ext cx="9966960" cy="658368"/>
          </a:xfrm>
          <a:prstGeom prst="rect">
            <a:avLst/>
          </a:prstGeom>
          <a:noFill/>
          <a:ln/>
        </p:spPr>
        <p:txBody>
          <a:bodyPr wrap="square" lIns="0" tIns="0" rIns="0" bIns="0" rtlCol="0" anchor="ctr"/>
          <a:lstStyle/>
          <a:p>
            <a:pPr indent="0" marL="0">
              <a:buNone/>
            </a:pPr>
            <a:r>
              <a:rPr lang="en-US" sz="1250" dirty="0">
                <a:solidFill>
                  <a:srgbClr val="1A2238"/>
                </a:solidFill>
                <a:latin typeface="Calibri" pitchFamily="34" charset="0"/>
                <a:ea typeface="Calibri" pitchFamily="34" charset="-122"/>
                <a:cs typeface="Calibri" pitchFamily="34" charset="-120"/>
              </a:rPr>
              <a:t>Offline scores guide the shortlist; live A/B tests decide what ships.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A REAL-WORLD ARCHITECTURE</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Retrieve broadly, rank precisely, then apply the rules</a:t>
            </a:r>
            <a:endParaRPr lang="en-US" sz="2700" dirty="0"/>
          </a:p>
        </p:txBody>
      </p:sp>
      <p:sp>
        <p:nvSpPr>
          <p:cNvPr id="4" name="Shape 2"/>
          <p:cNvSpPr/>
          <p:nvPr/>
        </p:nvSpPr>
        <p:spPr>
          <a:xfrm>
            <a:off x="640080" y="1691640"/>
            <a:ext cx="3310128" cy="2697480"/>
          </a:xfrm>
          <a:prstGeom prst="roundRect">
            <a:avLst>
              <a:gd name="adj" fmla="val 4068"/>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1929384" y="1965960"/>
            <a:ext cx="731520" cy="731520"/>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2126894" y="2163470"/>
            <a:ext cx="336499" cy="336499"/>
          </a:xfrm>
          <a:prstGeom prst="rect">
            <a:avLst/>
          </a:prstGeom>
        </p:spPr>
      </p:pic>
      <p:sp>
        <p:nvSpPr>
          <p:cNvPr id="7" name="Text 4"/>
          <p:cNvSpPr/>
          <p:nvPr/>
        </p:nvSpPr>
        <p:spPr>
          <a:xfrm>
            <a:off x="822960" y="2752344"/>
            <a:ext cx="2944368" cy="228600"/>
          </a:xfrm>
          <a:prstGeom prst="rect">
            <a:avLst/>
          </a:prstGeom>
          <a:noFill/>
          <a:ln/>
        </p:spPr>
        <p:txBody>
          <a:bodyPr wrap="square" lIns="0" tIns="0" rIns="0" bIns="0" rtlCol="0" anchor="ctr"/>
          <a:lstStyle/>
          <a:p>
            <a:pPr algn="ctr" indent="0" marL="0">
              <a:buNone/>
            </a:pPr>
            <a:r>
              <a:rPr lang="en-US" sz="1050" b="1" spc="200" kern="0" dirty="0">
                <a:solidFill>
                  <a:srgbClr val="5B6478"/>
                </a:solidFill>
                <a:latin typeface="Calibri" pitchFamily="34" charset="0"/>
                <a:ea typeface="Calibri" pitchFamily="34" charset="-122"/>
                <a:cs typeface="Calibri" pitchFamily="34" charset="-120"/>
              </a:rPr>
              <a:t>STEP 1</a:t>
            </a:r>
            <a:endParaRPr lang="en-US" sz="1050" dirty="0"/>
          </a:p>
        </p:txBody>
      </p:sp>
      <p:sp>
        <p:nvSpPr>
          <p:cNvPr id="8" name="Text 5"/>
          <p:cNvSpPr/>
          <p:nvPr/>
        </p:nvSpPr>
        <p:spPr>
          <a:xfrm>
            <a:off x="822960" y="2971800"/>
            <a:ext cx="2944368" cy="365760"/>
          </a:xfrm>
          <a:prstGeom prst="rect">
            <a:avLst/>
          </a:prstGeom>
          <a:noFill/>
          <a:ln/>
        </p:spPr>
        <p:txBody>
          <a:bodyPr wrap="square" lIns="0" tIns="0" rIns="0" bIns="0" rtlCol="0" anchor="ctr"/>
          <a:lstStyle/>
          <a:p>
            <a:pPr algn="ctr" indent="0" marL="0">
              <a:buNone/>
            </a:pPr>
            <a:r>
              <a:rPr lang="en-US" sz="1550" b="1" dirty="0">
                <a:solidFill>
                  <a:srgbClr val="1A2238"/>
                </a:solidFill>
                <a:latin typeface="Cambria" pitchFamily="34" charset="0"/>
                <a:ea typeface="Cambria" pitchFamily="34" charset="-122"/>
                <a:cs typeface="Cambria" pitchFamily="34" charset="-120"/>
              </a:rPr>
              <a:t>Candidate generation</a:t>
            </a:r>
            <a:endParaRPr lang="en-US" sz="1550" dirty="0"/>
          </a:p>
        </p:txBody>
      </p:sp>
      <p:sp>
        <p:nvSpPr>
          <p:cNvPr id="9" name="Text 6"/>
          <p:cNvSpPr/>
          <p:nvPr/>
        </p:nvSpPr>
        <p:spPr>
          <a:xfrm>
            <a:off x="877824" y="3355848"/>
            <a:ext cx="2834640" cy="640080"/>
          </a:xfrm>
          <a:prstGeom prst="rect">
            <a:avLst/>
          </a:prstGeom>
          <a:noFill/>
          <a:ln/>
        </p:spPr>
        <p:txBody>
          <a:bodyPr wrap="square" lIns="0" tIns="0" rIns="0" bIns="0" rtlCol="0" anchor="ctr"/>
          <a:lstStyle/>
          <a:p>
            <a:pPr algn="ctr" indent="0" marL="0">
              <a:buNone/>
            </a:pPr>
            <a:r>
              <a:rPr lang="en-US" sz="1200" dirty="0">
                <a:solidFill>
                  <a:srgbClr val="5B6478"/>
                </a:solidFill>
                <a:latin typeface="Calibri" pitchFamily="34" charset="0"/>
                <a:ea typeface="Calibri" pitchFamily="34" charset="-122"/>
                <a:cs typeface="Calibri" pitchFamily="34" charset="-120"/>
              </a:rPr>
              <a:t>Narrow millions of products to a few hundred good options.</a:t>
            </a:r>
            <a:endParaRPr lang="en-US" sz="1200" dirty="0"/>
          </a:p>
        </p:txBody>
      </p:sp>
      <p:sp>
        <p:nvSpPr>
          <p:cNvPr id="10" name="Shape 7"/>
          <p:cNvSpPr/>
          <p:nvPr/>
        </p:nvSpPr>
        <p:spPr>
          <a:xfrm>
            <a:off x="1051560" y="3931920"/>
            <a:ext cx="2487168" cy="329184"/>
          </a:xfrm>
          <a:prstGeom prst="roundRect">
            <a:avLst>
              <a:gd name="adj" fmla="val 50000"/>
            </a:avLst>
          </a:prstGeom>
          <a:solidFill>
            <a:srgbClr val="FFFFFF"/>
          </a:solidFill>
          <a:ln w="12700">
            <a:solidFill>
              <a:srgbClr val="DCE3F0"/>
            </a:solidFill>
            <a:prstDash val="solid"/>
          </a:ln>
        </p:spPr>
      </p:sp>
      <p:sp>
        <p:nvSpPr>
          <p:cNvPr id="11" name="Text 8"/>
          <p:cNvSpPr/>
          <p:nvPr/>
        </p:nvSpPr>
        <p:spPr>
          <a:xfrm>
            <a:off x="1051560" y="3931920"/>
            <a:ext cx="2487168" cy="329184"/>
          </a:xfrm>
          <a:prstGeom prst="rect">
            <a:avLst/>
          </a:prstGeom>
          <a:noFill/>
          <a:ln/>
        </p:spPr>
        <p:txBody>
          <a:bodyPr wrap="square" lIns="0" tIns="0" rIns="0" bIns="0" rtlCol="0" anchor="ctr"/>
          <a:lstStyle/>
          <a:p>
            <a:pPr algn="ctr" indent="0" marL="0">
              <a:buNone/>
            </a:pPr>
            <a:r>
              <a:rPr lang="en-US" sz="1050" b="1" dirty="0">
                <a:solidFill>
                  <a:srgbClr val="1E2761"/>
                </a:solidFill>
                <a:latin typeface="Calibri" pitchFamily="34" charset="0"/>
                <a:ea typeface="Calibri" pitchFamily="34" charset="-122"/>
                <a:cs typeface="Calibri" pitchFamily="34" charset="-120"/>
              </a:rPr>
              <a:t>Millions → hundreds</a:t>
            </a:r>
            <a:endParaRPr lang="en-US" sz="1050" dirty="0"/>
          </a:p>
        </p:txBody>
      </p:sp>
      <p:pic>
        <p:nvPicPr>
          <p:cNvPr id="12" name="Image 1" descr="preencoded.png">    </p:cNvPr>
          <p:cNvPicPr>
            <a:picLocks noChangeAspect="1"/>
          </p:cNvPicPr>
          <p:nvPr/>
        </p:nvPicPr>
        <p:blipFill>
          <a:blip r:embed="rId2"/>
          <a:stretch>
            <a:fillRect/>
          </a:stretch>
        </p:blipFill>
        <p:spPr>
          <a:xfrm>
            <a:off x="4005072" y="2857500"/>
            <a:ext cx="365760" cy="182880"/>
          </a:xfrm>
          <a:prstGeom prst="rect">
            <a:avLst/>
          </a:prstGeom>
        </p:spPr>
      </p:pic>
      <p:sp>
        <p:nvSpPr>
          <p:cNvPr id="13" name="Shape 9"/>
          <p:cNvSpPr/>
          <p:nvPr/>
        </p:nvSpPr>
        <p:spPr>
          <a:xfrm>
            <a:off x="4425696" y="1691640"/>
            <a:ext cx="3310128" cy="2697480"/>
          </a:xfrm>
          <a:prstGeom prst="roundRect">
            <a:avLst>
              <a:gd name="adj" fmla="val 4068"/>
            </a:avLst>
          </a:prstGeom>
          <a:solidFill>
            <a:srgbClr val="F3F6FC"/>
          </a:solidFill>
          <a:ln/>
          <a:effectLst>
            <a:outerShdw sx="100000" sy="100000" kx="0" ky="0" algn="bl" rotWithShape="0" blurRad="127000" dist="50800" dir="5400000">
              <a:srgbClr val="8A93A6">
                <a:alpha val="13000"/>
              </a:srgbClr>
            </a:outerShdw>
          </a:effectLst>
        </p:spPr>
      </p:sp>
      <p:sp>
        <p:nvSpPr>
          <p:cNvPr id="14" name="Shape 10"/>
          <p:cNvSpPr/>
          <p:nvPr/>
        </p:nvSpPr>
        <p:spPr>
          <a:xfrm>
            <a:off x="5715000" y="1965960"/>
            <a:ext cx="731520" cy="731520"/>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15" name="Image 2" descr="preencoded.png">    </p:cNvPr>
          <p:cNvPicPr>
            <a:picLocks noChangeAspect="1"/>
          </p:cNvPicPr>
          <p:nvPr/>
        </p:nvPicPr>
        <p:blipFill>
          <a:blip r:embed="rId3"/>
          <a:stretch>
            <a:fillRect/>
          </a:stretch>
        </p:blipFill>
        <p:spPr>
          <a:xfrm>
            <a:off x="5912510" y="2163470"/>
            <a:ext cx="336499" cy="336499"/>
          </a:xfrm>
          <a:prstGeom prst="rect">
            <a:avLst/>
          </a:prstGeom>
        </p:spPr>
      </p:pic>
      <p:sp>
        <p:nvSpPr>
          <p:cNvPr id="16" name="Text 11"/>
          <p:cNvSpPr/>
          <p:nvPr/>
        </p:nvSpPr>
        <p:spPr>
          <a:xfrm>
            <a:off x="4608576" y="2752344"/>
            <a:ext cx="2944368" cy="228600"/>
          </a:xfrm>
          <a:prstGeom prst="rect">
            <a:avLst/>
          </a:prstGeom>
          <a:noFill/>
          <a:ln/>
        </p:spPr>
        <p:txBody>
          <a:bodyPr wrap="square" lIns="0" tIns="0" rIns="0" bIns="0" rtlCol="0" anchor="ctr"/>
          <a:lstStyle/>
          <a:p>
            <a:pPr algn="ctr" indent="0" marL="0">
              <a:buNone/>
            </a:pPr>
            <a:r>
              <a:rPr lang="en-US" sz="1050" b="1" spc="200" kern="0" dirty="0">
                <a:solidFill>
                  <a:srgbClr val="5B6478"/>
                </a:solidFill>
                <a:latin typeface="Calibri" pitchFamily="34" charset="0"/>
                <a:ea typeface="Calibri" pitchFamily="34" charset="-122"/>
                <a:cs typeface="Calibri" pitchFamily="34" charset="-120"/>
              </a:rPr>
              <a:t>STEP 2</a:t>
            </a:r>
            <a:endParaRPr lang="en-US" sz="1050" dirty="0"/>
          </a:p>
        </p:txBody>
      </p:sp>
      <p:sp>
        <p:nvSpPr>
          <p:cNvPr id="17" name="Text 12"/>
          <p:cNvSpPr/>
          <p:nvPr/>
        </p:nvSpPr>
        <p:spPr>
          <a:xfrm>
            <a:off x="4608576" y="2971800"/>
            <a:ext cx="2944368" cy="365760"/>
          </a:xfrm>
          <a:prstGeom prst="rect">
            <a:avLst/>
          </a:prstGeom>
          <a:noFill/>
          <a:ln/>
        </p:spPr>
        <p:txBody>
          <a:bodyPr wrap="square" lIns="0" tIns="0" rIns="0" bIns="0" rtlCol="0" anchor="ctr"/>
          <a:lstStyle/>
          <a:p>
            <a:pPr algn="ctr" indent="0" marL="0">
              <a:buNone/>
            </a:pPr>
            <a:r>
              <a:rPr lang="en-US" sz="1550" b="1" dirty="0">
                <a:solidFill>
                  <a:srgbClr val="1A2238"/>
                </a:solidFill>
                <a:latin typeface="Cambria" pitchFamily="34" charset="0"/>
                <a:ea typeface="Cambria" pitchFamily="34" charset="-122"/>
                <a:cs typeface="Cambria" pitchFamily="34" charset="-120"/>
              </a:rPr>
              <a:t>Ranking</a:t>
            </a:r>
            <a:endParaRPr lang="en-US" sz="1550" dirty="0"/>
          </a:p>
        </p:txBody>
      </p:sp>
      <p:sp>
        <p:nvSpPr>
          <p:cNvPr id="18" name="Text 13"/>
          <p:cNvSpPr/>
          <p:nvPr/>
        </p:nvSpPr>
        <p:spPr>
          <a:xfrm>
            <a:off x="4663440" y="3355848"/>
            <a:ext cx="2834640" cy="640080"/>
          </a:xfrm>
          <a:prstGeom prst="rect">
            <a:avLst/>
          </a:prstGeom>
          <a:noFill/>
          <a:ln/>
        </p:spPr>
        <p:txBody>
          <a:bodyPr wrap="square" lIns="0" tIns="0" rIns="0" bIns="0" rtlCol="0" anchor="ctr"/>
          <a:lstStyle/>
          <a:p>
            <a:pPr algn="ctr" indent="0" marL="0">
              <a:buNone/>
            </a:pPr>
            <a:r>
              <a:rPr lang="en-US" sz="1200" dirty="0">
                <a:solidFill>
                  <a:srgbClr val="5B6478"/>
                </a:solidFill>
                <a:latin typeface="Calibri" pitchFamily="34" charset="0"/>
                <a:ea typeface="Calibri" pitchFamily="34" charset="-122"/>
                <a:cs typeface="Calibri" pitchFamily="34" charset="-120"/>
              </a:rPr>
              <a:t>Score the shortlist precisely for this shopper.</a:t>
            </a:r>
            <a:endParaRPr lang="en-US" sz="1200" dirty="0"/>
          </a:p>
        </p:txBody>
      </p:sp>
      <p:sp>
        <p:nvSpPr>
          <p:cNvPr id="19" name="Shape 14"/>
          <p:cNvSpPr/>
          <p:nvPr/>
        </p:nvSpPr>
        <p:spPr>
          <a:xfrm>
            <a:off x="4837176" y="3931920"/>
            <a:ext cx="2487168" cy="329184"/>
          </a:xfrm>
          <a:prstGeom prst="roundRect">
            <a:avLst>
              <a:gd name="adj" fmla="val 50000"/>
            </a:avLst>
          </a:prstGeom>
          <a:solidFill>
            <a:srgbClr val="FFFFFF"/>
          </a:solidFill>
          <a:ln w="12700">
            <a:solidFill>
              <a:srgbClr val="DCE3F0"/>
            </a:solidFill>
            <a:prstDash val="solid"/>
          </a:ln>
        </p:spPr>
      </p:sp>
      <p:sp>
        <p:nvSpPr>
          <p:cNvPr id="20" name="Text 15"/>
          <p:cNvSpPr/>
          <p:nvPr/>
        </p:nvSpPr>
        <p:spPr>
          <a:xfrm>
            <a:off x="4837176" y="3931920"/>
            <a:ext cx="2487168" cy="329184"/>
          </a:xfrm>
          <a:prstGeom prst="rect">
            <a:avLst/>
          </a:prstGeom>
          <a:noFill/>
          <a:ln/>
        </p:spPr>
        <p:txBody>
          <a:bodyPr wrap="square" lIns="0" tIns="0" rIns="0" bIns="0" rtlCol="0" anchor="ctr"/>
          <a:lstStyle/>
          <a:p>
            <a:pPr algn="ctr" indent="0" marL="0">
              <a:buNone/>
            </a:pPr>
            <a:r>
              <a:rPr lang="en-US" sz="1050" b="1" dirty="0">
                <a:solidFill>
                  <a:srgbClr val="1E2761"/>
                </a:solidFill>
                <a:latin typeface="Calibri" pitchFamily="34" charset="0"/>
                <a:ea typeface="Calibri" pitchFamily="34" charset="-122"/>
                <a:cs typeface="Calibri" pitchFamily="34" charset="-120"/>
              </a:rPr>
              <a:t>Hundreds → dozens</a:t>
            </a:r>
            <a:endParaRPr lang="en-US" sz="1050" dirty="0"/>
          </a:p>
        </p:txBody>
      </p:sp>
      <p:pic>
        <p:nvPicPr>
          <p:cNvPr id="21" name="Image 3" descr="preencoded.png">    </p:cNvPr>
          <p:cNvPicPr>
            <a:picLocks noChangeAspect="1"/>
          </p:cNvPicPr>
          <p:nvPr/>
        </p:nvPicPr>
        <p:blipFill>
          <a:blip r:embed="rId4"/>
          <a:stretch>
            <a:fillRect/>
          </a:stretch>
        </p:blipFill>
        <p:spPr>
          <a:xfrm>
            <a:off x="7790688" y="2857500"/>
            <a:ext cx="365760" cy="182880"/>
          </a:xfrm>
          <a:prstGeom prst="rect">
            <a:avLst/>
          </a:prstGeom>
        </p:spPr>
      </p:pic>
      <p:sp>
        <p:nvSpPr>
          <p:cNvPr id="22" name="Shape 16"/>
          <p:cNvSpPr/>
          <p:nvPr/>
        </p:nvSpPr>
        <p:spPr>
          <a:xfrm>
            <a:off x="8211312" y="1691640"/>
            <a:ext cx="3310128" cy="2697480"/>
          </a:xfrm>
          <a:prstGeom prst="roundRect">
            <a:avLst>
              <a:gd name="adj" fmla="val 4068"/>
            </a:avLst>
          </a:prstGeom>
          <a:solidFill>
            <a:srgbClr val="F3F6FC"/>
          </a:solidFill>
          <a:ln/>
          <a:effectLst>
            <a:outerShdw sx="100000" sy="100000" kx="0" ky="0" algn="bl" rotWithShape="0" blurRad="127000" dist="50800" dir="5400000">
              <a:srgbClr val="8A93A6">
                <a:alpha val="13000"/>
              </a:srgbClr>
            </a:outerShdw>
          </a:effectLst>
        </p:spPr>
      </p:sp>
      <p:sp>
        <p:nvSpPr>
          <p:cNvPr id="23" name="Shape 17"/>
          <p:cNvSpPr/>
          <p:nvPr/>
        </p:nvSpPr>
        <p:spPr>
          <a:xfrm>
            <a:off x="9500616" y="1965960"/>
            <a:ext cx="731520" cy="731520"/>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4" name="Image 4" descr="preencoded.png">    </p:cNvPr>
          <p:cNvPicPr>
            <a:picLocks noChangeAspect="1"/>
          </p:cNvPicPr>
          <p:nvPr/>
        </p:nvPicPr>
        <p:blipFill>
          <a:blip r:embed="rId5"/>
          <a:stretch>
            <a:fillRect/>
          </a:stretch>
        </p:blipFill>
        <p:spPr>
          <a:xfrm>
            <a:off x="9698126" y="2163470"/>
            <a:ext cx="336499" cy="336499"/>
          </a:xfrm>
          <a:prstGeom prst="rect">
            <a:avLst/>
          </a:prstGeom>
        </p:spPr>
      </p:pic>
      <p:sp>
        <p:nvSpPr>
          <p:cNvPr id="25" name="Text 18"/>
          <p:cNvSpPr/>
          <p:nvPr/>
        </p:nvSpPr>
        <p:spPr>
          <a:xfrm>
            <a:off x="8394192" y="2752344"/>
            <a:ext cx="2944368" cy="228600"/>
          </a:xfrm>
          <a:prstGeom prst="rect">
            <a:avLst/>
          </a:prstGeom>
          <a:noFill/>
          <a:ln/>
        </p:spPr>
        <p:txBody>
          <a:bodyPr wrap="square" lIns="0" tIns="0" rIns="0" bIns="0" rtlCol="0" anchor="ctr"/>
          <a:lstStyle/>
          <a:p>
            <a:pPr algn="ctr" indent="0" marL="0">
              <a:buNone/>
            </a:pPr>
            <a:r>
              <a:rPr lang="en-US" sz="1050" b="1" spc="200" kern="0" dirty="0">
                <a:solidFill>
                  <a:srgbClr val="5B6478"/>
                </a:solidFill>
                <a:latin typeface="Calibri" pitchFamily="34" charset="0"/>
                <a:ea typeface="Calibri" pitchFamily="34" charset="-122"/>
                <a:cs typeface="Calibri" pitchFamily="34" charset="-120"/>
              </a:rPr>
              <a:t>STEP 3</a:t>
            </a:r>
            <a:endParaRPr lang="en-US" sz="1050" dirty="0"/>
          </a:p>
        </p:txBody>
      </p:sp>
      <p:sp>
        <p:nvSpPr>
          <p:cNvPr id="26" name="Text 19"/>
          <p:cNvSpPr/>
          <p:nvPr/>
        </p:nvSpPr>
        <p:spPr>
          <a:xfrm>
            <a:off x="8394192" y="2971800"/>
            <a:ext cx="2944368" cy="365760"/>
          </a:xfrm>
          <a:prstGeom prst="rect">
            <a:avLst/>
          </a:prstGeom>
          <a:noFill/>
          <a:ln/>
        </p:spPr>
        <p:txBody>
          <a:bodyPr wrap="square" lIns="0" tIns="0" rIns="0" bIns="0" rtlCol="0" anchor="ctr"/>
          <a:lstStyle/>
          <a:p>
            <a:pPr algn="ctr" indent="0" marL="0">
              <a:buNone/>
            </a:pPr>
            <a:r>
              <a:rPr lang="en-US" sz="1550" b="1" dirty="0">
                <a:solidFill>
                  <a:srgbClr val="1A2238"/>
                </a:solidFill>
                <a:latin typeface="Cambria" pitchFamily="34" charset="0"/>
                <a:ea typeface="Cambria" pitchFamily="34" charset="-122"/>
                <a:cs typeface="Cambria" pitchFamily="34" charset="-120"/>
              </a:rPr>
              <a:t>Re-ranking &amp; rules</a:t>
            </a:r>
            <a:endParaRPr lang="en-US" sz="1550" dirty="0"/>
          </a:p>
        </p:txBody>
      </p:sp>
      <p:sp>
        <p:nvSpPr>
          <p:cNvPr id="27" name="Text 20"/>
          <p:cNvSpPr/>
          <p:nvPr/>
        </p:nvSpPr>
        <p:spPr>
          <a:xfrm>
            <a:off x="8449056" y="3355848"/>
            <a:ext cx="2834640" cy="640080"/>
          </a:xfrm>
          <a:prstGeom prst="rect">
            <a:avLst/>
          </a:prstGeom>
          <a:noFill/>
          <a:ln/>
        </p:spPr>
        <p:txBody>
          <a:bodyPr wrap="square" lIns="0" tIns="0" rIns="0" bIns="0" rtlCol="0" anchor="ctr"/>
          <a:lstStyle/>
          <a:p>
            <a:pPr algn="ctr" indent="0" marL="0">
              <a:buNone/>
            </a:pPr>
            <a:r>
              <a:rPr lang="en-US" sz="1200" dirty="0">
                <a:solidFill>
                  <a:srgbClr val="5B6478"/>
                </a:solidFill>
                <a:latin typeface="Calibri" pitchFamily="34" charset="0"/>
                <a:ea typeface="Calibri" pitchFamily="34" charset="-122"/>
                <a:cs typeface="Calibri" pitchFamily="34" charset="-120"/>
              </a:rPr>
              <a:t>Apply business rules: stock, promotions, variety.</a:t>
            </a:r>
            <a:endParaRPr lang="en-US" sz="1200" dirty="0"/>
          </a:p>
        </p:txBody>
      </p:sp>
      <p:sp>
        <p:nvSpPr>
          <p:cNvPr id="28" name="Shape 21"/>
          <p:cNvSpPr/>
          <p:nvPr/>
        </p:nvSpPr>
        <p:spPr>
          <a:xfrm>
            <a:off x="8622792" y="3931920"/>
            <a:ext cx="2487168" cy="329184"/>
          </a:xfrm>
          <a:prstGeom prst="roundRect">
            <a:avLst>
              <a:gd name="adj" fmla="val 50000"/>
            </a:avLst>
          </a:prstGeom>
          <a:solidFill>
            <a:srgbClr val="FFFFFF"/>
          </a:solidFill>
          <a:ln w="12700">
            <a:solidFill>
              <a:srgbClr val="DCE3F0"/>
            </a:solidFill>
            <a:prstDash val="solid"/>
          </a:ln>
        </p:spPr>
      </p:sp>
      <p:sp>
        <p:nvSpPr>
          <p:cNvPr id="29" name="Text 22"/>
          <p:cNvSpPr/>
          <p:nvPr/>
        </p:nvSpPr>
        <p:spPr>
          <a:xfrm>
            <a:off x="8622792" y="3931920"/>
            <a:ext cx="2487168" cy="329184"/>
          </a:xfrm>
          <a:prstGeom prst="rect">
            <a:avLst/>
          </a:prstGeom>
          <a:noFill/>
          <a:ln/>
        </p:spPr>
        <p:txBody>
          <a:bodyPr wrap="square" lIns="0" tIns="0" rIns="0" bIns="0" rtlCol="0" anchor="ctr"/>
          <a:lstStyle/>
          <a:p>
            <a:pPr algn="ctr" indent="0" marL="0">
              <a:buNone/>
            </a:pPr>
            <a:r>
              <a:rPr lang="en-US" sz="1050" b="1" dirty="0">
                <a:solidFill>
                  <a:srgbClr val="1E2761"/>
                </a:solidFill>
                <a:latin typeface="Calibri" pitchFamily="34" charset="0"/>
                <a:ea typeface="Calibri" pitchFamily="34" charset="-122"/>
                <a:cs typeface="Calibri" pitchFamily="34" charset="-120"/>
              </a:rPr>
              <a:t>Dozens → top picks</a:t>
            </a:r>
            <a:endParaRPr lang="en-US" sz="1050" dirty="0"/>
          </a:p>
        </p:txBody>
      </p:sp>
      <p:sp>
        <p:nvSpPr>
          <p:cNvPr id="30" name="Shape 23"/>
          <p:cNvSpPr/>
          <p:nvPr/>
        </p:nvSpPr>
        <p:spPr>
          <a:xfrm>
            <a:off x="640080" y="4645152"/>
            <a:ext cx="10927080" cy="841248"/>
          </a:xfrm>
          <a:prstGeom prst="roundRect">
            <a:avLst>
              <a:gd name="adj" fmla="val 13043"/>
            </a:avLst>
          </a:prstGeom>
          <a:solidFill>
            <a:srgbClr val="FBF4E3"/>
          </a:solidFill>
          <a:ln/>
          <a:effectLst>
            <a:outerShdw sx="100000" sy="100000" kx="0" ky="0" algn="bl" rotWithShape="0" blurRad="127000" dist="50800" dir="5400000">
              <a:srgbClr val="8A93A6">
                <a:alpha val="13000"/>
              </a:srgbClr>
            </a:outerShdw>
          </a:effectLst>
        </p:spPr>
      </p:sp>
      <p:sp>
        <p:nvSpPr>
          <p:cNvPr id="31" name="Shape 24"/>
          <p:cNvSpPr/>
          <p:nvPr/>
        </p:nvSpPr>
        <p:spPr>
          <a:xfrm>
            <a:off x="896112" y="4800600"/>
            <a:ext cx="530352" cy="530352"/>
          </a:xfrm>
          <a:prstGeom prst="ellipse">
            <a:avLst/>
          </a:prstGeom>
          <a:solidFill>
            <a:srgbClr val="4A6FA5"/>
          </a:solidFill>
          <a:ln/>
          <a:effectLst>
            <a:outerShdw sx="100000" sy="100000" kx="0" ky="0" algn="bl" rotWithShape="0" blurRad="127000" dist="50800" dir="5400000">
              <a:srgbClr val="8A93A6">
                <a:alpha val="13000"/>
              </a:srgbClr>
            </a:outerShdw>
          </a:effectLst>
        </p:spPr>
      </p:sp>
      <p:pic>
        <p:nvPicPr>
          <p:cNvPr id="32" name="Image 5" descr="preencoded.png">    </p:cNvPr>
          <p:cNvPicPr>
            <a:picLocks noChangeAspect="1"/>
          </p:cNvPicPr>
          <p:nvPr/>
        </p:nvPicPr>
        <p:blipFill>
          <a:blip r:embed="rId6"/>
          <a:stretch>
            <a:fillRect/>
          </a:stretch>
        </p:blipFill>
        <p:spPr>
          <a:xfrm>
            <a:off x="1039307" y="4943795"/>
            <a:ext cx="243962" cy="243962"/>
          </a:xfrm>
          <a:prstGeom prst="rect">
            <a:avLst/>
          </a:prstGeom>
        </p:spPr>
      </p:pic>
      <p:sp>
        <p:nvSpPr>
          <p:cNvPr id="33" name="Text 25"/>
          <p:cNvSpPr/>
          <p:nvPr/>
        </p:nvSpPr>
        <p:spPr>
          <a:xfrm>
            <a:off x="1691640" y="4645152"/>
            <a:ext cx="9692640" cy="841248"/>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Heavy preparation runs in batch overnight; the final pick happens in real time as the page loads.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CHALLENGES &amp; ETHICS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Relevance is not the only thing that matters</a:t>
            </a:r>
            <a:endParaRPr lang="en-US" sz="2700" dirty="0"/>
          </a:p>
        </p:txBody>
      </p:sp>
      <p:sp>
        <p:nvSpPr>
          <p:cNvPr id="4" name="Shape 2"/>
          <p:cNvSpPr/>
          <p:nvPr/>
        </p:nvSpPr>
        <p:spPr>
          <a:xfrm>
            <a:off x="640080" y="1627632"/>
            <a:ext cx="3456432" cy="1828800"/>
          </a:xfrm>
          <a:prstGeom prst="roundRect">
            <a:avLst>
              <a:gd name="adj" fmla="val 6000"/>
            </a:avLst>
          </a:prstGeom>
          <a:solidFill>
            <a:srgbClr val="F3F6FC"/>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20240"/>
            <a:ext cx="621792" cy="62179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00572" y="2088124"/>
            <a:ext cx="286024" cy="286024"/>
          </a:xfrm>
          <a:prstGeom prst="rect">
            <a:avLst/>
          </a:prstGeom>
        </p:spPr>
      </p:pic>
      <p:sp>
        <p:nvSpPr>
          <p:cNvPr id="7" name="Text 4"/>
          <p:cNvSpPr/>
          <p:nvPr/>
        </p:nvSpPr>
        <p:spPr>
          <a:xfrm>
            <a:off x="932688" y="2651760"/>
            <a:ext cx="2907792" cy="347472"/>
          </a:xfrm>
          <a:prstGeom prst="rect">
            <a:avLst/>
          </a:prstGeom>
          <a:noFill/>
          <a:ln/>
        </p:spPr>
        <p:txBody>
          <a:bodyPr wrap="square" lIns="0" tIns="0" rIns="0" bIns="0" rtlCol="0" anchor="ctr"/>
          <a:lstStyle/>
          <a:p>
            <a:pPr indent="0" marL="0">
              <a:buNone/>
            </a:pPr>
            <a:r>
              <a:rPr lang="en-US" sz="1450" b="1" dirty="0">
                <a:solidFill>
                  <a:srgbClr val="1A2238"/>
                </a:solidFill>
                <a:latin typeface="Cambria" pitchFamily="34" charset="0"/>
                <a:ea typeface="Cambria" pitchFamily="34" charset="-122"/>
                <a:cs typeface="Cambria" pitchFamily="34" charset="-120"/>
              </a:rPr>
              <a:t>Filter bubbles</a:t>
            </a:r>
            <a:endParaRPr lang="en-US" sz="1450" dirty="0"/>
          </a:p>
        </p:txBody>
      </p:sp>
      <p:sp>
        <p:nvSpPr>
          <p:cNvPr id="8" name="Text 5"/>
          <p:cNvSpPr/>
          <p:nvPr/>
        </p:nvSpPr>
        <p:spPr>
          <a:xfrm>
            <a:off x="932688" y="2999232"/>
            <a:ext cx="2907792" cy="41148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Showing only the familiar can narrow what customers discover.</a:t>
            </a:r>
            <a:endParaRPr lang="en-US" sz="1150" dirty="0"/>
          </a:p>
        </p:txBody>
      </p:sp>
      <p:sp>
        <p:nvSpPr>
          <p:cNvPr id="9" name="Shape 6"/>
          <p:cNvSpPr/>
          <p:nvPr/>
        </p:nvSpPr>
        <p:spPr>
          <a:xfrm>
            <a:off x="4379976" y="1627632"/>
            <a:ext cx="3456432" cy="1828800"/>
          </a:xfrm>
          <a:prstGeom prst="roundRect">
            <a:avLst>
              <a:gd name="adj" fmla="val 6000"/>
            </a:avLst>
          </a:prstGeom>
          <a:solidFill>
            <a:srgbClr val="F3F6FC"/>
          </a:solidFill>
          <a:ln/>
          <a:effectLst>
            <a:outerShdw sx="100000" sy="100000" kx="0" ky="0" algn="bl" rotWithShape="0" blurRad="127000" dist="50800" dir="5400000">
              <a:srgbClr val="8A93A6">
                <a:alpha val="13000"/>
              </a:srgbClr>
            </a:outerShdw>
          </a:effectLst>
        </p:spPr>
      </p:sp>
      <p:sp>
        <p:nvSpPr>
          <p:cNvPr id="10" name="Shape 7"/>
          <p:cNvSpPr/>
          <p:nvPr/>
        </p:nvSpPr>
        <p:spPr>
          <a:xfrm>
            <a:off x="4672584" y="1920240"/>
            <a:ext cx="621792" cy="621792"/>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4840468" y="2088124"/>
            <a:ext cx="286024" cy="286024"/>
          </a:xfrm>
          <a:prstGeom prst="rect">
            <a:avLst/>
          </a:prstGeom>
        </p:spPr>
      </p:pic>
      <p:sp>
        <p:nvSpPr>
          <p:cNvPr id="12" name="Text 8"/>
          <p:cNvSpPr/>
          <p:nvPr/>
        </p:nvSpPr>
        <p:spPr>
          <a:xfrm>
            <a:off x="4672584" y="2651760"/>
            <a:ext cx="2907792" cy="347472"/>
          </a:xfrm>
          <a:prstGeom prst="rect">
            <a:avLst/>
          </a:prstGeom>
          <a:noFill/>
          <a:ln/>
        </p:spPr>
        <p:txBody>
          <a:bodyPr wrap="square" lIns="0" tIns="0" rIns="0" bIns="0" rtlCol="0" anchor="ctr"/>
          <a:lstStyle/>
          <a:p>
            <a:pPr indent="0" marL="0">
              <a:buNone/>
            </a:pPr>
            <a:r>
              <a:rPr lang="en-US" sz="1450" b="1" dirty="0">
                <a:solidFill>
                  <a:srgbClr val="1A2238"/>
                </a:solidFill>
                <a:latin typeface="Cambria" pitchFamily="34" charset="0"/>
                <a:ea typeface="Cambria" pitchFamily="34" charset="-122"/>
                <a:cs typeface="Cambria" pitchFamily="34" charset="-120"/>
              </a:rPr>
              <a:t>Popularity bias</a:t>
            </a:r>
            <a:endParaRPr lang="en-US" sz="1450" dirty="0"/>
          </a:p>
        </p:txBody>
      </p:sp>
      <p:sp>
        <p:nvSpPr>
          <p:cNvPr id="13" name="Text 9"/>
          <p:cNvSpPr/>
          <p:nvPr/>
        </p:nvSpPr>
        <p:spPr>
          <a:xfrm>
            <a:off x="4672584" y="2999232"/>
            <a:ext cx="2907792" cy="41148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Best-sellers crowd out promising niche products.</a:t>
            </a:r>
            <a:endParaRPr lang="en-US" sz="1150" dirty="0"/>
          </a:p>
        </p:txBody>
      </p:sp>
      <p:sp>
        <p:nvSpPr>
          <p:cNvPr id="14" name="Shape 10"/>
          <p:cNvSpPr/>
          <p:nvPr/>
        </p:nvSpPr>
        <p:spPr>
          <a:xfrm>
            <a:off x="8119872" y="1627632"/>
            <a:ext cx="3456432" cy="1828800"/>
          </a:xfrm>
          <a:prstGeom prst="roundRect">
            <a:avLst>
              <a:gd name="adj" fmla="val 6000"/>
            </a:avLst>
          </a:prstGeom>
          <a:solidFill>
            <a:srgbClr val="F3F6FC"/>
          </a:solidFill>
          <a:ln/>
          <a:effectLst>
            <a:outerShdw sx="100000" sy="100000" kx="0" ky="0" algn="bl" rotWithShape="0" blurRad="127000" dist="50800" dir="5400000">
              <a:srgbClr val="8A93A6">
                <a:alpha val="13000"/>
              </a:srgbClr>
            </a:outerShdw>
          </a:effectLst>
        </p:spPr>
      </p:sp>
      <p:sp>
        <p:nvSpPr>
          <p:cNvPr id="15" name="Shape 11"/>
          <p:cNvSpPr/>
          <p:nvPr/>
        </p:nvSpPr>
        <p:spPr>
          <a:xfrm>
            <a:off x="8412480" y="1920240"/>
            <a:ext cx="621792" cy="62179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16" name="Image 2" descr="preencoded.png">    </p:cNvPr>
          <p:cNvPicPr>
            <a:picLocks noChangeAspect="1"/>
          </p:cNvPicPr>
          <p:nvPr/>
        </p:nvPicPr>
        <p:blipFill>
          <a:blip r:embed="rId3"/>
          <a:stretch>
            <a:fillRect/>
          </a:stretch>
        </p:blipFill>
        <p:spPr>
          <a:xfrm>
            <a:off x="8580364" y="2088124"/>
            <a:ext cx="286024" cy="286024"/>
          </a:xfrm>
          <a:prstGeom prst="rect">
            <a:avLst/>
          </a:prstGeom>
        </p:spPr>
      </p:pic>
      <p:sp>
        <p:nvSpPr>
          <p:cNvPr id="17" name="Text 12"/>
          <p:cNvSpPr/>
          <p:nvPr/>
        </p:nvSpPr>
        <p:spPr>
          <a:xfrm>
            <a:off x="8412480" y="2651760"/>
            <a:ext cx="2907792" cy="347472"/>
          </a:xfrm>
          <a:prstGeom prst="rect">
            <a:avLst/>
          </a:prstGeom>
          <a:noFill/>
          <a:ln/>
        </p:spPr>
        <p:txBody>
          <a:bodyPr wrap="square" lIns="0" tIns="0" rIns="0" bIns="0" rtlCol="0" anchor="ctr"/>
          <a:lstStyle/>
          <a:p>
            <a:pPr indent="0" marL="0">
              <a:buNone/>
            </a:pPr>
            <a:r>
              <a:rPr lang="en-US" sz="1450" b="1" dirty="0">
                <a:solidFill>
                  <a:srgbClr val="1A2238"/>
                </a:solidFill>
                <a:latin typeface="Cambria" pitchFamily="34" charset="0"/>
                <a:ea typeface="Cambria" pitchFamily="34" charset="-122"/>
                <a:cs typeface="Cambria" pitchFamily="34" charset="-120"/>
              </a:rPr>
              <a:t>Diversity vs. relevance</a:t>
            </a:r>
            <a:endParaRPr lang="en-US" sz="1450" dirty="0"/>
          </a:p>
        </p:txBody>
      </p:sp>
      <p:sp>
        <p:nvSpPr>
          <p:cNvPr id="18" name="Text 13"/>
          <p:cNvSpPr/>
          <p:nvPr/>
        </p:nvSpPr>
        <p:spPr>
          <a:xfrm>
            <a:off x="8412480" y="2999232"/>
            <a:ext cx="2907792" cy="41148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Too safe feels repetitive; too varied feels random.</a:t>
            </a:r>
            <a:endParaRPr lang="en-US" sz="1150" dirty="0"/>
          </a:p>
        </p:txBody>
      </p:sp>
      <p:sp>
        <p:nvSpPr>
          <p:cNvPr id="19" name="Shape 14"/>
          <p:cNvSpPr/>
          <p:nvPr/>
        </p:nvSpPr>
        <p:spPr>
          <a:xfrm>
            <a:off x="2510028" y="3730752"/>
            <a:ext cx="3456432" cy="1828800"/>
          </a:xfrm>
          <a:prstGeom prst="roundRect">
            <a:avLst>
              <a:gd name="adj" fmla="val 6000"/>
            </a:avLst>
          </a:prstGeom>
          <a:solidFill>
            <a:srgbClr val="F3F6FC"/>
          </a:solidFill>
          <a:ln/>
          <a:effectLst>
            <a:outerShdw sx="100000" sy="100000" kx="0" ky="0" algn="bl" rotWithShape="0" blurRad="127000" dist="50800" dir="5400000">
              <a:srgbClr val="8A93A6">
                <a:alpha val="13000"/>
              </a:srgbClr>
            </a:outerShdw>
          </a:effectLst>
        </p:spPr>
      </p:sp>
      <p:sp>
        <p:nvSpPr>
          <p:cNvPr id="20" name="Shape 15"/>
          <p:cNvSpPr/>
          <p:nvPr/>
        </p:nvSpPr>
        <p:spPr>
          <a:xfrm>
            <a:off x="2802636" y="4023360"/>
            <a:ext cx="621792" cy="621792"/>
          </a:xfrm>
          <a:prstGeom prst="ellipse">
            <a:avLst/>
          </a:prstGeom>
          <a:solidFill>
            <a:srgbClr val="1E2761"/>
          </a:solidFill>
          <a:ln/>
          <a:effectLst>
            <a:outerShdw sx="100000" sy="100000" kx="0" ky="0" algn="bl" rotWithShape="0" blurRad="127000" dist="50800" dir="5400000">
              <a:srgbClr val="8A93A6">
                <a:alpha val="13000"/>
              </a:srgbClr>
            </a:outerShdw>
          </a:effectLst>
        </p:spPr>
      </p:sp>
      <p:pic>
        <p:nvPicPr>
          <p:cNvPr id="21" name="Image 3" descr="preencoded.png">    </p:cNvPr>
          <p:cNvPicPr>
            <a:picLocks noChangeAspect="1"/>
          </p:cNvPicPr>
          <p:nvPr/>
        </p:nvPicPr>
        <p:blipFill>
          <a:blip r:embed="rId4"/>
          <a:stretch>
            <a:fillRect/>
          </a:stretch>
        </p:blipFill>
        <p:spPr>
          <a:xfrm>
            <a:off x="2970520" y="4191244"/>
            <a:ext cx="286024" cy="286024"/>
          </a:xfrm>
          <a:prstGeom prst="rect">
            <a:avLst/>
          </a:prstGeom>
        </p:spPr>
      </p:pic>
      <p:sp>
        <p:nvSpPr>
          <p:cNvPr id="22" name="Text 16"/>
          <p:cNvSpPr/>
          <p:nvPr/>
        </p:nvSpPr>
        <p:spPr>
          <a:xfrm>
            <a:off x="2802636" y="4754880"/>
            <a:ext cx="2907792" cy="347472"/>
          </a:xfrm>
          <a:prstGeom prst="rect">
            <a:avLst/>
          </a:prstGeom>
          <a:noFill/>
          <a:ln/>
        </p:spPr>
        <p:txBody>
          <a:bodyPr wrap="square" lIns="0" tIns="0" rIns="0" bIns="0" rtlCol="0" anchor="ctr"/>
          <a:lstStyle/>
          <a:p>
            <a:pPr indent="0" marL="0">
              <a:buNone/>
            </a:pPr>
            <a:r>
              <a:rPr lang="en-US" sz="1450" b="1" dirty="0">
                <a:solidFill>
                  <a:srgbClr val="1A2238"/>
                </a:solidFill>
                <a:latin typeface="Cambria" pitchFamily="34" charset="0"/>
                <a:ea typeface="Cambria" pitchFamily="34" charset="-122"/>
                <a:cs typeface="Cambria" pitchFamily="34" charset="-120"/>
              </a:rPr>
              <a:t>Privacy</a:t>
            </a:r>
            <a:endParaRPr lang="en-US" sz="1450" dirty="0"/>
          </a:p>
        </p:txBody>
      </p:sp>
      <p:sp>
        <p:nvSpPr>
          <p:cNvPr id="23" name="Text 17"/>
          <p:cNvSpPr/>
          <p:nvPr/>
        </p:nvSpPr>
        <p:spPr>
          <a:xfrm>
            <a:off x="2802636" y="5102352"/>
            <a:ext cx="2907792" cy="41148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Personalization must respect consent and data limits.</a:t>
            </a:r>
            <a:endParaRPr lang="en-US" sz="1150" dirty="0"/>
          </a:p>
        </p:txBody>
      </p:sp>
      <p:sp>
        <p:nvSpPr>
          <p:cNvPr id="24" name="Shape 18"/>
          <p:cNvSpPr/>
          <p:nvPr/>
        </p:nvSpPr>
        <p:spPr>
          <a:xfrm>
            <a:off x="6249924" y="3730752"/>
            <a:ext cx="3456432" cy="1828800"/>
          </a:xfrm>
          <a:prstGeom prst="roundRect">
            <a:avLst>
              <a:gd name="adj" fmla="val 6000"/>
            </a:avLst>
          </a:prstGeom>
          <a:solidFill>
            <a:srgbClr val="F3F6FC"/>
          </a:solidFill>
          <a:ln/>
          <a:effectLst>
            <a:outerShdw sx="100000" sy="100000" kx="0" ky="0" algn="bl" rotWithShape="0" blurRad="127000" dist="50800" dir="5400000">
              <a:srgbClr val="8A93A6">
                <a:alpha val="13000"/>
              </a:srgbClr>
            </a:outerShdw>
          </a:effectLst>
        </p:spPr>
      </p:sp>
      <p:sp>
        <p:nvSpPr>
          <p:cNvPr id="25" name="Shape 19"/>
          <p:cNvSpPr/>
          <p:nvPr/>
        </p:nvSpPr>
        <p:spPr>
          <a:xfrm>
            <a:off x="6542532" y="4023360"/>
            <a:ext cx="621792" cy="621792"/>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6" name="Image 4" descr="preencoded.png">    </p:cNvPr>
          <p:cNvPicPr>
            <a:picLocks noChangeAspect="1"/>
          </p:cNvPicPr>
          <p:nvPr/>
        </p:nvPicPr>
        <p:blipFill>
          <a:blip r:embed="rId5"/>
          <a:stretch>
            <a:fillRect/>
          </a:stretch>
        </p:blipFill>
        <p:spPr>
          <a:xfrm>
            <a:off x="6710416" y="4191244"/>
            <a:ext cx="286024" cy="286024"/>
          </a:xfrm>
          <a:prstGeom prst="rect">
            <a:avLst/>
          </a:prstGeom>
        </p:spPr>
      </p:pic>
      <p:sp>
        <p:nvSpPr>
          <p:cNvPr id="27" name="Text 20"/>
          <p:cNvSpPr/>
          <p:nvPr/>
        </p:nvSpPr>
        <p:spPr>
          <a:xfrm>
            <a:off x="6542532" y="4754880"/>
            <a:ext cx="2907792" cy="347472"/>
          </a:xfrm>
          <a:prstGeom prst="rect">
            <a:avLst/>
          </a:prstGeom>
          <a:noFill/>
          <a:ln/>
        </p:spPr>
        <p:txBody>
          <a:bodyPr wrap="square" lIns="0" tIns="0" rIns="0" bIns="0" rtlCol="0" anchor="ctr"/>
          <a:lstStyle/>
          <a:p>
            <a:pPr indent="0" marL="0">
              <a:buNone/>
            </a:pPr>
            <a:r>
              <a:rPr lang="en-US" sz="1450" b="1" dirty="0">
                <a:solidFill>
                  <a:srgbClr val="1A2238"/>
                </a:solidFill>
                <a:latin typeface="Cambria" pitchFamily="34" charset="0"/>
                <a:ea typeface="Cambria" pitchFamily="34" charset="-122"/>
                <a:cs typeface="Cambria" pitchFamily="34" charset="-120"/>
              </a:rPr>
              <a:t>Fairness</a:t>
            </a:r>
            <a:endParaRPr lang="en-US" sz="1450" dirty="0"/>
          </a:p>
        </p:txBody>
      </p:sp>
      <p:sp>
        <p:nvSpPr>
          <p:cNvPr id="28" name="Text 21"/>
          <p:cNvSpPr/>
          <p:nvPr/>
        </p:nvSpPr>
        <p:spPr>
          <a:xfrm>
            <a:off x="6542532" y="5102352"/>
            <a:ext cx="2907792" cy="41148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Sellers and customer groups deserve even-handed exposure.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A2238"/>
                </a:solidFill>
                <a:latin typeface="Cambria" pitchFamily="34" charset="0"/>
                <a:ea typeface="Cambria" pitchFamily="34" charset="-122"/>
                <a:cs typeface="Cambria" pitchFamily="34" charset="-120"/>
              </a:rPr>
              <a:t>Amazon — item-to-item recommendations</a:t>
            </a:r>
            <a:endParaRPr lang="en-US" sz="2700" dirty="0"/>
          </a:p>
        </p:txBody>
      </p:sp>
      <p:sp>
        <p:nvSpPr>
          <p:cNvPr id="4" name="Shape 2"/>
          <p:cNvSpPr/>
          <p:nvPr/>
        </p:nvSpPr>
        <p:spPr>
          <a:xfrm>
            <a:off x="640080" y="1691640"/>
            <a:ext cx="5669280" cy="3200400"/>
          </a:xfrm>
          <a:prstGeom prst="roundRect">
            <a:avLst>
              <a:gd name="adj" fmla="val 3429"/>
            </a:avLst>
          </a:prstGeom>
          <a:solidFill>
            <a:srgbClr val="F3F6FC"/>
          </a:solidFill>
          <a:ln/>
          <a:effectLst>
            <a:outerShdw sx="100000" sy="100000" kx="0" ky="0" algn="bl" rotWithShape="0" blurRad="127000" dist="50800" dir="5400000">
              <a:srgbClr val="8A93A6">
                <a:alpha val="13000"/>
              </a:srgbClr>
            </a:outerShdw>
          </a:effectLst>
        </p:spPr>
      </p:sp>
      <p:sp>
        <p:nvSpPr>
          <p:cNvPr id="5" name="Text 3"/>
          <p:cNvSpPr/>
          <p:nvPr/>
        </p:nvSpPr>
        <p:spPr>
          <a:xfrm>
            <a:off x="914400" y="1947672"/>
            <a:ext cx="5120640" cy="365760"/>
          </a:xfrm>
          <a:prstGeom prst="rect">
            <a:avLst/>
          </a:prstGeom>
          <a:noFill/>
          <a:ln/>
        </p:spPr>
        <p:txBody>
          <a:bodyPr wrap="square" lIns="0" tIns="0" rIns="0" bIns="0" rtlCol="0" anchor="ctr"/>
          <a:lstStyle/>
          <a:p>
            <a:pPr indent="0" marL="0">
              <a:buNone/>
            </a:pPr>
            <a:r>
              <a:rPr lang="en-US" sz="1600" b="1" dirty="0">
                <a:solidFill>
                  <a:srgbClr val="1A2238"/>
                </a:solidFill>
                <a:latin typeface="Cambria" pitchFamily="34" charset="0"/>
                <a:ea typeface="Cambria" pitchFamily="34" charset="-122"/>
                <a:cs typeface="Cambria" pitchFamily="34" charset="-120"/>
              </a:rPr>
              <a:t>The approach</a:t>
            </a:r>
            <a:endParaRPr lang="en-US" sz="1600" dirty="0"/>
          </a:p>
        </p:txBody>
      </p:sp>
      <p:sp>
        <p:nvSpPr>
          <p:cNvPr id="6" name="Shape 4"/>
          <p:cNvSpPr/>
          <p:nvPr/>
        </p:nvSpPr>
        <p:spPr>
          <a:xfrm>
            <a:off x="914400" y="2532888"/>
            <a:ext cx="365760" cy="365760"/>
          </a:xfrm>
          <a:prstGeom prst="ellipse">
            <a:avLst/>
          </a:prstGeom>
          <a:solidFill>
            <a:srgbClr val="1E2761"/>
          </a:solidFill>
          <a:ln/>
        </p:spPr>
      </p:sp>
      <p:sp>
        <p:nvSpPr>
          <p:cNvPr id="7" name="Text 5"/>
          <p:cNvSpPr/>
          <p:nvPr/>
        </p:nvSpPr>
        <p:spPr>
          <a:xfrm>
            <a:off x="914400" y="25328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417320" y="2487168"/>
            <a:ext cx="4709160" cy="640080"/>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Pre-compute which products are bought or viewed together</a:t>
            </a:r>
            <a:endParaRPr lang="en-US" sz="1300" dirty="0"/>
          </a:p>
        </p:txBody>
      </p:sp>
      <p:sp>
        <p:nvSpPr>
          <p:cNvPr id="9" name="Shape 7"/>
          <p:cNvSpPr/>
          <p:nvPr/>
        </p:nvSpPr>
        <p:spPr>
          <a:xfrm>
            <a:off x="914400" y="3310128"/>
            <a:ext cx="365760" cy="365760"/>
          </a:xfrm>
          <a:prstGeom prst="ellipse">
            <a:avLst/>
          </a:prstGeom>
          <a:solidFill>
            <a:srgbClr val="1E2761"/>
          </a:solidFill>
          <a:ln/>
        </p:spPr>
      </p:sp>
      <p:sp>
        <p:nvSpPr>
          <p:cNvPr id="10" name="Text 8"/>
          <p:cNvSpPr/>
          <p:nvPr/>
        </p:nvSpPr>
        <p:spPr>
          <a:xfrm>
            <a:off x="914400" y="33101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417320" y="3264408"/>
            <a:ext cx="4709160" cy="640080"/>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At page load, instantly surface items similar to what you're seeing</a:t>
            </a:r>
            <a:endParaRPr lang="en-US" sz="1300" dirty="0"/>
          </a:p>
        </p:txBody>
      </p:sp>
      <p:sp>
        <p:nvSpPr>
          <p:cNvPr id="12" name="Shape 10"/>
          <p:cNvSpPr/>
          <p:nvPr/>
        </p:nvSpPr>
        <p:spPr>
          <a:xfrm>
            <a:off x="914400" y="4087368"/>
            <a:ext cx="365760" cy="365760"/>
          </a:xfrm>
          <a:prstGeom prst="ellipse">
            <a:avLst/>
          </a:prstGeom>
          <a:solidFill>
            <a:srgbClr val="1E2761"/>
          </a:solidFill>
          <a:ln/>
        </p:spPr>
      </p:sp>
      <p:sp>
        <p:nvSpPr>
          <p:cNvPr id="13" name="Text 11"/>
          <p:cNvSpPr/>
          <p:nvPr/>
        </p:nvSpPr>
        <p:spPr>
          <a:xfrm>
            <a:off x="914400" y="4087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417320" y="4041648"/>
            <a:ext cx="4709160" cy="640080"/>
          </a:xfrm>
          <a:prstGeom prst="rect">
            <a:avLst/>
          </a:prstGeom>
          <a:noFill/>
          <a:ln/>
        </p:spPr>
        <p:txBody>
          <a:bodyPr wrap="square" lIns="0" tIns="0" rIns="0" bIns="0" rtlCol="0" anchor="ctr"/>
          <a:lstStyle/>
          <a:p>
            <a:pPr indent="0" marL="0">
              <a:buNone/>
            </a:pPr>
            <a:r>
              <a:rPr lang="en-US" sz="1300" dirty="0">
                <a:solidFill>
                  <a:srgbClr val="1A2238"/>
                </a:solidFill>
                <a:latin typeface="Calibri" pitchFamily="34" charset="0"/>
                <a:ea typeface="Calibri" pitchFamily="34" charset="-122"/>
                <a:cs typeface="Calibri" pitchFamily="34" charset="-120"/>
              </a:rPr>
              <a:t>Scales to enormous catalogs and powers “bought this also bought”</a:t>
            </a:r>
            <a:endParaRPr lang="en-US" sz="1300" dirty="0"/>
          </a:p>
        </p:txBody>
      </p:sp>
      <p:sp>
        <p:nvSpPr>
          <p:cNvPr id="15" name="Shape 13"/>
          <p:cNvSpPr/>
          <p:nvPr/>
        </p:nvSpPr>
        <p:spPr>
          <a:xfrm>
            <a:off x="6492240" y="1691640"/>
            <a:ext cx="5074920" cy="3200400"/>
          </a:xfrm>
          <a:prstGeom prst="roundRect">
            <a:avLst>
              <a:gd name="adj" fmla="val 3429"/>
            </a:avLst>
          </a:prstGeom>
          <a:solidFill>
            <a:srgbClr val="FFFFFF"/>
          </a:solidFill>
          <a:ln/>
          <a:effectLst>
            <a:outerShdw sx="100000" sy="100000" kx="0" ky="0" algn="bl" rotWithShape="0" blurRad="127000" dist="50800" dir="5400000">
              <a:srgbClr val="8A93A6">
                <a:alpha val="13000"/>
              </a:srgbClr>
            </a:outerShdw>
          </a:effectLst>
        </p:spPr>
      </p:sp>
      <p:sp>
        <p:nvSpPr>
          <p:cNvPr id="16" name="Shape 14"/>
          <p:cNvSpPr/>
          <p:nvPr/>
        </p:nvSpPr>
        <p:spPr>
          <a:xfrm>
            <a:off x="6492240" y="1691640"/>
            <a:ext cx="5074920" cy="3200400"/>
          </a:xfrm>
          <a:prstGeom prst="roundRect">
            <a:avLst>
              <a:gd name="adj" fmla="val 3429"/>
            </a:avLst>
          </a:prstGeom>
          <a:solidFill>
            <a:srgbClr val="FFFFFF">
              <a:alpha val="0"/>
            </a:srgbClr>
          </a:solidFill>
          <a:ln w="12700">
            <a:solidFill>
              <a:srgbClr val="DCE3F0"/>
            </a:solidFill>
            <a:prstDash val="solid"/>
          </a:ln>
        </p:spPr>
      </p:sp>
      <p:sp>
        <p:nvSpPr>
          <p:cNvPr id="17" name="Text 15"/>
          <p:cNvSpPr/>
          <p:nvPr/>
        </p:nvSpPr>
        <p:spPr>
          <a:xfrm>
            <a:off x="6812280" y="1920240"/>
            <a:ext cx="4434840" cy="320040"/>
          </a:xfrm>
          <a:prstGeom prst="rect">
            <a:avLst/>
          </a:prstGeom>
          <a:noFill/>
          <a:ln/>
        </p:spPr>
        <p:txBody>
          <a:bodyPr wrap="square" lIns="0" tIns="0" rIns="0" bIns="0" rtlCol="0" anchor="ctr"/>
          <a:lstStyle/>
          <a:p>
            <a:pPr indent="0" marL="0">
              <a:buNone/>
            </a:pPr>
            <a:r>
              <a:rPr lang="en-US" sz="1300" b="1" dirty="0">
                <a:solidFill>
                  <a:srgbClr val="1A2238"/>
                </a:solidFill>
                <a:latin typeface="Calibri" pitchFamily="34" charset="0"/>
                <a:ea typeface="Calibri" pitchFamily="34" charset="-122"/>
                <a:cs typeface="Calibri" pitchFamily="34" charset="-120"/>
              </a:rPr>
              <a:t>Illustrative strength profile</a:t>
            </a:r>
            <a:endParaRPr lang="en-US" sz="1300" dirty="0"/>
          </a:p>
        </p:txBody>
      </p:sp>
      <p:graphicFrame>
        <p:nvGraphicFramePr>
          <p:cNvPr id="18" name="Chart 0" descr=""/>
          <p:cNvGraphicFramePr/>
          <p:nvPr/>
        </p:nvGraphicFramePr>
        <p:xfrm>
          <a:off x="6675120" y="2313432"/>
          <a:ext cx="4709160" cy="242316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640080" y="5001768"/>
            <a:ext cx="10927080" cy="713232"/>
          </a:xfrm>
          <a:prstGeom prst="roundRect">
            <a:avLst>
              <a:gd name="adj" fmla="val 15385"/>
            </a:avLst>
          </a:prstGeom>
          <a:solidFill>
            <a:srgbClr val="1E2761"/>
          </a:solidFill>
          <a:ln/>
          <a:effectLst>
            <a:outerShdw sx="100000" sy="100000" kx="0" ky="0" algn="bl" rotWithShape="0" blurRad="127000" dist="50800" dir="5400000">
              <a:srgbClr val="8A93A6">
                <a:alpha val="13000"/>
              </a:srgbClr>
            </a:outerShdw>
          </a:effectLst>
        </p:spPr>
      </p:sp>
      <p:sp>
        <p:nvSpPr>
          <p:cNvPr id="20" name="Shape 17"/>
          <p:cNvSpPr/>
          <p:nvPr/>
        </p:nvSpPr>
        <p:spPr>
          <a:xfrm>
            <a:off x="868680" y="5111496"/>
            <a:ext cx="493776" cy="493776"/>
          </a:xfrm>
          <a:prstGeom prst="ellipse">
            <a:avLst/>
          </a:prstGeom>
          <a:solidFill>
            <a:srgbClr val="C9A227"/>
          </a:solidFill>
          <a:ln/>
          <a:effectLst>
            <a:outerShdw sx="100000" sy="100000" kx="0" ky="0" algn="bl" rotWithShape="0" blurRad="127000" dist="50800" dir="5400000">
              <a:srgbClr val="8A93A6">
                <a:alpha val="13000"/>
              </a:srgbClr>
            </a:outerShdw>
          </a:effectLst>
        </p:spPr>
      </p:sp>
      <p:pic>
        <p:nvPicPr>
          <p:cNvPr id="21" name="Image 0" descr="preencoded.png">    </p:cNvPr>
          <p:cNvPicPr>
            <a:picLocks noChangeAspect="1"/>
          </p:cNvPicPr>
          <p:nvPr/>
        </p:nvPicPr>
        <p:blipFill>
          <a:blip r:embed="rId2"/>
          <a:stretch>
            <a:fillRect/>
          </a:stretch>
        </p:blipFill>
        <p:spPr>
          <a:xfrm>
            <a:off x="1002000" y="5244816"/>
            <a:ext cx="227137" cy="227137"/>
          </a:xfrm>
          <a:prstGeom prst="rect">
            <a:avLst/>
          </a:prstGeom>
        </p:spPr>
      </p:pic>
      <p:sp>
        <p:nvSpPr>
          <p:cNvPr id="22" name="Text 18"/>
          <p:cNvSpPr/>
          <p:nvPr/>
        </p:nvSpPr>
        <p:spPr>
          <a:xfrm>
            <a:off x="1554480" y="5001768"/>
            <a:ext cx="9875520" cy="713232"/>
          </a:xfrm>
          <a:prstGeom prst="rect">
            <a:avLst/>
          </a:prstGeom>
          <a:noFill/>
          <a:ln/>
        </p:spPr>
        <p:txBody>
          <a:bodyPr wrap="square" lIns="0" tIns="0" rIns="0" bIns="0" rtlCol="0" anchor="ctr"/>
          <a:lstStyle/>
          <a:p>
            <a:pPr indent="0" marL="0">
              <a:buNone/>
            </a:pPr>
            <a:r>
              <a:rPr lang="en-US" sz="1300" i="1" dirty="0">
                <a:solidFill>
                  <a:srgbClr val="EAF0FB"/>
                </a:solidFill>
                <a:latin typeface="Calibri" pitchFamily="34" charset="0"/>
                <a:ea typeface="Calibri" pitchFamily="34" charset="-122"/>
                <a:cs typeface="Calibri" pitchFamily="34" charset="-120"/>
              </a:rPr>
              <a:t>A simple, scalable idea that became a benchmark for retail recommendations worldwide.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03A"/>
        </a:solidFill>
      </p:bgPr>
    </p:bg>
    <p:spTree>
      <p:nvGrpSpPr>
        <p:cNvPr id="1" name=""/>
        <p:cNvGrpSpPr/>
        <p:nvPr/>
      </p:nvGrpSpPr>
      <p:grpSpPr>
        <a:xfrm>
          <a:off x="0" y="0"/>
          <a:ext cx="0" cy="0"/>
          <a:chOff x="0" y="0"/>
          <a:chExt cx="0" cy="0"/>
        </a:xfrm>
      </p:grpSpPr>
      <p:sp>
        <p:nvSpPr>
          <p:cNvPr id="2" name="Text 0"/>
          <p:cNvSpPr/>
          <p:nvPr/>
        </p:nvSpPr>
        <p:spPr>
          <a:xfrm>
            <a:off x="777240" y="640080"/>
            <a:ext cx="10607040" cy="365760"/>
          </a:xfrm>
          <a:prstGeom prst="rect">
            <a:avLst/>
          </a:prstGeom>
          <a:noFill/>
          <a:ln/>
        </p:spPr>
        <p:txBody>
          <a:bodyPr wrap="square" lIns="0" tIns="0" rIns="0" bIns="0" rtlCol="0" anchor="ctr"/>
          <a:lstStyle/>
          <a:p>
            <a:pPr indent="0" marL="0">
              <a:buNone/>
            </a:pPr>
            <a:r>
              <a:rPr lang="en-US" sz="1400" b="1" spc="300" kern="0" dirty="0">
                <a:solidFill>
                  <a:srgbClr val="C9A227"/>
                </a:solidFill>
                <a:latin typeface="Calibri" pitchFamily="34" charset="0"/>
                <a:ea typeface="Calibri" pitchFamily="34" charset="-122"/>
                <a:cs typeface="Calibri" pitchFamily="34" charset="-120"/>
              </a:rPr>
              <a:t>KEY TAKEAWAYS</a:t>
            </a:r>
            <a:endParaRPr lang="en-US" sz="1400" dirty="0"/>
          </a:p>
        </p:txBody>
      </p:sp>
      <p:sp>
        <p:nvSpPr>
          <p:cNvPr id="3" name="Text 1"/>
          <p:cNvSpPr/>
          <p:nvPr/>
        </p:nvSpPr>
        <p:spPr>
          <a:xfrm>
            <a:off x="749808" y="960120"/>
            <a:ext cx="10607040" cy="594360"/>
          </a:xfrm>
          <a:prstGeom prst="rect">
            <a:avLst/>
          </a:prstGeom>
          <a:noFill/>
          <a:ln/>
        </p:spPr>
        <p:txBody>
          <a:bodyPr wrap="square" lIns="0" tIns="0" rIns="0" bIns="0" rtlCol="0" anchor="ctr"/>
          <a:lstStyle/>
          <a:p>
            <a:pPr indent="0" marL="0">
              <a:buNone/>
            </a:pPr>
            <a:r>
              <a:rPr lang="en-US" sz="2700" b="1" dirty="0">
                <a:solidFill>
                  <a:srgbClr val="EAF0FB"/>
                </a:solidFill>
                <a:latin typeface="Cambria" pitchFamily="34" charset="0"/>
                <a:ea typeface="Cambria" pitchFamily="34" charset="-122"/>
                <a:cs typeface="Cambria" pitchFamily="34" charset="-120"/>
              </a:rPr>
              <a:t>What to carry out of this session</a:t>
            </a:r>
            <a:endParaRPr lang="en-US" sz="2700" dirty="0"/>
          </a:p>
        </p:txBody>
      </p:sp>
      <p:sp>
        <p:nvSpPr>
          <p:cNvPr id="4" name="Shape 2"/>
          <p:cNvSpPr/>
          <p:nvPr/>
        </p:nvSpPr>
        <p:spPr>
          <a:xfrm>
            <a:off x="777240" y="1920240"/>
            <a:ext cx="457200" cy="457200"/>
          </a:xfrm>
          <a:prstGeom prst="ellipse">
            <a:avLst/>
          </a:prstGeom>
          <a:solidFill>
            <a:srgbClr val="C9A227"/>
          </a:solidFill>
          <a:ln/>
        </p:spPr>
      </p:sp>
      <p:sp>
        <p:nvSpPr>
          <p:cNvPr id="5" name="Text 3"/>
          <p:cNvSpPr/>
          <p:nvPr/>
        </p:nvSpPr>
        <p:spPr>
          <a:xfrm>
            <a:off x="777240" y="1920240"/>
            <a:ext cx="457200" cy="457200"/>
          </a:xfrm>
          <a:prstGeom prst="rect">
            <a:avLst/>
          </a:prstGeom>
          <a:noFill/>
          <a:ln/>
        </p:spPr>
        <p:txBody>
          <a:bodyPr wrap="square" lIns="0" tIns="0" rIns="0" bIns="0" rtlCol="0" anchor="ctr"/>
          <a:lstStyle/>
          <a:p>
            <a:pPr algn="ctr" indent="0" marL="0">
              <a:buNone/>
            </a:pPr>
            <a:r>
              <a:rPr lang="en-US" sz="1600" b="1" dirty="0">
                <a:solidFill>
                  <a:srgbClr val="16203A"/>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463040" y="1865376"/>
            <a:ext cx="10058400" cy="566928"/>
          </a:xfrm>
          <a:prstGeom prst="rect">
            <a:avLst/>
          </a:prstGeom>
          <a:noFill/>
          <a:ln/>
        </p:spPr>
        <p:txBody>
          <a:bodyPr wrap="square" lIns="0" tIns="0" rIns="0" bIns="0" rtlCol="0" anchor="ctr"/>
          <a:lstStyle/>
          <a:p>
            <a:pPr indent="0" marL="0">
              <a:buNone/>
            </a:pPr>
            <a:r>
              <a:rPr lang="en-US" sz="1600" dirty="0">
                <a:solidFill>
                  <a:srgbClr val="EAF0FB"/>
                </a:solidFill>
                <a:latin typeface="Calibri" pitchFamily="34" charset="0"/>
                <a:ea typeface="Calibri" pitchFamily="34" charset="-122"/>
                <a:cs typeface="Calibri" pitchFamily="34" charset="-120"/>
              </a:rPr>
              <a:t>Recommendations turn a vast catalog into a personal storefront</a:t>
            </a:r>
            <a:endParaRPr lang="en-US" sz="1600" dirty="0"/>
          </a:p>
        </p:txBody>
      </p:sp>
      <p:sp>
        <p:nvSpPr>
          <p:cNvPr id="7" name="Shape 5"/>
          <p:cNvSpPr/>
          <p:nvPr/>
        </p:nvSpPr>
        <p:spPr>
          <a:xfrm>
            <a:off x="777240" y="2578608"/>
            <a:ext cx="457200" cy="457200"/>
          </a:xfrm>
          <a:prstGeom prst="ellipse">
            <a:avLst/>
          </a:prstGeom>
          <a:solidFill>
            <a:srgbClr val="C9A227"/>
          </a:solidFill>
          <a:ln/>
        </p:spPr>
      </p:sp>
      <p:sp>
        <p:nvSpPr>
          <p:cNvPr id="8" name="Text 6"/>
          <p:cNvSpPr/>
          <p:nvPr/>
        </p:nvSpPr>
        <p:spPr>
          <a:xfrm>
            <a:off x="777240" y="2578608"/>
            <a:ext cx="457200" cy="457200"/>
          </a:xfrm>
          <a:prstGeom prst="rect">
            <a:avLst/>
          </a:prstGeom>
          <a:noFill/>
          <a:ln/>
        </p:spPr>
        <p:txBody>
          <a:bodyPr wrap="square" lIns="0" tIns="0" rIns="0" bIns="0" rtlCol="0" anchor="ctr"/>
          <a:lstStyle/>
          <a:p>
            <a:pPr algn="ctr" indent="0" marL="0">
              <a:buNone/>
            </a:pPr>
            <a:r>
              <a:rPr lang="en-US" sz="1600" b="1" dirty="0">
                <a:solidFill>
                  <a:srgbClr val="16203A"/>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463040" y="2523744"/>
            <a:ext cx="10058400" cy="566928"/>
          </a:xfrm>
          <a:prstGeom prst="rect">
            <a:avLst/>
          </a:prstGeom>
          <a:noFill/>
          <a:ln/>
        </p:spPr>
        <p:txBody>
          <a:bodyPr wrap="square" lIns="0" tIns="0" rIns="0" bIns="0" rtlCol="0" anchor="ctr"/>
          <a:lstStyle/>
          <a:p>
            <a:pPr indent="0" marL="0">
              <a:buNone/>
            </a:pPr>
            <a:r>
              <a:rPr lang="en-US" sz="1600" dirty="0">
                <a:solidFill>
                  <a:srgbClr val="EAF0FB"/>
                </a:solidFill>
                <a:latin typeface="Calibri" pitchFamily="34" charset="0"/>
                <a:ea typeface="Calibri" pitchFamily="34" charset="-122"/>
                <a:cs typeface="Calibri" pitchFamily="34" charset="-120"/>
              </a:rPr>
              <a:t>They move the metrics leaders care about: conversion, AOV, retention</a:t>
            </a:r>
            <a:endParaRPr lang="en-US" sz="1600" dirty="0"/>
          </a:p>
        </p:txBody>
      </p:sp>
      <p:sp>
        <p:nvSpPr>
          <p:cNvPr id="10" name="Shape 8"/>
          <p:cNvSpPr/>
          <p:nvPr/>
        </p:nvSpPr>
        <p:spPr>
          <a:xfrm>
            <a:off x="777240" y="3236976"/>
            <a:ext cx="457200" cy="457200"/>
          </a:xfrm>
          <a:prstGeom prst="ellipse">
            <a:avLst/>
          </a:prstGeom>
          <a:solidFill>
            <a:srgbClr val="C9A227"/>
          </a:solidFill>
          <a:ln/>
        </p:spPr>
      </p:sp>
      <p:sp>
        <p:nvSpPr>
          <p:cNvPr id="11" name="Text 9"/>
          <p:cNvSpPr/>
          <p:nvPr/>
        </p:nvSpPr>
        <p:spPr>
          <a:xfrm>
            <a:off x="777240" y="3236976"/>
            <a:ext cx="457200" cy="457200"/>
          </a:xfrm>
          <a:prstGeom prst="rect">
            <a:avLst/>
          </a:prstGeom>
          <a:noFill/>
          <a:ln/>
        </p:spPr>
        <p:txBody>
          <a:bodyPr wrap="square" lIns="0" tIns="0" rIns="0" bIns="0" rtlCol="0" anchor="ctr"/>
          <a:lstStyle/>
          <a:p>
            <a:pPr algn="ctr" indent="0" marL="0">
              <a:buNone/>
            </a:pPr>
            <a:r>
              <a:rPr lang="en-US" sz="1600" b="1" dirty="0">
                <a:solidFill>
                  <a:srgbClr val="16203A"/>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463040" y="3182112"/>
            <a:ext cx="10058400" cy="566928"/>
          </a:xfrm>
          <a:prstGeom prst="rect">
            <a:avLst/>
          </a:prstGeom>
          <a:noFill/>
          <a:ln/>
        </p:spPr>
        <p:txBody>
          <a:bodyPr wrap="square" lIns="0" tIns="0" rIns="0" bIns="0" rtlCol="0" anchor="ctr"/>
          <a:lstStyle/>
          <a:p>
            <a:pPr indent="0" marL="0">
              <a:buNone/>
            </a:pPr>
            <a:r>
              <a:rPr lang="en-US" sz="1600" dirty="0">
                <a:solidFill>
                  <a:srgbClr val="EAF0FB"/>
                </a:solidFill>
                <a:latin typeface="Calibri" pitchFamily="34" charset="0"/>
                <a:ea typeface="Calibri" pitchFamily="34" charset="-122"/>
                <a:cs typeface="Calibri" pitchFamily="34" charset="-120"/>
              </a:rPr>
              <a:t>Start simple; sophistication should follow proven value</a:t>
            </a:r>
            <a:endParaRPr lang="en-US" sz="1600" dirty="0"/>
          </a:p>
        </p:txBody>
      </p:sp>
      <p:sp>
        <p:nvSpPr>
          <p:cNvPr id="13" name="Shape 11"/>
          <p:cNvSpPr/>
          <p:nvPr/>
        </p:nvSpPr>
        <p:spPr>
          <a:xfrm>
            <a:off x="777240" y="3895344"/>
            <a:ext cx="457200" cy="457200"/>
          </a:xfrm>
          <a:prstGeom prst="ellipse">
            <a:avLst/>
          </a:prstGeom>
          <a:solidFill>
            <a:srgbClr val="C9A227"/>
          </a:solidFill>
          <a:ln/>
        </p:spPr>
      </p:sp>
      <p:sp>
        <p:nvSpPr>
          <p:cNvPr id="14" name="Text 12"/>
          <p:cNvSpPr/>
          <p:nvPr/>
        </p:nvSpPr>
        <p:spPr>
          <a:xfrm>
            <a:off x="777240" y="3895344"/>
            <a:ext cx="457200" cy="457200"/>
          </a:xfrm>
          <a:prstGeom prst="rect">
            <a:avLst/>
          </a:prstGeom>
          <a:noFill/>
          <a:ln/>
        </p:spPr>
        <p:txBody>
          <a:bodyPr wrap="square" lIns="0" tIns="0" rIns="0" bIns="0" rtlCol="0" anchor="ctr"/>
          <a:lstStyle/>
          <a:p>
            <a:pPr algn="ctr" indent="0" marL="0">
              <a:buNone/>
            </a:pPr>
            <a:r>
              <a:rPr lang="en-US" sz="1600" b="1" dirty="0">
                <a:solidFill>
                  <a:srgbClr val="16203A"/>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463040" y="3840480"/>
            <a:ext cx="10058400" cy="566928"/>
          </a:xfrm>
          <a:prstGeom prst="rect">
            <a:avLst/>
          </a:prstGeom>
          <a:noFill/>
          <a:ln/>
        </p:spPr>
        <p:txBody>
          <a:bodyPr wrap="square" lIns="0" tIns="0" rIns="0" bIns="0" rtlCol="0" anchor="ctr"/>
          <a:lstStyle/>
          <a:p>
            <a:pPr indent="0" marL="0">
              <a:buNone/>
            </a:pPr>
            <a:r>
              <a:rPr lang="en-US" sz="1600" dirty="0">
                <a:solidFill>
                  <a:srgbClr val="EAF0FB"/>
                </a:solidFill>
                <a:latin typeface="Calibri" pitchFamily="34" charset="0"/>
                <a:ea typeface="Calibri" pitchFamily="34" charset="-122"/>
                <a:cs typeface="Calibri" pitchFamily="34" charset="-120"/>
              </a:rPr>
              <a:t>Always validate with live A/B tests before scaling</a:t>
            </a:r>
            <a:endParaRPr lang="en-US" sz="1600" dirty="0"/>
          </a:p>
        </p:txBody>
      </p:sp>
      <p:sp>
        <p:nvSpPr>
          <p:cNvPr id="16" name="Shape 14"/>
          <p:cNvSpPr/>
          <p:nvPr/>
        </p:nvSpPr>
        <p:spPr>
          <a:xfrm>
            <a:off x="777240" y="4553712"/>
            <a:ext cx="457200" cy="457200"/>
          </a:xfrm>
          <a:prstGeom prst="ellipse">
            <a:avLst/>
          </a:prstGeom>
          <a:solidFill>
            <a:srgbClr val="C9A227"/>
          </a:solidFill>
          <a:ln/>
        </p:spPr>
      </p:sp>
      <p:sp>
        <p:nvSpPr>
          <p:cNvPr id="17" name="Text 15"/>
          <p:cNvSpPr/>
          <p:nvPr/>
        </p:nvSpPr>
        <p:spPr>
          <a:xfrm>
            <a:off x="777240" y="4553712"/>
            <a:ext cx="457200" cy="457200"/>
          </a:xfrm>
          <a:prstGeom prst="rect">
            <a:avLst/>
          </a:prstGeom>
          <a:noFill/>
          <a:ln/>
        </p:spPr>
        <p:txBody>
          <a:bodyPr wrap="square" lIns="0" tIns="0" rIns="0" bIns="0" rtlCol="0" anchor="ctr"/>
          <a:lstStyle/>
          <a:p>
            <a:pPr algn="ctr" indent="0" marL="0">
              <a:buNone/>
            </a:pPr>
            <a:r>
              <a:rPr lang="en-US" sz="1600" b="1" dirty="0">
                <a:solidFill>
                  <a:srgbClr val="16203A"/>
                </a:solidFill>
                <a:latin typeface="Calibri" pitchFamily="34" charset="0"/>
                <a:ea typeface="Calibri" pitchFamily="34" charset="-122"/>
                <a:cs typeface="Calibri" pitchFamily="34" charset="-120"/>
              </a:rPr>
              <a:t>5</a:t>
            </a:r>
            <a:endParaRPr lang="en-US" sz="1600" dirty="0"/>
          </a:p>
        </p:txBody>
      </p:sp>
      <p:sp>
        <p:nvSpPr>
          <p:cNvPr id="18" name="Text 16"/>
          <p:cNvSpPr/>
          <p:nvPr/>
        </p:nvSpPr>
        <p:spPr>
          <a:xfrm>
            <a:off x="1463040" y="4498848"/>
            <a:ext cx="10058400" cy="566928"/>
          </a:xfrm>
          <a:prstGeom prst="rect">
            <a:avLst/>
          </a:prstGeom>
          <a:noFill/>
          <a:ln/>
        </p:spPr>
        <p:txBody>
          <a:bodyPr wrap="square" lIns="0" tIns="0" rIns="0" bIns="0" rtlCol="0" anchor="ctr"/>
          <a:lstStyle/>
          <a:p>
            <a:pPr indent="0" marL="0">
              <a:buNone/>
            </a:pPr>
            <a:r>
              <a:rPr lang="en-US" sz="1600" dirty="0">
                <a:solidFill>
                  <a:srgbClr val="EAF0FB"/>
                </a:solidFill>
                <a:latin typeface="Calibri" pitchFamily="34" charset="0"/>
                <a:ea typeface="Calibri" pitchFamily="34" charset="-122"/>
                <a:cs typeface="Calibri" pitchFamily="34" charset="-120"/>
              </a:rPr>
              <a:t>Balance relevance with trust: diversity, privacy, fairness</a:t>
            </a:r>
            <a:endParaRPr lang="en-US" sz="1600" dirty="0"/>
          </a:p>
        </p:txBody>
      </p:sp>
      <p:sp>
        <p:nvSpPr>
          <p:cNvPr id="19" name="Shape 17"/>
          <p:cNvSpPr/>
          <p:nvPr/>
        </p:nvSpPr>
        <p:spPr>
          <a:xfrm>
            <a:off x="795528" y="5321808"/>
            <a:ext cx="3657600" cy="0"/>
          </a:xfrm>
          <a:prstGeom prst="line">
            <a:avLst/>
          </a:prstGeom>
          <a:noFill/>
          <a:ln w="9525">
            <a:solidFill>
              <a:srgbClr val="EAF0FB">
                <a:alpha val="45000"/>
              </a:srgbClr>
            </a:solidFill>
            <a:prstDash val="solid"/>
          </a:ln>
        </p:spPr>
      </p:sp>
      <p:sp>
        <p:nvSpPr>
          <p:cNvPr id="20" name="Text 18"/>
          <p:cNvSpPr/>
          <p:nvPr/>
        </p:nvSpPr>
        <p:spPr>
          <a:xfrm>
            <a:off x="749808" y="5468112"/>
            <a:ext cx="10607040" cy="548640"/>
          </a:xfrm>
          <a:prstGeom prst="rect">
            <a:avLst/>
          </a:prstGeom>
          <a:noFill/>
          <a:ln/>
        </p:spPr>
        <p:txBody>
          <a:bodyPr wrap="square" lIns="0" tIns="0" rIns="0" bIns="0" rtlCol="0" anchor="ctr"/>
          <a:lstStyle/>
          <a:p>
            <a:pPr indent="0" marL="0">
              <a:buNone/>
            </a:pPr>
            <a:r>
              <a:rPr lang="en-US" sz="1800" b="1" i="1" dirty="0">
                <a:solidFill>
                  <a:srgbClr val="C9A227"/>
                </a:solidFill>
                <a:latin typeface="Cambria" pitchFamily="34" charset="0"/>
                <a:ea typeface="Cambria" pitchFamily="34" charset="-122"/>
                <a:cs typeface="Cambria" pitchFamily="34" charset="-120"/>
              </a:rPr>
              <a:t>Let's discuss where recommendations can move your numbers.</a:t>
            </a:r>
            <a:endParaRPr lang="en-US" sz="1800" dirty="0"/>
          </a:p>
        </p:txBody>
      </p:sp>
      <p:sp>
        <p:nvSpPr>
          <p:cNvPr id="21" name="Text 19"/>
          <p:cNvSpPr/>
          <p:nvPr/>
        </p:nvSpPr>
        <p:spPr>
          <a:xfrm>
            <a:off x="749808" y="6080760"/>
            <a:ext cx="5486400" cy="365760"/>
          </a:xfrm>
          <a:prstGeom prst="rect">
            <a:avLst/>
          </a:prstGeom>
          <a:noFill/>
          <a:ln/>
        </p:spPr>
        <p:txBody>
          <a:bodyPr wrap="square" lIns="0" tIns="0" rIns="0" bIns="0" rtlCol="0" anchor="ctr"/>
          <a:lstStyle/>
          <a:p>
            <a:pPr indent="0" marL="0">
              <a:buNone/>
            </a:pPr>
            <a:r>
              <a:rPr lang="en-US" sz="1300" dirty="0">
                <a:solidFill>
                  <a:srgbClr val="EAF0FB"/>
                </a:solidFill>
                <a:latin typeface="Calibri" pitchFamily="34" charset="0"/>
                <a:ea typeface="Calibri" pitchFamily="34" charset="-122"/>
                <a:cs typeface="Calibri" pitchFamily="34" charset="-120"/>
              </a:rPr>
              <a:t>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Recommendation Systems in E-Commerce — Business Stakeholders</dc:title>
  <dc:subject>PptxGenJS Presentation</dc:subject>
  <dc:creator>Recommendation Systems Briefing</dc:creator>
  <cp:lastModifiedBy>Recommendation Systems Briefing</cp:lastModifiedBy>
  <cp:revision>1</cp:revision>
  <dcterms:created xsi:type="dcterms:W3CDTF">2026-06-29T05:04:48Z</dcterms:created>
  <dcterms:modified xsi:type="dcterms:W3CDTF">2026-06-29T05:04:48Z</dcterms:modified>
</cp:coreProperties>
</file>