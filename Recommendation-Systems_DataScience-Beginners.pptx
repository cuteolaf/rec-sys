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4.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5.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c:v>
                </c:pt>
              </c:strCache>
            </c:strRef>
          </c:tx>
          <c:spPr>
            <a:solidFill>
              <a:srgbClr val="028090"/>
            </a:solidFill>
            <a:effectLst/>
          </c:spPr>
          <c:invertIfNegative val="0"/>
          <c:dLbls>
            <c:numFmt formatCode="#,##0" sourceLinked="0"/>
            <c:txPr>
              <a:bodyPr/>
              <a:lstStyle/>
              <a:p>
                <a:pPr>
                  <a:defRPr b="1" i="0" strike="noStrike" sz="1100" u="none">
                    <a:solidFill>
                      <a:srgbClr val="153A40"/>
                    </a:solidFill>
                    <a:latin typeface="Arial"/>
                  </a:defRPr>
                </a:pPr>
              </a:p>
            </c:txPr>
            <c:showLegendKey val="0"/>
            <c:showVal val="1"/>
            <c:showCatName val="0"/>
            <c:showSerName val="0"/>
            <c:showPercent val="0"/>
            <c:showBubbleSize val="0"/>
            <c:showLeaderLines val="0"/>
          </c:dLbls>
          <c:cat>
            <c:multiLvlStrRef>
              <c:f>Sheet1!$A$2:$A$3</c:f>
              <c:multiLvlStrCache>
                <c:ptCount val="2"/>
                <c:lvl>
                  <c:pt idx="0">
                    <c:v>Amazon</c:v>
                  </c:pt>
                  <c:pt idx="1">
                    <c:v>Netflix</c:v>
                  </c:pt>
                </c:lvl>
              </c:multiLvlStrCache>
            </c:multiLvlStrRef>
          </c:cat>
          <c:val>
            <c:numRef>
              <c:f>Sheet1!$B$2:$B$3</c:f>
              <c:numCache>
                <c:formatCode>General</c:formatCode>
                <c:ptCount val="2"/>
                <c:pt idx="0">
                  <c:v>35</c:v>
                </c:pt>
                <c:pt idx="1">
                  <c:v>75</c:v>
                </c:pt>
              </c:numCache>
            </c:numRef>
          </c:val>
        </c:ser>
        <c:dLbls>
          <c:numFmt formatCode="#,##0" sourceLinked="0"/>
          <c:txPr>
            <a:bodyPr/>
            <a:lstStyle/>
            <a:p>
              <a:pPr>
                <a:defRPr b="1" i="0" strike="noStrike" sz="1100" u="none">
                  <a:solidFill>
                    <a:srgbClr val="153A40"/>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E7A80"/>
                </a:solidFill>
                <a:latin typeface="Arial"/>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cvr</c:v>
                </c:pt>
              </c:strCache>
            </c:strRef>
          </c:tx>
          <c:spPr>
            <a:solidFill>
              <a:srgbClr val="028090"/>
            </a:solidFill>
            <a:effectLst/>
          </c:spPr>
          <c:invertIfNegative val="0"/>
          <c:dLbls>
            <c:numFmt formatCode="0.0&quot;%&quot;" sourceLinked="0"/>
            <c:txPr>
              <a:bodyPr/>
              <a:lstStyle/>
              <a:p>
                <a:pPr>
                  <a:defRPr b="1" i="0" strike="noStrike" sz="1300" u="none">
                    <a:solidFill>
                      <a:srgbClr val="153A40"/>
                    </a:solidFill>
                    <a:latin typeface="Arial"/>
                  </a:defRPr>
                </a:pPr>
              </a:p>
            </c:txPr>
            <c:showLegendKey val="0"/>
            <c:showVal val="1"/>
            <c:showCatName val="0"/>
            <c:showSerName val="0"/>
            <c:showPercent val="0"/>
            <c:showBubbleSize val="0"/>
            <c:showLeaderLines val="0"/>
          </c:dLbls>
          <c:dPt>
            <c:idx val="0"/>
            <c:invertIfNegative val="0"/>
            <c:bubble3D val="0"/>
            <c:spPr>
              <a:solidFill>
                <a:srgbClr val="028090"/>
              </a:solidFill>
              <a:effectLst/>
            </c:spPr>
          </c:dPt>
          <c:dPt>
            <c:idx val="1"/>
            <c:invertIfNegative val="0"/>
            <c:bubble3D val="0"/>
            <c:spPr>
              <a:solidFill>
                <a:srgbClr val="FF6B6B"/>
              </a:solidFill>
              <a:effectLst/>
            </c:spPr>
          </c:dPt>
          <c:cat>
            <c:multiLvlStrRef>
              <c:f>Sheet1!$A$2:$A$3</c:f>
              <c:multiLvlStrCache>
                <c:ptCount val="2"/>
                <c:lvl>
                  <c:pt idx="0">
                    <c:v>Version A</c:v>
                  </c:pt>
                  <c:pt idx="1">
                    <c:v>Version B</c:v>
                  </c:pt>
                </c:lvl>
              </c:multiLvlStrCache>
            </c:multiLvlStrRef>
          </c:cat>
          <c:val>
            <c:numRef>
              <c:f>Sheet1!$B$2:$B$3</c:f>
              <c:numCache>
                <c:formatCode>General</c:formatCode>
                <c:ptCount val="2"/>
                <c:pt idx="0">
                  <c:v>3.2</c:v>
                </c:pt>
                <c:pt idx="1">
                  <c:v>3.9</c:v>
                </c:pt>
              </c:numCache>
            </c:numRef>
          </c:val>
        </c:ser>
        <c:dLbls>
          <c:numFmt formatCode="0.0&quot;%&quot;" sourceLinked="0"/>
          <c:txPr>
            <a:bodyPr/>
            <a:lstStyle/>
            <a:p>
              <a:pPr>
                <a:defRPr b="1" i="0" strike="noStrike" sz="1300" u="none">
                  <a:solidFill>
                    <a:srgbClr val="153A40"/>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E7A80"/>
                </a:solidFill>
                <a:latin typeface="Arial"/>
              </a:defRPr>
            </a:pPr>
            <a:endParaRPr lang="en-US"/>
          </a:p>
        </c:txPr>
        <c:crossAx val="2094734552"/>
        <c:crosses val="autoZero"/>
        <c:auto val="1"/>
        <c:lblAlgn val="ctr"/>
        <c:noMultiLvlLbl val="1"/>
      </c:catAx>
      <c:valAx>
        <c:axId val="2094734552"/>
        <c:scaling>
          <c:orientation val="minMax"/>
          <c:max val="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profile</c:v>
                </c:pt>
              </c:strCache>
            </c:strRef>
          </c:tx>
          <c:spPr>
            <a:solidFill>
              <a:srgbClr val="00A89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Speed</c:v>
                  </c:pt>
                  <c:pt idx="1">
                    <c:v>Scales to big catalogs</c:v>
                  </c:pt>
                  <c:pt idx="2">
                    <c:v>Works when data is sparse</c:v>
                  </c:pt>
                </c:lvl>
              </c:multiLvlStrCache>
            </c:multiLvlStrRef>
          </c:cat>
          <c:val>
            <c:numRef>
              <c:f>Sheet1!$B$2:$B$4</c:f>
              <c:numCache>
                <c:formatCode>General</c:formatCode>
                <c:ptCount val="3"/>
                <c:pt idx="0">
                  <c:v>90</c:v>
                </c:pt>
                <c:pt idx="1">
                  <c:v>95</c:v>
                </c:pt>
                <c:pt idx="2">
                  <c:v>80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50" b="0" i="0" u="none" strike="noStrike">
                <a:solidFill>
                  <a:srgbClr val="153A40"/>
                </a:solidFill>
                <a:latin typeface="Arial"/>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Data Science Beginners session. Frame the topic: product recommendation systems are the engines behind "recommended for you," "frequently bought together," and personalized storefronts. State who this is for (for aspiring data scientists) and the arc: we'll go from the problem, to how these systems work, to their real-world impact and trade-offs. Replace the placeholder name and date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stakes concrete. The discovery problem: catalogs are enormous, attention is scarce. Choice overload genuinely suppresses purchases — more options can mean fewer sales. Then the business case: recommendations lift conversion, raise average order value through cross-sell, and improve retention by making the experience feel tailored. The Amazon (~35% of sales) and Netflix (~75% of viewing) figures are widely cited estimates — present them as directional proof that recommendations drive a large share of engagement, not as precise current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a clean definition: a recommender predicts which items a user is most likely to want, then ranks them. Walk the pipeline left to right — Input (who the user is, their history, the current context) feeds the Model (which scores relevance), producing a Ranked output (a short ordered list). Emphasize that every recommendation surface you'll see later is a variation on this same input → model → ranked-output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surfaces shoppers actually see. Personalized ('recommended for you') is individual-level. Frequently bought together drives basket size at the cart. Trending/popular is a strong default when you know little about a user. Similar items keeps a browsing session alive, and recently viewed gives an easy way back in. Key point: these are different presentations powered by the same underlying techniques we'll cover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families, then a forward look. Content-based matches on item attributes (good for new items). Collaborative filtering learns from user–item interactions — mention user-based ('people like you') vs item-based ('items like this'). Matrix factorization / embeddings compress those interactions into latent taste vectors that make matching fast and accurate. Hybrid systems blend methods to cover each other's weaknesses. Close with deep learning and sequence/session-based models, which capture in-the-moment intent. Tailor depth to the room — keep it conceptual for non-specialists, go into ALS/two-tower/SASRec for engineers.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Distinguish explicit signals (ratings, reviews, likes — high-quality but sparse, because most users never rate) from implicit signals (clicks, purchases, dwell time, cart events — abundant but noisy and biased). Most production signal is implicit. The strongest systems combine both. For technical audiences, add: implicit feedback should be modeled as weighted positives with exposure/position bias in mind, not treated as clean ground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 start is the recommender's chicken-and-egg problem. A new user has no interaction history, so collaborative methods can't place them. A new item has no interactions, so it can't be learned from behavior. Walk through the workarounds: fall back to popular/trending, ask a few onboarding preferences to seed taste, use item attributes (content-based) to bootstrap new items, and lean on context like location, device, and time. For engineers, mention exploration/bandit strategies to gather signal on new items deliberately.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measurement worlds. Offline metrics run on historical data and are cheap and fast: precision@k and recall ask whether good items appear in the top-k; NDCG rewards putting the best items highest. They're proxies. Online metrics are the real test — click-through, conversion, and revenue measured with A/B tests on live traffic. The chart shows an illustrative lift from a new model. The discipline: offline metrics narrow the field, but only a live A/B test (ideally statistically significant) decides what ships. Offline and online results don't always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canonical production shape. Candidate generation cheaply narrows a massive catalog to a manageable set (often via approximate nearest-neighbor search over embeddings) — optimized for recall. Ranking applies a heavier, more accurate model to score that shortlist for the specific user. Re-ranking layers in business rules: diversity, de-duplication, in-stock, promotions, and policy. Finally, the real-time vs batch split: embeddings, indexes, and candidate lists are precomputed in batch; feature lookup, ranking, and re-ranking happen live per request within a tight latency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Recommenders shape what millions of people see, so the trade-offs are real. Filter bubbles narrow discovery; popularity bias lets best-sellers crowd out the long tail; diversity must be balanced against relevance so results aren't repetitive or random. Privacy matters because personalization runs on personal data — respect consent and minimize collection. Fairness means even-handed exposure across customer groups and sellers. For technical teams, point to concrete levers: exploration to counter feedback loops, debiasing/re-weighting for popularity, MMR or DPP for diversity, and exposure-parity audits for fairness.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 everything in one concrete example: Amazon's item-to-item collaborative filtering. The insight was to flip the problem — instead of finding users similar to you (which doesn't scale as users grow and churn), precompute, for each item, the items most often bought or viewed alongside it. That similarity computation is done offline; at serve time it's a fast lookup keyed on what you're viewing or have in your cart. This is what powers 'customers who bought this also bought.' The takeaway — decoupling expensive offline computation from cheap online serving — is why the approach scaled to enormous catalogs and became a retail benchmark. The bar chart is an illustrative strength profile, not measured benchmarks.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message. Recap the arc in one breath: recommendations solve discovery, are powered by content-based and collaborative methods over explicit and implicit data, follow a retrieve→rank→re-rank pipeline, and must be validated online while balancing relevance against diversity, privacy, and fairness. Read the five takeaways, then deliver the closing line and open for discussion. Swap in real contact details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chart" Target="/ppt/charts/chart4.xm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chart" Target="/ppt/charts/chart5.xm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363E"/>
        </a:solidFill>
      </p:bgPr>
    </p:bg>
    <p:spTree>
      <p:nvGrpSpPr>
        <p:cNvPr id="1" name=""/>
        <p:cNvGrpSpPr/>
        <p:nvPr/>
      </p:nvGrpSpPr>
      <p:grpSpPr>
        <a:xfrm>
          <a:off x="0" y="0"/>
          <a:ext cx="0" cy="0"/>
          <a:chOff x="0" y="0"/>
          <a:chExt cx="0" cy="0"/>
        </a:xfrm>
      </p:grpSpPr>
      <p:sp>
        <p:nvSpPr>
          <p:cNvPr id="2" name="Shape 0"/>
          <p:cNvSpPr/>
          <p:nvPr/>
        </p:nvSpPr>
        <p:spPr>
          <a:xfrm>
            <a:off x="9738360" y="3977640"/>
            <a:ext cx="1828800" cy="-1554480"/>
          </a:xfrm>
          <a:prstGeom prst="line">
            <a:avLst/>
          </a:prstGeom>
          <a:noFill/>
          <a:ln w="15875">
            <a:solidFill>
              <a:srgbClr val="FF6B6B">
                <a:alpha val="55000"/>
              </a:srgbClr>
            </a:solidFill>
            <a:prstDash val="solid"/>
          </a:ln>
        </p:spPr>
      </p:sp>
      <p:sp>
        <p:nvSpPr>
          <p:cNvPr id="3" name="Shape 1"/>
          <p:cNvSpPr/>
          <p:nvPr/>
        </p:nvSpPr>
        <p:spPr>
          <a:xfrm>
            <a:off x="9738360" y="3977640"/>
            <a:ext cx="2331720" cy="-91440"/>
          </a:xfrm>
          <a:prstGeom prst="line">
            <a:avLst/>
          </a:prstGeom>
          <a:noFill/>
          <a:ln w="15875">
            <a:solidFill>
              <a:srgbClr val="FF6B6B">
                <a:alpha val="55000"/>
              </a:srgbClr>
            </a:solidFill>
            <a:prstDash val="solid"/>
          </a:ln>
        </p:spPr>
      </p:sp>
      <p:sp>
        <p:nvSpPr>
          <p:cNvPr id="4" name="Shape 2"/>
          <p:cNvSpPr/>
          <p:nvPr/>
        </p:nvSpPr>
        <p:spPr>
          <a:xfrm>
            <a:off x="9738360" y="3977640"/>
            <a:ext cx="1737360" cy="1371600"/>
          </a:xfrm>
          <a:prstGeom prst="line">
            <a:avLst/>
          </a:prstGeom>
          <a:noFill/>
          <a:ln w="15875">
            <a:solidFill>
              <a:srgbClr val="FF6B6B">
                <a:alpha val="55000"/>
              </a:srgbClr>
            </a:solidFill>
            <a:prstDash val="solid"/>
          </a:ln>
        </p:spPr>
      </p:sp>
      <p:sp>
        <p:nvSpPr>
          <p:cNvPr id="5" name="Shape 3"/>
          <p:cNvSpPr/>
          <p:nvPr/>
        </p:nvSpPr>
        <p:spPr>
          <a:xfrm>
            <a:off x="9738360" y="3977640"/>
            <a:ext cx="-457200" cy="1737360"/>
          </a:xfrm>
          <a:prstGeom prst="line">
            <a:avLst/>
          </a:prstGeom>
          <a:noFill/>
          <a:ln w="15875">
            <a:solidFill>
              <a:srgbClr val="FF6B6B">
                <a:alpha val="55000"/>
              </a:srgbClr>
            </a:solidFill>
            <a:prstDash val="solid"/>
          </a:ln>
        </p:spPr>
      </p:sp>
      <p:sp>
        <p:nvSpPr>
          <p:cNvPr id="6" name="Shape 4"/>
          <p:cNvSpPr/>
          <p:nvPr/>
        </p:nvSpPr>
        <p:spPr>
          <a:xfrm>
            <a:off x="9738360" y="3977640"/>
            <a:ext cx="-1554480" cy="548640"/>
          </a:xfrm>
          <a:prstGeom prst="line">
            <a:avLst/>
          </a:prstGeom>
          <a:noFill/>
          <a:ln w="15875">
            <a:solidFill>
              <a:srgbClr val="FF6B6B">
                <a:alpha val="55000"/>
              </a:srgbClr>
            </a:solidFill>
            <a:prstDash val="solid"/>
          </a:ln>
        </p:spPr>
      </p:sp>
      <p:sp>
        <p:nvSpPr>
          <p:cNvPr id="7" name="Shape 5"/>
          <p:cNvSpPr/>
          <p:nvPr/>
        </p:nvSpPr>
        <p:spPr>
          <a:xfrm>
            <a:off x="9738360" y="3977640"/>
            <a:ext cx="-1280160" cy="-1280160"/>
          </a:xfrm>
          <a:prstGeom prst="line">
            <a:avLst/>
          </a:prstGeom>
          <a:noFill/>
          <a:ln w="15875">
            <a:solidFill>
              <a:srgbClr val="FF6B6B">
                <a:alpha val="55000"/>
              </a:srgbClr>
            </a:solidFill>
            <a:prstDash val="solid"/>
          </a:ln>
        </p:spPr>
      </p:sp>
      <p:sp>
        <p:nvSpPr>
          <p:cNvPr id="8" name="Shape 6"/>
          <p:cNvSpPr/>
          <p:nvPr/>
        </p:nvSpPr>
        <p:spPr>
          <a:xfrm>
            <a:off x="11155680" y="2011680"/>
            <a:ext cx="457200" cy="457200"/>
          </a:xfrm>
          <a:prstGeom prst="ellipse">
            <a:avLst/>
          </a:prstGeom>
          <a:solidFill>
            <a:srgbClr val="E8F6F4">
              <a:alpha val="82000"/>
            </a:srgbClr>
          </a:solidFill>
          <a:ln/>
        </p:spPr>
      </p:sp>
      <p:sp>
        <p:nvSpPr>
          <p:cNvPr id="9" name="Shape 7"/>
          <p:cNvSpPr/>
          <p:nvPr/>
        </p:nvSpPr>
        <p:spPr>
          <a:xfrm>
            <a:off x="11658600" y="3474720"/>
            <a:ext cx="457200" cy="457200"/>
          </a:xfrm>
          <a:prstGeom prst="ellipse">
            <a:avLst/>
          </a:prstGeom>
          <a:solidFill>
            <a:srgbClr val="E8F6F4">
              <a:alpha val="82000"/>
            </a:srgbClr>
          </a:solidFill>
          <a:ln/>
        </p:spPr>
      </p:sp>
      <p:sp>
        <p:nvSpPr>
          <p:cNvPr id="10" name="Shape 8"/>
          <p:cNvSpPr/>
          <p:nvPr/>
        </p:nvSpPr>
        <p:spPr>
          <a:xfrm>
            <a:off x="11064240" y="4937760"/>
            <a:ext cx="457200" cy="457200"/>
          </a:xfrm>
          <a:prstGeom prst="ellipse">
            <a:avLst/>
          </a:prstGeom>
          <a:solidFill>
            <a:srgbClr val="E8F6F4">
              <a:alpha val="82000"/>
            </a:srgbClr>
          </a:solidFill>
          <a:ln/>
        </p:spPr>
      </p:sp>
      <p:sp>
        <p:nvSpPr>
          <p:cNvPr id="11" name="Shape 9"/>
          <p:cNvSpPr/>
          <p:nvPr/>
        </p:nvSpPr>
        <p:spPr>
          <a:xfrm>
            <a:off x="8869680" y="5303520"/>
            <a:ext cx="457200" cy="457200"/>
          </a:xfrm>
          <a:prstGeom prst="ellipse">
            <a:avLst/>
          </a:prstGeom>
          <a:solidFill>
            <a:srgbClr val="E8F6F4">
              <a:alpha val="82000"/>
            </a:srgbClr>
          </a:solidFill>
          <a:ln/>
        </p:spPr>
      </p:sp>
      <p:sp>
        <p:nvSpPr>
          <p:cNvPr id="12" name="Shape 10"/>
          <p:cNvSpPr/>
          <p:nvPr/>
        </p:nvSpPr>
        <p:spPr>
          <a:xfrm>
            <a:off x="7772400" y="4114800"/>
            <a:ext cx="457200" cy="457200"/>
          </a:xfrm>
          <a:prstGeom prst="ellipse">
            <a:avLst/>
          </a:prstGeom>
          <a:solidFill>
            <a:srgbClr val="E8F6F4">
              <a:alpha val="82000"/>
            </a:srgbClr>
          </a:solidFill>
          <a:ln/>
        </p:spPr>
      </p:sp>
      <p:sp>
        <p:nvSpPr>
          <p:cNvPr id="13" name="Shape 11"/>
          <p:cNvSpPr/>
          <p:nvPr/>
        </p:nvSpPr>
        <p:spPr>
          <a:xfrm>
            <a:off x="8046720" y="2286000"/>
            <a:ext cx="457200" cy="457200"/>
          </a:xfrm>
          <a:prstGeom prst="ellipse">
            <a:avLst/>
          </a:prstGeom>
          <a:solidFill>
            <a:srgbClr val="E8F6F4">
              <a:alpha val="82000"/>
            </a:srgbClr>
          </a:solidFill>
          <a:ln/>
        </p:spPr>
      </p:sp>
      <p:sp>
        <p:nvSpPr>
          <p:cNvPr id="14" name="Shape 12"/>
          <p:cNvSpPr/>
          <p:nvPr/>
        </p:nvSpPr>
        <p:spPr>
          <a:xfrm>
            <a:off x="9326880" y="3566160"/>
            <a:ext cx="822960" cy="822960"/>
          </a:xfrm>
          <a:prstGeom prst="ellipse">
            <a:avLst/>
          </a:prstGeom>
          <a:solidFill>
            <a:srgbClr val="FF6B6B"/>
          </a:solidFill>
          <a:ln/>
        </p:spPr>
      </p:sp>
      <p:pic>
        <p:nvPicPr>
          <p:cNvPr id="15" name="Image 0" descr="preencoded.png">    </p:cNvPr>
          <p:cNvPicPr>
            <a:picLocks noChangeAspect="1"/>
          </p:cNvPicPr>
          <p:nvPr/>
        </p:nvPicPr>
        <p:blipFill>
          <a:blip r:embed="rId1"/>
          <a:stretch>
            <a:fillRect/>
          </a:stretch>
        </p:blipFill>
        <p:spPr>
          <a:xfrm>
            <a:off x="9546336" y="3767328"/>
            <a:ext cx="384048" cy="420624"/>
          </a:xfrm>
          <a:prstGeom prst="rect">
            <a:avLst/>
          </a:prstGeom>
        </p:spPr>
      </p:pic>
      <p:sp>
        <p:nvSpPr>
          <p:cNvPr id="16" name="Text 13"/>
          <p:cNvSpPr/>
          <p:nvPr/>
        </p:nvSpPr>
        <p:spPr>
          <a:xfrm>
            <a:off x="777240" y="1234440"/>
            <a:ext cx="7315200" cy="274320"/>
          </a:xfrm>
          <a:prstGeom prst="rect">
            <a:avLst/>
          </a:prstGeom>
          <a:noFill/>
          <a:ln/>
        </p:spPr>
        <p:txBody>
          <a:bodyPr wrap="square" lIns="0" tIns="0" rIns="0" bIns="0" rtlCol="0" anchor="ctr"/>
          <a:lstStyle/>
          <a:p>
            <a:pPr indent="0" marL="0">
              <a:buNone/>
            </a:pPr>
            <a:r>
              <a:rPr lang="en-US" sz="1300" b="1" spc="200" kern="0" dirty="0">
                <a:solidFill>
                  <a:srgbClr val="FF6B6B"/>
                </a:solidFill>
                <a:latin typeface="Calibri" pitchFamily="34" charset="0"/>
                <a:ea typeface="Calibri" pitchFamily="34" charset="-122"/>
                <a:cs typeface="Calibri" pitchFamily="34" charset="-120"/>
              </a:rPr>
              <a:t>E-COMMERCE  ·  A FRIENDLY INTRO</a:t>
            </a:r>
            <a:endParaRPr lang="en-US" sz="1300" dirty="0"/>
          </a:p>
        </p:txBody>
      </p:sp>
      <p:sp>
        <p:nvSpPr>
          <p:cNvPr id="17" name="Text 14"/>
          <p:cNvSpPr/>
          <p:nvPr/>
        </p:nvSpPr>
        <p:spPr>
          <a:xfrm>
            <a:off x="749808" y="1691640"/>
            <a:ext cx="7223760" cy="1828800"/>
          </a:xfrm>
          <a:prstGeom prst="rect">
            <a:avLst/>
          </a:prstGeom>
          <a:noFill/>
          <a:ln/>
        </p:spPr>
        <p:txBody>
          <a:bodyPr wrap="square" lIns="0" tIns="0" rIns="0" bIns="0" rtlCol="0" anchor="ctr"/>
          <a:lstStyle/>
          <a:p>
            <a:pPr indent="0" marL="0">
              <a:lnSpc>
                <a:spcPct val="102000"/>
              </a:lnSpc>
              <a:buNone/>
            </a:pPr>
            <a:r>
              <a:rPr lang="en-US" sz="4300" b="1" dirty="0">
                <a:solidFill>
                  <a:srgbClr val="E8F6F4"/>
                </a:solidFill>
                <a:latin typeface="Cambria" pitchFamily="34" charset="0"/>
                <a:ea typeface="Cambria" pitchFamily="34" charset="-122"/>
                <a:cs typeface="Cambria" pitchFamily="34" charset="-120"/>
              </a:rPr>
              <a:t>Product Recommendation Systems in E-Commerce</a:t>
            </a:r>
            <a:endParaRPr lang="en-US" sz="4300" dirty="0"/>
          </a:p>
        </p:txBody>
      </p:sp>
      <p:sp>
        <p:nvSpPr>
          <p:cNvPr id="18" name="Text 15"/>
          <p:cNvSpPr/>
          <p:nvPr/>
        </p:nvSpPr>
        <p:spPr>
          <a:xfrm>
            <a:off x="777240" y="3611880"/>
            <a:ext cx="6949440" cy="457200"/>
          </a:xfrm>
          <a:prstGeom prst="rect">
            <a:avLst/>
          </a:prstGeom>
          <a:noFill/>
          <a:ln/>
        </p:spPr>
        <p:txBody>
          <a:bodyPr wrap="square" lIns="0" tIns="0" rIns="0" bIns="0" rtlCol="0" anchor="ctr"/>
          <a:lstStyle/>
          <a:p>
            <a:pPr indent="0" marL="0">
              <a:buNone/>
            </a:pPr>
            <a:r>
              <a:rPr lang="en-US" sz="1900" i="1" dirty="0">
                <a:solidFill>
                  <a:srgbClr val="FF6B6B"/>
                </a:solidFill>
                <a:latin typeface="Calibri" pitchFamily="34" charset="0"/>
                <a:ea typeface="Calibri" pitchFamily="34" charset="-122"/>
                <a:cs typeface="Calibri" pitchFamily="34" charset="-120"/>
              </a:rPr>
              <a:t>How They Actually Work — A Friendly Introduction</a:t>
            </a:r>
            <a:endParaRPr lang="en-US" sz="1900" dirty="0"/>
          </a:p>
        </p:txBody>
      </p:sp>
      <p:sp>
        <p:nvSpPr>
          <p:cNvPr id="19" name="Text 16"/>
          <p:cNvSpPr/>
          <p:nvPr/>
        </p:nvSpPr>
        <p:spPr>
          <a:xfrm>
            <a:off x="777240" y="4160520"/>
            <a:ext cx="6949440" cy="365760"/>
          </a:xfrm>
          <a:prstGeom prst="rect">
            <a:avLst/>
          </a:prstGeom>
          <a:noFill/>
          <a:ln/>
        </p:spPr>
        <p:txBody>
          <a:bodyPr wrap="square" lIns="0" tIns="0" rIns="0" bIns="0" rtlCol="0" anchor="ctr"/>
          <a:lstStyle/>
          <a:p>
            <a:pPr indent="0" marL="0">
              <a:buNone/>
            </a:pPr>
            <a:r>
              <a:rPr lang="en-US" sz="1500" dirty="0">
                <a:solidFill>
                  <a:srgbClr val="E8F6F4"/>
                </a:solidFill>
                <a:latin typeface="Calibri" pitchFamily="34" charset="0"/>
                <a:ea typeface="Calibri" pitchFamily="34" charset="-122"/>
                <a:cs typeface="Calibri" pitchFamily="34" charset="-120"/>
              </a:rPr>
              <a:t>For Aspiring Data Scientists</a:t>
            </a:r>
            <a:endParaRPr lang="en-US" sz="1500" dirty="0"/>
          </a:p>
        </p:txBody>
      </p:sp>
      <p:sp>
        <p:nvSpPr>
          <p:cNvPr id="20" name="Shape 17"/>
          <p:cNvSpPr/>
          <p:nvPr/>
        </p:nvSpPr>
        <p:spPr>
          <a:xfrm>
            <a:off x="795528" y="5074920"/>
            <a:ext cx="2926080" cy="0"/>
          </a:xfrm>
          <a:prstGeom prst="line">
            <a:avLst/>
          </a:prstGeom>
          <a:noFill/>
          <a:ln w="9525">
            <a:solidFill>
              <a:srgbClr val="E8F6F4">
                <a:alpha val="45000"/>
              </a:srgbClr>
            </a:solidFill>
            <a:prstDash val="solid"/>
          </a:ln>
        </p:spPr>
      </p:sp>
      <p:sp>
        <p:nvSpPr>
          <p:cNvPr id="21" name="Text 18"/>
          <p:cNvSpPr/>
          <p:nvPr/>
        </p:nvSpPr>
        <p:spPr>
          <a:xfrm>
            <a:off x="777240" y="5212080"/>
            <a:ext cx="6949440" cy="320040"/>
          </a:xfrm>
          <a:prstGeom prst="rect">
            <a:avLst/>
          </a:prstGeom>
          <a:noFill/>
          <a:ln/>
        </p:spPr>
        <p:txBody>
          <a:bodyPr wrap="square" lIns="0" tIns="0" rIns="0" bIns="0" rtlCol="0" anchor="ctr"/>
          <a:lstStyle/>
          <a:p>
            <a:pPr indent="0" marL="0">
              <a:buNone/>
            </a:pPr>
            <a:r>
              <a:rPr lang="en-US" sz="1300" dirty="0">
                <a:solidFill>
                  <a:srgbClr val="E8F6F4"/>
                </a:solidFill>
                <a:latin typeface="Calibri" pitchFamily="34" charset="0"/>
                <a:ea typeface="Calibri" pitchFamily="34" charset="-122"/>
                <a:cs typeface="Calibri" pitchFamily="34" charset="-120"/>
              </a:rPr>
              <a:t>Presented by Your Name   ·   June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881360" cy="274320"/>
          </a:xfrm>
          <a:prstGeom prst="rect">
            <a:avLst/>
          </a:prstGeom>
          <a:noFill/>
          <a:ln/>
        </p:spPr>
        <p:txBody>
          <a:bodyPr wrap="square" lIns="0" tIns="0" rIns="0" bIns="0" rtlCol="0" anchor="ctr"/>
          <a:lstStyle/>
          <a:p>
            <a:pPr indent="0" marL="0">
              <a:buNone/>
            </a:pPr>
            <a:r>
              <a:rPr lang="en-US" sz="1200" b="1" spc="200" kern="0" dirty="0">
                <a:solidFill>
                  <a:srgbClr val="FF6B6B"/>
                </a:solidFill>
                <a:latin typeface="Calibri" pitchFamily="34" charset="0"/>
                <a:ea typeface="Calibri" pitchFamily="34" charset="-122"/>
                <a:cs typeface="Calibri" pitchFamily="34" charset="-120"/>
              </a:rPr>
              <a:t>WHY RECOMMENDATIONS MATTER</a:t>
            </a:r>
            <a:endParaRPr lang="en-US" sz="1200" dirty="0"/>
          </a:p>
        </p:txBody>
      </p:sp>
      <p:sp>
        <p:nvSpPr>
          <p:cNvPr id="3" name="Text 1"/>
          <p:cNvSpPr/>
          <p:nvPr/>
        </p:nvSpPr>
        <p:spPr>
          <a:xfrm>
            <a:off x="640080" y="630936"/>
            <a:ext cx="10881360" cy="731520"/>
          </a:xfrm>
          <a:prstGeom prst="rect">
            <a:avLst/>
          </a:prstGeom>
          <a:noFill/>
          <a:ln/>
        </p:spPr>
        <p:txBody>
          <a:bodyPr wrap="square" lIns="0" tIns="0" rIns="0" bIns="0" rtlCol="0" anchor="ctr"/>
          <a:lstStyle/>
          <a:p>
            <a:pPr indent="0" marL="0">
              <a:buNone/>
            </a:pPr>
            <a:r>
              <a:rPr lang="en-US" sz="2700" b="1" dirty="0">
                <a:solidFill>
                  <a:srgbClr val="153A40"/>
                </a:solidFill>
                <a:latin typeface="Cambria" pitchFamily="34" charset="0"/>
                <a:ea typeface="Cambria" pitchFamily="34" charset="-122"/>
                <a:cs typeface="Cambria" pitchFamily="34" charset="-120"/>
              </a:rPr>
              <a:t>Helping shoppers find what they didn't know to search for</a:t>
            </a:r>
            <a:endParaRPr lang="en-US" sz="2700" dirty="0"/>
          </a:p>
        </p:txBody>
      </p:sp>
      <p:sp>
        <p:nvSpPr>
          <p:cNvPr id="4" name="Shape 2"/>
          <p:cNvSpPr/>
          <p:nvPr/>
        </p:nvSpPr>
        <p:spPr>
          <a:xfrm>
            <a:off x="685800" y="1691640"/>
            <a:ext cx="566928" cy="566928"/>
          </a:xfrm>
          <a:prstGeom prst="ellipse">
            <a:avLst/>
          </a:prstGeom>
          <a:solidFill>
            <a:srgbClr val="028090"/>
          </a:solidFill>
          <a:ln/>
          <a:effectLst>
            <a:outerShdw sx="100000" sy="100000" kx="0" ky="0" algn="bl" rotWithShape="0" blurRad="127000" dist="50800" dir="5400000">
              <a:srgbClr val="8A93A6">
                <a:alpha val="13000"/>
              </a:srgbClr>
            </a:outerShdw>
          </a:effectLst>
        </p:spPr>
      </p:sp>
      <p:pic>
        <p:nvPicPr>
          <p:cNvPr id="5" name="Image 0" descr="preencoded.png">    </p:cNvPr>
          <p:cNvPicPr>
            <a:picLocks noChangeAspect="1"/>
          </p:cNvPicPr>
          <p:nvPr/>
        </p:nvPicPr>
        <p:blipFill>
          <a:blip r:embed="rId1"/>
          <a:stretch>
            <a:fillRect/>
          </a:stretch>
        </p:blipFill>
        <p:spPr>
          <a:xfrm>
            <a:off x="838871" y="1844711"/>
            <a:ext cx="260787" cy="260787"/>
          </a:xfrm>
          <a:prstGeom prst="rect">
            <a:avLst/>
          </a:prstGeom>
        </p:spPr>
      </p:pic>
      <p:sp>
        <p:nvSpPr>
          <p:cNvPr id="6" name="Text 3"/>
          <p:cNvSpPr/>
          <p:nvPr/>
        </p:nvSpPr>
        <p:spPr>
          <a:xfrm>
            <a:off x="1417320" y="1655064"/>
            <a:ext cx="5212080" cy="365760"/>
          </a:xfrm>
          <a:prstGeom prst="rect">
            <a:avLst/>
          </a:prstGeom>
          <a:noFill/>
          <a:ln/>
        </p:spPr>
        <p:txBody>
          <a:bodyPr wrap="square" lIns="0" tIns="0" rIns="0" bIns="0" rtlCol="0" anchor="ctr"/>
          <a:lstStyle/>
          <a:p>
            <a:pPr indent="0" marL="0">
              <a:buNone/>
            </a:pPr>
            <a:r>
              <a:rPr lang="en-US" sz="1650" b="1" dirty="0">
                <a:solidFill>
                  <a:srgbClr val="153A40"/>
                </a:solidFill>
                <a:latin typeface="Cambria" pitchFamily="34" charset="0"/>
                <a:ea typeface="Cambria" pitchFamily="34" charset="-122"/>
                <a:cs typeface="Cambria" pitchFamily="34" charset="-120"/>
              </a:rPr>
              <a:t>The discovery problem</a:t>
            </a:r>
            <a:endParaRPr lang="en-US" sz="1650" dirty="0"/>
          </a:p>
        </p:txBody>
      </p:sp>
      <p:sp>
        <p:nvSpPr>
          <p:cNvPr id="7" name="Text 4"/>
          <p:cNvSpPr/>
          <p:nvPr/>
        </p:nvSpPr>
        <p:spPr>
          <a:xfrm>
            <a:off x="1417320" y="2020824"/>
            <a:ext cx="5349240" cy="777240"/>
          </a:xfrm>
          <a:prstGeom prst="rect">
            <a:avLst/>
          </a:prstGeom>
          <a:noFill/>
          <a:ln/>
        </p:spPr>
        <p:txBody>
          <a:bodyPr wrap="square" lIns="0" tIns="0" rIns="0" bIns="0" rtlCol="0" anchor="ctr"/>
          <a:lstStyle/>
          <a:p>
            <a:pPr indent="0" marL="0">
              <a:buNone/>
            </a:pPr>
            <a:r>
              <a:rPr lang="en-US" sz="1350" dirty="0">
                <a:solidFill>
                  <a:srgbClr val="5E7A80"/>
                </a:solidFill>
                <a:latin typeface="Calibri" pitchFamily="34" charset="0"/>
                <a:ea typeface="Calibri" pitchFamily="34" charset="-122"/>
                <a:cs typeface="Calibri" pitchFamily="34" charset="-120"/>
              </a:rPr>
              <a:t>Picture a store with a billion shelves. No one can browse it all.</a:t>
            </a:r>
            <a:endParaRPr lang="en-US" sz="1350" dirty="0"/>
          </a:p>
        </p:txBody>
      </p:sp>
      <p:sp>
        <p:nvSpPr>
          <p:cNvPr id="8" name="Shape 5"/>
          <p:cNvSpPr/>
          <p:nvPr/>
        </p:nvSpPr>
        <p:spPr>
          <a:xfrm>
            <a:off x="685800" y="3172968"/>
            <a:ext cx="566928" cy="566928"/>
          </a:xfrm>
          <a:prstGeom prst="ellipse">
            <a:avLst/>
          </a:prstGeom>
          <a:solidFill>
            <a:srgbClr val="028090"/>
          </a:solidFill>
          <a:ln/>
          <a:effectLst>
            <a:outerShdw sx="100000" sy="100000" kx="0" ky="0" algn="bl" rotWithShape="0" blurRad="127000" dist="50800" dir="5400000">
              <a:srgbClr val="8A93A6">
                <a:alpha val="13000"/>
              </a:srgbClr>
            </a:outerShdw>
          </a:effectLst>
        </p:spPr>
      </p:sp>
      <p:pic>
        <p:nvPicPr>
          <p:cNvPr id="9" name="Image 1" descr="preencoded.png">    </p:cNvPr>
          <p:cNvPicPr>
            <a:picLocks noChangeAspect="1"/>
          </p:cNvPicPr>
          <p:nvPr/>
        </p:nvPicPr>
        <p:blipFill>
          <a:blip r:embed="rId2"/>
          <a:stretch>
            <a:fillRect/>
          </a:stretch>
        </p:blipFill>
        <p:spPr>
          <a:xfrm>
            <a:off x="838871" y="3326039"/>
            <a:ext cx="260787" cy="260787"/>
          </a:xfrm>
          <a:prstGeom prst="rect">
            <a:avLst/>
          </a:prstGeom>
        </p:spPr>
      </p:pic>
      <p:sp>
        <p:nvSpPr>
          <p:cNvPr id="10" name="Text 6"/>
          <p:cNvSpPr/>
          <p:nvPr/>
        </p:nvSpPr>
        <p:spPr>
          <a:xfrm>
            <a:off x="1417320" y="3136392"/>
            <a:ext cx="5212080" cy="365760"/>
          </a:xfrm>
          <a:prstGeom prst="rect">
            <a:avLst/>
          </a:prstGeom>
          <a:noFill/>
          <a:ln/>
        </p:spPr>
        <p:txBody>
          <a:bodyPr wrap="square" lIns="0" tIns="0" rIns="0" bIns="0" rtlCol="0" anchor="ctr"/>
          <a:lstStyle/>
          <a:p>
            <a:pPr indent="0" marL="0">
              <a:buNone/>
            </a:pPr>
            <a:r>
              <a:rPr lang="en-US" sz="1650" b="1" dirty="0">
                <a:solidFill>
                  <a:srgbClr val="153A40"/>
                </a:solidFill>
                <a:latin typeface="Cambria" pitchFamily="34" charset="0"/>
                <a:ea typeface="Cambria" pitchFamily="34" charset="-122"/>
                <a:cs typeface="Cambria" pitchFamily="34" charset="-120"/>
              </a:rPr>
              <a:t>Choice overload</a:t>
            </a:r>
            <a:endParaRPr lang="en-US" sz="1650" dirty="0"/>
          </a:p>
        </p:txBody>
      </p:sp>
      <p:sp>
        <p:nvSpPr>
          <p:cNvPr id="11" name="Text 7"/>
          <p:cNvSpPr/>
          <p:nvPr/>
        </p:nvSpPr>
        <p:spPr>
          <a:xfrm>
            <a:off x="1417320" y="3502152"/>
            <a:ext cx="5349240" cy="777240"/>
          </a:xfrm>
          <a:prstGeom prst="rect">
            <a:avLst/>
          </a:prstGeom>
          <a:noFill/>
          <a:ln/>
        </p:spPr>
        <p:txBody>
          <a:bodyPr wrap="square" lIns="0" tIns="0" rIns="0" bIns="0" rtlCol="0" anchor="ctr"/>
          <a:lstStyle/>
          <a:p>
            <a:pPr indent="0" marL="0">
              <a:buNone/>
            </a:pPr>
            <a:r>
              <a:rPr lang="en-US" sz="1350" dirty="0">
                <a:solidFill>
                  <a:srgbClr val="5E7A80"/>
                </a:solidFill>
                <a:latin typeface="Calibri" pitchFamily="34" charset="0"/>
                <a:ea typeface="Calibri" pitchFamily="34" charset="-122"/>
                <a:cs typeface="Calibri" pitchFamily="34" charset="-120"/>
              </a:rPr>
              <a:t>Faced with endless options, people freeze and often buy nothing.</a:t>
            </a:r>
            <a:endParaRPr lang="en-US" sz="1350" dirty="0"/>
          </a:p>
        </p:txBody>
      </p:sp>
      <p:sp>
        <p:nvSpPr>
          <p:cNvPr id="12" name="Shape 8"/>
          <p:cNvSpPr/>
          <p:nvPr/>
        </p:nvSpPr>
        <p:spPr>
          <a:xfrm>
            <a:off x="685800" y="4654296"/>
            <a:ext cx="566928" cy="566928"/>
          </a:xfrm>
          <a:prstGeom prst="ellipse">
            <a:avLst/>
          </a:prstGeom>
          <a:solidFill>
            <a:srgbClr val="FF6B6B"/>
          </a:solidFill>
          <a:ln/>
          <a:effectLst>
            <a:outerShdw sx="100000" sy="100000" kx="0" ky="0" algn="bl" rotWithShape="0" blurRad="127000" dist="50800" dir="5400000">
              <a:srgbClr val="8A93A6">
                <a:alpha val="13000"/>
              </a:srgbClr>
            </a:outerShdw>
          </a:effectLst>
        </p:spPr>
      </p:sp>
      <p:pic>
        <p:nvPicPr>
          <p:cNvPr id="13" name="Image 2" descr="preencoded.png">    </p:cNvPr>
          <p:cNvPicPr>
            <a:picLocks noChangeAspect="1"/>
          </p:cNvPicPr>
          <p:nvPr/>
        </p:nvPicPr>
        <p:blipFill>
          <a:blip r:embed="rId3"/>
          <a:stretch>
            <a:fillRect/>
          </a:stretch>
        </p:blipFill>
        <p:spPr>
          <a:xfrm>
            <a:off x="838871" y="4807367"/>
            <a:ext cx="260787" cy="260787"/>
          </a:xfrm>
          <a:prstGeom prst="rect">
            <a:avLst/>
          </a:prstGeom>
        </p:spPr>
      </p:pic>
      <p:sp>
        <p:nvSpPr>
          <p:cNvPr id="14" name="Text 9"/>
          <p:cNvSpPr/>
          <p:nvPr/>
        </p:nvSpPr>
        <p:spPr>
          <a:xfrm>
            <a:off x="1417320" y="4617720"/>
            <a:ext cx="5212080" cy="365760"/>
          </a:xfrm>
          <a:prstGeom prst="rect">
            <a:avLst/>
          </a:prstGeom>
          <a:noFill/>
          <a:ln/>
        </p:spPr>
        <p:txBody>
          <a:bodyPr wrap="square" lIns="0" tIns="0" rIns="0" bIns="0" rtlCol="0" anchor="ctr"/>
          <a:lstStyle/>
          <a:p>
            <a:pPr indent="0" marL="0">
              <a:buNone/>
            </a:pPr>
            <a:r>
              <a:rPr lang="en-US" sz="1650" b="1" dirty="0">
                <a:solidFill>
                  <a:srgbClr val="153A40"/>
                </a:solidFill>
                <a:latin typeface="Cambria" pitchFamily="34" charset="0"/>
                <a:ea typeface="Cambria" pitchFamily="34" charset="-122"/>
                <a:cs typeface="Cambria" pitchFamily="34" charset="-120"/>
              </a:rPr>
              <a:t>Why it matters</a:t>
            </a:r>
            <a:endParaRPr lang="en-US" sz="1650" dirty="0"/>
          </a:p>
        </p:txBody>
      </p:sp>
      <p:sp>
        <p:nvSpPr>
          <p:cNvPr id="15" name="Text 10"/>
          <p:cNvSpPr/>
          <p:nvPr/>
        </p:nvSpPr>
        <p:spPr>
          <a:xfrm>
            <a:off x="1417320" y="4983480"/>
            <a:ext cx="5349240" cy="777240"/>
          </a:xfrm>
          <a:prstGeom prst="rect">
            <a:avLst/>
          </a:prstGeom>
          <a:noFill/>
          <a:ln/>
        </p:spPr>
        <p:txBody>
          <a:bodyPr wrap="square" lIns="0" tIns="0" rIns="0" bIns="0" rtlCol="0" anchor="ctr"/>
          <a:lstStyle/>
          <a:p>
            <a:pPr indent="0" marL="0">
              <a:buNone/>
            </a:pPr>
            <a:r>
              <a:rPr lang="en-US" sz="1350" dirty="0">
                <a:solidFill>
                  <a:srgbClr val="5E7A80"/>
                </a:solidFill>
                <a:latin typeface="Calibri" pitchFamily="34" charset="0"/>
                <a:ea typeface="Calibri" pitchFamily="34" charset="-122"/>
                <a:cs typeface="Calibri" pitchFamily="34" charset="-120"/>
              </a:rPr>
              <a:t>Good recommendations help people find things — and that drives sales and loyalty.</a:t>
            </a:r>
            <a:endParaRPr lang="en-US" sz="1350" dirty="0"/>
          </a:p>
        </p:txBody>
      </p:sp>
      <p:sp>
        <p:nvSpPr>
          <p:cNvPr id="16" name="Shape 11"/>
          <p:cNvSpPr/>
          <p:nvPr/>
        </p:nvSpPr>
        <p:spPr>
          <a:xfrm>
            <a:off x="7178040" y="1691640"/>
            <a:ext cx="4370832" cy="4434840"/>
          </a:xfrm>
          <a:prstGeom prst="roundRect">
            <a:avLst>
              <a:gd name="adj" fmla="val 2929"/>
            </a:avLst>
          </a:prstGeom>
          <a:solidFill>
            <a:srgbClr val="EAF7F5"/>
          </a:solidFill>
          <a:ln/>
          <a:effectLst>
            <a:outerShdw sx="100000" sy="100000" kx="0" ky="0" algn="bl" rotWithShape="0" blurRad="127000" dist="50800" dir="5400000">
              <a:srgbClr val="8A93A6">
                <a:alpha val="13000"/>
              </a:srgbClr>
            </a:outerShdw>
          </a:effectLst>
        </p:spPr>
      </p:sp>
      <p:sp>
        <p:nvSpPr>
          <p:cNvPr id="17" name="Text 12"/>
          <p:cNvSpPr/>
          <p:nvPr/>
        </p:nvSpPr>
        <p:spPr>
          <a:xfrm>
            <a:off x="7498080" y="1920240"/>
            <a:ext cx="1773936" cy="640080"/>
          </a:xfrm>
          <a:prstGeom prst="rect">
            <a:avLst/>
          </a:prstGeom>
          <a:noFill/>
          <a:ln/>
        </p:spPr>
        <p:txBody>
          <a:bodyPr wrap="square" lIns="0" tIns="0" rIns="0" bIns="0" rtlCol="0" anchor="ctr"/>
          <a:lstStyle/>
          <a:p>
            <a:pPr algn="ctr" indent="0" marL="0">
              <a:buNone/>
            </a:pPr>
            <a:r>
              <a:rPr lang="en-US" sz="3800" b="1" dirty="0">
                <a:solidFill>
                  <a:srgbClr val="028090"/>
                </a:solidFill>
                <a:latin typeface="Cambria" pitchFamily="34" charset="0"/>
                <a:ea typeface="Cambria" pitchFamily="34" charset="-122"/>
                <a:cs typeface="Cambria" pitchFamily="34" charset="-120"/>
              </a:rPr>
              <a:t>~35%</a:t>
            </a:r>
            <a:endParaRPr lang="en-US" sz="3800" dirty="0"/>
          </a:p>
        </p:txBody>
      </p:sp>
      <p:sp>
        <p:nvSpPr>
          <p:cNvPr id="18" name="Text 13"/>
          <p:cNvSpPr/>
          <p:nvPr/>
        </p:nvSpPr>
        <p:spPr>
          <a:xfrm>
            <a:off x="7498080" y="2578608"/>
            <a:ext cx="1773936" cy="640080"/>
          </a:xfrm>
          <a:prstGeom prst="rect">
            <a:avLst/>
          </a:prstGeom>
          <a:noFill/>
          <a:ln/>
        </p:spPr>
        <p:txBody>
          <a:bodyPr wrap="square" lIns="0" tIns="0" rIns="0" bIns="0" rtlCol="0" anchor="ctr"/>
          <a:lstStyle/>
          <a:p>
            <a:pPr algn="ctr" indent="0" marL="0">
              <a:buNone/>
            </a:pPr>
            <a:r>
              <a:rPr lang="en-US" sz="1100" dirty="0">
                <a:solidFill>
                  <a:srgbClr val="5E7A80"/>
                </a:solidFill>
                <a:latin typeface="Calibri" pitchFamily="34" charset="0"/>
                <a:ea typeface="Calibri" pitchFamily="34" charset="-122"/>
                <a:cs typeface="Calibri" pitchFamily="34" charset="-120"/>
              </a:rPr>
              <a:t>of Amazon sales tied to recommendations</a:t>
            </a:r>
            <a:endParaRPr lang="en-US" sz="1100" dirty="0"/>
          </a:p>
        </p:txBody>
      </p:sp>
      <p:sp>
        <p:nvSpPr>
          <p:cNvPr id="19" name="Text 14"/>
          <p:cNvSpPr/>
          <p:nvPr/>
        </p:nvSpPr>
        <p:spPr>
          <a:xfrm>
            <a:off x="9454896" y="1920240"/>
            <a:ext cx="1773936" cy="640080"/>
          </a:xfrm>
          <a:prstGeom prst="rect">
            <a:avLst/>
          </a:prstGeom>
          <a:noFill/>
          <a:ln/>
        </p:spPr>
        <p:txBody>
          <a:bodyPr wrap="square" lIns="0" tIns="0" rIns="0" bIns="0" rtlCol="0" anchor="ctr"/>
          <a:lstStyle/>
          <a:p>
            <a:pPr algn="ctr" indent="0" marL="0">
              <a:buNone/>
            </a:pPr>
            <a:r>
              <a:rPr lang="en-US" sz="3800" b="1" dirty="0">
                <a:solidFill>
                  <a:srgbClr val="00A896"/>
                </a:solidFill>
                <a:latin typeface="Cambria" pitchFamily="34" charset="0"/>
                <a:ea typeface="Cambria" pitchFamily="34" charset="-122"/>
                <a:cs typeface="Cambria" pitchFamily="34" charset="-120"/>
              </a:rPr>
              <a:t>~75%</a:t>
            </a:r>
            <a:endParaRPr lang="en-US" sz="3800" dirty="0"/>
          </a:p>
        </p:txBody>
      </p:sp>
      <p:sp>
        <p:nvSpPr>
          <p:cNvPr id="20" name="Text 15"/>
          <p:cNvSpPr/>
          <p:nvPr/>
        </p:nvSpPr>
        <p:spPr>
          <a:xfrm>
            <a:off x="9454896" y="2578608"/>
            <a:ext cx="1773936" cy="640080"/>
          </a:xfrm>
          <a:prstGeom prst="rect">
            <a:avLst/>
          </a:prstGeom>
          <a:noFill/>
          <a:ln/>
        </p:spPr>
        <p:txBody>
          <a:bodyPr wrap="square" lIns="0" tIns="0" rIns="0" bIns="0" rtlCol="0" anchor="ctr"/>
          <a:lstStyle/>
          <a:p>
            <a:pPr algn="ctr" indent="0" marL="0">
              <a:buNone/>
            </a:pPr>
            <a:r>
              <a:rPr lang="en-US" sz="1100" dirty="0">
                <a:solidFill>
                  <a:srgbClr val="5E7A80"/>
                </a:solidFill>
                <a:latin typeface="Calibri" pitchFamily="34" charset="0"/>
                <a:ea typeface="Calibri" pitchFamily="34" charset="-122"/>
                <a:cs typeface="Calibri" pitchFamily="34" charset="-120"/>
              </a:rPr>
              <a:t>of Netflix viewing comes from recommendations</a:t>
            </a:r>
            <a:endParaRPr lang="en-US" sz="1100" dirty="0"/>
          </a:p>
        </p:txBody>
      </p:sp>
      <p:sp>
        <p:nvSpPr>
          <p:cNvPr id="21" name="Text 16"/>
          <p:cNvSpPr/>
          <p:nvPr/>
        </p:nvSpPr>
        <p:spPr>
          <a:xfrm>
            <a:off x="7498080" y="3383280"/>
            <a:ext cx="3730752" cy="274320"/>
          </a:xfrm>
          <a:prstGeom prst="rect">
            <a:avLst/>
          </a:prstGeom>
          <a:noFill/>
          <a:ln/>
        </p:spPr>
        <p:txBody>
          <a:bodyPr wrap="square" lIns="0" tIns="0" rIns="0" bIns="0" rtlCol="0" anchor="ctr"/>
          <a:lstStyle/>
          <a:p>
            <a:pPr indent="0" marL="0">
              <a:buNone/>
            </a:pPr>
            <a:r>
              <a:rPr lang="en-US" sz="1250" b="1" dirty="0">
                <a:solidFill>
                  <a:srgbClr val="153A40"/>
                </a:solidFill>
                <a:latin typeface="Calibri" pitchFamily="34" charset="0"/>
                <a:ea typeface="Calibri" pitchFamily="34" charset="-122"/>
                <a:cs typeface="Calibri" pitchFamily="34" charset="-120"/>
              </a:rPr>
              <a:t>Activity driven by recommendations</a:t>
            </a:r>
            <a:endParaRPr lang="en-US" sz="1250" dirty="0"/>
          </a:p>
        </p:txBody>
      </p:sp>
      <p:graphicFrame>
        <p:nvGraphicFramePr>
          <p:cNvPr id="22" name="Chart 0" descr=""/>
          <p:cNvGraphicFramePr/>
          <p:nvPr/>
        </p:nvGraphicFramePr>
        <p:xfrm>
          <a:off x="7360920" y="3657600"/>
          <a:ext cx="4005072" cy="1874520"/>
        </p:xfrm>
        <a:graphic xmlns:a="http://schemas.openxmlformats.org/drawingml/2006/main">
          <a:graphicData uri="http://schemas.openxmlformats.org/drawingml/2006/chart">
            <c:chart xmlns:c="http://schemas.openxmlformats.org/drawingml/2006/chart" r:id="rId4"/>
          </a:graphicData>
        </a:graphic>
      </p:graphicFrame>
      <p:sp>
        <p:nvSpPr>
          <p:cNvPr id="23" name="Text 17"/>
          <p:cNvSpPr/>
          <p:nvPr/>
        </p:nvSpPr>
        <p:spPr>
          <a:xfrm>
            <a:off x="7498080" y="5650992"/>
            <a:ext cx="3730752" cy="365760"/>
          </a:xfrm>
          <a:prstGeom prst="rect">
            <a:avLst/>
          </a:prstGeom>
          <a:noFill/>
          <a:ln/>
        </p:spPr>
        <p:txBody>
          <a:bodyPr wrap="square" lIns="0" tIns="0" rIns="0" bIns="0" rtlCol="0" anchor="ctr"/>
          <a:lstStyle/>
          <a:p>
            <a:pPr indent="0" marL="0">
              <a:buNone/>
            </a:pPr>
            <a:r>
              <a:rPr lang="en-US" sz="950" i="1" dirty="0">
                <a:solidFill>
                  <a:srgbClr val="5E7A80"/>
                </a:solidFill>
                <a:latin typeface="Calibri" pitchFamily="34" charset="0"/>
                <a:ea typeface="Calibri" pitchFamily="34" charset="-122"/>
                <a:cs typeface="Calibri" pitchFamily="34" charset="-120"/>
              </a:rPr>
              <a:t>Widely cited estimates — useful as ballpark figures.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881360" cy="274320"/>
          </a:xfrm>
          <a:prstGeom prst="rect">
            <a:avLst/>
          </a:prstGeom>
          <a:noFill/>
          <a:ln/>
        </p:spPr>
        <p:txBody>
          <a:bodyPr wrap="square" lIns="0" tIns="0" rIns="0" bIns="0" rtlCol="0" anchor="ctr"/>
          <a:lstStyle/>
          <a:p>
            <a:pPr indent="0" marL="0">
              <a:buNone/>
            </a:pPr>
            <a:r>
              <a:rPr lang="en-US" sz="1200" b="1" spc="200" kern="0" dirty="0">
                <a:solidFill>
                  <a:srgbClr val="FF6B6B"/>
                </a:solidFill>
                <a:latin typeface="Calibri" pitchFamily="34" charset="0"/>
                <a:ea typeface="Calibri" pitchFamily="34" charset="-122"/>
                <a:cs typeface="Calibri" pitchFamily="34" charset="-120"/>
              </a:rPr>
              <a:t>WHAT A RECOMMENDER DOES</a:t>
            </a:r>
            <a:endParaRPr lang="en-US" sz="1200" dirty="0"/>
          </a:p>
        </p:txBody>
      </p:sp>
      <p:sp>
        <p:nvSpPr>
          <p:cNvPr id="3" name="Text 1"/>
          <p:cNvSpPr/>
          <p:nvPr/>
        </p:nvSpPr>
        <p:spPr>
          <a:xfrm>
            <a:off x="640080" y="630936"/>
            <a:ext cx="10881360" cy="731520"/>
          </a:xfrm>
          <a:prstGeom prst="rect">
            <a:avLst/>
          </a:prstGeom>
          <a:noFill/>
          <a:ln/>
        </p:spPr>
        <p:txBody>
          <a:bodyPr wrap="square" lIns="0" tIns="0" rIns="0" bIns="0" rtlCol="0" anchor="ctr"/>
          <a:lstStyle/>
          <a:p>
            <a:pPr indent="0" marL="0">
              <a:buNone/>
            </a:pPr>
            <a:r>
              <a:rPr lang="en-US" sz="2700" b="1" dirty="0">
                <a:solidFill>
                  <a:srgbClr val="153A40"/>
                </a:solidFill>
                <a:latin typeface="Cambria" pitchFamily="34" charset="0"/>
                <a:ea typeface="Cambria" pitchFamily="34" charset="-122"/>
                <a:cs typeface="Cambria" pitchFamily="34" charset="-120"/>
              </a:rPr>
              <a:t>Predict relevance, then rank</a:t>
            </a:r>
            <a:endParaRPr lang="en-US" sz="2700" dirty="0"/>
          </a:p>
        </p:txBody>
      </p:sp>
      <p:sp>
        <p:nvSpPr>
          <p:cNvPr id="4" name="Shape 2"/>
          <p:cNvSpPr/>
          <p:nvPr/>
        </p:nvSpPr>
        <p:spPr>
          <a:xfrm>
            <a:off x="640080" y="1600200"/>
            <a:ext cx="10927080" cy="1024128"/>
          </a:xfrm>
          <a:prstGeom prst="roundRect">
            <a:avLst>
              <a:gd name="adj" fmla="val 10714"/>
            </a:avLst>
          </a:prstGeom>
          <a:solidFill>
            <a:srgbClr val="EAF7F5"/>
          </a:solidFill>
          <a:ln/>
          <a:effectLst>
            <a:outerShdw sx="100000" sy="100000" kx="0" ky="0" algn="bl" rotWithShape="0" blurRad="127000" dist="50800" dir="5400000">
              <a:srgbClr val="8A93A6">
                <a:alpha val="13000"/>
              </a:srgbClr>
            </a:outerShdw>
          </a:effectLst>
        </p:spPr>
      </p:sp>
      <p:sp>
        <p:nvSpPr>
          <p:cNvPr id="5" name="Shape 3"/>
          <p:cNvSpPr/>
          <p:nvPr/>
        </p:nvSpPr>
        <p:spPr>
          <a:xfrm>
            <a:off x="896112" y="1819656"/>
            <a:ext cx="566928" cy="566928"/>
          </a:xfrm>
          <a:prstGeom prst="ellipse">
            <a:avLst/>
          </a:prstGeom>
          <a:solidFill>
            <a:srgbClr val="FF6B6B"/>
          </a:solidFill>
          <a:ln/>
          <a:effectLst>
            <a:outerShdw sx="100000" sy="100000" kx="0" ky="0" algn="bl" rotWithShape="0" blurRad="127000" dist="50800" dir="5400000">
              <a:srgbClr val="8A93A6">
                <a:alpha val="13000"/>
              </a:srgbClr>
            </a:outerShdw>
          </a:effectLst>
        </p:spPr>
      </p:sp>
      <p:pic>
        <p:nvPicPr>
          <p:cNvPr id="6" name="Image 0" descr="preencoded.png">    </p:cNvPr>
          <p:cNvPicPr>
            <a:picLocks noChangeAspect="1"/>
          </p:cNvPicPr>
          <p:nvPr/>
        </p:nvPicPr>
        <p:blipFill>
          <a:blip r:embed="rId1"/>
          <a:stretch>
            <a:fillRect/>
          </a:stretch>
        </p:blipFill>
        <p:spPr>
          <a:xfrm>
            <a:off x="1049183" y="1972727"/>
            <a:ext cx="260787" cy="260787"/>
          </a:xfrm>
          <a:prstGeom prst="rect">
            <a:avLst/>
          </a:prstGeom>
        </p:spPr>
      </p:pic>
      <p:sp>
        <p:nvSpPr>
          <p:cNvPr id="7" name="Text 4"/>
          <p:cNvSpPr/>
          <p:nvPr/>
        </p:nvSpPr>
        <p:spPr>
          <a:xfrm>
            <a:off x="1691640" y="1700784"/>
            <a:ext cx="9646920" cy="841248"/>
          </a:xfrm>
          <a:prstGeom prst="rect">
            <a:avLst/>
          </a:prstGeom>
          <a:noFill/>
          <a:ln/>
        </p:spPr>
        <p:txBody>
          <a:bodyPr wrap="square" lIns="0" tIns="0" rIns="0" bIns="0" rtlCol="0" anchor="ctr"/>
          <a:lstStyle/>
          <a:p>
            <a:pPr indent="0" marL="0">
              <a:buNone/>
            </a:pPr>
            <a:r>
              <a:rPr lang="en-US" sz="1450" dirty="0">
                <a:solidFill>
                  <a:srgbClr val="153A40"/>
                </a:solidFill>
                <a:latin typeface="Calibri" pitchFamily="34" charset="0"/>
                <a:ea typeface="Calibri" pitchFamily="34" charset="-122"/>
                <a:cs typeface="Calibri" pitchFamily="34" charset="-120"/>
              </a:rPr>
              <a:t>A recommender is a system that guesses what you'll like and shows you those items first. Think of a knowledgeable shop assistant who remembers everyone.</a:t>
            </a:r>
            <a:endParaRPr lang="en-US" sz="1450" dirty="0"/>
          </a:p>
        </p:txBody>
      </p:sp>
      <p:sp>
        <p:nvSpPr>
          <p:cNvPr id="8" name="Shape 5"/>
          <p:cNvSpPr/>
          <p:nvPr/>
        </p:nvSpPr>
        <p:spPr>
          <a:xfrm>
            <a:off x="640080" y="3063240"/>
            <a:ext cx="3154680" cy="2331720"/>
          </a:xfrm>
          <a:prstGeom prst="roundRect">
            <a:avLst>
              <a:gd name="adj" fmla="val 4706"/>
            </a:avLst>
          </a:prstGeom>
          <a:solidFill>
            <a:srgbClr val="FFFFFF"/>
          </a:solidFill>
          <a:ln/>
          <a:effectLst>
            <a:outerShdw sx="100000" sy="100000" kx="0" ky="0" algn="bl" rotWithShape="0" blurRad="127000" dist="50800" dir="5400000">
              <a:srgbClr val="8A93A6">
                <a:alpha val="13000"/>
              </a:srgbClr>
            </a:outerShdw>
          </a:effectLst>
        </p:spPr>
      </p:sp>
      <p:sp>
        <p:nvSpPr>
          <p:cNvPr id="9" name="Shape 6"/>
          <p:cNvSpPr/>
          <p:nvPr/>
        </p:nvSpPr>
        <p:spPr>
          <a:xfrm>
            <a:off x="640080" y="3063240"/>
            <a:ext cx="3154680" cy="2331720"/>
          </a:xfrm>
          <a:prstGeom prst="roundRect">
            <a:avLst>
              <a:gd name="adj" fmla="val 4706"/>
            </a:avLst>
          </a:prstGeom>
          <a:solidFill>
            <a:srgbClr val="FFFFFF">
              <a:alpha val="0"/>
            </a:srgbClr>
          </a:solidFill>
          <a:ln w="12700">
            <a:solidFill>
              <a:srgbClr val="CDE8E3"/>
            </a:solidFill>
            <a:prstDash val="solid"/>
          </a:ln>
        </p:spPr>
      </p:sp>
      <p:sp>
        <p:nvSpPr>
          <p:cNvPr id="10" name="Shape 7"/>
          <p:cNvSpPr/>
          <p:nvPr/>
        </p:nvSpPr>
        <p:spPr>
          <a:xfrm>
            <a:off x="1888236" y="3355848"/>
            <a:ext cx="658368" cy="658368"/>
          </a:xfrm>
          <a:prstGeom prst="ellipse">
            <a:avLst/>
          </a:prstGeom>
          <a:solidFill>
            <a:srgbClr val="028090"/>
          </a:solidFill>
          <a:ln/>
          <a:effectLst>
            <a:outerShdw sx="100000" sy="100000" kx="0" ky="0" algn="bl" rotWithShape="0" blurRad="127000" dist="50800" dir="5400000">
              <a:srgbClr val="8A93A6">
                <a:alpha val="13000"/>
              </a:srgbClr>
            </a:outerShdw>
          </a:effectLst>
        </p:spPr>
      </p:sp>
      <p:pic>
        <p:nvPicPr>
          <p:cNvPr id="11" name="Image 1" descr="preencoded.png">    </p:cNvPr>
          <p:cNvPicPr>
            <a:picLocks noChangeAspect="1"/>
          </p:cNvPicPr>
          <p:nvPr/>
        </p:nvPicPr>
        <p:blipFill>
          <a:blip r:embed="rId2"/>
          <a:stretch>
            <a:fillRect/>
          </a:stretch>
        </p:blipFill>
        <p:spPr>
          <a:xfrm>
            <a:off x="2065995" y="3533607"/>
            <a:ext cx="302849" cy="302849"/>
          </a:xfrm>
          <a:prstGeom prst="rect">
            <a:avLst/>
          </a:prstGeom>
        </p:spPr>
      </p:pic>
      <p:sp>
        <p:nvSpPr>
          <p:cNvPr id="12" name="Text 8"/>
          <p:cNvSpPr/>
          <p:nvPr/>
        </p:nvSpPr>
        <p:spPr>
          <a:xfrm>
            <a:off x="822960" y="4142232"/>
            <a:ext cx="2788920" cy="365760"/>
          </a:xfrm>
          <a:prstGeom prst="rect">
            <a:avLst/>
          </a:prstGeom>
          <a:noFill/>
          <a:ln/>
        </p:spPr>
        <p:txBody>
          <a:bodyPr wrap="square" lIns="0" tIns="0" rIns="0" bIns="0" rtlCol="0" anchor="ctr"/>
          <a:lstStyle/>
          <a:p>
            <a:pPr algn="ctr" indent="0" marL="0">
              <a:buNone/>
            </a:pPr>
            <a:r>
              <a:rPr lang="en-US" sz="1700" b="1" dirty="0">
                <a:solidFill>
                  <a:srgbClr val="153A40"/>
                </a:solidFill>
                <a:latin typeface="Cambria" pitchFamily="34" charset="0"/>
                <a:ea typeface="Cambria" pitchFamily="34" charset="-122"/>
                <a:cs typeface="Cambria" pitchFamily="34" charset="-120"/>
              </a:rPr>
              <a:t>Input</a:t>
            </a:r>
            <a:endParaRPr lang="en-US" sz="1700" dirty="0"/>
          </a:p>
        </p:txBody>
      </p:sp>
      <p:sp>
        <p:nvSpPr>
          <p:cNvPr id="13" name="Text 9"/>
          <p:cNvSpPr/>
          <p:nvPr/>
        </p:nvSpPr>
        <p:spPr>
          <a:xfrm>
            <a:off x="896112" y="4526280"/>
            <a:ext cx="2642616" cy="777240"/>
          </a:xfrm>
          <a:prstGeom prst="rect">
            <a:avLst/>
          </a:prstGeom>
          <a:noFill/>
          <a:ln/>
        </p:spPr>
        <p:txBody>
          <a:bodyPr wrap="square" lIns="0" tIns="0" rIns="0" bIns="0" rtlCol="0" anchor="ctr"/>
          <a:lstStyle/>
          <a:p>
            <a:pPr algn="ctr" indent="0" marL="0">
              <a:buNone/>
            </a:pPr>
            <a:r>
              <a:rPr lang="en-US" sz="1250" dirty="0">
                <a:solidFill>
                  <a:srgbClr val="5E7A80"/>
                </a:solidFill>
                <a:latin typeface="Calibri" pitchFamily="34" charset="0"/>
                <a:ea typeface="Calibri" pitchFamily="34" charset="-122"/>
                <a:cs typeface="Calibri" pitchFamily="34" charset="-120"/>
              </a:rPr>
              <a:t>Information about you, the items, and the moment (what you clicked, time, device).</a:t>
            </a:r>
            <a:endParaRPr lang="en-US" sz="1250" dirty="0"/>
          </a:p>
        </p:txBody>
      </p:sp>
      <p:pic>
        <p:nvPicPr>
          <p:cNvPr id="14" name="Image 2" descr="preencoded.png">    </p:cNvPr>
          <p:cNvPicPr>
            <a:picLocks noChangeAspect="1"/>
          </p:cNvPicPr>
          <p:nvPr/>
        </p:nvPicPr>
        <p:blipFill>
          <a:blip r:embed="rId3"/>
          <a:stretch>
            <a:fillRect/>
          </a:stretch>
        </p:blipFill>
        <p:spPr>
          <a:xfrm>
            <a:off x="3904488" y="4055364"/>
            <a:ext cx="347472" cy="173736"/>
          </a:xfrm>
          <a:prstGeom prst="rect">
            <a:avLst/>
          </a:prstGeom>
        </p:spPr>
      </p:pic>
      <p:sp>
        <p:nvSpPr>
          <p:cNvPr id="15" name="Shape 10"/>
          <p:cNvSpPr/>
          <p:nvPr/>
        </p:nvSpPr>
        <p:spPr>
          <a:xfrm>
            <a:off x="4361688" y="3063240"/>
            <a:ext cx="3154680" cy="2331720"/>
          </a:xfrm>
          <a:prstGeom prst="roundRect">
            <a:avLst>
              <a:gd name="adj" fmla="val 4706"/>
            </a:avLst>
          </a:prstGeom>
          <a:solidFill>
            <a:srgbClr val="FFFFFF"/>
          </a:solidFill>
          <a:ln/>
          <a:effectLst>
            <a:outerShdw sx="100000" sy="100000" kx="0" ky="0" algn="bl" rotWithShape="0" blurRad="127000" dist="50800" dir="5400000">
              <a:srgbClr val="8A93A6">
                <a:alpha val="13000"/>
              </a:srgbClr>
            </a:outerShdw>
          </a:effectLst>
        </p:spPr>
      </p:sp>
      <p:sp>
        <p:nvSpPr>
          <p:cNvPr id="16" name="Shape 11"/>
          <p:cNvSpPr/>
          <p:nvPr/>
        </p:nvSpPr>
        <p:spPr>
          <a:xfrm>
            <a:off x="4361688" y="3063240"/>
            <a:ext cx="3154680" cy="2331720"/>
          </a:xfrm>
          <a:prstGeom prst="roundRect">
            <a:avLst>
              <a:gd name="adj" fmla="val 4706"/>
            </a:avLst>
          </a:prstGeom>
          <a:solidFill>
            <a:srgbClr val="FFFFFF">
              <a:alpha val="0"/>
            </a:srgbClr>
          </a:solidFill>
          <a:ln w="12700">
            <a:solidFill>
              <a:srgbClr val="CDE8E3"/>
            </a:solidFill>
            <a:prstDash val="solid"/>
          </a:ln>
        </p:spPr>
      </p:sp>
      <p:sp>
        <p:nvSpPr>
          <p:cNvPr id="17" name="Shape 12"/>
          <p:cNvSpPr/>
          <p:nvPr/>
        </p:nvSpPr>
        <p:spPr>
          <a:xfrm>
            <a:off x="5609844" y="3355848"/>
            <a:ext cx="658368" cy="658368"/>
          </a:xfrm>
          <a:prstGeom prst="ellipse">
            <a:avLst/>
          </a:prstGeom>
          <a:solidFill>
            <a:srgbClr val="028090"/>
          </a:solidFill>
          <a:ln/>
          <a:effectLst>
            <a:outerShdw sx="100000" sy="100000" kx="0" ky="0" algn="bl" rotWithShape="0" blurRad="127000" dist="50800" dir="5400000">
              <a:srgbClr val="8A93A6">
                <a:alpha val="13000"/>
              </a:srgbClr>
            </a:outerShdw>
          </a:effectLst>
        </p:spPr>
      </p:sp>
      <p:pic>
        <p:nvPicPr>
          <p:cNvPr id="18" name="Image 3" descr="preencoded.png">    </p:cNvPr>
          <p:cNvPicPr>
            <a:picLocks noChangeAspect="1"/>
          </p:cNvPicPr>
          <p:nvPr/>
        </p:nvPicPr>
        <p:blipFill>
          <a:blip r:embed="rId4"/>
          <a:stretch>
            <a:fillRect/>
          </a:stretch>
        </p:blipFill>
        <p:spPr>
          <a:xfrm>
            <a:off x="5787603" y="3533607"/>
            <a:ext cx="302849" cy="302849"/>
          </a:xfrm>
          <a:prstGeom prst="rect">
            <a:avLst/>
          </a:prstGeom>
        </p:spPr>
      </p:pic>
      <p:sp>
        <p:nvSpPr>
          <p:cNvPr id="19" name="Text 13"/>
          <p:cNvSpPr/>
          <p:nvPr/>
        </p:nvSpPr>
        <p:spPr>
          <a:xfrm>
            <a:off x="4544568" y="4142232"/>
            <a:ext cx="2788920" cy="365760"/>
          </a:xfrm>
          <a:prstGeom prst="rect">
            <a:avLst/>
          </a:prstGeom>
          <a:noFill/>
          <a:ln/>
        </p:spPr>
        <p:txBody>
          <a:bodyPr wrap="square" lIns="0" tIns="0" rIns="0" bIns="0" rtlCol="0" anchor="ctr"/>
          <a:lstStyle/>
          <a:p>
            <a:pPr algn="ctr" indent="0" marL="0">
              <a:buNone/>
            </a:pPr>
            <a:r>
              <a:rPr lang="en-US" sz="1700" b="1" dirty="0">
                <a:solidFill>
                  <a:srgbClr val="153A40"/>
                </a:solidFill>
                <a:latin typeface="Cambria" pitchFamily="34" charset="0"/>
                <a:ea typeface="Cambria" pitchFamily="34" charset="-122"/>
                <a:cs typeface="Cambria" pitchFamily="34" charset="-120"/>
              </a:rPr>
              <a:t>Model</a:t>
            </a:r>
            <a:endParaRPr lang="en-US" sz="1700" dirty="0"/>
          </a:p>
        </p:txBody>
      </p:sp>
      <p:sp>
        <p:nvSpPr>
          <p:cNvPr id="20" name="Text 14"/>
          <p:cNvSpPr/>
          <p:nvPr/>
        </p:nvSpPr>
        <p:spPr>
          <a:xfrm>
            <a:off x="4617720" y="4526280"/>
            <a:ext cx="2642616" cy="777240"/>
          </a:xfrm>
          <a:prstGeom prst="rect">
            <a:avLst/>
          </a:prstGeom>
          <a:noFill/>
          <a:ln/>
        </p:spPr>
        <p:txBody>
          <a:bodyPr wrap="square" lIns="0" tIns="0" rIns="0" bIns="0" rtlCol="0" anchor="ctr"/>
          <a:lstStyle/>
          <a:p>
            <a:pPr algn="ctr" indent="0" marL="0">
              <a:buNone/>
            </a:pPr>
            <a:r>
              <a:rPr lang="en-US" sz="1250" dirty="0">
                <a:solidFill>
                  <a:srgbClr val="5E7A80"/>
                </a:solidFill>
                <a:latin typeface="Calibri" pitchFamily="34" charset="0"/>
                <a:ea typeface="Calibri" pitchFamily="34" charset="-122"/>
                <a:cs typeface="Calibri" pitchFamily="34" charset="-120"/>
              </a:rPr>
              <a:t>A formula that gives each item a relevance score for you.</a:t>
            </a:r>
            <a:endParaRPr lang="en-US" sz="1250" dirty="0"/>
          </a:p>
        </p:txBody>
      </p:sp>
      <p:pic>
        <p:nvPicPr>
          <p:cNvPr id="21" name="Image 4" descr="preencoded.png">    </p:cNvPr>
          <p:cNvPicPr>
            <a:picLocks noChangeAspect="1"/>
          </p:cNvPicPr>
          <p:nvPr/>
        </p:nvPicPr>
        <p:blipFill>
          <a:blip r:embed="rId5"/>
          <a:stretch>
            <a:fillRect/>
          </a:stretch>
        </p:blipFill>
        <p:spPr>
          <a:xfrm>
            <a:off x="7626096" y="4055364"/>
            <a:ext cx="347472" cy="173736"/>
          </a:xfrm>
          <a:prstGeom prst="rect">
            <a:avLst/>
          </a:prstGeom>
        </p:spPr>
      </p:pic>
      <p:sp>
        <p:nvSpPr>
          <p:cNvPr id="22" name="Shape 15"/>
          <p:cNvSpPr/>
          <p:nvPr/>
        </p:nvSpPr>
        <p:spPr>
          <a:xfrm>
            <a:off x="8083296" y="3063240"/>
            <a:ext cx="3154680" cy="2331720"/>
          </a:xfrm>
          <a:prstGeom prst="roundRect">
            <a:avLst>
              <a:gd name="adj" fmla="val 4706"/>
            </a:avLst>
          </a:prstGeom>
          <a:solidFill>
            <a:srgbClr val="FFFFFF"/>
          </a:solidFill>
          <a:ln/>
          <a:effectLst>
            <a:outerShdw sx="100000" sy="100000" kx="0" ky="0" algn="bl" rotWithShape="0" blurRad="127000" dist="50800" dir="5400000">
              <a:srgbClr val="8A93A6">
                <a:alpha val="13000"/>
              </a:srgbClr>
            </a:outerShdw>
          </a:effectLst>
        </p:spPr>
      </p:sp>
      <p:sp>
        <p:nvSpPr>
          <p:cNvPr id="23" name="Shape 16"/>
          <p:cNvSpPr/>
          <p:nvPr/>
        </p:nvSpPr>
        <p:spPr>
          <a:xfrm>
            <a:off x="8083296" y="3063240"/>
            <a:ext cx="3154680" cy="2331720"/>
          </a:xfrm>
          <a:prstGeom prst="roundRect">
            <a:avLst>
              <a:gd name="adj" fmla="val 4706"/>
            </a:avLst>
          </a:prstGeom>
          <a:solidFill>
            <a:srgbClr val="FFFFFF">
              <a:alpha val="0"/>
            </a:srgbClr>
          </a:solidFill>
          <a:ln w="12700">
            <a:solidFill>
              <a:srgbClr val="CDE8E3"/>
            </a:solidFill>
            <a:prstDash val="solid"/>
          </a:ln>
        </p:spPr>
      </p:sp>
      <p:sp>
        <p:nvSpPr>
          <p:cNvPr id="24" name="Shape 17"/>
          <p:cNvSpPr/>
          <p:nvPr/>
        </p:nvSpPr>
        <p:spPr>
          <a:xfrm>
            <a:off x="9331452" y="3355848"/>
            <a:ext cx="658368" cy="658368"/>
          </a:xfrm>
          <a:prstGeom prst="ellipse">
            <a:avLst/>
          </a:prstGeom>
          <a:solidFill>
            <a:srgbClr val="028090"/>
          </a:solidFill>
          <a:ln/>
          <a:effectLst>
            <a:outerShdw sx="100000" sy="100000" kx="0" ky="0" algn="bl" rotWithShape="0" blurRad="127000" dist="50800" dir="5400000">
              <a:srgbClr val="8A93A6">
                <a:alpha val="13000"/>
              </a:srgbClr>
            </a:outerShdw>
          </a:effectLst>
        </p:spPr>
      </p:sp>
      <p:pic>
        <p:nvPicPr>
          <p:cNvPr id="25" name="Image 5" descr="preencoded.png">    </p:cNvPr>
          <p:cNvPicPr>
            <a:picLocks noChangeAspect="1"/>
          </p:cNvPicPr>
          <p:nvPr/>
        </p:nvPicPr>
        <p:blipFill>
          <a:blip r:embed="rId6"/>
          <a:stretch>
            <a:fillRect/>
          </a:stretch>
        </p:blipFill>
        <p:spPr>
          <a:xfrm>
            <a:off x="9509211" y="3533607"/>
            <a:ext cx="302849" cy="302849"/>
          </a:xfrm>
          <a:prstGeom prst="rect">
            <a:avLst/>
          </a:prstGeom>
        </p:spPr>
      </p:pic>
      <p:sp>
        <p:nvSpPr>
          <p:cNvPr id="26" name="Text 18"/>
          <p:cNvSpPr/>
          <p:nvPr/>
        </p:nvSpPr>
        <p:spPr>
          <a:xfrm>
            <a:off x="8266176" y="4142232"/>
            <a:ext cx="2788920" cy="365760"/>
          </a:xfrm>
          <a:prstGeom prst="rect">
            <a:avLst/>
          </a:prstGeom>
          <a:noFill/>
          <a:ln/>
        </p:spPr>
        <p:txBody>
          <a:bodyPr wrap="square" lIns="0" tIns="0" rIns="0" bIns="0" rtlCol="0" anchor="ctr"/>
          <a:lstStyle/>
          <a:p>
            <a:pPr algn="ctr" indent="0" marL="0">
              <a:buNone/>
            </a:pPr>
            <a:r>
              <a:rPr lang="en-US" sz="1700" b="1" dirty="0">
                <a:solidFill>
                  <a:srgbClr val="153A40"/>
                </a:solidFill>
                <a:latin typeface="Cambria" pitchFamily="34" charset="0"/>
                <a:ea typeface="Cambria" pitchFamily="34" charset="-122"/>
                <a:cs typeface="Cambria" pitchFamily="34" charset="-120"/>
              </a:rPr>
              <a:t>Ranked output</a:t>
            </a:r>
            <a:endParaRPr lang="en-US" sz="1700" dirty="0"/>
          </a:p>
        </p:txBody>
      </p:sp>
      <p:sp>
        <p:nvSpPr>
          <p:cNvPr id="27" name="Text 19"/>
          <p:cNvSpPr/>
          <p:nvPr/>
        </p:nvSpPr>
        <p:spPr>
          <a:xfrm>
            <a:off x="8339328" y="4526280"/>
            <a:ext cx="2642616" cy="777240"/>
          </a:xfrm>
          <a:prstGeom prst="rect">
            <a:avLst/>
          </a:prstGeom>
          <a:noFill/>
          <a:ln/>
        </p:spPr>
        <p:txBody>
          <a:bodyPr wrap="square" lIns="0" tIns="0" rIns="0" bIns="0" rtlCol="0" anchor="ctr"/>
          <a:lstStyle/>
          <a:p>
            <a:pPr algn="ctr" indent="0" marL="0">
              <a:buNone/>
            </a:pPr>
            <a:r>
              <a:rPr lang="en-US" sz="1250" dirty="0">
                <a:solidFill>
                  <a:srgbClr val="5E7A80"/>
                </a:solidFill>
                <a:latin typeface="Calibri" pitchFamily="34" charset="0"/>
                <a:ea typeface="Calibri" pitchFamily="34" charset="-122"/>
                <a:cs typeface="Calibri" pitchFamily="34" charset="-120"/>
              </a:rPr>
              <a:t>The items sorted from most to least likely to interest you.</a:t>
            </a:r>
            <a:endParaRPr lang="en-US" sz="1250" dirty="0"/>
          </a:p>
        </p:txBody>
      </p:sp>
      <p:sp>
        <p:nvSpPr>
          <p:cNvPr id="28" name="Text 20"/>
          <p:cNvSpPr/>
          <p:nvPr/>
        </p:nvSpPr>
        <p:spPr>
          <a:xfrm>
            <a:off x="640080" y="5623560"/>
            <a:ext cx="10927080" cy="365760"/>
          </a:xfrm>
          <a:prstGeom prst="rect">
            <a:avLst/>
          </a:prstGeom>
          <a:noFill/>
          <a:ln/>
        </p:spPr>
        <p:txBody>
          <a:bodyPr wrap="square" lIns="0" tIns="0" rIns="0" bIns="0" rtlCol="0" anchor="ctr"/>
          <a:lstStyle/>
          <a:p>
            <a:pPr algn="ctr" indent="0" marL="0">
              <a:buNone/>
            </a:pPr>
            <a:r>
              <a:rPr lang="en-US" sz="1200" i="1" dirty="0">
                <a:solidFill>
                  <a:srgbClr val="00A896"/>
                </a:solidFill>
                <a:latin typeface="Calibri" pitchFamily="34" charset="0"/>
                <a:ea typeface="Calibri" pitchFamily="34" charset="-122"/>
                <a:cs typeface="Calibri" pitchFamily="34" charset="-120"/>
              </a:rPr>
              <a:t>In short: data goes in, a score comes out, and the highest scores are shown first.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881360" cy="274320"/>
          </a:xfrm>
          <a:prstGeom prst="rect">
            <a:avLst/>
          </a:prstGeom>
          <a:noFill/>
          <a:ln/>
        </p:spPr>
        <p:txBody>
          <a:bodyPr wrap="square" lIns="0" tIns="0" rIns="0" bIns="0" rtlCol="0" anchor="ctr"/>
          <a:lstStyle/>
          <a:p>
            <a:pPr indent="0" marL="0">
              <a:buNone/>
            </a:pPr>
            <a:r>
              <a:rPr lang="en-US" sz="1200" b="1" spc="200" kern="0" dirty="0">
                <a:solidFill>
                  <a:srgbClr val="FF6B6B"/>
                </a:solidFill>
                <a:latin typeface="Calibri" pitchFamily="34" charset="0"/>
                <a:ea typeface="Calibri" pitchFamily="34" charset="-122"/>
                <a:cs typeface="Calibri" pitchFamily="34" charset="-120"/>
              </a:rPr>
              <a:t>TYPES OF RECOMMENDATIONS</a:t>
            </a:r>
            <a:endParaRPr lang="en-US" sz="1200" dirty="0"/>
          </a:p>
        </p:txBody>
      </p:sp>
      <p:sp>
        <p:nvSpPr>
          <p:cNvPr id="3" name="Text 1"/>
          <p:cNvSpPr/>
          <p:nvPr/>
        </p:nvSpPr>
        <p:spPr>
          <a:xfrm>
            <a:off x="640080" y="630936"/>
            <a:ext cx="10881360" cy="731520"/>
          </a:xfrm>
          <a:prstGeom prst="rect">
            <a:avLst/>
          </a:prstGeom>
          <a:noFill/>
          <a:ln/>
        </p:spPr>
        <p:txBody>
          <a:bodyPr wrap="square" lIns="0" tIns="0" rIns="0" bIns="0" rtlCol="0" anchor="ctr"/>
          <a:lstStyle/>
          <a:p>
            <a:pPr indent="0" marL="0">
              <a:buNone/>
            </a:pPr>
            <a:r>
              <a:rPr lang="en-US" sz="2700" b="1" dirty="0">
                <a:solidFill>
                  <a:srgbClr val="153A40"/>
                </a:solidFill>
                <a:latin typeface="Cambria" pitchFamily="34" charset="0"/>
                <a:ea typeface="Cambria" pitchFamily="34" charset="-122"/>
                <a:cs typeface="Cambria" pitchFamily="34" charset="-120"/>
              </a:rPr>
              <a:t>The same engine, many storefront surfaces</a:t>
            </a:r>
            <a:endParaRPr lang="en-US" sz="2700" dirty="0"/>
          </a:p>
        </p:txBody>
      </p:sp>
      <p:sp>
        <p:nvSpPr>
          <p:cNvPr id="4" name="Shape 2"/>
          <p:cNvSpPr/>
          <p:nvPr/>
        </p:nvSpPr>
        <p:spPr>
          <a:xfrm>
            <a:off x="640080" y="1600200"/>
            <a:ext cx="3456432" cy="1993392"/>
          </a:xfrm>
          <a:prstGeom prst="roundRect">
            <a:avLst>
              <a:gd name="adj" fmla="val 5505"/>
            </a:avLst>
          </a:prstGeom>
          <a:solidFill>
            <a:srgbClr val="EAF7F5"/>
          </a:solidFill>
          <a:ln/>
          <a:effectLst>
            <a:outerShdw sx="100000" sy="100000" kx="0" ky="0" algn="bl" rotWithShape="0" blurRad="127000" dist="50800" dir="5400000">
              <a:srgbClr val="8A93A6">
                <a:alpha val="13000"/>
              </a:srgbClr>
            </a:outerShdw>
          </a:effectLst>
        </p:spPr>
      </p:sp>
      <p:sp>
        <p:nvSpPr>
          <p:cNvPr id="5" name="Shape 3"/>
          <p:cNvSpPr/>
          <p:nvPr/>
        </p:nvSpPr>
        <p:spPr>
          <a:xfrm>
            <a:off x="932688" y="1911096"/>
            <a:ext cx="640080" cy="640080"/>
          </a:xfrm>
          <a:prstGeom prst="ellipse">
            <a:avLst/>
          </a:prstGeom>
          <a:solidFill>
            <a:srgbClr val="028090"/>
          </a:solidFill>
          <a:ln/>
          <a:effectLst>
            <a:outerShdw sx="100000" sy="100000" kx="0" ky="0" algn="bl" rotWithShape="0" blurRad="127000" dist="50800" dir="5400000">
              <a:srgbClr val="8A93A6">
                <a:alpha val="13000"/>
              </a:srgbClr>
            </a:outerShdw>
          </a:effectLst>
        </p:spPr>
      </p:sp>
      <p:pic>
        <p:nvPicPr>
          <p:cNvPr id="6" name="Image 0" descr="preencoded.png">    </p:cNvPr>
          <p:cNvPicPr>
            <a:picLocks noChangeAspect="1"/>
          </p:cNvPicPr>
          <p:nvPr/>
        </p:nvPicPr>
        <p:blipFill>
          <a:blip r:embed="rId1"/>
          <a:stretch>
            <a:fillRect/>
          </a:stretch>
        </p:blipFill>
        <p:spPr>
          <a:xfrm>
            <a:off x="1105510" y="2083918"/>
            <a:ext cx="294437" cy="294437"/>
          </a:xfrm>
          <a:prstGeom prst="rect">
            <a:avLst/>
          </a:prstGeom>
        </p:spPr>
      </p:pic>
      <p:sp>
        <p:nvSpPr>
          <p:cNvPr id="7" name="Text 4"/>
          <p:cNvSpPr/>
          <p:nvPr/>
        </p:nvSpPr>
        <p:spPr>
          <a:xfrm>
            <a:off x="932688" y="2660904"/>
            <a:ext cx="2907792" cy="365760"/>
          </a:xfrm>
          <a:prstGeom prst="rect">
            <a:avLst/>
          </a:prstGeom>
          <a:noFill/>
          <a:ln/>
        </p:spPr>
        <p:txBody>
          <a:bodyPr wrap="square" lIns="0" tIns="0" rIns="0" bIns="0" rtlCol="0" anchor="ctr"/>
          <a:lstStyle/>
          <a:p>
            <a:pPr indent="0" marL="0">
              <a:buNone/>
            </a:pPr>
            <a:r>
              <a:rPr lang="en-US" sz="1550" b="1" dirty="0">
                <a:solidFill>
                  <a:srgbClr val="153A40"/>
                </a:solidFill>
                <a:latin typeface="Cambria" pitchFamily="34" charset="0"/>
                <a:ea typeface="Cambria" pitchFamily="34" charset="-122"/>
                <a:cs typeface="Cambria" pitchFamily="34" charset="-120"/>
              </a:rPr>
              <a:t>Personalized</a:t>
            </a:r>
            <a:endParaRPr lang="en-US" sz="1550" dirty="0"/>
          </a:p>
        </p:txBody>
      </p:sp>
      <p:sp>
        <p:nvSpPr>
          <p:cNvPr id="8" name="Text 5"/>
          <p:cNvSpPr/>
          <p:nvPr/>
        </p:nvSpPr>
        <p:spPr>
          <a:xfrm>
            <a:off x="932688" y="3026664"/>
            <a:ext cx="2907792" cy="502920"/>
          </a:xfrm>
          <a:prstGeom prst="rect">
            <a:avLst/>
          </a:prstGeom>
          <a:noFill/>
          <a:ln/>
        </p:spPr>
        <p:txBody>
          <a:bodyPr wrap="square" lIns="0" tIns="0" rIns="0" bIns="0" rtlCol="0" anchor="ctr"/>
          <a:lstStyle/>
          <a:p>
            <a:pPr indent="0" marL="0">
              <a:buNone/>
            </a:pPr>
            <a:r>
              <a:rPr lang="en-US" sz="1250" dirty="0">
                <a:solidFill>
                  <a:srgbClr val="5E7A80"/>
                </a:solidFill>
                <a:latin typeface="Calibri" pitchFamily="34" charset="0"/>
                <a:ea typeface="Calibri" pitchFamily="34" charset="-122"/>
                <a:cs typeface="Calibri" pitchFamily="34" charset="-120"/>
              </a:rPr>
              <a:t>“Recommended for you” — unique to each person.</a:t>
            </a:r>
            <a:endParaRPr lang="en-US" sz="1250" dirty="0"/>
          </a:p>
        </p:txBody>
      </p:sp>
      <p:sp>
        <p:nvSpPr>
          <p:cNvPr id="9" name="Shape 6"/>
          <p:cNvSpPr/>
          <p:nvPr/>
        </p:nvSpPr>
        <p:spPr>
          <a:xfrm>
            <a:off x="4379976" y="1600200"/>
            <a:ext cx="3456432" cy="1993392"/>
          </a:xfrm>
          <a:prstGeom prst="roundRect">
            <a:avLst>
              <a:gd name="adj" fmla="val 5505"/>
            </a:avLst>
          </a:prstGeom>
          <a:solidFill>
            <a:srgbClr val="EAF7F5"/>
          </a:solidFill>
          <a:ln/>
          <a:effectLst>
            <a:outerShdw sx="100000" sy="100000" kx="0" ky="0" algn="bl" rotWithShape="0" blurRad="127000" dist="50800" dir="5400000">
              <a:srgbClr val="8A93A6">
                <a:alpha val="13000"/>
              </a:srgbClr>
            </a:outerShdw>
          </a:effectLst>
        </p:spPr>
      </p:sp>
      <p:sp>
        <p:nvSpPr>
          <p:cNvPr id="10" name="Shape 7"/>
          <p:cNvSpPr/>
          <p:nvPr/>
        </p:nvSpPr>
        <p:spPr>
          <a:xfrm>
            <a:off x="4672584" y="1911096"/>
            <a:ext cx="640080" cy="640080"/>
          </a:xfrm>
          <a:prstGeom prst="ellipse">
            <a:avLst/>
          </a:prstGeom>
          <a:solidFill>
            <a:srgbClr val="00A896"/>
          </a:solidFill>
          <a:ln/>
          <a:effectLst>
            <a:outerShdw sx="100000" sy="100000" kx="0" ky="0" algn="bl" rotWithShape="0" blurRad="127000" dist="50800" dir="5400000">
              <a:srgbClr val="8A93A6">
                <a:alpha val="13000"/>
              </a:srgbClr>
            </a:outerShdw>
          </a:effectLst>
        </p:spPr>
      </p:sp>
      <p:pic>
        <p:nvPicPr>
          <p:cNvPr id="11" name="Image 1" descr="preencoded.png">    </p:cNvPr>
          <p:cNvPicPr>
            <a:picLocks noChangeAspect="1"/>
          </p:cNvPicPr>
          <p:nvPr/>
        </p:nvPicPr>
        <p:blipFill>
          <a:blip r:embed="rId2"/>
          <a:stretch>
            <a:fillRect/>
          </a:stretch>
        </p:blipFill>
        <p:spPr>
          <a:xfrm>
            <a:off x="4845406" y="2083918"/>
            <a:ext cx="294437" cy="294437"/>
          </a:xfrm>
          <a:prstGeom prst="rect">
            <a:avLst/>
          </a:prstGeom>
        </p:spPr>
      </p:pic>
      <p:sp>
        <p:nvSpPr>
          <p:cNvPr id="12" name="Text 8"/>
          <p:cNvSpPr/>
          <p:nvPr/>
        </p:nvSpPr>
        <p:spPr>
          <a:xfrm>
            <a:off x="4672584" y="2660904"/>
            <a:ext cx="2907792" cy="365760"/>
          </a:xfrm>
          <a:prstGeom prst="rect">
            <a:avLst/>
          </a:prstGeom>
          <a:noFill/>
          <a:ln/>
        </p:spPr>
        <p:txBody>
          <a:bodyPr wrap="square" lIns="0" tIns="0" rIns="0" bIns="0" rtlCol="0" anchor="ctr"/>
          <a:lstStyle/>
          <a:p>
            <a:pPr indent="0" marL="0">
              <a:buNone/>
            </a:pPr>
            <a:r>
              <a:rPr lang="en-US" sz="1550" b="1" dirty="0">
                <a:solidFill>
                  <a:srgbClr val="153A40"/>
                </a:solidFill>
                <a:latin typeface="Cambria" pitchFamily="34" charset="0"/>
                <a:ea typeface="Cambria" pitchFamily="34" charset="-122"/>
                <a:cs typeface="Cambria" pitchFamily="34" charset="-120"/>
              </a:rPr>
              <a:t>Frequently bought together</a:t>
            </a:r>
            <a:endParaRPr lang="en-US" sz="1550" dirty="0"/>
          </a:p>
        </p:txBody>
      </p:sp>
      <p:sp>
        <p:nvSpPr>
          <p:cNvPr id="13" name="Text 9"/>
          <p:cNvSpPr/>
          <p:nvPr/>
        </p:nvSpPr>
        <p:spPr>
          <a:xfrm>
            <a:off x="4672584" y="3026664"/>
            <a:ext cx="2907792" cy="502920"/>
          </a:xfrm>
          <a:prstGeom prst="rect">
            <a:avLst/>
          </a:prstGeom>
          <a:noFill/>
          <a:ln/>
        </p:spPr>
        <p:txBody>
          <a:bodyPr wrap="square" lIns="0" tIns="0" rIns="0" bIns="0" rtlCol="0" anchor="ctr"/>
          <a:lstStyle/>
          <a:p>
            <a:pPr indent="0" marL="0">
              <a:buNone/>
            </a:pPr>
            <a:r>
              <a:rPr lang="en-US" sz="1250" dirty="0">
                <a:solidFill>
                  <a:srgbClr val="5E7A80"/>
                </a:solidFill>
                <a:latin typeface="Calibri" pitchFamily="34" charset="0"/>
                <a:ea typeface="Calibri" pitchFamily="34" charset="-122"/>
                <a:cs typeface="Calibri" pitchFamily="34" charset="-120"/>
              </a:rPr>
              <a:t>The phone case that goes with the phone.</a:t>
            </a:r>
            <a:endParaRPr lang="en-US" sz="1250" dirty="0"/>
          </a:p>
        </p:txBody>
      </p:sp>
      <p:sp>
        <p:nvSpPr>
          <p:cNvPr id="14" name="Shape 10"/>
          <p:cNvSpPr/>
          <p:nvPr/>
        </p:nvSpPr>
        <p:spPr>
          <a:xfrm>
            <a:off x="8119872" y="1600200"/>
            <a:ext cx="3456432" cy="1993392"/>
          </a:xfrm>
          <a:prstGeom prst="roundRect">
            <a:avLst>
              <a:gd name="adj" fmla="val 5505"/>
            </a:avLst>
          </a:prstGeom>
          <a:solidFill>
            <a:srgbClr val="EAF7F5"/>
          </a:solidFill>
          <a:ln/>
          <a:effectLst>
            <a:outerShdw sx="100000" sy="100000" kx="0" ky="0" algn="bl" rotWithShape="0" blurRad="127000" dist="50800" dir="5400000">
              <a:srgbClr val="8A93A6">
                <a:alpha val="13000"/>
              </a:srgbClr>
            </a:outerShdw>
          </a:effectLst>
        </p:spPr>
      </p:sp>
      <p:sp>
        <p:nvSpPr>
          <p:cNvPr id="15" name="Shape 11"/>
          <p:cNvSpPr/>
          <p:nvPr/>
        </p:nvSpPr>
        <p:spPr>
          <a:xfrm>
            <a:off x="8412480" y="1911096"/>
            <a:ext cx="640080" cy="640080"/>
          </a:xfrm>
          <a:prstGeom prst="ellipse">
            <a:avLst/>
          </a:prstGeom>
          <a:solidFill>
            <a:srgbClr val="028090"/>
          </a:solidFill>
          <a:ln/>
          <a:effectLst>
            <a:outerShdw sx="100000" sy="100000" kx="0" ky="0" algn="bl" rotWithShape="0" blurRad="127000" dist="50800" dir="5400000">
              <a:srgbClr val="8A93A6">
                <a:alpha val="13000"/>
              </a:srgbClr>
            </a:outerShdw>
          </a:effectLst>
        </p:spPr>
      </p:sp>
      <p:pic>
        <p:nvPicPr>
          <p:cNvPr id="16" name="Image 2" descr="preencoded.png">    </p:cNvPr>
          <p:cNvPicPr>
            <a:picLocks noChangeAspect="1"/>
          </p:cNvPicPr>
          <p:nvPr/>
        </p:nvPicPr>
        <p:blipFill>
          <a:blip r:embed="rId3"/>
          <a:stretch>
            <a:fillRect/>
          </a:stretch>
        </p:blipFill>
        <p:spPr>
          <a:xfrm>
            <a:off x="8585302" y="2083918"/>
            <a:ext cx="294437" cy="294437"/>
          </a:xfrm>
          <a:prstGeom prst="rect">
            <a:avLst/>
          </a:prstGeom>
        </p:spPr>
      </p:pic>
      <p:sp>
        <p:nvSpPr>
          <p:cNvPr id="17" name="Text 12"/>
          <p:cNvSpPr/>
          <p:nvPr/>
        </p:nvSpPr>
        <p:spPr>
          <a:xfrm>
            <a:off x="8412480" y="2660904"/>
            <a:ext cx="2907792" cy="365760"/>
          </a:xfrm>
          <a:prstGeom prst="rect">
            <a:avLst/>
          </a:prstGeom>
          <a:noFill/>
          <a:ln/>
        </p:spPr>
        <p:txBody>
          <a:bodyPr wrap="square" lIns="0" tIns="0" rIns="0" bIns="0" rtlCol="0" anchor="ctr"/>
          <a:lstStyle/>
          <a:p>
            <a:pPr indent="0" marL="0">
              <a:buNone/>
            </a:pPr>
            <a:r>
              <a:rPr lang="en-US" sz="1550" b="1" dirty="0">
                <a:solidFill>
                  <a:srgbClr val="153A40"/>
                </a:solidFill>
                <a:latin typeface="Cambria" pitchFamily="34" charset="0"/>
                <a:ea typeface="Cambria" pitchFamily="34" charset="-122"/>
                <a:cs typeface="Cambria" pitchFamily="34" charset="-120"/>
              </a:rPr>
              <a:t>Trending &amp; popular</a:t>
            </a:r>
            <a:endParaRPr lang="en-US" sz="1550" dirty="0"/>
          </a:p>
        </p:txBody>
      </p:sp>
      <p:sp>
        <p:nvSpPr>
          <p:cNvPr id="18" name="Text 13"/>
          <p:cNvSpPr/>
          <p:nvPr/>
        </p:nvSpPr>
        <p:spPr>
          <a:xfrm>
            <a:off x="8412480" y="3026664"/>
            <a:ext cx="2907792" cy="502920"/>
          </a:xfrm>
          <a:prstGeom prst="rect">
            <a:avLst/>
          </a:prstGeom>
          <a:noFill/>
          <a:ln/>
        </p:spPr>
        <p:txBody>
          <a:bodyPr wrap="square" lIns="0" tIns="0" rIns="0" bIns="0" rtlCol="0" anchor="ctr"/>
          <a:lstStyle/>
          <a:p>
            <a:pPr indent="0" marL="0">
              <a:buNone/>
            </a:pPr>
            <a:r>
              <a:rPr lang="en-US" sz="1250" dirty="0">
                <a:solidFill>
                  <a:srgbClr val="5E7A80"/>
                </a:solidFill>
                <a:latin typeface="Calibri" pitchFamily="34" charset="0"/>
                <a:ea typeface="Calibri" pitchFamily="34" charset="-122"/>
                <a:cs typeface="Calibri" pitchFamily="34" charset="-120"/>
              </a:rPr>
              <a:t>What everyone's buying right now.</a:t>
            </a:r>
            <a:endParaRPr lang="en-US" sz="1250" dirty="0"/>
          </a:p>
        </p:txBody>
      </p:sp>
      <p:sp>
        <p:nvSpPr>
          <p:cNvPr id="19" name="Shape 14"/>
          <p:cNvSpPr/>
          <p:nvPr/>
        </p:nvSpPr>
        <p:spPr>
          <a:xfrm>
            <a:off x="2510028" y="3904488"/>
            <a:ext cx="3456432" cy="1993392"/>
          </a:xfrm>
          <a:prstGeom prst="roundRect">
            <a:avLst>
              <a:gd name="adj" fmla="val 5505"/>
            </a:avLst>
          </a:prstGeom>
          <a:solidFill>
            <a:srgbClr val="EAF7F5"/>
          </a:solidFill>
          <a:ln/>
          <a:effectLst>
            <a:outerShdw sx="100000" sy="100000" kx="0" ky="0" algn="bl" rotWithShape="0" blurRad="127000" dist="50800" dir="5400000">
              <a:srgbClr val="8A93A6">
                <a:alpha val="13000"/>
              </a:srgbClr>
            </a:outerShdw>
          </a:effectLst>
        </p:spPr>
      </p:sp>
      <p:sp>
        <p:nvSpPr>
          <p:cNvPr id="20" name="Shape 15"/>
          <p:cNvSpPr/>
          <p:nvPr/>
        </p:nvSpPr>
        <p:spPr>
          <a:xfrm>
            <a:off x="2802636" y="4215384"/>
            <a:ext cx="640080" cy="640080"/>
          </a:xfrm>
          <a:prstGeom prst="ellipse">
            <a:avLst/>
          </a:prstGeom>
          <a:solidFill>
            <a:srgbClr val="00A896"/>
          </a:solidFill>
          <a:ln/>
          <a:effectLst>
            <a:outerShdw sx="100000" sy="100000" kx="0" ky="0" algn="bl" rotWithShape="0" blurRad="127000" dist="50800" dir="5400000">
              <a:srgbClr val="8A93A6">
                <a:alpha val="13000"/>
              </a:srgbClr>
            </a:outerShdw>
          </a:effectLst>
        </p:spPr>
      </p:sp>
      <p:pic>
        <p:nvPicPr>
          <p:cNvPr id="21" name="Image 3" descr="preencoded.png">    </p:cNvPr>
          <p:cNvPicPr>
            <a:picLocks noChangeAspect="1"/>
          </p:cNvPicPr>
          <p:nvPr/>
        </p:nvPicPr>
        <p:blipFill>
          <a:blip r:embed="rId4"/>
          <a:stretch>
            <a:fillRect/>
          </a:stretch>
        </p:blipFill>
        <p:spPr>
          <a:xfrm>
            <a:off x="2975458" y="4388206"/>
            <a:ext cx="294437" cy="294437"/>
          </a:xfrm>
          <a:prstGeom prst="rect">
            <a:avLst/>
          </a:prstGeom>
        </p:spPr>
      </p:pic>
      <p:sp>
        <p:nvSpPr>
          <p:cNvPr id="22" name="Text 16"/>
          <p:cNvSpPr/>
          <p:nvPr/>
        </p:nvSpPr>
        <p:spPr>
          <a:xfrm>
            <a:off x="2802636" y="4965192"/>
            <a:ext cx="2907792" cy="365760"/>
          </a:xfrm>
          <a:prstGeom prst="rect">
            <a:avLst/>
          </a:prstGeom>
          <a:noFill/>
          <a:ln/>
        </p:spPr>
        <p:txBody>
          <a:bodyPr wrap="square" lIns="0" tIns="0" rIns="0" bIns="0" rtlCol="0" anchor="ctr"/>
          <a:lstStyle/>
          <a:p>
            <a:pPr indent="0" marL="0">
              <a:buNone/>
            </a:pPr>
            <a:r>
              <a:rPr lang="en-US" sz="1550" b="1" dirty="0">
                <a:solidFill>
                  <a:srgbClr val="153A40"/>
                </a:solidFill>
                <a:latin typeface="Cambria" pitchFamily="34" charset="0"/>
                <a:ea typeface="Cambria" pitchFamily="34" charset="-122"/>
                <a:cs typeface="Cambria" pitchFamily="34" charset="-120"/>
              </a:rPr>
              <a:t>Similar items</a:t>
            </a:r>
            <a:endParaRPr lang="en-US" sz="1550" dirty="0"/>
          </a:p>
        </p:txBody>
      </p:sp>
      <p:sp>
        <p:nvSpPr>
          <p:cNvPr id="23" name="Text 17"/>
          <p:cNvSpPr/>
          <p:nvPr/>
        </p:nvSpPr>
        <p:spPr>
          <a:xfrm>
            <a:off x="2802636" y="5330952"/>
            <a:ext cx="2907792" cy="502920"/>
          </a:xfrm>
          <a:prstGeom prst="rect">
            <a:avLst/>
          </a:prstGeom>
          <a:noFill/>
          <a:ln/>
        </p:spPr>
        <p:txBody>
          <a:bodyPr wrap="square" lIns="0" tIns="0" rIns="0" bIns="0" rtlCol="0" anchor="ctr"/>
          <a:lstStyle/>
          <a:p>
            <a:pPr indent="0" marL="0">
              <a:buNone/>
            </a:pPr>
            <a:r>
              <a:rPr lang="en-US" sz="1250" dirty="0">
                <a:solidFill>
                  <a:srgbClr val="5E7A80"/>
                </a:solidFill>
                <a:latin typeface="Calibri" pitchFamily="34" charset="0"/>
                <a:ea typeface="Calibri" pitchFamily="34" charset="-122"/>
                <a:cs typeface="Calibri" pitchFamily="34" charset="-120"/>
              </a:rPr>
              <a:t>“More like this one” you're looking at.</a:t>
            </a:r>
            <a:endParaRPr lang="en-US" sz="1250" dirty="0"/>
          </a:p>
        </p:txBody>
      </p:sp>
      <p:sp>
        <p:nvSpPr>
          <p:cNvPr id="24" name="Shape 18"/>
          <p:cNvSpPr/>
          <p:nvPr/>
        </p:nvSpPr>
        <p:spPr>
          <a:xfrm>
            <a:off x="6249924" y="3904488"/>
            <a:ext cx="3456432" cy="1993392"/>
          </a:xfrm>
          <a:prstGeom prst="roundRect">
            <a:avLst>
              <a:gd name="adj" fmla="val 5505"/>
            </a:avLst>
          </a:prstGeom>
          <a:solidFill>
            <a:srgbClr val="EAF7F5"/>
          </a:solidFill>
          <a:ln/>
          <a:effectLst>
            <a:outerShdw sx="100000" sy="100000" kx="0" ky="0" algn="bl" rotWithShape="0" blurRad="127000" dist="50800" dir="5400000">
              <a:srgbClr val="8A93A6">
                <a:alpha val="13000"/>
              </a:srgbClr>
            </a:outerShdw>
          </a:effectLst>
        </p:spPr>
      </p:sp>
      <p:sp>
        <p:nvSpPr>
          <p:cNvPr id="25" name="Shape 19"/>
          <p:cNvSpPr/>
          <p:nvPr/>
        </p:nvSpPr>
        <p:spPr>
          <a:xfrm>
            <a:off x="6542532" y="4215384"/>
            <a:ext cx="640080" cy="640080"/>
          </a:xfrm>
          <a:prstGeom prst="ellipse">
            <a:avLst/>
          </a:prstGeom>
          <a:solidFill>
            <a:srgbClr val="028090"/>
          </a:solidFill>
          <a:ln/>
          <a:effectLst>
            <a:outerShdw sx="100000" sy="100000" kx="0" ky="0" algn="bl" rotWithShape="0" blurRad="127000" dist="50800" dir="5400000">
              <a:srgbClr val="8A93A6">
                <a:alpha val="13000"/>
              </a:srgbClr>
            </a:outerShdw>
          </a:effectLst>
        </p:spPr>
      </p:sp>
      <p:pic>
        <p:nvPicPr>
          <p:cNvPr id="26" name="Image 4" descr="preencoded.png">    </p:cNvPr>
          <p:cNvPicPr>
            <a:picLocks noChangeAspect="1"/>
          </p:cNvPicPr>
          <p:nvPr/>
        </p:nvPicPr>
        <p:blipFill>
          <a:blip r:embed="rId5"/>
          <a:stretch>
            <a:fillRect/>
          </a:stretch>
        </p:blipFill>
        <p:spPr>
          <a:xfrm>
            <a:off x="6715354" y="4388206"/>
            <a:ext cx="294437" cy="294437"/>
          </a:xfrm>
          <a:prstGeom prst="rect">
            <a:avLst/>
          </a:prstGeom>
        </p:spPr>
      </p:pic>
      <p:sp>
        <p:nvSpPr>
          <p:cNvPr id="27" name="Text 20"/>
          <p:cNvSpPr/>
          <p:nvPr/>
        </p:nvSpPr>
        <p:spPr>
          <a:xfrm>
            <a:off x="6542532" y="4965192"/>
            <a:ext cx="2907792" cy="365760"/>
          </a:xfrm>
          <a:prstGeom prst="rect">
            <a:avLst/>
          </a:prstGeom>
          <a:noFill/>
          <a:ln/>
        </p:spPr>
        <p:txBody>
          <a:bodyPr wrap="square" lIns="0" tIns="0" rIns="0" bIns="0" rtlCol="0" anchor="ctr"/>
          <a:lstStyle/>
          <a:p>
            <a:pPr indent="0" marL="0">
              <a:buNone/>
            </a:pPr>
            <a:r>
              <a:rPr lang="en-US" sz="1550" b="1" dirty="0">
                <a:solidFill>
                  <a:srgbClr val="153A40"/>
                </a:solidFill>
                <a:latin typeface="Cambria" pitchFamily="34" charset="0"/>
                <a:ea typeface="Cambria" pitchFamily="34" charset="-122"/>
                <a:cs typeface="Cambria" pitchFamily="34" charset="-120"/>
              </a:rPr>
              <a:t>Recently viewed</a:t>
            </a:r>
            <a:endParaRPr lang="en-US" sz="1550" dirty="0"/>
          </a:p>
        </p:txBody>
      </p:sp>
      <p:sp>
        <p:nvSpPr>
          <p:cNvPr id="28" name="Text 21"/>
          <p:cNvSpPr/>
          <p:nvPr/>
        </p:nvSpPr>
        <p:spPr>
          <a:xfrm>
            <a:off x="6542532" y="5330952"/>
            <a:ext cx="2907792" cy="502920"/>
          </a:xfrm>
          <a:prstGeom prst="rect">
            <a:avLst/>
          </a:prstGeom>
          <a:noFill/>
          <a:ln/>
        </p:spPr>
        <p:txBody>
          <a:bodyPr wrap="square" lIns="0" tIns="0" rIns="0" bIns="0" rtlCol="0" anchor="ctr"/>
          <a:lstStyle/>
          <a:p>
            <a:pPr indent="0" marL="0">
              <a:buNone/>
            </a:pPr>
            <a:r>
              <a:rPr lang="en-US" sz="1250" dirty="0">
                <a:solidFill>
                  <a:srgbClr val="5E7A80"/>
                </a:solidFill>
                <a:latin typeface="Calibri" pitchFamily="34" charset="0"/>
                <a:ea typeface="Calibri" pitchFamily="34" charset="-122"/>
                <a:cs typeface="Calibri" pitchFamily="34" charset="-120"/>
              </a:rPr>
              <a:t>A handy reminder of what you already saw.</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881360" cy="274320"/>
          </a:xfrm>
          <a:prstGeom prst="rect">
            <a:avLst/>
          </a:prstGeom>
          <a:noFill/>
          <a:ln/>
        </p:spPr>
        <p:txBody>
          <a:bodyPr wrap="square" lIns="0" tIns="0" rIns="0" bIns="0" rtlCol="0" anchor="ctr"/>
          <a:lstStyle/>
          <a:p>
            <a:pPr indent="0" marL="0">
              <a:buNone/>
            </a:pPr>
            <a:r>
              <a:rPr lang="en-US" sz="1200" b="1" spc="200" kern="0" dirty="0">
                <a:solidFill>
                  <a:srgbClr val="FF6B6B"/>
                </a:solidFill>
                <a:latin typeface="Calibri" pitchFamily="34" charset="0"/>
                <a:ea typeface="Calibri" pitchFamily="34" charset="-122"/>
                <a:cs typeface="Calibri" pitchFamily="34" charset="-120"/>
              </a:rPr>
              <a:t>CORE APPROACHES</a:t>
            </a:r>
            <a:endParaRPr lang="en-US" sz="1200" dirty="0"/>
          </a:p>
        </p:txBody>
      </p:sp>
      <p:sp>
        <p:nvSpPr>
          <p:cNvPr id="3" name="Text 1"/>
          <p:cNvSpPr/>
          <p:nvPr/>
        </p:nvSpPr>
        <p:spPr>
          <a:xfrm>
            <a:off x="640080" y="630936"/>
            <a:ext cx="10881360" cy="731520"/>
          </a:xfrm>
          <a:prstGeom prst="rect">
            <a:avLst/>
          </a:prstGeom>
          <a:noFill/>
          <a:ln/>
        </p:spPr>
        <p:txBody>
          <a:bodyPr wrap="square" lIns="0" tIns="0" rIns="0" bIns="0" rtlCol="0" anchor="ctr"/>
          <a:lstStyle/>
          <a:p>
            <a:pPr indent="0" marL="0">
              <a:buNone/>
            </a:pPr>
            <a:r>
              <a:rPr lang="en-US" sz="2700" b="1" dirty="0">
                <a:solidFill>
                  <a:srgbClr val="153A40"/>
                </a:solidFill>
                <a:latin typeface="Cambria" pitchFamily="34" charset="0"/>
                <a:ea typeface="Cambria" pitchFamily="34" charset="-122"/>
                <a:cs typeface="Cambria" pitchFamily="34" charset="-120"/>
              </a:rPr>
              <a:t>How a recommender decides what to show</a:t>
            </a:r>
            <a:endParaRPr lang="en-US" sz="2700" dirty="0"/>
          </a:p>
        </p:txBody>
      </p:sp>
      <p:sp>
        <p:nvSpPr>
          <p:cNvPr id="4" name="Text 2"/>
          <p:cNvSpPr/>
          <p:nvPr/>
        </p:nvSpPr>
        <p:spPr>
          <a:xfrm>
            <a:off x="640080" y="1371600"/>
            <a:ext cx="10881360" cy="292608"/>
          </a:xfrm>
          <a:prstGeom prst="rect">
            <a:avLst/>
          </a:prstGeom>
          <a:noFill/>
          <a:ln/>
        </p:spPr>
        <p:txBody>
          <a:bodyPr wrap="square" lIns="0" tIns="0" rIns="0" bIns="0" rtlCol="0" anchor="ctr"/>
          <a:lstStyle/>
          <a:p>
            <a:pPr indent="0" marL="0">
              <a:buNone/>
            </a:pPr>
            <a:r>
              <a:rPr lang="en-US" sz="1300" i="1" dirty="0">
                <a:solidFill>
                  <a:srgbClr val="5E7A80"/>
                </a:solidFill>
                <a:latin typeface="Calibri" pitchFamily="34" charset="0"/>
                <a:ea typeface="Calibri" pitchFamily="34" charset="-122"/>
                <a:cs typeface="Calibri" pitchFamily="34" charset="-120"/>
              </a:rPr>
              <a:t>Four main ideas. Each answers “what should we show?” a different way.</a:t>
            </a:r>
            <a:endParaRPr lang="en-US" sz="1300" dirty="0"/>
          </a:p>
        </p:txBody>
      </p:sp>
      <p:sp>
        <p:nvSpPr>
          <p:cNvPr id="5" name="Shape 3"/>
          <p:cNvSpPr/>
          <p:nvPr/>
        </p:nvSpPr>
        <p:spPr>
          <a:xfrm>
            <a:off x="640080" y="1783080"/>
            <a:ext cx="5349240" cy="1627632"/>
          </a:xfrm>
          <a:prstGeom prst="roundRect">
            <a:avLst>
              <a:gd name="adj" fmla="val 6742"/>
            </a:avLst>
          </a:prstGeom>
          <a:solidFill>
            <a:srgbClr val="EAF7F5"/>
          </a:solidFill>
          <a:ln/>
          <a:effectLst>
            <a:outerShdw sx="100000" sy="100000" kx="0" ky="0" algn="bl" rotWithShape="0" blurRad="127000" dist="50800" dir="5400000">
              <a:srgbClr val="8A93A6">
                <a:alpha val="13000"/>
              </a:srgbClr>
            </a:outerShdw>
          </a:effectLst>
        </p:spPr>
      </p:sp>
      <p:sp>
        <p:nvSpPr>
          <p:cNvPr id="6" name="Shape 4"/>
          <p:cNvSpPr/>
          <p:nvPr/>
        </p:nvSpPr>
        <p:spPr>
          <a:xfrm>
            <a:off x="914400" y="2057400"/>
            <a:ext cx="713232" cy="713232"/>
          </a:xfrm>
          <a:prstGeom prst="ellipse">
            <a:avLst/>
          </a:prstGeom>
          <a:solidFill>
            <a:srgbClr val="FF6B6B"/>
          </a:solidFill>
          <a:ln/>
          <a:effectLst>
            <a:outerShdw sx="100000" sy="100000" kx="0" ky="0" algn="bl" rotWithShape="0" blurRad="127000" dist="50800" dir="5400000">
              <a:srgbClr val="8A93A6">
                <a:alpha val="13000"/>
              </a:srgbClr>
            </a:outerShdw>
          </a:effectLst>
        </p:spPr>
      </p:sp>
      <p:pic>
        <p:nvPicPr>
          <p:cNvPr id="7" name="Image 0" descr="preencoded.png">    </p:cNvPr>
          <p:cNvPicPr>
            <a:picLocks noChangeAspect="1"/>
          </p:cNvPicPr>
          <p:nvPr/>
        </p:nvPicPr>
        <p:blipFill>
          <a:blip r:embed="rId1"/>
          <a:stretch>
            <a:fillRect/>
          </a:stretch>
        </p:blipFill>
        <p:spPr>
          <a:xfrm>
            <a:off x="1106973" y="2249973"/>
            <a:ext cx="328087" cy="328087"/>
          </a:xfrm>
          <a:prstGeom prst="rect">
            <a:avLst/>
          </a:prstGeom>
        </p:spPr>
      </p:pic>
      <p:sp>
        <p:nvSpPr>
          <p:cNvPr id="8" name="Text 5"/>
          <p:cNvSpPr/>
          <p:nvPr/>
        </p:nvSpPr>
        <p:spPr>
          <a:xfrm>
            <a:off x="1810512" y="2039112"/>
            <a:ext cx="3977640" cy="365760"/>
          </a:xfrm>
          <a:prstGeom prst="rect">
            <a:avLst/>
          </a:prstGeom>
          <a:noFill/>
          <a:ln/>
        </p:spPr>
        <p:txBody>
          <a:bodyPr wrap="square" lIns="0" tIns="0" rIns="0" bIns="0" rtlCol="0" anchor="ctr"/>
          <a:lstStyle/>
          <a:p>
            <a:pPr indent="0" marL="0">
              <a:buNone/>
            </a:pPr>
            <a:r>
              <a:rPr lang="en-US" sz="1600" b="1" dirty="0">
                <a:solidFill>
                  <a:srgbClr val="153A40"/>
                </a:solidFill>
                <a:latin typeface="Cambria" pitchFamily="34" charset="0"/>
                <a:ea typeface="Cambria" pitchFamily="34" charset="-122"/>
                <a:cs typeface="Cambria" pitchFamily="34" charset="-120"/>
              </a:rPr>
              <a:t>Content-based</a:t>
            </a:r>
            <a:endParaRPr lang="en-US" sz="1600" dirty="0"/>
          </a:p>
        </p:txBody>
      </p:sp>
      <p:sp>
        <p:nvSpPr>
          <p:cNvPr id="9" name="Text 6"/>
          <p:cNvSpPr/>
          <p:nvPr/>
        </p:nvSpPr>
        <p:spPr>
          <a:xfrm>
            <a:off x="1810512" y="2441448"/>
            <a:ext cx="3977640" cy="822960"/>
          </a:xfrm>
          <a:prstGeom prst="rect">
            <a:avLst/>
          </a:prstGeom>
          <a:noFill/>
          <a:ln/>
        </p:spPr>
        <p:txBody>
          <a:bodyPr wrap="square" lIns="0" tIns="0" rIns="0" bIns="0" rtlCol="0" anchor="ctr"/>
          <a:lstStyle/>
          <a:p>
            <a:pPr indent="0" marL="0">
              <a:buNone/>
            </a:pPr>
            <a:r>
              <a:rPr lang="en-US" sz="1250" dirty="0">
                <a:solidFill>
                  <a:srgbClr val="5E7A80"/>
                </a:solidFill>
                <a:latin typeface="Calibri" pitchFamily="34" charset="0"/>
                <a:ea typeface="Calibri" pitchFamily="34" charset="-122"/>
                <a:cs typeface="Calibri" pitchFamily="34" charset="-120"/>
              </a:rPr>
              <a:t>Liked a sci-fi novel? Here's another sci-fi novel. Matches by item features.</a:t>
            </a:r>
            <a:endParaRPr lang="en-US" sz="1250" dirty="0"/>
          </a:p>
        </p:txBody>
      </p:sp>
      <p:sp>
        <p:nvSpPr>
          <p:cNvPr id="10" name="Shape 7"/>
          <p:cNvSpPr/>
          <p:nvPr/>
        </p:nvSpPr>
        <p:spPr>
          <a:xfrm>
            <a:off x="6217920" y="1783080"/>
            <a:ext cx="5349240" cy="1627632"/>
          </a:xfrm>
          <a:prstGeom prst="roundRect">
            <a:avLst>
              <a:gd name="adj" fmla="val 6742"/>
            </a:avLst>
          </a:prstGeom>
          <a:solidFill>
            <a:srgbClr val="EAF7F5"/>
          </a:solidFill>
          <a:ln/>
          <a:effectLst>
            <a:outerShdw sx="100000" sy="100000" kx="0" ky="0" algn="bl" rotWithShape="0" blurRad="127000" dist="50800" dir="5400000">
              <a:srgbClr val="8A93A6">
                <a:alpha val="13000"/>
              </a:srgbClr>
            </a:outerShdw>
          </a:effectLst>
        </p:spPr>
      </p:sp>
      <p:sp>
        <p:nvSpPr>
          <p:cNvPr id="11" name="Shape 8"/>
          <p:cNvSpPr/>
          <p:nvPr/>
        </p:nvSpPr>
        <p:spPr>
          <a:xfrm>
            <a:off x="6492240" y="2057400"/>
            <a:ext cx="713232" cy="713232"/>
          </a:xfrm>
          <a:prstGeom prst="ellipse">
            <a:avLst/>
          </a:prstGeom>
          <a:solidFill>
            <a:srgbClr val="028090"/>
          </a:solidFill>
          <a:ln/>
          <a:effectLst>
            <a:outerShdw sx="100000" sy="100000" kx="0" ky="0" algn="bl" rotWithShape="0" blurRad="127000" dist="50800" dir="5400000">
              <a:srgbClr val="8A93A6">
                <a:alpha val="13000"/>
              </a:srgbClr>
            </a:outerShdw>
          </a:effectLst>
        </p:spPr>
      </p:sp>
      <p:pic>
        <p:nvPicPr>
          <p:cNvPr id="12" name="Image 1" descr="preencoded.png">    </p:cNvPr>
          <p:cNvPicPr>
            <a:picLocks noChangeAspect="1"/>
          </p:cNvPicPr>
          <p:nvPr/>
        </p:nvPicPr>
        <p:blipFill>
          <a:blip r:embed="rId2"/>
          <a:stretch>
            <a:fillRect/>
          </a:stretch>
        </p:blipFill>
        <p:spPr>
          <a:xfrm>
            <a:off x="6684813" y="2249973"/>
            <a:ext cx="328087" cy="328087"/>
          </a:xfrm>
          <a:prstGeom prst="rect">
            <a:avLst/>
          </a:prstGeom>
        </p:spPr>
      </p:pic>
      <p:sp>
        <p:nvSpPr>
          <p:cNvPr id="13" name="Text 9"/>
          <p:cNvSpPr/>
          <p:nvPr/>
        </p:nvSpPr>
        <p:spPr>
          <a:xfrm>
            <a:off x="7388352" y="2039112"/>
            <a:ext cx="3977640" cy="365760"/>
          </a:xfrm>
          <a:prstGeom prst="rect">
            <a:avLst/>
          </a:prstGeom>
          <a:noFill/>
          <a:ln/>
        </p:spPr>
        <p:txBody>
          <a:bodyPr wrap="square" lIns="0" tIns="0" rIns="0" bIns="0" rtlCol="0" anchor="ctr"/>
          <a:lstStyle/>
          <a:p>
            <a:pPr indent="0" marL="0">
              <a:buNone/>
            </a:pPr>
            <a:r>
              <a:rPr lang="en-US" sz="1600" b="1" dirty="0">
                <a:solidFill>
                  <a:srgbClr val="153A40"/>
                </a:solidFill>
                <a:latin typeface="Cambria" pitchFamily="34" charset="0"/>
                <a:ea typeface="Cambria" pitchFamily="34" charset="-122"/>
                <a:cs typeface="Cambria" pitchFamily="34" charset="-120"/>
              </a:rPr>
              <a:t>Collaborative filtering</a:t>
            </a:r>
            <a:endParaRPr lang="en-US" sz="1600" dirty="0"/>
          </a:p>
        </p:txBody>
      </p:sp>
      <p:sp>
        <p:nvSpPr>
          <p:cNvPr id="14" name="Text 10"/>
          <p:cNvSpPr/>
          <p:nvPr/>
        </p:nvSpPr>
        <p:spPr>
          <a:xfrm>
            <a:off x="7388352" y="2441448"/>
            <a:ext cx="3977640" cy="822960"/>
          </a:xfrm>
          <a:prstGeom prst="rect">
            <a:avLst/>
          </a:prstGeom>
          <a:noFill/>
          <a:ln/>
        </p:spPr>
        <p:txBody>
          <a:bodyPr wrap="square" lIns="0" tIns="0" rIns="0" bIns="0" rtlCol="0" anchor="ctr"/>
          <a:lstStyle/>
          <a:p>
            <a:pPr indent="0" marL="0">
              <a:buNone/>
            </a:pPr>
            <a:r>
              <a:rPr lang="en-US" sz="1250" dirty="0">
                <a:solidFill>
                  <a:srgbClr val="5E7A80"/>
                </a:solidFill>
                <a:latin typeface="Calibri" pitchFamily="34" charset="0"/>
                <a:ea typeface="Calibri" pitchFamily="34" charset="-122"/>
                <a:cs typeface="Calibri" pitchFamily="34" charset="-120"/>
              </a:rPr>
              <a:t>People similar to you liked X, so you might too. Learns from behavior, not features.</a:t>
            </a:r>
            <a:endParaRPr lang="en-US" sz="1250" dirty="0"/>
          </a:p>
        </p:txBody>
      </p:sp>
      <p:sp>
        <p:nvSpPr>
          <p:cNvPr id="15" name="Shape 11"/>
          <p:cNvSpPr/>
          <p:nvPr/>
        </p:nvSpPr>
        <p:spPr>
          <a:xfrm>
            <a:off x="640080" y="3648456"/>
            <a:ext cx="5349240" cy="1627632"/>
          </a:xfrm>
          <a:prstGeom prst="roundRect">
            <a:avLst>
              <a:gd name="adj" fmla="val 6742"/>
            </a:avLst>
          </a:prstGeom>
          <a:solidFill>
            <a:srgbClr val="EAF7F5"/>
          </a:solidFill>
          <a:ln/>
          <a:effectLst>
            <a:outerShdw sx="100000" sy="100000" kx="0" ky="0" algn="bl" rotWithShape="0" blurRad="127000" dist="50800" dir="5400000">
              <a:srgbClr val="8A93A6">
                <a:alpha val="13000"/>
              </a:srgbClr>
            </a:outerShdw>
          </a:effectLst>
        </p:spPr>
      </p:sp>
      <p:sp>
        <p:nvSpPr>
          <p:cNvPr id="16" name="Shape 12"/>
          <p:cNvSpPr/>
          <p:nvPr/>
        </p:nvSpPr>
        <p:spPr>
          <a:xfrm>
            <a:off x="914400" y="3922776"/>
            <a:ext cx="713232" cy="713232"/>
          </a:xfrm>
          <a:prstGeom prst="ellipse">
            <a:avLst/>
          </a:prstGeom>
          <a:solidFill>
            <a:srgbClr val="028090"/>
          </a:solidFill>
          <a:ln/>
          <a:effectLst>
            <a:outerShdw sx="100000" sy="100000" kx="0" ky="0" algn="bl" rotWithShape="0" blurRad="127000" dist="50800" dir="5400000">
              <a:srgbClr val="8A93A6">
                <a:alpha val="13000"/>
              </a:srgbClr>
            </a:outerShdw>
          </a:effectLst>
        </p:spPr>
      </p:sp>
      <p:pic>
        <p:nvPicPr>
          <p:cNvPr id="17" name="Image 2" descr="preencoded.png">    </p:cNvPr>
          <p:cNvPicPr>
            <a:picLocks noChangeAspect="1"/>
          </p:cNvPicPr>
          <p:nvPr/>
        </p:nvPicPr>
        <p:blipFill>
          <a:blip r:embed="rId3"/>
          <a:stretch>
            <a:fillRect/>
          </a:stretch>
        </p:blipFill>
        <p:spPr>
          <a:xfrm>
            <a:off x="1106973" y="4115349"/>
            <a:ext cx="328087" cy="328087"/>
          </a:xfrm>
          <a:prstGeom prst="rect">
            <a:avLst/>
          </a:prstGeom>
        </p:spPr>
      </p:pic>
      <p:sp>
        <p:nvSpPr>
          <p:cNvPr id="18" name="Text 13"/>
          <p:cNvSpPr/>
          <p:nvPr/>
        </p:nvSpPr>
        <p:spPr>
          <a:xfrm>
            <a:off x="1810512" y="3904488"/>
            <a:ext cx="3977640" cy="365760"/>
          </a:xfrm>
          <a:prstGeom prst="rect">
            <a:avLst/>
          </a:prstGeom>
          <a:noFill/>
          <a:ln/>
        </p:spPr>
        <p:txBody>
          <a:bodyPr wrap="square" lIns="0" tIns="0" rIns="0" bIns="0" rtlCol="0" anchor="ctr"/>
          <a:lstStyle/>
          <a:p>
            <a:pPr indent="0" marL="0">
              <a:buNone/>
            </a:pPr>
            <a:r>
              <a:rPr lang="en-US" sz="1600" b="1" dirty="0">
                <a:solidFill>
                  <a:srgbClr val="153A40"/>
                </a:solidFill>
                <a:latin typeface="Cambria" pitchFamily="34" charset="0"/>
                <a:ea typeface="Cambria" pitchFamily="34" charset="-122"/>
                <a:cs typeface="Cambria" pitchFamily="34" charset="-120"/>
              </a:rPr>
              <a:t>Embeddings</a:t>
            </a:r>
            <a:endParaRPr lang="en-US" sz="1600" dirty="0"/>
          </a:p>
        </p:txBody>
      </p:sp>
      <p:sp>
        <p:nvSpPr>
          <p:cNvPr id="19" name="Text 14"/>
          <p:cNvSpPr/>
          <p:nvPr/>
        </p:nvSpPr>
        <p:spPr>
          <a:xfrm>
            <a:off x="1810512" y="4306824"/>
            <a:ext cx="3977640" cy="822960"/>
          </a:xfrm>
          <a:prstGeom prst="rect">
            <a:avLst/>
          </a:prstGeom>
          <a:noFill/>
          <a:ln/>
        </p:spPr>
        <p:txBody>
          <a:bodyPr wrap="square" lIns="0" tIns="0" rIns="0" bIns="0" rtlCol="0" anchor="ctr"/>
          <a:lstStyle/>
          <a:p>
            <a:pPr indent="0" marL="0">
              <a:buNone/>
            </a:pPr>
            <a:r>
              <a:rPr lang="en-US" sz="1250" dirty="0">
                <a:solidFill>
                  <a:srgbClr val="5E7A80"/>
                </a:solidFill>
                <a:latin typeface="Calibri" pitchFamily="34" charset="0"/>
                <a:ea typeface="Calibri" pitchFamily="34" charset="-122"/>
                <a:cs typeface="Calibri" pitchFamily="34" charset="-120"/>
              </a:rPr>
              <a:t>Turn users and items into points in space; nearby points = good matches.</a:t>
            </a:r>
            <a:endParaRPr lang="en-US" sz="1250" dirty="0"/>
          </a:p>
        </p:txBody>
      </p:sp>
      <p:sp>
        <p:nvSpPr>
          <p:cNvPr id="20" name="Shape 15"/>
          <p:cNvSpPr/>
          <p:nvPr/>
        </p:nvSpPr>
        <p:spPr>
          <a:xfrm>
            <a:off x="6217920" y="3648456"/>
            <a:ext cx="5349240" cy="1627632"/>
          </a:xfrm>
          <a:prstGeom prst="roundRect">
            <a:avLst>
              <a:gd name="adj" fmla="val 6742"/>
            </a:avLst>
          </a:prstGeom>
          <a:solidFill>
            <a:srgbClr val="EAF7F5"/>
          </a:solidFill>
          <a:ln/>
          <a:effectLst>
            <a:outerShdw sx="100000" sy="100000" kx="0" ky="0" algn="bl" rotWithShape="0" blurRad="127000" dist="50800" dir="5400000">
              <a:srgbClr val="8A93A6">
                <a:alpha val="13000"/>
              </a:srgbClr>
            </a:outerShdw>
          </a:effectLst>
        </p:spPr>
      </p:sp>
      <p:sp>
        <p:nvSpPr>
          <p:cNvPr id="21" name="Shape 16"/>
          <p:cNvSpPr/>
          <p:nvPr/>
        </p:nvSpPr>
        <p:spPr>
          <a:xfrm>
            <a:off x="6492240" y="3922776"/>
            <a:ext cx="713232" cy="713232"/>
          </a:xfrm>
          <a:prstGeom prst="ellipse">
            <a:avLst/>
          </a:prstGeom>
          <a:solidFill>
            <a:srgbClr val="FF6B6B"/>
          </a:solidFill>
          <a:ln/>
          <a:effectLst>
            <a:outerShdw sx="100000" sy="100000" kx="0" ky="0" algn="bl" rotWithShape="0" blurRad="127000" dist="50800" dir="5400000">
              <a:srgbClr val="8A93A6">
                <a:alpha val="13000"/>
              </a:srgbClr>
            </a:outerShdw>
          </a:effectLst>
        </p:spPr>
      </p:sp>
      <p:pic>
        <p:nvPicPr>
          <p:cNvPr id="22" name="Image 3" descr="preencoded.png">    </p:cNvPr>
          <p:cNvPicPr>
            <a:picLocks noChangeAspect="1"/>
          </p:cNvPicPr>
          <p:nvPr/>
        </p:nvPicPr>
        <p:blipFill>
          <a:blip r:embed="rId4"/>
          <a:stretch>
            <a:fillRect/>
          </a:stretch>
        </p:blipFill>
        <p:spPr>
          <a:xfrm>
            <a:off x="6684813" y="4115349"/>
            <a:ext cx="328087" cy="328087"/>
          </a:xfrm>
          <a:prstGeom prst="rect">
            <a:avLst/>
          </a:prstGeom>
        </p:spPr>
      </p:pic>
      <p:sp>
        <p:nvSpPr>
          <p:cNvPr id="23" name="Text 17"/>
          <p:cNvSpPr/>
          <p:nvPr/>
        </p:nvSpPr>
        <p:spPr>
          <a:xfrm>
            <a:off x="7388352" y="3904488"/>
            <a:ext cx="3977640" cy="365760"/>
          </a:xfrm>
          <a:prstGeom prst="rect">
            <a:avLst/>
          </a:prstGeom>
          <a:noFill/>
          <a:ln/>
        </p:spPr>
        <p:txBody>
          <a:bodyPr wrap="square" lIns="0" tIns="0" rIns="0" bIns="0" rtlCol="0" anchor="ctr"/>
          <a:lstStyle/>
          <a:p>
            <a:pPr indent="0" marL="0">
              <a:buNone/>
            </a:pPr>
            <a:r>
              <a:rPr lang="en-US" sz="1600" b="1" dirty="0">
                <a:solidFill>
                  <a:srgbClr val="153A40"/>
                </a:solidFill>
                <a:latin typeface="Cambria" pitchFamily="34" charset="0"/>
                <a:ea typeface="Cambria" pitchFamily="34" charset="-122"/>
                <a:cs typeface="Cambria" pitchFamily="34" charset="-120"/>
              </a:rPr>
              <a:t>Hybrid</a:t>
            </a:r>
            <a:endParaRPr lang="en-US" sz="1600" dirty="0"/>
          </a:p>
        </p:txBody>
      </p:sp>
      <p:sp>
        <p:nvSpPr>
          <p:cNvPr id="24" name="Text 18"/>
          <p:cNvSpPr/>
          <p:nvPr/>
        </p:nvSpPr>
        <p:spPr>
          <a:xfrm>
            <a:off x="7388352" y="4306824"/>
            <a:ext cx="3977640" cy="822960"/>
          </a:xfrm>
          <a:prstGeom prst="rect">
            <a:avLst/>
          </a:prstGeom>
          <a:noFill/>
          <a:ln/>
        </p:spPr>
        <p:txBody>
          <a:bodyPr wrap="square" lIns="0" tIns="0" rIns="0" bIns="0" rtlCol="0" anchor="ctr"/>
          <a:lstStyle/>
          <a:p>
            <a:pPr indent="0" marL="0">
              <a:buNone/>
            </a:pPr>
            <a:r>
              <a:rPr lang="en-US" sz="1250" dirty="0">
                <a:solidFill>
                  <a:srgbClr val="5E7A80"/>
                </a:solidFill>
                <a:latin typeface="Calibri" pitchFamily="34" charset="0"/>
                <a:ea typeface="Calibri" pitchFamily="34" charset="-122"/>
                <a:cs typeface="Calibri" pitchFamily="34" charset="-120"/>
              </a:rPr>
              <a:t>Combine the above to cover each other's weak spots.</a:t>
            </a:r>
            <a:endParaRPr lang="en-US" sz="1250" dirty="0"/>
          </a:p>
        </p:txBody>
      </p:sp>
      <p:sp>
        <p:nvSpPr>
          <p:cNvPr id="25" name="Shape 19"/>
          <p:cNvSpPr/>
          <p:nvPr/>
        </p:nvSpPr>
        <p:spPr>
          <a:xfrm>
            <a:off x="640080" y="5312664"/>
            <a:ext cx="10927080" cy="841248"/>
          </a:xfrm>
          <a:prstGeom prst="roundRect">
            <a:avLst>
              <a:gd name="adj" fmla="val 13043"/>
            </a:avLst>
          </a:prstGeom>
          <a:solidFill>
            <a:srgbClr val="FFEDED"/>
          </a:solidFill>
          <a:ln/>
          <a:effectLst>
            <a:outerShdw sx="100000" sy="100000" kx="0" ky="0" algn="bl" rotWithShape="0" blurRad="127000" dist="50800" dir="5400000">
              <a:srgbClr val="8A93A6">
                <a:alpha val="13000"/>
              </a:srgbClr>
            </a:outerShdw>
          </a:effectLst>
        </p:spPr>
      </p:sp>
      <p:sp>
        <p:nvSpPr>
          <p:cNvPr id="26" name="Shape 20"/>
          <p:cNvSpPr/>
          <p:nvPr/>
        </p:nvSpPr>
        <p:spPr>
          <a:xfrm>
            <a:off x="896112" y="5458968"/>
            <a:ext cx="548640" cy="548640"/>
          </a:xfrm>
          <a:prstGeom prst="ellipse">
            <a:avLst/>
          </a:prstGeom>
          <a:solidFill>
            <a:srgbClr val="00A896"/>
          </a:solidFill>
          <a:ln/>
          <a:effectLst>
            <a:outerShdw sx="100000" sy="100000" kx="0" ky="0" algn="bl" rotWithShape="0" blurRad="127000" dist="50800" dir="5400000">
              <a:srgbClr val="8A93A6">
                <a:alpha val="13000"/>
              </a:srgbClr>
            </a:outerShdw>
          </a:effectLst>
        </p:spPr>
      </p:sp>
      <p:pic>
        <p:nvPicPr>
          <p:cNvPr id="27" name="Image 4" descr="preencoded.png">    </p:cNvPr>
          <p:cNvPicPr>
            <a:picLocks noChangeAspect="1"/>
          </p:cNvPicPr>
          <p:nvPr/>
        </p:nvPicPr>
        <p:blipFill>
          <a:blip r:embed="rId5"/>
          <a:stretch>
            <a:fillRect/>
          </a:stretch>
        </p:blipFill>
        <p:spPr>
          <a:xfrm>
            <a:off x="1044245" y="5607101"/>
            <a:ext cx="252374" cy="252374"/>
          </a:xfrm>
          <a:prstGeom prst="rect">
            <a:avLst/>
          </a:prstGeom>
        </p:spPr>
      </p:pic>
      <p:sp>
        <p:nvSpPr>
          <p:cNvPr id="28" name="Text 21"/>
          <p:cNvSpPr/>
          <p:nvPr/>
        </p:nvSpPr>
        <p:spPr>
          <a:xfrm>
            <a:off x="1645920" y="5312664"/>
            <a:ext cx="9646920" cy="841248"/>
          </a:xfrm>
          <a:prstGeom prst="rect">
            <a:avLst/>
          </a:prstGeom>
          <a:noFill/>
          <a:ln/>
        </p:spPr>
        <p:txBody>
          <a:bodyPr wrap="square" lIns="0" tIns="0" rIns="0" bIns="0" rtlCol="0" anchor="ctr"/>
          <a:lstStyle/>
          <a:p>
            <a:pPr indent="0" marL="0">
              <a:buNone/>
            </a:pPr>
            <a:r>
              <a:rPr lang="en-US" sz="1250" dirty="0">
                <a:solidFill>
                  <a:srgbClr val="153A40"/>
                </a:solidFill>
                <a:latin typeface="Calibri" pitchFamily="34" charset="0"/>
                <a:ea typeface="Calibri" pitchFamily="34" charset="-122"/>
                <a:cs typeface="Calibri" pitchFamily="34" charset="-120"/>
              </a:rPr>
              <a:t>Advanced systems use deep learning and session models that react to what you're doing right now.</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881360" cy="274320"/>
          </a:xfrm>
          <a:prstGeom prst="rect">
            <a:avLst/>
          </a:prstGeom>
          <a:noFill/>
          <a:ln/>
        </p:spPr>
        <p:txBody>
          <a:bodyPr wrap="square" lIns="0" tIns="0" rIns="0" bIns="0" rtlCol="0" anchor="ctr"/>
          <a:lstStyle/>
          <a:p>
            <a:pPr indent="0" marL="0">
              <a:buNone/>
            </a:pPr>
            <a:r>
              <a:rPr lang="en-US" sz="1200" b="1" spc="200" kern="0" dirty="0">
                <a:solidFill>
                  <a:srgbClr val="FF6B6B"/>
                </a:solidFill>
                <a:latin typeface="Calibri" pitchFamily="34" charset="0"/>
                <a:ea typeface="Calibri" pitchFamily="34" charset="-122"/>
                <a:cs typeface="Calibri" pitchFamily="34" charset="-120"/>
              </a:rPr>
              <a:t>THE DATA THAT POWERS IT</a:t>
            </a:r>
            <a:endParaRPr lang="en-US" sz="1200" dirty="0"/>
          </a:p>
        </p:txBody>
      </p:sp>
      <p:sp>
        <p:nvSpPr>
          <p:cNvPr id="3" name="Text 1"/>
          <p:cNvSpPr/>
          <p:nvPr/>
        </p:nvSpPr>
        <p:spPr>
          <a:xfrm>
            <a:off x="640080" y="630936"/>
            <a:ext cx="10881360" cy="731520"/>
          </a:xfrm>
          <a:prstGeom prst="rect">
            <a:avLst/>
          </a:prstGeom>
          <a:noFill/>
          <a:ln/>
        </p:spPr>
        <p:txBody>
          <a:bodyPr wrap="square" lIns="0" tIns="0" rIns="0" bIns="0" rtlCol="0" anchor="ctr"/>
          <a:lstStyle/>
          <a:p>
            <a:pPr indent="0" marL="0">
              <a:buNone/>
            </a:pPr>
            <a:r>
              <a:rPr lang="en-US" sz="2700" b="1" dirty="0">
                <a:solidFill>
                  <a:srgbClr val="153A40"/>
                </a:solidFill>
                <a:latin typeface="Cambria" pitchFamily="34" charset="0"/>
                <a:ea typeface="Cambria" pitchFamily="34" charset="-122"/>
                <a:cs typeface="Cambria" pitchFamily="34" charset="-120"/>
              </a:rPr>
              <a:t>Two kinds of signal: what users say vs. what they do</a:t>
            </a:r>
            <a:endParaRPr lang="en-US" sz="2700" dirty="0"/>
          </a:p>
        </p:txBody>
      </p:sp>
      <p:sp>
        <p:nvSpPr>
          <p:cNvPr id="4" name="Shape 2"/>
          <p:cNvSpPr/>
          <p:nvPr/>
        </p:nvSpPr>
        <p:spPr>
          <a:xfrm>
            <a:off x="640080" y="1691640"/>
            <a:ext cx="5120640" cy="3246120"/>
          </a:xfrm>
          <a:prstGeom prst="roundRect">
            <a:avLst>
              <a:gd name="adj" fmla="val 3944"/>
            </a:avLst>
          </a:prstGeom>
          <a:solidFill>
            <a:srgbClr val="EAF7F5"/>
          </a:solidFill>
          <a:ln/>
          <a:effectLst>
            <a:outerShdw sx="100000" sy="100000" kx="0" ky="0" algn="bl" rotWithShape="0" blurRad="127000" dist="50800" dir="5400000">
              <a:srgbClr val="8A93A6">
                <a:alpha val="13000"/>
              </a:srgbClr>
            </a:outerShdw>
          </a:effectLst>
        </p:spPr>
      </p:sp>
      <p:sp>
        <p:nvSpPr>
          <p:cNvPr id="5" name="Shape 3"/>
          <p:cNvSpPr/>
          <p:nvPr/>
        </p:nvSpPr>
        <p:spPr>
          <a:xfrm>
            <a:off x="932688" y="1965960"/>
            <a:ext cx="603504" cy="603504"/>
          </a:xfrm>
          <a:prstGeom prst="ellipse">
            <a:avLst/>
          </a:prstGeom>
          <a:solidFill>
            <a:srgbClr val="028090"/>
          </a:solidFill>
          <a:ln/>
          <a:effectLst>
            <a:outerShdw sx="100000" sy="100000" kx="0" ky="0" algn="bl" rotWithShape="0" blurRad="127000" dist="50800" dir="5400000">
              <a:srgbClr val="8A93A6">
                <a:alpha val="13000"/>
              </a:srgbClr>
            </a:outerShdw>
          </a:effectLst>
        </p:spPr>
      </p:sp>
      <p:pic>
        <p:nvPicPr>
          <p:cNvPr id="6" name="Image 0" descr="preencoded.png">    </p:cNvPr>
          <p:cNvPicPr>
            <a:picLocks noChangeAspect="1"/>
          </p:cNvPicPr>
          <p:nvPr/>
        </p:nvPicPr>
        <p:blipFill>
          <a:blip r:embed="rId1"/>
          <a:stretch>
            <a:fillRect/>
          </a:stretch>
        </p:blipFill>
        <p:spPr>
          <a:xfrm>
            <a:off x="1095634" y="2128906"/>
            <a:ext cx="277612" cy="277612"/>
          </a:xfrm>
          <a:prstGeom prst="rect">
            <a:avLst/>
          </a:prstGeom>
        </p:spPr>
      </p:pic>
      <p:sp>
        <p:nvSpPr>
          <p:cNvPr id="7" name="Text 4"/>
          <p:cNvSpPr/>
          <p:nvPr/>
        </p:nvSpPr>
        <p:spPr>
          <a:xfrm>
            <a:off x="1691640" y="1965960"/>
            <a:ext cx="3840480" cy="365760"/>
          </a:xfrm>
          <a:prstGeom prst="rect">
            <a:avLst/>
          </a:prstGeom>
          <a:noFill/>
          <a:ln/>
        </p:spPr>
        <p:txBody>
          <a:bodyPr wrap="square" lIns="0" tIns="0" rIns="0" bIns="0" rtlCol="0" anchor="ctr"/>
          <a:lstStyle/>
          <a:p>
            <a:pPr indent="0" marL="0">
              <a:buNone/>
            </a:pPr>
            <a:r>
              <a:rPr lang="en-US" sz="1800" b="1" dirty="0">
                <a:solidFill>
                  <a:srgbClr val="153A40"/>
                </a:solidFill>
                <a:latin typeface="Cambria" pitchFamily="34" charset="0"/>
                <a:ea typeface="Cambria" pitchFamily="34" charset="-122"/>
                <a:cs typeface="Cambria" pitchFamily="34" charset="-120"/>
              </a:rPr>
              <a:t>Explicit signals</a:t>
            </a:r>
            <a:endParaRPr lang="en-US" sz="1800" dirty="0"/>
          </a:p>
        </p:txBody>
      </p:sp>
      <p:sp>
        <p:nvSpPr>
          <p:cNvPr id="8" name="Text 5"/>
          <p:cNvSpPr/>
          <p:nvPr/>
        </p:nvSpPr>
        <p:spPr>
          <a:xfrm>
            <a:off x="1691640" y="2350008"/>
            <a:ext cx="3840480" cy="274320"/>
          </a:xfrm>
          <a:prstGeom prst="rect">
            <a:avLst/>
          </a:prstGeom>
          <a:noFill/>
          <a:ln/>
        </p:spPr>
        <p:txBody>
          <a:bodyPr wrap="square" lIns="0" tIns="0" rIns="0" bIns="0" rtlCol="0" anchor="ctr"/>
          <a:lstStyle/>
          <a:p>
            <a:pPr indent="0" marL="0">
              <a:buNone/>
            </a:pPr>
            <a:r>
              <a:rPr lang="en-US" sz="1200" i="1" dirty="0">
                <a:solidFill>
                  <a:srgbClr val="5E7A80"/>
                </a:solidFill>
                <a:latin typeface="Calibri" pitchFamily="34" charset="0"/>
                <a:ea typeface="Calibri" pitchFamily="34" charset="-122"/>
                <a:cs typeface="Calibri" pitchFamily="34" charset="-120"/>
              </a:rPr>
              <a:t>Users tell us directly</a:t>
            </a:r>
            <a:endParaRPr lang="en-US" sz="1200" dirty="0"/>
          </a:p>
        </p:txBody>
      </p:sp>
      <p:pic>
        <p:nvPicPr>
          <p:cNvPr id="9" name="Image 1" descr="preencoded.png">    </p:cNvPr>
          <p:cNvPicPr>
            <a:picLocks noChangeAspect="1"/>
          </p:cNvPicPr>
          <p:nvPr/>
        </p:nvPicPr>
        <p:blipFill>
          <a:blip r:embed="rId2"/>
          <a:stretch>
            <a:fillRect/>
          </a:stretch>
        </p:blipFill>
        <p:spPr>
          <a:xfrm>
            <a:off x="1005840" y="2926080"/>
            <a:ext cx="219456" cy="219456"/>
          </a:xfrm>
          <a:prstGeom prst="rect">
            <a:avLst/>
          </a:prstGeom>
        </p:spPr>
      </p:pic>
      <p:sp>
        <p:nvSpPr>
          <p:cNvPr id="10" name="Text 6"/>
          <p:cNvSpPr/>
          <p:nvPr/>
        </p:nvSpPr>
        <p:spPr>
          <a:xfrm>
            <a:off x="1353312" y="2898648"/>
            <a:ext cx="4114800" cy="292608"/>
          </a:xfrm>
          <a:prstGeom prst="rect">
            <a:avLst/>
          </a:prstGeom>
          <a:noFill/>
          <a:ln/>
        </p:spPr>
        <p:txBody>
          <a:bodyPr wrap="square" lIns="0" tIns="0" rIns="0" bIns="0" rtlCol="0" anchor="ctr"/>
          <a:lstStyle/>
          <a:p>
            <a:pPr indent="0" marL="0">
              <a:buNone/>
            </a:pPr>
            <a:r>
              <a:rPr lang="en-US" sz="1350" dirty="0">
                <a:solidFill>
                  <a:srgbClr val="153A40"/>
                </a:solidFill>
                <a:latin typeface="Calibri" pitchFamily="34" charset="0"/>
                <a:ea typeface="Calibri" pitchFamily="34" charset="-122"/>
                <a:cs typeface="Calibri" pitchFamily="34" charset="-120"/>
              </a:rPr>
              <a:t>Star ratings you give</a:t>
            </a:r>
            <a:endParaRPr lang="en-US" sz="1350" dirty="0"/>
          </a:p>
        </p:txBody>
      </p:sp>
      <p:pic>
        <p:nvPicPr>
          <p:cNvPr id="11" name="Image 2" descr="preencoded.png">    </p:cNvPr>
          <p:cNvPicPr>
            <a:picLocks noChangeAspect="1"/>
          </p:cNvPicPr>
          <p:nvPr/>
        </p:nvPicPr>
        <p:blipFill>
          <a:blip r:embed="rId3"/>
          <a:stretch>
            <a:fillRect/>
          </a:stretch>
        </p:blipFill>
        <p:spPr>
          <a:xfrm>
            <a:off x="1005840" y="3383280"/>
            <a:ext cx="219456" cy="219456"/>
          </a:xfrm>
          <a:prstGeom prst="rect">
            <a:avLst/>
          </a:prstGeom>
        </p:spPr>
      </p:pic>
      <p:sp>
        <p:nvSpPr>
          <p:cNvPr id="12" name="Text 7"/>
          <p:cNvSpPr/>
          <p:nvPr/>
        </p:nvSpPr>
        <p:spPr>
          <a:xfrm>
            <a:off x="1353312" y="3355848"/>
            <a:ext cx="4114800" cy="292608"/>
          </a:xfrm>
          <a:prstGeom prst="rect">
            <a:avLst/>
          </a:prstGeom>
          <a:noFill/>
          <a:ln/>
        </p:spPr>
        <p:txBody>
          <a:bodyPr wrap="square" lIns="0" tIns="0" rIns="0" bIns="0" rtlCol="0" anchor="ctr"/>
          <a:lstStyle/>
          <a:p>
            <a:pPr indent="0" marL="0">
              <a:buNone/>
            </a:pPr>
            <a:r>
              <a:rPr lang="en-US" sz="1350" dirty="0">
                <a:solidFill>
                  <a:srgbClr val="153A40"/>
                </a:solidFill>
                <a:latin typeface="Calibri" pitchFamily="34" charset="0"/>
                <a:ea typeface="Calibri" pitchFamily="34" charset="-122"/>
                <a:cs typeface="Calibri" pitchFamily="34" charset="-120"/>
              </a:rPr>
              <a:t>Reviews you write</a:t>
            </a:r>
            <a:endParaRPr lang="en-US" sz="1350" dirty="0"/>
          </a:p>
        </p:txBody>
      </p:sp>
      <p:pic>
        <p:nvPicPr>
          <p:cNvPr id="13" name="Image 3" descr="preencoded.png">    </p:cNvPr>
          <p:cNvPicPr>
            <a:picLocks noChangeAspect="1"/>
          </p:cNvPicPr>
          <p:nvPr/>
        </p:nvPicPr>
        <p:blipFill>
          <a:blip r:embed="rId4"/>
          <a:stretch>
            <a:fillRect/>
          </a:stretch>
        </p:blipFill>
        <p:spPr>
          <a:xfrm>
            <a:off x="1005840" y="3840480"/>
            <a:ext cx="219456" cy="219456"/>
          </a:xfrm>
          <a:prstGeom prst="rect">
            <a:avLst/>
          </a:prstGeom>
        </p:spPr>
      </p:pic>
      <p:sp>
        <p:nvSpPr>
          <p:cNvPr id="14" name="Text 8"/>
          <p:cNvSpPr/>
          <p:nvPr/>
        </p:nvSpPr>
        <p:spPr>
          <a:xfrm>
            <a:off x="1353312" y="3813048"/>
            <a:ext cx="4114800" cy="292608"/>
          </a:xfrm>
          <a:prstGeom prst="rect">
            <a:avLst/>
          </a:prstGeom>
          <a:noFill/>
          <a:ln/>
        </p:spPr>
        <p:txBody>
          <a:bodyPr wrap="square" lIns="0" tIns="0" rIns="0" bIns="0" rtlCol="0" anchor="ctr"/>
          <a:lstStyle/>
          <a:p>
            <a:pPr indent="0" marL="0">
              <a:buNone/>
            </a:pPr>
            <a:r>
              <a:rPr lang="en-US" sz="1350" dirty="0">
                <a:solidFill>
                  <a:srgbClr val="153A40"/>
                </a:solidFill>
                <a:latin typeface="Calibri" pitchFamily="34" charset="0"/>
                <a:ea typeface="Calibri" pitchFamily="34" charset="-122"/>
                <a:cs typeface="Calibri" pitchFamily="34" charset="-120"/>
              </a:rPr>
              <a:t>Likes &amp; wishlists</a:t>
            </a:r>
            <a:endParaRPr lang="en-US" sz="1350" dirty="0"/>
          </a:p>
        </p:txBody>
      </p:sp>
      <p:pic>
        <p:nvPicPr>
          <p:cNvPr id="15" name="Image 4" descr="preencoded.png">    </p:cNvPr>
          <p:cNvPicPr>
            <a:picLocks noChangeAspect="1"/>
          </p:cNvPicPr>
          <p:nvPr/>
        </p:nvPicPr>
        <p:blipFill>
          <a:blip r:embed="rId5"/>
          <a:stretch>
            <a:fillRect/>
          </a:stretch>
        </p:blipFill>
        <p:spPr>
          <a:xfrm>
            <a:off x="1005840" y="4297680"/>
            <a:ext cx="219456" cy="219456"/>
          </a:xfrm>
          <a:prstGeom prst="rect">
            <a:avLst/>
          </a:prstGeom>
        </p:spPr>
      </p:pic>
      <p:sp>
        <p:nvSpPr>
          <p:cNvPr id="16" name="Text 9"/>
          <p:cNvSpPr/>
          <p:nvPr/>
        </p:nvSpPr>
        <p:spPr>
          <a:xfrm>
            <a:off x="1353312" y="4270248"/>
            <a:ext cx="4114800" cy="292608"/>
          </a:xfrm>
          <a:prstGeom prst="rect">
            <a:avLst/>
          </a:prstGeom>
          <a:noFill/>
          <a:ln/>
        </p:spPr>
        <p:txBody>
          <a:bodyPr wrap="square" lIns="0" tIns="0" rIns="0" bIns="0" rtlCol="0" anchor="ctr"/>
          <a:lstStyle/>
          <a:p>
            <a:pPr indent="0" marL="0">
              <a:buNone/>
            </a:pPr>
            <a:r>
              <a:rPr lang="en-US" sz="1350" dirty="0">
                <a:solidFill>
                  <a:srgbClr val="153A40"/>
                </a:solidFill>
                <a:latin typeface="Calibri" pitchFamily="34" charset="0"/>
                <a:ea typeface="Calibri" pitchFamily="34" charset="-122"/>
                <a:cs typeface="Calibri" pitchFamily="34" charset="-120"/>
              </a:rPr>
              <a:t>Preferences you select</a:t>
            </a:r>
            <a:endParaRPr lang="en-US" sz="1350" dirty="0"/>
          </a:p>
        </p:txBody>
      </p:sp>
      <p:sp>
        <p:nvSpPr>
          <p:cNvPr id="17" name="Shape 10"/>
          <p:cNvSpPr/>
          <p:nvPr/>
        </p:nvSpPr>
        <p:spPr>
          <a:xfrm>
            <a:off x="6263640" y="1691640"/>
            <a:ext cx="5120640" cy="3246120"/>
          </a:xfrm>
          <a:prstGeom prst="roundRect">
            <a:avLst>
              <a:gd name="adj" fmla="val 3944"/>
            </a:avLst>
          </a:prstGeom>
          <a:solidFill>
            <a:srgbClr val="EAF7F5"/>
          </a:solidFill>
          <a:ln/>
          <a:effectLst>
            <a:outerShdw sx="100000" sy="100000" kx="0" ky="0" algn="bl" rotWithShape="0" blurRad="127000" dist="50800" dir="5400000">
              <a:srgbClr val="8A93A6">
                <a:alpha val="13000"/>
              </a:srgbClr>
            </a:outerShdw>
          </a:effectLst>
        </p:spPr>
      </p:sp>
      <p:sp>
        <p:nvSpPr>
          <p:cNvPr id="18" name="Shape 11"/>
          <p:cNvSpPr/>
          <p:nvPr/>
        </p:nvSpPr>
        <p:spPr>
          <a:xfrm>
            <a:off x="6556248" y="1965960"/>
            <a:ext cx="603504" cy="603504"/>
          </a:xfrm>
          <a:prstGeom prst="ellipse">
            <a:avLst/>
          </a:prstGeom>
          <a:solidFill>
            <a:srgbClr val="00A896"/>
          </a:solidFill>
          <a:ln/>
          <a:effectLst>
            <a:outerShdw sx="100000" sy="100000" kx="0" ky="0" algn="bl" rotWithShape="0" blurRad="127000" dist="50800" dir="5400000">
              <a:srgbClr val="8A93A6">
                <a:alpha val="13000"/>
              </a:srgbClr>
            </a:outerShdw>
          </a:effectLst>
        </p:spPr>
      </p:sp>
      <p:pic>
        <p:nvPicPr>
          <p:cNvPr id="19" name="Image 5" descr="preencoded.png">    </p:cNvPr>
          <p:cNvPicPr>
            <a:picLocks noChangeAspect="1"/>
          </p:cNvPicPr>
          <p:nvPr/>
        </p:nvPicPr>
        <p:blipFill>
          <a:blip r:embed="rId6"/>
          <a:stretch>
            <a:fillRect/>
          </a:stretch>
        </p:blipFill>
        <p:spPr>
          <a:xfrm>
            <a:off x="6719194" y="2128906"/>
            <a:ext cx="277612" cy="277612"/>
          </a:xfrm>
          <a:prstGeom prst="rect">
            <a:avLst/>
          </a:prstGeom>
        </p:spPr>
      </p:pic>
      <p:sp>
        <p:nvSpPr>
          <p:cNvPr id="20" name="Text 12"/>
          <p:cNvSpPr/>
          <p:nvPr/>
        </p:nvSpPr>
        <p:spPr>
          <a:xfrm>
            <a:off x="7315200" y="1965960"/>
            <a:ext cx="3840480" cy="365760"/>
          </a:xfrm>
          <a:prstGeom prst="rect">
            <a:avLst/>
          </a:prstGeom>
          <a:noFill/>
          <a:ln/>
        </p:spPr>
        <p:txBody>
          <a:bodyPr wrap="square" lIns="0" tIns="0" rIns="0" bIns="0" rtlCol="0" anchor="ctr"/>
          <a:lstStyle/>
          <a:p>
            <a:pPr indent="0" marL="0">
              <a:buNone/>
            </a:pPr>
            <a:r>
              <a:rPr lang="en-US" sz="1800" b="1" dirty="0">
                <a:solidFill>
                  <a:srgbClr val="153A40"/>
                </a:solidFill>
                <a:latin typeface="Cambria" pitchFamily="34" charset="0"/>
                <a:ea typeface="Cambria" pitchFamily="34" charset="-122"/>
                <a:cs typeface="Cambria" pitchFamily="34" charset="-120"/>
              </a:rPr>
              <a:t>Implicit signals</a:t>
            </a:r>
            <a:endParaRPr lang="en-US" sz="1800" dirty="0"/>
          </a:p>
        </p:txBody>
      </p:sp>
      <p:sp>
        <p:nvSpPr>
          <p:cNvPr id="21" name="Text 13"/>
          <p:cNvSpPr/>
          <p:nvPr/>
        </p:nvSpPr>
        <p:spPr>
          <a:xfrm>
            <a:off x="7315200" y="2350008"/>
            <a:ext cx="3840480" cy="274320"/>
          </a:xfrm>
          <a:prstGeom prst="rect">
            <a:avLst/>
          </a:prstGeom>
          <a:noFill/>
          <a:ln/>
        </p:spPr>
        <p:txBody>
          <a:bodyPr wrap="square" lIns="0" tIns="0" rIns="0" bIns="0" rtlCol="0" anchor="ctr"/>
          <a:lstStyle/>
          <a:p>
            <a:pPr indent="0" marL="0">
              <a:buNone/>
            </a:pPr>
            <a:r>
              <a:rPr lang="en-US" sz="1200" i="1" dirty="0">
                <a:solidFill>
                  <a:srgbClr val="5E7A80"/>
                </a:solidFill>
                <a:latin typeface="Calibri" pitchFamily="34" charset="0"/>
                <a:ea typeface="Calibri" pitchFamily="34" charset="-122"/>
                <a:cs typeface="Calibri" pitchFamily="34" charset="-120"/>
              </a:rPr>
              <a:t>We observe behavior</a:t>
            </a:r>
            <a:endParaRPr lang="en-US" sz="1200" dirty="0"/>
          </a:p>
        </p:txBody>
      </p:sp>
      <p:pic>
        <p:nvPicPr>
          <p:cNvPr id="22" name="Image 6" descr="preencoded.png">    </p:cNvPr>
          <p:cNvPicPr>
            <a:picLocks noChangeAspect="1"/>
          </p:cNvPicPr>
          <p:nvPr/>
        </p:nvPicPr>
        <p:blipFill>
          <a:blip r:embed="rId7"/>
          <a:stretch>
            <a:fillRect/>
          </a:stretch>
        </p:blipFill>
        <p:spPr>
          <a:xfrm>
            <a:off x="6629400" y="2926080"/>
            <a:ext cx="219456" cy="219456"/>
          </a:xfrm>
          <a:prstGeom prst="rect">
            <a:avLst/>
          </a:prstGeom>
        </p:spPr>
      </p:pic>
      <p:sp>
        <p:nvSpPr>
          <p:cNvPr id="23" name="Text 14"/>
          <p:cNvSpPr/>
          <p:nvPr/>
        </p:nvSpPr>
        <p:spPr>
          <a:xfrm>
            <a:off x="6976872" y="2898648"/>
            <a:ext cx="4114800" cy="292608"/>
          </a:xfrm>
          <a:prstGeom prst="rect">
            <a:avLst/>
          </a:prstGeom>
          <a:noFill/>
          <a:ln/>
        </p:spPr>
        <p:txBody>
          <a:bodyPr wrap="square" lIns="0" tIns="0" rIns="0" bIns="0" rtlCol="0" anchor="ctr"/>
          <a:lstStyle/>
          <a:p>
            <a:pPr indent="0" marL="0">
              <a:buNone/>
            </a:pPr>
            <a:r>
              <a:rPr lang="en-US" sz="1350" dirty="0">
                <a:solidFill>
                  <a:srgbClr val="153A40"/>
                </a:solidFill>
                <a:latin typeface="Calibri" pitchFamily="34" charset="0"/>
                <a:ea typeface="Calibri" pitchFamily="34" charset="-122"/>
                <a:cs typeface="Calibri" pitchFamily="34" charset="-120"/>
              </a:rPr>
              <a:t>Clicks and taps</a:t>
            </a:r>
            <a:endParaRPr lang="en-US" sz="1350" dirty="0"/>
          </a:p>
        </p:txBody>
      </p:sp>
      <p:pic>
        <p:nvPicPr>
          <p:cNvPr id="24" name="Image 7" descr="preencoded.png">    </p:cNvPr>
          <p:cNvPicPr>
            <a:picLocks noChangeAspect="1"/>
          </p:cNvPicPr>
          <p:nvPr/>
        </p:nvPicPr>
        <p:blipFill>
          <a:blip r:embed="rId8"/>
          <a:stretch>
            <a:fillRect/>
          </a:stretch>
        </p:blipFill>
        <p:spPr>
          <a:xfrm>
            <a:off x="6629400" y="3383280"/>
            <a:ext cx="219456" cy="219456"/>
          </a:xfrm>
          <a:prstGeom prst="rect">
            <a:avLst/>
          </a:prstGeom>
        </p:spPr>
      </p:pic>
      <p:sp>
        <p:nvSpPr>
          <p:cNvPr id="25" name="Text 15"/>
          <p:cNvSpPr/>
          <p:nvPr/>
        </p:nvSpPr>
        <p:spPr>
          <a:xfrm>
            <a:off x="6976872" y="3355848"/>
            <a:ext cx="4114800" cy="292608"/>
          </a:xfrm>
          <a:prstGeom prst="rect">
            <a:avLst/>
          </a:prstGeom>
          <a:noFill/>
          <a:ln/>
        </p:spPr>
        <p:txBody>
          <a:bodyPr wrap="square" lIns="0" tIns="0" rIns="0" bIns="0" rtlCol="0" anchor="ctr"/>
          <a:lstStyle/>
          <a:p>
            <a:pPr indent="0" marL="0">
              <a:buNone/>
            </a:pPr>
            <a:r>
              <a:rPr lang="en-US" sz="1350" dirty="0">
                <a:solidFill>
                  <a:srgbClr val="153A40"/>
                </a:solidFill>
                <a:latin typeface="Calibri" pitchFamily="34" charset="0"/>
                <a:ea typeface="Calibri" pitchFamily="34" charset="-122"/>
                <a:cs typeface="Calibri" pitchFamily="34" charset="-120"/>
              </a:rPr>
              <a:t>Things you buy</a:t>
            </a:r>
            <a:endParaRPr lang="en-US" sz="1350" dirty="0"/>
          </a:p>
        </p:txBody>
      </p:sp>
      <p:pic>
        <p:nvPicPr>
          <p:cNvPr id="26" name="Image 8" descr="preencoded.png">    </p:cNvPr>
          <p:cNvPicPr>
            <a:picLocks noChangeAspect="1"/>
          </p:cNvPicPr>
          <p:nvPr/>
        </p:nvPicPr>
        <p:blipFill>
          <a:blip r:embed="rId9"/>
          <a:stretch>
            <a:fillRect/>
          </a:stretch>
        </p:blipFill>
        <p:spPr>
          <a:xfrm>
            <a:off x="6629400" y="3840480"/>
            <a:ext cx="219456" cy="219456"/>
          </a:xfrm>
          <a:prstGeom prst="rect">
            <a:avLst/>
          </a:prstGeom>
        </p:spPr>
      </p:pic>
      <p:sp>
        <p:nvSpPr>
          <p:cNvPr id="27" name="Text 16"/>
          <p:cNvSpPr/>
          <p:nvPr/>
        </p:nvSpPr>
        <p:spPr>
          <a:xfrm>
            <a:off x="6976872" y="3813048"/>
            <a:ext cx="4114800" cy="292608"/>
          </a:xfrm>
          <a:prstGeom prst="rect">
            <a:avLst/>
          </a:prstGeom>
          <a:noFill/>
          <a:ln/>
        </p:spPr>
        <p:txBody>
          <a:bodyPr wrap="square" lIns="0" tIns="0" rIns="0" bIns="0" rtlCol="0" anchor="ctr"/>
          <a:lstStyle/>
          <a:p>
            <a:pPr indent="0" marL="0">
              <a:buNone/>
            </a:pPr>
            <a:r>
              <a:rPr lang="en-US" sz="1350" dirty="0">
                <a:solidFill>
                  <a:srgbClr val="153A40"/>
                </a:solidFill>
                <a:latin typeface="Calibri" pitchFamily="34" charset="0"/>
                <a:ea typeface="Calibri" pitchFamily="34" charset="-122"/>
                <a:cs typeface="Calibri" pitchFamily="34" charset="-120"/>
              </a:rPr>
              <a:t>How long you look</a:t>
            </a:r>
            <a:endParaRPr lang="en-US" sz="1350" dirty="0"/>
          </a:p>
        </p:txBody>
      </p:sp>
      <p:pic>
        <p:nvPicPr>
          <p:cNvPr id="28" name="Image 9" descr="preencoded.png">    </p:cNvPr>
          <p:cNvPicPr>
            <a:picLocks noChangeAspect="1"/>
          </p:cNvPicPr>
          <p:nvPr/>
        </p:nvPicPr>
        <p:blipFill>
          <a:blip r:embed="rId10"/>
          <a:stretch>
            <a:fillRect/>
          </a:stretch>
        </p:blipFill>
        <p:spPr>
          <a:xfrm>
            <a:off x="6629400" y="4297680"/>
            <a:ext cx="219456" cy="219456"/>
          </a:xfrm>
          <a:prstGeom prst="rect">
            <a:avLst/>
          </a:prstGeom>
        </p:spPr>
      </p:pic>
      <p:sp>
        <p:nvSpPr>
          <p:cNvPr id="29" name="Text 17"/>
          <p:cNvSpPr/>
          <p:nvPr/>
        </p:nvSpPr>
        <p:spPr>
          <a:xfrm>
            <a:off x="6976872" y="4270248"/>
            <a:ext cx="4114800" cy="292608"/>
          </a:xfrm>
          <a:prstGeom prst="rect">
            <a:avLst/>
          </a:prstGeom>
          <a:noFill/>
          <a:ln/>
        </p:spPr>
        <p:txBody>
          <a:bodyPr wrap="square" lIns="0" tIns="0" rIns="0" bIns="0" rtlCol="0" anchor="ctr"/>
          <a:lstStyle/>
          <a:p>
            <a:pPr indent="0" marL="0">
              <a:buNone/>
            </a:pPr>
            <a:r>
              <a:rPr lang="en-US" sz="1350" dirty="0">
                <a:solidFill>
                  <a:srgbClr val="153A40"/>
                </a:solidFill>
                <a:latin typeface="Calibri" pitchFamily="34" charset="0"/>
                <a:ea typeface="Calibri" pitchFamily="34" charset="-122"/>
                <a:cs typeface="Calibri" pitchFamily="34" charset="-120"/>
              </a:rPr>
              <a:t>Items added to cart</a:t>
            </a:r>
            <a:endParaRPr lang="en-US" sz="1350" dirty="0"/>
          </a:p>
        </p:txBody>
      </p:sp>
      <p:sp>
        <p:nvSpPr>
          <p:cNvPr id="30" name="Shape 18"/>
          <p:cNvSpPr/>
          <p:nvPr/>
        </p:nvSpPr>
        <p:spPr>
          <a:xfrm>
            <a:off x="640080" y="5138928"/>
            <a:ext cx="10927080" cy="713232"/>
          </a:xfrm>
          <a:prstGeom prst="roundRect">
            <a:avLst>
              <a:gd name="adj" fmla="val 15385"/>
            </a:avLst>
          </a:prstGeom>
          <a:solidFill>
            <a:srgbClr val="FFEDED"/>
          </a:solidFill>
          <a:ln/>
          <a:effectLst>
            <a:outerShdw sx="100000" sy="100000" kx="0" ky="0" algn="bl" rotWithShape="0" blurRad="127000" dist="50800" dir="5400000">
              <a:srgbClr val="8A93A6">
                <a:alpha val="13000"/>
              </a:srgbClr>
            </a:outerShdw>
          </a:effectLst>
        </p:spPr>
      </p:sp>
      <p:sp>
        <p:nvSpPr>
          <p:cNvPr id="31" name="Shape 19"/>
          <p:cNvSpPr/>
          <p:nvPr/>
        </p:nvSpPr>
        <p:spPr>
          <a:xfrm>
            <a:off x="868680" y="5248656"/>
            <a:ext cx="493776" cy="493776"/>
          </a:xfrm>
          <a:prstGeom prst="ellipse">
            <a:avLst/>
          </a:prstGeom>
          <a:solidFill>
            <a:srgbClr val="FF6B6B"/>
          </a:solidFill>
          <a:ln/>
          <a:effectLst>
            <a:outerShdw sx="100000" sy="100000" kx="0" ky="0" algn="bl" rotWithShape="0" blurRad="127000" dist="50800" dir="5400000">
              <a:srgbClr val="8A93A6">
                <a:alpha val="13000"/>
              </a:srgbClr>
            </a:outerShdw>
          </a:effectLst>
        </p:spPr>
      </p:sp>
      <p:pic>
        <p:nvPicPr>
          <p:cNvPr id="32" name="Image 10" descr="preencoded.png">    </p:cNvPr>
          <p:cNvPicPr>
            <a:picLocks noChangeAspect="1"/>
          </p:cNvPicPr>
          <p:nvPr/>
        </p:nvPicPr>
        <p:blipFill>
          <a:blip r:embed="rId11"/>
          <a:stretch>
            <a:fillRect/>
          </a:stretch>
        </p:blipFill>
        <p:spPr>
          <a:xfrm>
            <a:off x="1002000" y="5381976"/>
            <a:ext cx="227137" cy="227137"/>
          </a:xfrm>
          <a:prstGeom prst="rect">
            <a:avLst/>
          </a:prstGeom>
        </p:spPr>
      </p:pic>
      <p:sp>
        <p:nvSpPr>
          <p:cNvPr id="33" name="Text 20"/>
          <p:cNvSpPr/>
          <p:nvPr/>
        </p:nvSpPr>
        <p:spPr>
          <a:xfrm>
            <a:off x="1554480" y="5138928"/>
            <a:ext cx="9875520" cy="713232"/>
          </a:xfrm>
          <a:prstGeom prst="rect">
            <a:avLst/>
          </a:prstGeom>
          <a:noFill/>
          <a:ln/>
        </p:spPr>
        <p:txBody>
          <a:bodyPr wrap="square" lIns="0" tIns="0" rIns="0" bIns="0" rtlCol="0" anchor="ctr"/>
          <a:lstStyle/>
          <a:p>
            <a:pPr indent="0" marL="0">
              <a:buNone/>
            </a:pPr>
            <a:r>
              <a:rPr lang="en-US" sz="1300" dirty="0">
                <a:solidFill>
                  <a:srgbClr val="153A40"/>
                </a:solidFill>
                <a:latin typeface="Calibri" pitchFamily="34" charset="0"/>
                <a:ea typeface="Calibri" pitchFamily="34" charset="-122"/>
                <a:cs typeface="Calibri" pitchFamily="34" charset="-120"/>
              </a:rPr>
              <a:t>Explicit = you tell us directly (rare but clear). Implicit = we observe behavior (plentiful but noisy).</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881360" cy="274320"/>
          </a:xfrm>
          <a:prstGeom prst="rect">
            <a:avLst/>
          </a:prstGeom>
          <a:noFill/>
          <a:ln/>
        </p:spPr>
        <p:txBody>
          <a:bodyPr wrap="square" lIns="0" tIns="0" rIns="0" bIns="0" rtlCol="0" anchor="ctr"/>
          <a:lstStyle/>
          <a:p>
            <a:pPr indent="0" marL="0">
              <a:buNone/>
            </a:pPr>
            <a:r>
              <a:rPr lang="en-US" sz="1200" b="1" spc="200" kern="0" dirty="0">
                <a:solidFill>
                  <a:srgbClr val="FF6B6B"/>
                </a:solidFill>
                <a:latin typeface="Calibri" pitchFamily="34" charset="0"/>
                <a:ea typeface="Calibri" pitchFamily="34" charset="-122"/>
                <a:cs typeface="Calibri" pitchFamily="34" charset="-120"/>
              </a:rPr>
              <a:t>THE COLD-START PROBLEM</a:t>
            </a:r>
            <a:endParaRPr lang="en-US" sz="1200" dirty="0"/>
          </a:p>
        </p:txBody>
      </p:sp>
      <p:sp>
        <p:nvSpPr>
          <p:cNvPr id="3" name="Text 1"/>
          <p:cNvSpPr/>
          <p:nvPr/>
        </p:nvSpPr>
        <p:spPr>
          <a:xfrm>
            <a:off x="640080" y="630936"/>
            <a:ext cx="10881360" cy="731520"/>
          </a:xfrm>
          <a:prstGeom prst="rect">
            <a:avLst/>
          </a:prstGeom>
          <a:noFill/>
          <a:ln/>
        </p:spPr>
        <p:txBody>
          <a:bodyPr wrap="square" lIns="0" tIns="0" rIns="0" bIns="0" rtlCol="0" anchor="ctr"/>
          <a:lstStyle/>
          <a:p>
            <a:pPr indent="0" marL="0">
              <a:buNone/>
            </a:pPr>
            <a:r>
              <a:rPr lang="en-US" sz="2700" b="1" dirty="0">
                <a:solidFill>
                  <a:srgbClr val="153A40"/>
                </a:solidFill>
                <a:latin typeface="Cambria" pitchFamily="34" charset="0"/>
                <a:ea typeface="Cambria" pitchFamily="34" charset="-122"/>
                <a:cs typeface="Cambria" pitchFamily="34" charset="-120"/>
              </a:rPr>
              <a:t>When there's no history to learn from</a:t>
            </a:r>
            <a:endParaRPr lang="en-US" sz="2700" dirty="0"/>
          </a:p>
        </p:txBody>
      </p:sp>
      <p:sp>
        <p:nvSpPr>
          <p:cNvPr id="4" name="Shape 2"/>
          <p:cNvSpPr/>
          <p:nvPr/>
        </p:nvSpPr>
        <p:spPr>
          <a:xfrm>
            <a:off x="640080" y="1645920"/>
            <a:ext cx="5349240" cy="1783080"/>
          </a:xfrm>
          <a:prstGeom prst="roundRect">
            <a:avLst>
              <a:gd name="adj" fmla="val 6154"/>
            </a:avLst>
          </a:prstGeom>
          <a:solidFill>
            <a:srgbClr val="EAF7F5"/>
          </a:solidFill>
          <a:ln/>
          <a:effectLst>
            <a:outerShdw sx="100000" sy="100000" kx="0" ky="0" algn="bl" rotWithShape="0" blurRad="127000" dist="50800" dir="5400000">
              <a:srgbClr val="8A93A6">
                <a:alpha val="13000"/>
              </a:srgbClr>
            </a:outerShdw>
          </a:effectLst>
        </p:spPr>
      </p:sp>
      <p:sp>
        <p:nvSpPr>
          <p:cNvPr id="5" name="Shape 3"/>
          <p:cNvSpPr/>
          <p:nvPr/>
        </p:nvSpPr>
        <p:spPr>
          <a:xfrm>
            <a:off x="932688" y="1938528"/>
            <a:ext cx="676656" cy="676656"/>
          </a:xfrm>
          <a:prstGeom prst="ellipse">
            <a:avLst/>
          </a:prstGeom>
          <a:solidFill>
            <a:srgbClr val="FF6B6B"/>
          </a:solidFill>
          <a:ln/>
          <a:effectLst>
            <a:outerShdw sx="100000" sy="100000" kx="0" ky="0" algn="bl" rotWithShape="0" blurRad="127000" dist="50800" dir="5400000">
              <a:srgbClr val="8A93A6">
                <a:alpha val="13000"/>
              </a:srgbClr>
            </a:outerShdw>
          </a:effectLst>
        </p:spPr>
      </p:sp>
      <p:pic>
        <p:nvPicPr>
          <p:cNvPr id="6" name="Image 0" descr="preencoded.png">    </p:cNvPr>
          <p:cNvPicPr>
            <a:picLocks noChangeAspect="1"/>
          </p:cNvPicPr>
          <p:nvPr/>
        </p:nvPicPr>
        <p:blipFill>
          <a:blip r:embed="rId1"/>
          <a:stretch>
            <a:fillRect/>
          </a:stretch>
        </p:blipFill>
        <p:spPr>
          <a:xfrm>
            <a:off x="1115385" y="2121225"/>
            <a:ext cx="311262" cy="311262"/>
          </a:xfrm>
          <a:prstGeom prst="rect">
            <a:avLst/>
          </a:prstGeom>
        </p:spPr>
      </p:pic>
      <p:sp>
        <p:nvSpPr>
          <p:cNvPr id="7" name="Text 4"/>
          <p:cNvSpPr/>
          <p:nvPr/>
        </p:nvSpPr>
        <p:spPr>
          <a:xfrm>
            <a:off x="1828800" y="1956816"/>
            <a:ext cx="3977640" cy="365760"/>
          </a:xfrm>
          <a:prstGeom prst="rect">
            <a:avLst/>
          </a:prstGeom>
          <a:noFill/>
          <a:ln/>
        </p:spPr>
        <p:txBody>
          <a:bodyPr wrap="square" lIns="0" tIns="0" rIns="0" bIns="0" rtlCol="0" anchor="ctr"/>
          <a:lstStyle/>
          <a:p>
            <a:pPr indent="0" marL="0">
              <a:buNone/>
            </a:pPr>
            <a:r>
              <a:rPr lang="en-US" sz="1700" b="1" dirty="0">
                <a:solidFill>
                  <a:srgbClr val="153A40"/>
                </a:solidFill>
                <a:latin typeface="Cambria" pitchFamily="34" charset="0"/>
                <a:ea typeface="Cambria" pitchFamily="34" charset="-122"/>
                <a:cs typeface="Cambria" pitchFamily="34" charset="-120"/>
              </a:rPr>
              <a:t>New user</a:t>
            </a:r>
            <a:endParaRPr lang="en-US" sz="1700" dirty="0"/>
          </a:p>
        </p:txBody>
      </p:sp>
      <p:sp>
        <p:nvSpPr>
          <p:cNvPr id="8" name="Text 5"/>
          <p:cNvSpPr/>
          <p:nvPr/>
        </p:nvSpPr>
        <p:spPr>
          <a:xfrm>
            <a:off x="1828800" y="2377440"/>
            <a:ext cx="3931920" cy="822960"/>
          </a:xfrm>
          <a:prstGeom prst="rect">
            <a:avLst/>
          </a:prstGeom>
          <a:noFill/>
          <a:ln/>
        </p:spPr>
        <p:txBody>
          <a:bodyPr wrap="square" lIns="0" tIns="0" rIns="0" bIns="0" rtlCol="0" anchor="ctr"/>
          <a:lstStyle/>
          <a:p>
            <a:pPr indent="0" marL="0">
              <a:buNone/>
            </a:pPr>
            <a:r>
              <a:rPr lang="en-US" sz="1300" dirty="0">
                <a:solidFill>
                  <a:srgbClr val="5E7A80"/>
                </a:solidFill>
                <a:latin typeface="Calibri" pitchFamily="34" charset="0"/>
                <a:ea typeface="Calibri" pitchFamily="34" charset="-122"/>
                <a:cs typeface="Calibri" pitchFamily="34" charset="-120"/>
              </a:rPr>
              <a:t>A brand-new user: we have no history, so we can't personalize yet.</a:t>
            </a:r>
            <a:endParaRPr lang="en-US" sz="1300" dirty="0"/>
          </a:p>
        </p:txBody>
      </p:sp>
      <p:sp>
        <p:nvSpPr>
          <p:cNvPr id="9" name="Shape 6"/>
          <p:cNvSpPr/>
          <p:nvPr/>
        </p:nvSpPr>
        <p:spPr>
          <a:xfrm>
            <a:off x="6217920" y="1645920"/>
            <a:ext cx="5349240" cy="1783080"/>
          </a:xfrm>
          <a:prstGeom prst="roundRect">
            <a:avLst>
              <a:gd name="adj" fmla="val 6154"/>
            </a:avLst>
          </a:prstGeom>
          <a:solidFill>
            <a:srgbClr val="EAF7F5"/>
          </a:solidFill>
          <a:ln/>
          <a:effectLst>
            <a:outerShdw sx="100000" sy="100000" kx="0" ky="0" algn="bl" rotWithShape="0" blurRad="127000" dist="50800" dir="5400000">
              <a:srgbClr val="8A93A6">
                <a:alpha val="13000"/>
              </a:srgbClr>
            </a:outerShdw>
          </a:effectLst>
        </p:spPr>
      </p:sp>
      <p:sp>
        <p:nvSpPr>
          <p:cNvPr id="10" name="Shape 7"/>
          <p:cNvSpPr/>
          <p:nvPr/>
        </p:nvSpPr>
        <p:spPr>
          <a:xfrm>
            <a:off x="6510528" y="1938528"/>
            <a:ext cx="676656" cy="676656"/>
          </a:xfrm>
          <a:prstGeom prst="ellipse">
            <a:avLst/>
          </a:prstGeom>
          <a:solidFill>
            <a:srgbClr val="FF6B6B"/>
          </a:solidFill>
          <a:ln/>
          <a:effectLst>
            <a:outerShdw sx="100000" sy="100000" kx="0" ky="0" algn="bl" rotWithShape="0" blurRad="127000" dist="50800" dir="5400000">
              <a:srgbClr val="8A93A6">
                <a:alpha val="13000"/>
              </a:srgbClr>
            </a:outerShdw>
          </a:effectLst>
        </p:spPr>
      </p:sp>
      <p:pic>
        <p:nvPicPr>
          <p:cNvPr id="11" name="Image 1" descr="preencoded.png">    </p:cNvPr>
          <p:cNvPicPr>
            <a:picLocks noChangeAspect="1"/>
          </p:cNvPicPr>
          <p:nvPr/>
        </p:nvPicPr>
        <p:blipFill>
          <a:blip r:embed="rId2"/>
          <a:stretch>
            <a:fillRect/>
          </a:stretch>
        </p:blipFill>
        <p:spPr>
          <a:xfrm>
            <a:off x="6693225" y="2121225"/>
            <a:ext cx="311262" cy="311262"/>
          </a:xfrm>
          <a:prstGeom prst="rect">
            <a:avLst/>
          </a:prstGeom>
        </p:spPr>
      </p:pic>
      <p:sp>
        <p:nvSpPr>
          <p:cNvPr id="12" name="Text 8"/>
          <p:cNvSpPr/>
          <p:nvPr/>
        </p:nvSpPr>
        <p:spPr>
          <a:xfrm>
            <a:off x="7406640" y="1956816"/>
            <a:ext cx="3977640" cy="365760"/>
          </a:xfrm>
          <a:prstGeom prst="rect">
            <a:avLst/>
          </a:prstGeom>
          <a:noFill/>
          <a:ln/>
        </p:spPr>
        <p:txBody>
          <a:bodyPr wrap="square" lIns="0" tIns="0" rIns="0" bIns="0" rtlCol="0" anchor="ctr"/>
          <a:lstStyle/>
          <a:p>
            <a:pPr indent="0" marL="0">
              <a:buNone/>
            </a:pPr>
            <a:r>
              <a:rPr lang="en-US" sz="1700" b="1" dirty="0">
                <a:solidFill>
                  <a:srgbClr val="153A40"/>
                </a:solidFill>
                <a:latin typeface="Cambria" pitchFamily="34" charset="0"/>
                <a:ea typeface="Cambria" pitchFamily="34" charset="-122"/>
                <a:cs typeface="Cambria" pitchFamily="34" charset="-120"/>
              </a:rPr>
              <a:t>New item</a:t>
            </a:r>
            <a:endParaRPr lang="en-US" sz="1700" dirty="0"/>
          </a:p>
        </p:txBody>
      </p:sp>
      <p:sp>
        <p:nvSpPr>
          <p:cNvPr id="13" name="Text 9"/>
          <p:cNvSpPr/>
          <p:nvPr/>
        </p:nvSpPr>
        <p:spPr>
          <a:xfrm>
            <a:off x="7406640" y="2377440"/>
            <a:ext cx="3931920" cy="822960"/>
          </a:xfrm>
          <a:prstGeom prst="rect">
            <a:avLst/>
          </a:prstGeom>
          <a:noFill/>
          <a:ln/>
        </p:spPr>
        <p:txBody>
          <a:bodyPr wrap="square" lIns="0" tIns="0" rIns="0" bIns="0" rtlCol="0" anchor="ctr"/>
          <a:lstStyle/>
          <a:p>
            <a:pPr indent="0" marL="0">
              <a:buNone/>
            </a:pPr>
            <a:r>
              <a:rPr lang="en-US" sz="1300" dirty="0">
                <a:solidFill>
                  <a:srgbClr val="5E7A80"/>
                </a:solidFill>
                <a:latin typeface="Calibri" pitchFamily="34" charset="0"/>
                <a:ea typeface="Calibri" pitchFamily="34" charset="-122"/>
                <a:cs typeface="Calibri" pitchFamily="34" charset="-120"/>
              </a:rPr>
              <a:t>A brand-new item: nobody has interacted with it, so we can't learn from behavior.</a:t>
            </a:r>
            <a:endParaRPr lang="en-US" sz="1300" dirty="0"/>
          </a:p>
        </p:txBody>
      </p:sp>
      <p:sp>
        <p:nvSpPr>
          <p:cNvPr id="14" name="Text 10"/>
          <p:cNvSpPr/>
          <p:nvPr/>
        </p:nvSpPr>
        <p:spPr>
          <a:xfrm>
            <a:off x="640080" y="3721608"/>
            <a:ext cx="10881360" cy="365760"/>
          </a:xfrm>
          <a:prstGeom prst="rect">
            <a:avLst/>
          </a:prstGeom>
          <a:noFill/>
          <a:ln/>
        </p:spPr>
        <p:txBody>
          <a:bodyPr wrap="square" lIns="0" tIns="0" rIns="0" bIns="0" rtlCol="0" anchor="ctr"/>
          <a:lstStyle/>
          <a:p>
            <a:pPr indent="0" marL="0">
              <a:buNone/>
            </a:pPr>
            <a:r>
              <a:rPr lang="en-US" sz="1600" b="1" dirty="0">
                <a:solidFill>
                  <a:srgbClr val="153A40"/>
                </a:solidFill>
                <a:latin typeface="Cambria" pitchFamily="34" charset="0"/>
                <a:ea typeface="Cambria" pitchFamily="34" charset="-122"/>
                <a:cs typeface="Cambria" pitchFamily="34" charset="-120"/>
              </a:rPr>
              <a:t>Common workarounds</a:t>
            </a:r>
            <a:endParaRPr lang="en-US" sz="1600" dirty="0"/>
          </a:p>
        </p:txBody>
      </p:sp>
      <p:sp>
        <p:nvSpPr>
          <p:cNvPr id="15" name="Shape 11"/>
          <p:cNvSpPr/>
          <p:nvPr/>
        </p:nvSpPr>
        <p:spPr>
          <a:xfrm>
            <a:off x="640080" y="4178808"/>
            <a:ext cx="5349240" cy="749808"/>
          </a:xfrm>
          <a:prstGeom prst="roundRect">
            <a:avLst>
              <a:gd name="adj" fmla="val 12195"/>
            </a:avLst>
          </a:prstGeom>
          <a:solidFill>
            <a:srgbClr val="FFFFFF"/>
          </a:solidFill>
          <a:ln/>
          <a:effectLst>
            <a:outerShdw sx="100000" sy="100000" kx="0" ky="0" algn="bl" rotWithShape="0" blurRad="127000" dist="50800" dir="5400000">
              <a:srgbClr val="8A93A6">
                <a:alpha val="13000"/>
              </a:srgbClr>
            </a:outerShdw>
          </a:effectLst>
        </p:spPr>
      </p:sp>
      <p:sp>
        <p:nvSpPr>
          <p:cNvPr id="16" name="Shape 12"/>
          <p:cNvSpPr/>
          <p:nvPr/>
        </p:nvSpPr>
        <p:spPr>
          <a:xfrm>
            <a:off x="640080" y="4178808"/>
            <a:ext cx="5349240" cy="749808"/>
          </a:xfrm>
          <a:prstGeom prst="roundRect">
            <a:avLst>
              <a:gd name="adj" fmla="val 12195"/>
            </a:avLst>
          </a:prstGeom>
          <a:solidFill>
            <a:srgbClr val="FFFFFF">
              <a:alpha val="0"/>
            </a:srgbClr>
          </a:solidFill>
          <a:ln w="12700">
            <a:solidFill>
              <a:srgbClr val="CDE8E3"/>
            </a:solidFill>
            <a:prstDash val="solid"/>
          </a:ln>
        </p:spPr>
      </p:sp>
      <p:pic>
        <p:nvPicPr>
          <p:cNvPr id="17" name="Image 2" descr="preencoded.png">    </p:cNvPr>
          <p:cNvPicPr>
            <a:picLocks noChangeAspect="1"/>
          </p:cNvPicPr>
          <p:nvPr/>
        </p:nvPicPr>
        <p:blipFill>
          <a:blip r:embed="rId3"/>
          <a:stretch>
            <a:fillRect/>
          </a:stretch>
        </p:blipFill>
        <p:spPr>
          <a:xfrm>
            <a:off x="896112" y="4407408"/>
            <a:ext cx="292608" cy="292608"/>
          </a:xfrm>
          <a:prstGeom prst="rect">
            <a:avLst/>
          </a:prstGeom>
        </p:spPr>
      </p:pic>
      <p:sp>
        <p:nvSpPr>
          <p:cNvPr id="18" name="Text 13"/>
          <p:cNvSpPr/>
          <p:nvPr/>
        </p:nvSpPr>
        <p:spPr>
          <a:xfrm>
            <a:off x="1353312" y="4178808"/>
            <a:ext cx="4434840" cy="749808"/>
          </a:xfrm>
          <a:prstGeom prst="rect">
            <a:avLst/>
          </a:prstGeom>
          <a:noFill/>
          <a:ln/>
        </p:spPr>
        <p:txBody>
          <a:bodyPr wrap="square" lIns="0" tIns="0" rIns="0" bIns="0" rtlCol="0" anchor="ctr"/>
          <a:lstStyle/>
          <a:p>
            <a:pPr indent="0" marL="0">
              <a:buNone/>
            </a:pPr>
            <a:r>
              <a:rPr lang="en-US" sz="1350" dirty="0">
                <a:solidFill>
                  <a:srgbClr val="153A40"/>
                </a:solidFill>
                <a:latin typeface="Calibri" pitchFamily="34" charset="0"/>
                <a:ea typeface="Calibri" pitchFamily="34" charset="-122"/>
                <a:cs typeface="Calibri" pitchFamily="34" charset="-120"/>
              </a:rPr>
              <a:t>Show popular items to everyone at first</a:t>
            </a:r>
            <a:endParaRPr lang="en-US" sz="1350" dirty="0"/>
          </a:p>
        </p:txBody>
      </p:sp>
      <p:sp>
        <p:nvSpPr>
          <p:cNvPr id="19" name="Shape 14"/>
          <p:cNvSpPr/>
          <p:nvPr/>
        </p:nvSpPr>
        <p:spPr>
          <a:xfrm>
            <a:off x="6217920" y="4178808"/>
            <a:ext cx="5349240" cy="749808"/>
          </a:xfrm>
          <a:prstGeom prst="roundRect">
            <a:avLst>
              <a:gd name="adj" fmla="val 12195"/>
            </a:avLst>
          </a:prstGeom>
          <a:solidFill>
            <a:srgbClr val="FFFFFF"/>
          </a:solidFill>
          <a:ln/>
          <a:effectLst>
            <a:outerShdw sx="100000" sy="100000" kx="0" ky="0" algn="bl" rotWithShape="0" blurRad="127000" dist="50800" dir="5400000">
              <a:srgbClr val="8A93A6">
                <a:alpha val="13000"/>
              </a:srgbClr>
            </a:outerShdw>
          </a:effectLst>
        </p:spPr>
      </p:sp>
      <p:sp>
        <p:nvSpPr>
          <p:cNvPr id="20" name="Shape 15"/>
          <p:cNvSpPr/>
          <p:nvPr/>
        </p:nvSpPr>
        <p:spPr>
          <a:xfrm>
            <a:off x="6217920" y="4178808"/>
            <a:ext cx="5349240" cy="749808"/>
          </a:xfrm>
          <a:prstGeom prst="roundRect">
            <a:avLst>
              <a:gd name="adj" fmla="val 12195"/>
            </a:avLst>
          </a:prstGeom>
          <a:solidFill>
            <a:srgbClr val="FFFFFF">
              <a:alpha val="0"/>
            </a:srgbClr>
          </a:solidFill>
          <a:ln w="12700">
            <a:solidFill>
              <a:srgbClr val="CDE8E3"/>
            </a:solidFill>
            <a:prstDash val="solid"/>
          </a:ln>
        </p:spPr>
      </p:sp>
      <p:pic>
        <p:nvPicPr>
          <p:cNvPr id="21" name="Image 3" descr="preencoded.png">    </p:cNvPr>
          <p:cNvPicPr>
            <a:picLocks noChangeAspect="1"/>
          </p:cNvPicPr>
          <p:nvPr/>
        </p:nvPicPr>
        <p:blipFill>
          <a:blip r:embed="rId4"/>
          <a:stretch>
            <a:fillRect/>
          </a:stretch>
        </p:blipFill>
        <p:spPr>
          <a:xfrm>
            <a:off x="6473952" y="4407408"/>
            <a:ext cx="292608" cy="292608"/>
          </a:xfrm>
          <a:prstGeom prst="rect">
            <a:avLst/>
          </a:prstGeom>
        </p:spPr>
      </p:pic>
      <p:sp>
        <p:nvSpPr>
          <p:cNvPr id="22" name="Text 16"/>
          <p:cNvSpPr/>
          <p:nvPr/>
        </p:nvSpPr>
        <p:spPr>
          <a:xfrm>
            <a:off x="6931152" y="4178808"/>
            <a:ext cx="4434840" cy="749808"/>
          </a:xfrm>
          <a:prstGeom prst="rect">
            <a:avLst/>
          </a:prstGeom>
          <a:noFill/>
          <a:ln/>
        </p:spPr>
        <p:txBody>
          <a:bodyPr wrap="square" lIns="0" tIns="0" rIns="0" bIns="0" rtlCol="0" anchor="ctr"/>
          <a:lstStyle/>
          <a:p>
            <a:pPr indent="0" marL="0">
              <a:buNone/>
            </a:pPr>
            <a:r>
              <a:rPr lang="en-US" sz="1350" dirty="0">
                <a:solidFill>
                  <a:srgbClr val="153A40"/>
                </a:solidFill>
                <a:latin typeface="Calibri" pitchFamily="34" charset="0"/>
                <a:ea typeface="Calibri" pitchFamily="34" charset="-122"/>
                <a:cs typeface="Calibri" pitchFamily="34" charset="-120"/>
              </a:rPr>
              <a:t>Ask a quick “what are you into?” at sign-up</a:t>
            </a:r>
            <a:endParaRPr lang="en-US" sz="1350" dirty="0"/>
          </a:p>
        </p:txBody>
      </p:sp>
      <p:sp>
        <p:nvSpPr>
          <p:cNvPr id="23" name="Shape 17"/>
          <p:cNvSpPr/>
          <p:nvPr/>
        </p:nvSpPr>
        <p:spPr>
          <a:xfrm>
            <a:off x="640080" y="5111496"/>
            <a:ext cx="5349240" cy="749808"/>
          </a:xfrm>
          <a:prstGeom prst="roundRect">
            <a:avLst>
              <a:gd name="adj" fmla="val 12195"/>
            </a:avLst>
          </a:prstGeom>
          <a:solidFill>
            <a:srgbClr val="FFFFFF"/>
          </a:solidFill>
          <a:ln/>
          <a:effectLst>
            <a:outerShdw sx="100000" sy="100000" kx="0" ky="0" algn="bl" rotWithShape="0" blurRad="127000" dist="50800" dir="5400000">
              <a:srgbClr val="8A93A6">
                <a:alpha val="13000"/>
              </a:srgbClr>
            </a:outerShdw>
          </a:effectLst>
        </p:spPr>
      </p:sp>
      <p:sp>
        <p:nvSpPr>
          <p:cNvPr id="24" name="Shape 18"/>
          <p:cNvSpPr/>
          <p:nvPr/>
        </p:nvSpPr>
        <p:spPr>
          <a:xfrm>
            <a:off x="640080" y="5111496"/>
            <a:ext cx="5349240" cy="749808"/>
          </a:xfrm>
          <a:prstGeom prst="roundRect">
            <a:avLst>
              <a:gd name="adj" fmla="val 12195"/>
            </a:avLst>
          </a:prstGeom>
          <a:solidFill>
            <a:srgbClr val="FFFFFF">
              <a:alpha val="0"/>
            </a:srgbClr>
          </a:solidFill>
          <a:ln w="12700">
            <a:solidFill>
              <a:srgbClr val="CDE8E3"/>
            </a:solidFill>
            <a:prstDash val="solid"/>
          </a:ln>
        </p:spPr>
      </p:sp>
      <p:pic>
        <p:nvPicPr>
          <p:cNvPr id="25" name="Image 4" descr="preencoded.png">    </p:cNvPr>
          <p:cNvPicPr>
            <a:picLocks noChangeAspect="1"/>
          </p:cNvPicPr>
          <p:nvPr/>
        </p:nvPicPr>
        <p:blipFill>
          <a:blip r:embed="rId5"/>
          <a:stretch>
            <a:fillRect/>
          </a:stretch>
        </p:blipFill>
        <p:spPr>
          <a:xfrm>
            <a:off x="896112" y="5340096"/>
            <a:ext cx="292608" cy="292608"/>
          </a:xfrm>
          <a:prstGeom prst="rect">
            <a:avLst/>
          </a:prstGeom>
        </p:spPr>
      </p:pic>
      <p:sp>
        <p:nvSpPr>
          <p:cNvPr id="26" name="Text 19"/>
          <p:cNvSpPr/>
          <p:nvPr/>
        </p:nvSpPr>
        <p:spPr>
          <a:xfrm>
            <a:off x="1353312" y="5111496"/>
            <a:ext cx="4434840" cy="749808"/>
          </a:xfrm>
          <a:prstGeom prst="rect">
            <a:avLst/>
          </a:prstGeom>
          <a:noFill/>
          <a:ln/>
        </p:spPr>
        <p:txBody>
          <a:bodyPr wrap="square" lIns="0" tIns="0" rIns="0" bIns="0" rtlCol="0" anchor="ctr"/>
          <a:lstStyle/>
          <a:p>
            <a:pPr indent="0" marL="0">
              <a:buNone/>
            </a:pPr>
            <a:r>
              <a:rPr lang="en-US" sz="1350" dirty="0">
                <a:solidFill>
                  <a:srgbClr val="153A40"/>
                </a:solidFill>
                <a:latin typeface="Calibri" pitchFamily="34" charset="0"/>
                <a:ea typeface="Calibri" pitchFamily="34" charset="-122"/>
                <a:cs typeface="Calibri" pitchFamily="34" charset="-120"/>
              </a:rPr>
              <a:t>Recommend new items by their features (content-based)</a:t>
            </a:r>
            <a:endParaRPr lang="en-US" sz="1350" dirty="0"/>
          </a:p>
        </p:txBody>
      </p:sp>
      <p:sp>
        <p:nvSpPr>
          <p:cNvPr id="27" name="Shape 20"/>
          <p:cNvSpPr/>
          <p:nvPr/>
        </p:nvSpPr>
        <p:spPr>
          <a:xfrm>
            <a:off x="6217920" y="5111496"/>
            <a:ext cx="5349240" cy="749808"/>
          </a:xfrm>
          <a:prstGeom prst="roundRect">
            <a:avLst>
              <a:gd name="adj" fmla="val 12195"/>
            </a:avLst>
          </a:prstGeom>
          <a:solidFill>
            <a:srgbClr val="FFFFFF"/>
          </a:solidFill>
          <a:ln/>
          <a:effectLst>
            <a:outerShdw sx="100000" sy="100000" kx="0" ky="0" algn="bl" rotWithShape="0" blurRad="127000" dist="50800" dir="5400000">
              <a:srgbClr val="8A93A6">
                <a:alpha val="13000"/>
              </a:srgbClr>
            </a:outerShdw>
          </a:effectLst>
        </p:spPr>
      </p:sp>
      <p:sp>
        <p:nvSpPr>
          <p:cNvPr id="28" name="Shape 21"/>
          <p:cNvSpPr/>
          <p:nvPr/>
        </p:nvSpPr>
        <p:spPr>
          <a:xfrm>
            <a:off x="6217920" y="5111496"/>
            <a:ext cx="5349240" cy="749808"/>
          </a:xfrm>
          <a:prstGeom prst="roundRect">
            <a:avLst>
              <a:gd name="adj" fmla="val 12195"/>
            </a:avLst>
          </a:prstGeom>
          <a:solidFill>
            <a:srgbClr val="FFFFFF">
              <a:alpha val="0"/>
            </a:srgbClr>
          </a:solidFill>
          <a:ln w="12700">
            <a:solidFill>
              <a:srgbClr val="CDE8E3"/>
            </a:solidFill>
            <a:prstDash val="solid"/>
          </a:ln>
        </p:spPr>
      </p:sp>
      <p:pic>
        <p:nvPicPr>
          <p:cNvPr id="29" name="Image 5" descr="preencoded.png">    </p:cNvPr>
          <p:cNvPicPr>
            <a:picLocks noChangeAspect="1"/>
          </p:cNvPicPr>
          <p:nvPr/>
        </p:nvPicPr>
        <p:blipFill>
          <a:blip r:embed="rId6"/>
          <a:stretch>
            <a:fillRect/>
          </a:stretch>
        </p:blipFill>
        <p:spPr>
          <a:xfrm>
            <a:off x="6473952" y="5340096"/>
            <a:ext cx="292608" cy="292608"/>
          </a:xfrm>
          <a:prstGeom prst="rect">
            <a:avLst/>
          </a:prstGeom>
        </p:spPr>
      </p:pic>
      <p:sp>
        <p:nvSpPr>
          <p:cNvPr id="30" name="Text 22"/>
          <p:cNvSpPr/>
          <p:nvPr/>
        </p:nvSpPr>
        <p:spPr>
          <a:xfrm>
            <a:off x="6931152" y="5111496"/>
            <a:ext cx="4434840" cy="749808"/>
          </a:xfrm>
          <a:prstGeom prst="rect">
            <a:avLst/>
          </a:prstGeom>
          <a:noFill/>
          <a:ln/>
        </p:spPr>
        <p:txBody>
          <a:bodyPr wrap="square" lIns="0" tIns="0" rIns="0" bIns="0" rtlCol="0" anchor="ctr"/>
          <a:lstStyle/>
          <a:p>
            <a:pPr indent="0" marL="0">
              <a:buNone/>
            </a:pPr>
            <a:r>
              <a:rPr lang="en-US" sz="1350" dirty="0">
                <a:solidFill>
                  <a:srgbClr val="153A40"/>
                </a:solidFill>
                <a:latin typeface="Calibri" pitchFamily="34" charset="0"/>
                <a:ea typeface="Calibri" pitchFamily="34" charset="-122"/>
                <a:cs typeface="Calibri" pitchFamily="34" charset="-120"/>
              </a:rPr>
              <a:t>Use clues like location, device, and time of day</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881360" cy="274320"/>
          </a:xfrm>
          <a:prstGeom prst="rect">
            <a:avLst/>
          </a:prstGeom>
          <a:noFill/>
          <a:ln/>
        </p:spPr>
        <p:txBody>
          <a:bodyPr wrap="square" lIns="0" tIns="0" rIns="0" bIns="0" rtlCol="0" anchor="ctr"/>
          <a:lstStyle/>
          <a:p>
            <a:pPr indent="0" marL="0">
              <a:buNone/>
            </a:pPr>
            <a:r>
              <a:rPr lang="en-US" sz="1200" b="1" spc="200" kern="0" dirty="0">
                <a:solidFill>
                  <a:srgbClr val="FF6B6B"/>
                </a:solidFill>
                <a:latin typeface="Calibri" pitchFamily="34" charset="0"/>
                <a:ea typeface="Calibri" pitchFamily="34" charset="-122"/>
                <a:cs typeface="Calibri" pitchFamily="34" charset="-120"/>
              </a:rPr>
              <a:t>HOW WE MEASURE QUALITY</a:t>
            </a:r>
            <a:endParaRPr lang="en-US" sz="1200" dirty="0"/>
          </a:p>
        </p:txBody>
      </p:sp>
      <p:sp>
        <p:nvSpPr>
          <p:cNvPr id="3" name="Text 1"/>
          <p:cNvSpPr/>
          <p:nvPr/>
        </p:nvSpPr>
        <p:spPr>
          <a:xfrm>
            <a:off x="640080" y="630936"/>
            <a:ext cx="10881360" cy="731520"/>
          </a:xfrm>
          <a:prstGeom prst="rect">
            <a:avLst/>
          </a:prstGeom>
          <a:noFill/>
          <a:ln/>
        </p:spPr>
        <p:txBody>
          <a:bodyPr wrap="square" lIns="0" tIns="0" rIns="0" bIns="0" rtlCol="0" anchor="ctr"/>
          <a:lstStyle/>
          <a:p>
            <a:pPr indent="0" marL="0">
              <a:buNone/>
            </a:pPr>
            <a:r>
              <a:rPr lang="en-US" sz="2700" b="1" dirty="0">
                <a:solidFill>
                  <a:srgbClr val="153A40"/>
                </a:solidFill>
                <a:latin typeface="Cambria" pitchFamily="34" charset="0"/>
                <a:ea typeface="Cambria" pitchFamily="34" charset="-122"/>
                <a:cs typeface="Cambria" pitchFamily="34" charset="-120"/>
              </a:rPr>
              <a:t>Test offline to shortlist, test online to decide</a:t>
            </a:r>
            <a:endParaRPr lang="en-US" sz="2700" dirty="0"/>
          </a:p>
        </p:txBody>
      </p:sp>
      <p:sp>
        <p:nvSpPr>
          <p:cNvPr id="4" name="Shape 2"/>
          <p:cNvSpPr/>
          <p:nvPr/>
        </p:nvSpPr>
        <p:spPr>
          <a:xfrm>
            <a:off x="640080" y="1645920"/>
            <a:ext cx="5486400" cy="1508760"/>
          </a:xfrm>
          <a:prstGeom prst="roundRect">
            <a:avLst>
              <a:gd name="adj" fmla="val 7273"/>
            </a:avLst>
          </a:prstGeom>
          <a:solidFill>
            <a:srgbClr val="EAF7F5"/>
          </a:solidFill>
          <a:ln/>
          <a:effectLst>
            <a:outerShdw sx="100000" sy="100000" kx="0" ky="0" algn="bl" rotWithShape="0" blurRad="127000" dist="50800" dir="5400000">
              <a:srgbClr val="8A93A6">
                <a:alpha val="13000"/>
              </a:srgbClr>
            </a:outerShdw>
          </a:effectLst>
        </p:spPr>
      </p:sp>
      <p:sp>
        <p:nvSpPr>
          <p:cNvPr id="5" name="Shape 3"/>
          <p:cNvSpPr/>
          <p:nvPr/>
        </p:nvSpPr>
        <p:spPr>
          <a:xfrm>
            <a:off x="896112" y="1920240"/>
            <a:ext cx="548640" cy="548640"/>
          </a:xfrm>
          <a:prstGeom prst="ellipse">
            <a:avLst/>
          </a:prstGeom>
          <a:solidFill>
            <a:srgbClr val="028090"/>
          </a:solidFill>
          <a:ln/>
          <a:effectLst>
            <a:outerShdw sx="100000" sy="100000" kx="0" ky="0" algn="bl" rotWithShape="0" blurRad="127000" dist="50800" dir="5400000">
              <a:srgbClr val="8A93A6">
                <a:alpha val="13000"/>
              </a:srgbClr>
            </a:outerShdw>
          </a:effectLst>
        </p:spPr>
      </p:sp>
      <p:pic>
        <p:nvPicPr>
          <p:cNvPr id="6" name="Image 0" descr="preencoded.png">    </p:cNvPr>
          <p:cNvPicPr>
            <a:picLocks noChangeAspect="1"/>
          </p:cNvPicPr>
          <p:nvPr/>
        </p:nvPicPr>
        <p:blipFill>
          <a:blip r:embed="rId1"/>
          <a:stretch>
            <a:fillRect/>
          </a:stretch>
        </p:blipFill>
        <p:spPr>
          <a:xfrm>
            <a:off x="1044245" y="2068373"/>
            <a:ext cx="252374" cy="252374"/>
          </a:xfrm>
          <a:prstGeom prst="rect">
            <a:avLst/>
          </a:prstGeom>
        </p:spPr>
      </p:pic>
      <p:sp>
        <p:nvSpPr>
          <p:cNvPr id="7" name="Text 4"/>
          <p:cNvSpPr/>
          <p:nvPr/>
        </p:nvSpPr>
        <p:spPr>
          <a:xfrm>
            <a:off x="1600200" y="1883664"/>
            <a:ext cx="3749040" cy="365760"/>
          </a:xfrm>
          <a:prstGeom prst="rect">
            <a:avLst/>
          </a:prstGeom>
          <a:noFill/>
          <a:ln/>
        </p:spPr>
        <p:txBody>
          <a:bodyPr wrap="square" lIns="0" tIns="0" rIns="0" bIns="0" rtlCol="0" anchor="ctr"/>
          <a:lstStyle/>
          <a:p>
            <a:pPr indent="0" marL="0">
              <a:buNone/>
            </a:pPr>
            <a:r>
              <a:rPr lang="en-US" sz="1600" b="1" dirty="0">
                <a:solidFill>
                  <a:srgbClr val="153A40"/>
                </a:solidFill>
                <a:latin typeface="Cambria" pitchFamily="34" charset="0"/>
                <a:ea typeface="Cambria" pitchFamily="34" charset="-122"/>
                <a:cs typeface="Cambria" pitchFamily="34" charset="-120"/>
              </a:rPr>
              <a:t>Offline metrics (lab tests)</a:t>
            </a:r>
            <a:endParaRPr lang="en-US" sz="1600" dirty="0"/>
          </a:p>
        </p:txBody>
      </p:sp>
      <p:sp>
        <p:nvSpPr>
          <p:cNvPr id="8" name="Text 5"/>
          <p:cNvSpPr/>
          <p:nvPr/>
        </p:nvSpPr>
        <p:spPr>
          <a:xfrm>
            <a:off x="960120" y="2322576"/>
            <a:ext cx="4251960" cy="777240"/>
          </a:xfrm>
          <a:prstGeom prst="rect">
            <a:avLst/>
          </a:prstGeom>
          <a:noFill/>
          <a:ln/>
        </p:spPr>
        <p:txBody>
          <a:bodyPr wrap="square" lIns="0" tIns="0" rIns="0" bIns="0" rtlCol="0" anchor="ctr"/>
          <a:lstStyle/>
          <a:p>
            <a:pPr marL="177800" indent="-177800">
              <a:spcAft>
                <a:spcPts val="400"/>
              </a:spcAft>
              <a:buSzPct val="100000"/>
              <a:buChar char="•"/>
            </a:pPr>
            <a:r>
              <a:rPr lang="en-US" sz="1250" dirty="0">
                <a:solidFill>
                  <a:srgbClr val="5E7A80"/>
                </a:solidFill>
                <a:latin typeface="Calibri" pitchFamily="34" charset="0"/>
                <a:ea typeface="Calibri" pitchFamily="34" charset="-122"/>
                <a:cs typeface="Calibri" pitchFamily="34" charset="-120"/>
              </a:rPr>
              <a:t>Precision@k, Recall, NDCG</a:t>
            </a:r>
            <a:endParaRPr lang="en-US" sz="1250" dirty="0"/>
          </a:p>
          <a:p>
            <a:pPr marL="177800" indent="-177800">
              <a:spcAft>
                <a:spcPts val="400"/>
              </a:spcAft>
              <a:buSzPct val="100000"/>
              <a:buChar char="•"/>
            </a:pPr>
            <a:r>
              <a:rPr lang="en-US" sz="1250" dirty="0">
                <a:solidFill>
                  <a:srgbClr val="5E7A80"/>
                </a:solidFill>
                <a:latin typeface="Calibri" pitchFamily="34" charset="0"/>
                <a:ea typeface="Calibri" pitchFamily="34" charset="-122"/>
                <a:cs typeface="Calibri" pitchFamily="34" charset="-120"/>
              </a:rPr>
              <a:t>Did good items land near the top of the list?</a:t>
            </a:r>
            <a:endParaRPr lang="en-US" sz="1250" dirty="0"/>
          </a:p>
        </p:txBody>
      </p:sp>
      <p:sp>
        <p:nvSpPr>
          <p:cNvPr id="9" name="Shape 6"/>
          <p:cNvSpPr/>
          <p:nvPr/>
        </p:nvSpPr>
        <p:spPr>
          <a:xfrm>
            <a:off x="640080" y="3337560"/>
            <a:ext cx="5486400" cy="1508760"/>
          </a:xfrm>
          <a:prstGeom prst="roundRect">
            <a:avLst>
              <a:gd name="adj" fmla="val 7273"/>
            </a:avLst>
          </a:prstGeom>
          <a:solidFill>
            <a:srgbClr val="EAF7F5"/>
          </a:solidFill>
          <a:ln/>
          <a:effectLst>
            <a:outerShdw sx="100000" sy="100000" kx="0" ky="0" algn="bl" rotWithShape="0" blurRad="127000" dist="50800" dir="5400000">
              <a:srgbClr val="8A93A6">
                <a:alpha val="13000"/>
              </a:srgbClr>
            </a:outerShdw>
          </a:effectLst>
        </p:spPr>
      </p:sp>
      <p:sp>
        <p:nvSpPr>
          <p:cNvPr id="10" name="Shape 7"/>
          <p:cNvSpPr/>
          <p:nvPr/>
        </p:nvSpPr>
        <p:spPr>
          <a:xfrm>
            <a:off x="896112" y="3611880"/>
            <a:ext cx="548640" cy="548640"/>
          </a:xfrm>
          <a:prstGeom prst="ellipse">
            <a:avLst/>
          </a:prstGeom>
          <a:solidFill>
            <a:srgbClr val="00A896"/>
          </a:solidFill>
          <a:ln/>
          <a:effectLst>
            <a:outerShdw sx="100000" sy="100000" kx="0" ky="0" algn="bl" rotWithShape="0" blurRad="127000" dist="50800" dir="5400000">
              <a:srgbClr val="8A93A6">
                <a:alpha val="13000"/>
              </a:srgbClr>
            </a:outerShdw>
          </a:effectLst>
        </p:spPr>
      </p:sp>
      <p:pic>
        <p:nvPicPr>
          <p:cNvPr id="11" name="Image 1" descr="preencoded.png">    </p:cNvPr>
          <p:cNvPicPr>
            <a:picLocks noChangeAspect="1"/>
          </p:cNvPicPr>
          <p:nvPr/>
        </p:nvPicPr>
        <p:blipFill>
          <a:blip r:embed="rId2"/>
          <a:stretch>
            <a:fillRect/>
          </a:stretch>
        </p:blipFill>
        <p:spPr>
          <a:xfrm>
            <a:off x="1044245" y="3760013"/>
            <a:ext cx="252374" cy="252374"/>
          </a:xfrm>
          <a:prstGeom prst="rect">
            <a:avLst/>
          </a:prstGeom>
        </p:spPr>
      </p:pic>
      <p:sp>
        <p:nvSpPr>
          <p:cNvPr id="12" name="Text 8"/>
          <p:cNvSpPr/>
          <p:nvPr/>
        </p:nvSpPr>
        <p:spPr>
          <a:xfrm>
            <a:off x="1600200" y="3575304"/>
            <a:ext cx="3749040" cy="365760"/>
          </a:xfrm>
          <a:prstGeom prst="rect">
            <a:avLst/>
          </a:prstGeom>
          <a:noFill/>
          <a:ln/>
        </p:spPr>
        <p:txBody>
          <a:bodyPr wrap="square" lIns="0" tIns="0" rIns="0" bIns="0" rtlCol="0" anchor="ctr"/>
          <a:lstStyle/>
          <a:p>
            <a:pPr indent="0" marL="0">
              <a:buNone/>
            </a:pPr>
            <a:r>
              <a:rPr lang="en-US" sz="1600" b="1" dirty="0">
                <a:solidFill>
                  <a:srgbClr val="153A40"/>
                </a:solidFill>
                <a:latin typeface="Cambria" pitchFamily="34" charset="0"/>
                <a:ea typeface="Cambria" pitchFamily="34" charset="-122"/>
                <a:cs typeface="Cambria" pitchFamily="34" charset="-120"/>
              </a:rPr>
              <a:t>Online metrics (real users)</a:t>
            </a:r>
            <a:endParaRPr lang="en-US" sz="1600" dirty="0"/>
          </a:p>
        </p:txBody>
      </p:sp>
      <p:sp>
        <p:nvSpPr>
          <p:cNvPr id="13" name="Text 9"/>
          <p:cNvSpPr/>
          <p:nvPr/>
        </p:nvSpPr>
        <p:spPr>
          <a:xfrm>
            <a:off x="960120" y="4014216"/>
            <a:ext cx="4251960" cy="777240"/>
          </a:xfrm>
          <a:prstGeom prst="rect">
            <a:avLst/>
          </a:prstGeom>
          <a:noFill/>
          <a:ln/>
        </p:spPr>
        <p:txBody>
          <a:bodyPr wrap="square" lIns="0" tIns="0" rIns="0" bIns="0" rtlCol="0" anchor="ctr"/>
          <a:lstStyle/>
          <a:p>
            <a:pPr marL="177800" indent="-177800">
              <a:spcAft>
                <a:spcPts val="400"/>
              </a:spcAft>
              <a:buSzPct val="100000"/>
              <a:buChar char="•"/>
            </a:pPr>
            <a:r>
              <a:rPr lang="en-US" sz="1250" dirty="0">
                <a:solidFill>
                  <a:srgbClr val="5E7A80"/>
                </a:solidFill>
                <a:latin typeface="Calibri" pitchFamily="34" charset="0"/>
                <a:ea typeface="Calibri" pitchFamily="34" charset="-122"/>
                <a:cs typeface="Calibri" pitchFamily="34" charset="-120"/>
              </a:rPr>
              <a:t>Click-through, conversion, revenue</a:t>
            </a:r>
            <a:endParaRPr lang="en-US" sz="1250" dirty="0"/>
          </a:p>
          <a:p>
            <a:pPr marL="177800" indent="-177800">
              <a:spcAft>
                <a:spcPts val="400"/>
              </a:spcAft>
              <a:buSzPct val="100000"/>
              <a:buChar char="•"/>
            </a:pPr>
            <a:r>
              <a:rPr lang="en-US" sz="1250" dirty="0">
                <a:solidFill>
                  <a:srgbClr val="5E7A80"/>
                </a:solidFill>
                <a:latin typeface="Calibri" pitchFamily="34" charset="0"/>
                <a:ea typeface="Calibri" pitchFamily="34" charset="-122"/>
                <a:cs typeface="Calibri" pitchFamily="34" charset="-120"/>
              </a:rPr>
              <a:t>Measured with A/B tests on live traffic</a:t>
            </a:r>
            <a:endParaRPr lang="en-US" sz="1250" dirty="0"/>
          </a:p>
        </p:txBody>
      </p:sp>
      <p:sp>
        <p:nvSpPr>
          <p:cNvPr id="14" name="Shape 10"/>
          <p:cNvSpPr/>
          <p:nvPr/>
        </p:nvSpPr>
        <p:spPr>
          <a:xfrm>
            <a:off x="6446520" y="1645920"/>
            <a:ext cx="5120640" cy="3200400"/>
          </a:xfrm>
          <a:prstGeom prst="roundRect">
            <a:avLst>
              <a:gd name="adj" fmla="val 3429"/>
            </a:avLst>
          </a:prstGeom>
          <a:solidFill>
            <a:srgbClr val="FFFFFF"/>
          </a:solidFill>
          <a:ln/>
          <a:effectLst>
            <a:outerShdw sx="100000" sy="100000" kx="0" ky="0" algn="bl" rotWithShape="0" blurRad="127000" dist="50800" dir="5400000">
              <a:srgbClr val="8A93A6">
                <a:alpha val="13000"/>
              </a:srgbClr>
            </a:outerShdw>
          </a:effectLst>
        </p:spPr>
      </p:sp>
      <p:sp>
        <p:nvSpPr>
          <p:cNvPr id="15" name="Shape 11"/>
          <p:cNvSpPr/>
          <p:nvPr/>
        </p:nvSpPr>
        <p:spPr>
          <a:xfrm>
            <a:off x="6446520" y="1645920"/>
            <a:ext cx="5120640" cy="3200400"/>
          </a:xfrm>
          <a:prstGeom prst="roundRect">
            <a:avLst>
              <a:gd name="adj" fmla="val 3429"/>
            </a:avLst>
          </a:prstGeom>
          <a:solidFill>
            <a:srgbClr val="FFFFFF">
              <a:alpha val="0"/>
            </a:srgbClr>
          </a:solidFill>
          <a:ln w="12700">
            <a:solidFill>
              <a:srgbClr val="CDE8E3"/>
            </a:solidFill>
            <a:prstDash val="solid"/>
          </a:ln>
        </p:spPr>
      </p:sp>
      <p:sp>
        <p:nvSpPr>
          <p:cNvPr id="16" name="Text 12"/>
          <p:cNvSpPr/>
          <p:nvPr/>
        </p:nvSpPr>
        <p:spPr>
          <a:xfrm>
            <a:off x="6766560" y="1874520"/>
            <a:ext cx="4480560" cy="320040"/>
          </a:xfrm>
          <a:prstGeom prst="rect">
            <a:avLst/>
          </a:prstGeom>
          <a:noFill/>
          <a:ln/>
        </p:spPr>
        <p:txBody>
          <a:bodyPr wrap="square" lIns="0" tIns="0" rIns="0" bIns="0" rtlCol="0" anchor="ctr"/>
          <a:lstStyle/>
          <a:p>
            <a:pPr indent="0" marL="0">
              <a:buNone/>
            </a:pPr>
            <a:r>
              <a:rPr lang="en-US" sz="1350" b="1" dirty="0">
                <a:solidFill>
                  <a:srgbClr val="153A40"/>
                </a:solidFill>
                <a:latin typeface="Calibri" pitchFamily="34" charset="0"/>
                <a:ea typeface="Calibri" pitchFamily="34" charset="-122"/>
                <a:cs typeface="Calibri" pitchFamily="34" charset="-120"/>
              </a:rPr>
              <a:t>A/B test — conversion rate (%)</a:t>
            </a:r>
            <a:endParaRPr lang="en-US" sz="1350" dirty="0"/>
          </a:p>
        </p:txBody>
      </p:sp>
      <p:graphicFrame>
        <p:nvGraphicFramePr>
          <p:cNvPr id="17" name="Chart 0" descr=""/>
          <p:cNvGraphicFramePr/>
          <p:nvPr/>
        </p:nvGraphicFramePr>
        <p:xfrm>
          <a:off x="6675120" y="2286000"/>
          <a:ext cx="4663440" cy="2423160"/>
        </p:xfrm>
        <a:graphic xmlns:a="http://schemas.openxmlformats.org/drawingml/2006/main">
          <a:graphicData uri="http://schemas.openxmlformats.org/drawingml/2006/chart">
            <c:chart xmlns:c="http://schemas.openxmlformats.org/drawingml/2006/chart" r:id="rId3"/>
          </a:graphicData>
        </a:graphic>
      </p:graphicFrame>
      <p:sp>
        <p:nvSpPr>
          <p:cNvPr id="18" name="Shape 13"/>
          <p:cNvSpPr/>
          <p:nvPr/>
        </p:nvSpPr>
        <p:spPr>
          <a:xfrm>
            <a:off x="640080" y="4937760"/>
            <a:ext cx="10927080" cy="658368"/>
          </a:xfrm>
          <a:prstGeom prst="roundRect">
            <a:avLst>
              <a:gd name="adj" fmla="val 16667"/>
            </a:avLst>
          </a:prstGeom>
          <a:solidFill>
            <a:srgbClr val="FFEDED"/>
          </a:solidFill>
          <a:ln/>
          <a:effectLst>
            <a:outerShdw sx="100000" sy="100000" kx="0" ky="0" algn="bl" rotWithShape="0" blurRad="127000" dist="50800" dir="5400000">
              <a:srgbClr val="8A93A6">
                <a:alpha val="13000"/>
              </a:srgbClr>
            </a:outerShdw>
          </a:effectLst>
        </p:spPr>
      </p:sp>
      <p:sp>
        <p:nvSpPr>
          <p:cNvPr id="19" name="Shape 14"/>
          <p:cNvSpPr/>
          <p:nvPr/>
        </p:nvSpPr>
        <p:spPr>
          <a:xfrm>
            <a:off x="868680" y="5029200"/>
            <a:ext cx="475488" cy="475488"/>
          </a:xfrm>
          <a:prstGeom prst="ellipse">
            <a:avLst/>
          </a:prstGeom>
          <a:solidFill>
            <a:srgbClr val="FF6B6B"/>
          </a:solidFill>
          <a:ln/>
          <a:effectLst>
            <a:outerShdw sx="100000" sy="100000" kx="0" ky="0" algn="bl" rotWithShape="0" blurRad="127000" dist="50800" dir="5400000">
              <a:srgbClr val="8A93A6">
                <a:alpha val="13000"/>
              </a:srgbClr>
            </a:outerShdw>
          </a:effectLst>
        </p:spPr>
      </p:sp>
      <p:pic>
        <p:nvPicPr>
          <p:cNvPr id="20" name="Image 2" descr="preencoded.png">    </p:cNvPr>
          <p:cNvPicPr>
            <a:picLocks noChangeAspect="1"/>
          </p:cNvPicPr>
          <p:nvPr/>
        </p:nvPicPr>
        <p:blipFill>
          <a:blip r:embed="rId4"/>
          <a:stretch>
            <a:fillRect/>
          </a:stretch>
        </p:blipFill>
        <p:spPr>
          <a:xfrm>
            <a:off x="997062" y="5157582"/>
            <a:ext cx="218724" cy="218724"/>
          </a:xfrm>
          <a:prstGeom prst="rect">
            <a:avLst/>
          </a:prstGeom>
        </p:spPr>
      </p:pic>
      <p:sp>
        <p:nvSpPr>
          <p:cNvPr id="21" name="Text 15"/>
          <p:cNvSpPr/>
          <p:nvPr/>
        </p:nvSpPr>
        <p:spPr>
          <a:xfrm>
            <a:off x="1508760" y="4937760"/>
            <a:ext cx="9966960" cy="658368"/>
          </a:xfrm>
          <a:prstGeom prst="rect">
            <a:avLst/>
          </a:prstGeom>
          <a:noFill/>
          <a:ln/>
        </p:spPr>
        <p:txBody>
          <a:bodyPr wrap="square" lIns="0" tIns="0" rIns="0" bIns="0" rtlCol="0" anchor="ctr"/>
          <a:lstStyle/>
          <a:p>
            <a:pPr indent="0" marL="0">
              <a:buNone/>
            </a:pPr>
            <a:r>
              <a:rPr lang="en-US" sz="1250" dirty="0">
                <a:solidFill>
                  <a:srgbClr val="153A40"/>
                </a:solidFill>
                <a:latin typeface="Calibri" pitchFamily="34" charset="0"/>
                <a:ea typeface="Calibri" pitchFamily="34" charset="-122"/>
                <a:cs typeface="Calibri" pitchFamily="34" charset="-120"/>
              </a:rPr>
              <a:t>Offline tests narrow the options; A/B tests on real users make the final call.</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881360" cy="274320"/>
          </a:xfrm>
          <a:prstGeom prst="rect">
            <a:avLst/>
          </a:prstGeom>
          <a:noFill/>
          <a:ln/>
        </p:spPr>
        <p:txBody>
          <a:bodyPr wrap="square" lIns="0" tIns="0" rIns="0" bIns="0" rtlCol="0" anchor="ctr"/>
          <a:lstStyle/>
          <a:p>
            <a:pPr indent="0" marL="0">
              <a:buNone/>
            </a:pPr>
            <a:r>
              <a:rPr lang="en-US" sz="1200" b="1" spc="200" kern="0" dirty="0">
                <a:solidFill>
                  <a:srgbClr val="FF6B6B"/>
                </a:solidFill>
                <a:latin typeface="Calibri" pitchFamily="34" charset="0"/>
                <a:ea typeface="Calibri" pitchFamily="34" charset="-122"/>
                <a:cs typeface="Calibri" pitchFamily="34" charset="-120"/>
              </a:rPr>
              <a:t>A REAL-WORLD ARCHITECTURE</a:t>
            </a:r>
            <a:endParaRPr lang="en-US" sz="1200" dirty="0"/>
          </a:p>
        </p:txBody>
      </p:sp>
      <p:sp>
        <p:nvSpPr>
          <p:cNvPr id="3" name="Text 1"/>
          <p:cNvSpPr/>
          <p:nvPr/>
        </p:nvSpPr>
        <p:spPr>
          <a:xfrm>
            <a:off x="640080" y="630936"/>
            <a:ext cx="10881360" cy="731520"/>
          </a:xfrm>
          <a:prstGeom prst="rect">
            <a:avLst/>
          </a:prstGeom>
          <a:noFill/>
          <a:ln/>
        </p:spPr>
        <p:txBody>
          <a:bodyPr wrap="square" lIns="0" tIns="0" rIns="0" bIns="0" rtlCol="0" anchor="ctr"/>
          <a:lstStyle/>
          <a:p>
            <a:pPr indent="0" marL="0">
              <a:buNone/>
            </a:pPr>
            <a:r>
              <a:rPr lang="en-US" sz="2700" b="1" dirty="0">
                <a:solidFill>
                  <a:srgbClr val="153A40"/>
                </a:solidFill>
                <a:latin typeface="Cambria" pitchFamily="34" charset="0"/>
                <a:ea typeface="Cambria" pitchFamily="34" charset="-122"/>
                <a:cs typeface="Cambria" pitchFamily="34" charset="-120"/>
              </a:rPr>
              <a:t>Retrieve broadly, rank precisely, then apply the rules</a:t>
            </a:r>
            <a:endParaRPr lang="en-US" sz="2700" dirty="0"/>
          </a:p>
        </p:txBody>
      </p:sp>
      <p:sp>
        <p:nvSpPr>
          <p:cNvPr id="4" name="Shape 2"/>
          <p:cNvSpPr/>
          <p:nvPr/>
        </p:nvSpPr>
        <p:spPr>
          <a:xfrm>
            <a:off x="640080" y="1691640"/>
            <a:ext cx="3310128" cy="2697480"/>
          </a:xfrm>
          <a:prstGeom prst="roundRect">
            <a:avLst>
              <a:gd name="adj" fmla="val 4068"/>
            </a:avLst>
          </a:prstGeom>
          <a:solidFill>
            <a:srgbClr val="EAF7F5"/>
          </a:solidFill>
          <a:ln/>
          <a:effectLst>
            <a:outerShdw sx="100000" sy="100000" kx="0" ky="0" algn="bl" rotWithShape="0" blurRad="127000" dist="50800" dir="5400000">
              <a:srgbClr val="8A93A6">
                <a:alpha val="13000"/>
              </a:srgbClr>
            </a:outerShdw>
          </a:effectLst>
        </p:spPr>
      </p:sp>
      <p:sp>
        <p:nvSpPr>
          <p:cNvPr id="5" name="Shape 3"/>
          <p:cNvSpPr/>
          <p:nvPr/>
        </p:nvSpPr>
        <p:spPr>
          <a:xfrm>
            <a:off x="1929384" y="1965960"/>
            <a:ext cx="731520" cy="731520"/>
          </a:xfrm>
          <a:prstGeom prst="ellipse">
            <a:avLst/>
          </a:prstGeom>
          <a:solidFill>
            <a:srgbClr val="028090"/>
          </a:solidFill>
          <a:ln/>
          <a:effectLst>
            <a:outerShdw sx="100000" sy="100000" kx="0" ky="0" algn="bl" rotWithShape="0" blurRad="127000" dist="50800" dir="5400000">
              <a:srgbClr val="8A93A6">
                <a:alpha val="13000"/>
              </a:srgbClr>
            </a:outerShdw>
          </a:effectLst>
        </p:spPr>
      </p:sp>
      <p:pic>
        <p:nvPicPr>
          <p:cNvPr id="6" name="Image 0" descr="preencoded.png">    </p:cNvPr>
          <p:cNvPicPr>
            <a:picLocks noChangeAspect="1"/>
          </p:cNvPicPr>
          <p:nvPr/>
        </p:nvPicPr>
        <p:blipFill>
          <a:blip r:embed="rId1"/>
          <a:stretch>
            <a:fillRect/>
          </a:stretch>
        </p:blipFill>
        <p:spPr>
          <a:xfrm>
            <a:off x="2126894" y="2163470"/>
            <a:ext cx="336499" cy="336499"/>
          </a:xfrm>
          <a:prstGeom prst="rect">
            <a:avLst/>
          </a:prstGeom>
        </p:spPr>
      </p:pic>
      <p:sp>
        <p:nvSpPr>
          <p:cNvPr id="7" name="Text 4"/>
          <p:cNvSpPr/>
          <p:nvPr/>
        </p:nvSpPr>
        <p:spPr>
          <a:xfrm>
            <a:off x="822960" y="2752344"/>
            <a:ext cx="2944368" cy="228600"/>
          </a:xfrm>
          <a:prstGeom prst="rect">
            <a:avLst/>
          </a:prstGeom>
          <a:noFill/>
          <a:ln/>
        </p:spPr>
        <p:txBody>
          <a:bodyPr wrap="square" lIns="0" tIns="0" rIns="0" bIns="0" rtlCol="0" anchor="ctr"/>
          <a:lstStyle/>
          <a:p>
            <a:pPr algn="ctr" indent="0" marL="0">
              <a:buNone/>
            </a:pPr>
            <a:r>
              <a:rPr lang="en-US" sz="1050" b="1" spc="200" kern="0" dirty="0">
                <a:solidFill>
                  <a:srgbClr val="5E7A80"/>
                </a:solidFill>
                <a:latin typeface="Calibri" pitchFamily="34" charset="0"/>
                <a:ea typeface="Calibri" pitchFamily="34" charset="-122"/>
                <a:cs typeface="Calibri" pitchFamily="34" charset="-120"/>
              </a:rPr>
              <a:t>STEP 1</a:t>
            </a:r>
            <a:endParaRPr lang="en-US" sz="1050" dirty="0"/>
          </a:p>
        </p:txBody>
      </p:sp>
      <p:sp>
        <p:nvSpPr>
          <p:cNvPr id="8" name="Text 5"/>
          <p:cNvSpPr/>
          <p:nvPr/>
        </p:nvSpPr>
        <p:spPr>
          <a:xfrm>
            <a:off x="822960" y="2971800"/>
            <a:ext cx="2944368" cy="365760"/>
          </a:xfrm>
          <a:prstGeom prst="rect">
            <a:avLst/>
          </a:prstGeom>
          <a:noFill/>
          <a:ln/>
        </p:spPr>
        <p:txBody>
          <a:bodyPr wrap="square" lIns="0" tIns="0" rIns="0" bIns="0" rtlCol="0" anchor="ctr"/>
          <a:lstStyle/>
          <a:p>
            <a:pPr algn="ctr" indent="0" marL="0">
              <a:buNone/>
            </a:pPr>
            <a:r>
              <a:rPr lang="en-US" sz="1550" b="1" dirty="0">
                <a:solidFill>
                  <a:srgbClr val="153A40"/>
                </a:solidFill>
                <a:latin typeface="Cambria" pitchFamily="34" charset="0"/>
                <a:ea typeface="Cambria" pitchFamily="34" charset="-122"/>
                <a:cs typeface="Cambria" pitchFamily="34" charset="-120"/>
              </a:rPr>
              <a:t>Candidate generation</a:t>
            </a:r>
            <a:endParaRPr lang="en-US" sz="1550" dirty="0"/>
          </a:p>
        </p:txBody>
      </p:sp>
      <p:sp>
        <p:nvSpPr>
          <p:cNvPr id="9" name="Text 6"/>
          <p:cNvSpPr/>
          <p:nvPr/>
        </p:nvSpPr>
        <p:spPr>
          <a:xfrm>
            <a:off x="877824" y="3355848"/>
            <a:ext cx="2834640" cy="640080"/>
          </a:xfrm>
          <a:prstGeom prst="rect">
            <a:avLst/>
          </a:prstGeom>
          <a:noFill/>
          <a:ln/>
        </p:spPr>
        <p:txBody>
          <a:bodyPr wrap="square" lIns="0" tIns="0" rIns="0" bIns="0" rtlCol="0" anchor="ctr"/>
          <a:lstStyle/>
          <a:p>
            <a:pPr algn="ctr" indent="0" marL="0">
              <a:buNone/>
            </a:pPr>
            <a:r>
              <a:rPr lang="en-US" sz="1200" dirty="0">
                <a:solidFill>
                  <a:srgbClr val="5E7A80"/>
                </a:solidFill>
                <a:latin typeface="Calibri" pitchFamily="34" charset="0"/>
                <a:ea typeface="Calibri" pitchFamily="34" charset="-122"/>
                <a:cs typeface="Calibri" pitchFamily="34" charset="-120"/>
              </a:rPr>
              <a:t>Quickly shrink millions of items to a few hundred maybes.</a:t>
            </a:r>
            <a:endParaRPr lang="en-US" sz="1200" dirty="0"/>
          </a:p>
        </p:txBody>
      </p:sp>
      <p:sp>
        <p:nvSpPr>
          <p:cNvPr id="10" name="Shape 7"/>
          <p:cNvSpPr/>
          <p:nvPr/>
        </p:nvSpPr>
        <p:spPr>
          <a:xfrm>
            <a:off x="1051560" y="3931920"/>
            <a:ext cx="2487168" cy="329184"/>
          </a:xfrm>
          <a:prstGeom prst="roundRect">
            <a:avLst>
              <a:gd name="adj" fmla="val 50000"/>
            </a:avLst>
          </a:prstGeom>
          <a:solidFill>
            <a:srgbClr val="FFFFFF"/>
          </a:solidFill>
          <a:ln w="12700">
            <a:solidFill>
              <a:srgbClr val="CDE8E3"/>
            </a:solidFill>
            <a:prstDash val="solid"/>
          </a:ln>
        </p:spPr>
      </p:sp>
      <p:sp>
        <p:nvSpPr>
          <p:cNvPr id="11" name="Text 8"/>
          <p:cNvSpPr/>
          <p:nvPr/>
        </p:nvSpPr>
        <p:spPr>
          <a:xfrm>
            <a:off x="1051560" y="3931920"/>
            <a:ext cx="2487168" cy="329184"/>
          </a:xfrm>
          <a:prstGeom prst="rect">
            <a:avLst/>
          </a:prstGeom>
          <a:noFill/>
          <a:ln/>
        </p:spPr>
        <p:txBody>
          <a:bodyPr wrap="square" lIns="0" tIns="0" rIns="0" bIns="0" rtlCol="0" anchor="ctr"/>
          <a:lstStyle/>
          <a:p>
            <a:pPr algn="ctr" indent="0" marL="0">
              <a:buNone/>
            </a:pPr>
            <a:r>
              <a:rPr lang="en-US" sz="1050" b="1" dirty="0">
                <a:solidFill>
                  <a:srgbClr val="028090"/>
                </a:solidFill>
                <a:latin typeface="Calibri" pitchFamily="34" charset="0"/>
                <a:ea typeface="Calibri" pitchFamily="34" charset="-122"/>
                <a:cs typeface="Calibri" pitchFamily="34" charset="-120"/>
              </a:rPr>
              <a:t>Millions → hundreds</a:t>
            </a:r>
            <a:endParaRPr lang="en-US" sz="1050" dirty="0"/>
          </a:p>
        </p:txBody>
      </p:sp>
      <p:pic>
        <p:nvPicPr>
          <p:cNvPr id="12" name="Image 1" descr="preencoded.png">    </p:cNvPr>
          <p:cNvPicPr>
            <a:picLocks noChangeAspect="1"/>
          </p:cNvPicPr>
          <p:nvPr/>
        </p:nvPicPr>
        <p:blipFill>
          <a:blip r:embed="rId2"/>
          <a:stretch>
            <a:fillRect/>
          </a:stretch>
        </p:blipFill>
        <p:spPr>
          <a:xfrm>
            <a:off x="4005072" y="2857500"/>
            <a:ext cx="365760" cy="182880"/>
          </a:xfrm>
          <a:prstGeom prst="rect">
            <a:avLst/>
          </a:prstGeom>
        </p:spPr>
      </p:pic>
      <p:sp>
        <p:nvSpPr>
          <p:cNvPr id="13" name="Shape 9"/>
          <p:cNvSpPr/>
          <p:nvPr/>
        </p:nvSpPr>
        <p:spPr>
          <a:xfrm>
            <a:off x="4425696" y="1691640"/>
            <a:ext cx="3310128" cy="2697480"/>
          </a:xfrm>
          <a:prstGeom prst="roundRect">
            <a:avLst>
              <a:gd name="adj" fmla="val 4068"/>
            </a:avLst>
          </a:prstGeom>
          <a:solidFill>
            <a:srgbClr val="EAF7F5"/>
          </a:solidFill>
          <a:ln/>
          <a:effectLst>
            <a:outerShdw sx="100000" sy="100000" kx="0" ky="0" algn="bl" rotWithShape="0" blurRad="127000" dist="50800" dir="5400000">
              <a:srgbClr val="8A93A6">
                <a:alpha val="13000"/>
              </a:srgbClr>
            </a:outerShdw>
          </a:effectLst>
        </p:spPr>
      </p:sp>
      <p:sp>
        <p:nvSpPr>
          <p:cNvPr id="14" name="Shape 10"/>
          <p:cNvSpPr/>
          <p:nvPr/>
        </p:nvSpPr>
        <p:spPr>
          <a:xfrm>
            <a:off x="5715000" y="1965960"/>
            <a:ext cx="731520" cy="731520"/>
          </a:xfrm>
          <a:prstGeom prst="ellipse">
            <a:avLst/>
          </a:prstGeom>
          <a:solidFill>
            <a:srgbClr val="00A896"/>
          </a:solidFill>
          <a:ln/>
          <a:effectLst>
            <a:outerShdw sx="100000" sy="100000" kx="0" ky="0" algn="bl" rotWithShape="0" blurRad="127000" dist="50800" dir="5400000">
              <a:srgbClr val="8A93A6">
                <a:alpha val="13000"/>
              </a:srgbClr>
            </a:outerShdw>
          </a:effectLst>
        </p:spPr>
      </p:sp>
      <p:pic>
        <p:nvPicPr>
          <p:cNvPr id="15" name="Image 2" descr="preencoded.png">    </p:cNvPr>
          <p:cNvPicPr>
            <a:picLocks noChangeAspect="1"/>
          </p:cNvPicPr>
          <p:nvPr/>
        </p:nvPicPr>
        <p:blipFill>
          <a:blip r:embed="rId3"/>
          <a:stretch>
            <a:fillRect/>
          </a:stretch>
        </p:blipFill>
        <p:spPr>
          <a:xfrm>
            <a:off x="5912510" y="2163470"/>
            <a:ext cx="336499" cy="336499"/>
          </a:xfrm>
          <a:prstGeom prst="rect">
            <a:avLst/>
          </a:prstGeom>
        </p:spPr>
      </p:pic>
      <p:sp>
        <p:nvSpPr>
          <p:cNvPr id="16" name="Text 11"/>
          <p:cNvSpPr/>
          <p:nvPr/>
        </p:nvSpPr>
        <p:spPr>
          <a:xfrm>
            <a:off x="4608576" y="2752344"/>
            <a:ext cx="2944368" cy="228600"/>
          </a:xfrm>
          <a:prstGeom prst="rect">
            <a:avLst/>
          </a:prstGeom>
          <a:noFill/>
          <a:ln/>
        </p:spPr>
        <p:txBody>
          <a:bodyPr wrap="square" lIns="0" tIns="0" rIns="0" bIns="0" rtlCol="0" anchor="ctr"/>
          <a:lstStyle/>
          <a:p>
            <a:pPr algn="ctr" indent="0" marL="0">
              <a:buNone/>
            </a:pPr>
            <a:r>
              <a:rPr lang="en-US" sz="1050" b="1" spc="200" kern="0" dirty="0">
                <a:solidFill>
                  <a:srgbClr val="5E7A80"/>
                </a:solidFill>
                <a:latin typeface="Calibri" pitchFamily="34" charset="0"/>
                <a:ea typeface="Calibri" pitchFamily="34" charset="-122"/>
                <a:cs typeface="Calibri" pitchFamily="34" charset="-120"/>
              </a:rPr>
              <a:t>STEP 2</a:t>
            </a:r>
            <a:endParaRPr lang="en-US" sz="1050" dirty="0"/>
          </a:p>
        </p:txBody>
      </p:sp>
      <p:sp>
        <p:nvSpPr>
          <p:cNvPr id="17" name="Text 12"/>
          <p:cNvSpPr/>
          <p:nvPr/>
        </p:nvSpPr>
        <p:spPr>
          <a:xfrm>
            <a:off x="4608576" y="2971800"/>
            <a:ext cx="2944368" cy="365760"/>
          </a:xfrm>
          <a:prstGeom prst="rect">
            <a:avLst/>
          </a:prstGeom>
          <a:noFill/>
          <a:ln/>
        </p:spPr>
        <p:txBody>
          <a:bodyPr wrap="square" lIns="0" tIns="0" rIns="0" bIns="0" rtlCol="0" anchor="ctr"/>
          <a:lstStyle/>
          <a:p>
            <a:pPr algn="ctr" indent="0" marL="0">
              <a:buNone/>
            </a:pPr>
            <a:r>
              <a:rPr lang="en-US" sz="1550" b="1" dirty="0">
                <a:solidFill>
                  <a:srgbClr val="153A40"/>
                </a:solidFill>
                <a:latin typeface="Cambria" pitchFamily="34" charset="0"/>
                <a:ea typeface="Cambria" pitchFamily="34" charset="-122"/>
                <a:cs typeface="Cambria" pitchFamily="34" charset="-120"/>
              </a:rPr>
              <a:t>Ranking</a:t>
            </a:r>
            <a:endParaRPr lang="en-US" sz="1550" dirty="0"/>
          </a:p>
        </p:txBody>
      </p:sp>
      <p:sp>
        <p:nvSpPr>
          <p:cNvPr id="18" name="Text 13"/>
          <p:cNvSpPr/>
          <p:nvPr/>
        </p:nvSpPr>
        <p:spPr>
          <a:xfrm>
            <a:off x="4663440" y="3355848"/>
            <a:ext cx="2834640" cy="640080"/>
          </a:xfrm>
          <a:prstGeom prst="rect">
            <a:avLst/>
          </a:prstGeom>
          <a:noFill/>
          <a:ln/>
        </p:spPr>
        <p:txBody>
          <a:bodyPr wrap="square" lIns="0" tIns="0" rIns="0" bIns="0" rtlCol="0" anchor="ctr"/>
          <a:lstStyle/>
          <a:p>
            <a:pPr algn="ctr" indent="0" marL="0">
              <a:buNone/>
            </a:pPr>
            <a:r>
              <a:rPr lang="en-US" sz="1200" dirty="0">
                <a:solidFill>
                  <a:srgbClr val="5E7A80"/>
                </a:solidFill>
                <a:latin typeface="Calibri" pitchFamily="34" charset="0"/>
                <a:ea typeface="Calibri" pitchFamily="34" charset="-122"/>
                <a:cs typeface="Calibri" pitchFamily="34" charset="-120"/>
              </a:rPr>
              <a:t>Carefully score those few hundred for this exact user.</a:t>
            </a:r>
            <a:endParaRPr lang="en-US" sz="1200" dirty="0"/>
          </a:p>
        </p:txBody>
      </p:sp>
      <p:sp>
        <p:nvSpPr>
          <p:cNvPr id="19" name="Shape 14"/>
          <p:cNvSpPr/>
          <p:nvPr/>
        </p:nvSpPr>
        <p:spPr>
          <a:xfrm>
            <a:off x="4837176" y="3931920"/>
            <a:ext cx="2487168" cy="329184"/>
          </a:xfrm>
          <a:prstGeom prst="roundRect">
            <a:avLst>
              <a:gd name="adj" fmla="val 50000"/>
            </a:avLst>
          </a:prstGeom>
          <a:solidFill>
            <a:srgbClr val="FFFFFF"/>
          </a:solidFill>
          <a:ln w="12700">
            <a:solidFill>
              <a:srgbClr val="CDE8E3"/>
            </a:solidFill>
            <a:prstDash val="solid"/>
          </a:ln>
        </p:spPr>
      </p:sp>
      <p:sp>
        <p:nvSpPr>
          <p:cNvPr id="20" name="Text 15"/>
          <p:cNvSpPr/>
          <p:nvPr/>
        </p:nvSpPr>
        <p:spPr>
          <a:xfrm>
            <a:off x="4837176" y="3931920"/>
            <a:ext cx="2487168" cy="329184"/>
          </a:xfrm>
          <a:prstGeom prst="rect">
            <a:avLst/>
          </a:prstGeom>
          <a:noFill/>
          <a:ln/>
        </p:spPr>
        <p:txBody>
          <a:bodyPr wrap="square" lIns="0" tIns="0" rIns="0" bIns="0" rtlCol="0" anchor="ctr"/>
          <a:lstStyle/>
          <a:p>
            <a:pPr algn="ctr" indent="0" marL="0">
              <a:buNone/>
            </a:pPr>
            <a:r>
              <a:rPr lang="en-US" sz="1050" b="1" dirty="0">
                <a:solidFill>
                  <a:srgbClr val="028090"/>
                </a:solidFill>
                <a:latin typeface="Calibri" pitchFamily="34" charset="0"/>
                <a:ea typeface="Calibri" pitchFamily="34" charset="-122"/>
                <a:cs typeface="Calibri" pitchFamily="34" charset="-120"/>
              </a:rPr>
              <a:t>Hundreds → dozens</a:t>
            </a:r>
            <a:endParaRPr lang="en-US" sz="1050" dirty="0"/>
          </a:p>
        </p:txBody>
      </p:sp>
      <p:pic>
        <p:nvPicPr>
          <p:cNvPr id="21" name="Image 3" descr="preencoded.png">    </p:cNvPr>
          <p:cNvPicPr>
            <a:picLocks noChangeAspect="1"/>
          </p:cNvPicPr>
          <p:nvPr/>
        </p:nvPicPr>
        <p:blipFill>
          <a:blip r:embed="rId4"/>
          <a:stretch>
            <a:fillRect/>
          </a:stretch>
        </p:blipFill>
        <p:spPr>
          <a:xfrm>
            <a:off x="7790688" y="2857500"/>
            <a:ext cx="365760" cy="182880"/>
          </a:xfrm>
          <a:prstGeom prst="rect">
            <a:avLst/>
          </a:prstGeom>
        </p:spPr>
      </p:pic>
      <p:sp>
        <p:nvSpPr>
          <p:cNvPr id="22" name="Shape 16"/>
          <p:cNvSpPr/>
          <p:nvPr/>
        </p:nvSpPr>
        <p:spPr>
          <a:xfrm>
            <a:off x="8211312" y="1691640"/>
            <a:ext cx="3310128" cy="2697480"/>
          </a:xfrm>
          <a:prstGeom prst="roundRect">
            <a:avLst>
              <a:gd name="adj" fmla="val 4068"/>
            </a:avLst>
          </a:prstGeom>
          <a:solidFill>
            <a:srgbClr val="EAF7F5"/>
          </a:solidFill>
          <a:ln/>
          <a:effectLst>
            <a:outerShdw sx="100000" sy="100000" kx="0" ky="0" algn="bl" rotWithShape="0" blurRad="127000" dist="50800" dir="5400000">
              <a:srgbClr val="8A93A6">
                <a:alpha val="13000"/>
              </a:srgbClr>
            </a:outerShdw>
          </a:effectLst>
        </p:spPr>
      </p:sp>
      <p:sp>
        <p:nvSpPr>
          <p:cNvPr id="23" name="Shape 17"/>
          <p:cNvSpPr/>
          <p:nvPr/>
        </p:nvSpPr>
        <p:spPr>
          <a:xfrm>
            <a:off x="9500616" y="1965960"/>
            <a:ext cx="731520" cy="731520"/>
          </a:xfrm>
          <a:prstGeom prst="ellipse">
            <a:avLst/>
          </a:prstGeom>
          <a:solidFill>
            <a:srgbClr val="FF6B6B"/>
          </a:solidFill>
          <a:ln/>
          <a:effectLst>
            <a:outerShdw sx="100000" sy="100000" kx="0" ky="0" algn="bl" rotWithShape="0" blurRad="127000" dist="50800" dir="5400000">
              <a:srgbClr val="8A93A6">
                <a:alpha val="13000"/>
              </a:srgbClr>
            </a:outerShdw>
          </a:effectLst>
        </p:spPr>
      </p:sp>
      <p:pic>
        <p:nvPicPr>
          <p:cNvPr id="24" name="Image 4" descr="preencoded.png">    </p:cNvPr>
          <p:cNvPicPr>
            <a:picLocks noChangeAspect="1"/>
          </p:cNvPicPr>
          <p:nvPr/>
        </p:nvPicPr>
        <p:blipFill>
          <a:blip r:embed="rId5"/>
          <a:stretch>
            <a:fillRect/>
          </a:stretch>
        </p:blipFill>
        <p:spPr>
          <a:xfrm>
            <a:off x="9698126" y="2163470"/>
            <a:ext cx="336499" cy="336499"/>
          </a:xfrm>
          <a:prstGeom prst="rect">
            <a:avLst/>
          </a:prstGeom>
        </p:spPr>
      </p:pic>
      <p:sp>
        <p:nvSpPr>
          <p:cNvPr id="25" name="Text 18"/>
          <p:cNvSpPr/>
          <p:nvPr/>
        </p:nvSpPr>
        <p:spPr>
          <a:xfrm>
            <a:off x="8394192" y="2752344"/>
            <a:ext cx="2944368" cy="228600"/>
          </a:xfrm>
          <a:prstGeom prst="rect">
            <a:avLst/>
          </a:prstGeom>
          <a:noFill/>
          <a:ln/>
        </p:spPr>
        <p:txBody>
          <a:bodyPr wrap="square" lIns="0" tIns="0" rIns="0" bIns="0" rtlCol="0" anchor="ctr"/>
          <a:lstStyle/>
          <a:p>
            <a:pPr algn="ctr" indent="0" marL="0">
              <a:buNone/>
            </a:pPr>
            <a:r>
              <a:rPr lang="en-US" sz="1050" b="1" spc="200" kern="0" dirty="0">
                <a:solidFill>
                  <a:srgbClr val="5E7A80"/>
                </a:solidFill>
                <a:latin typeface="Calibri" pitchFamily="34" charset="0"/>
                <a:ea typeface="Calibri" pitchFamily="34" charset="-122"/>
                <a:cs typeface="Calibri" pitchFamily="34" charset="-120"/>
              </a:rPr>
              <a:t>STEP 3</a:t>
            </a:r>
            <a:endParaRPr lang="en-US" sz="1050" dirty="0"/>
          </a:p>
        </p:txBody>
      </p:sp>
      <p:sp>
        <p:nvSpPr>
          <p:cNvPr id="26" name="Text 19"/>
          <p:cNvSpPr/>
          <p:nvPr/>
        </p:nvSpPr>
        <p:spPr>
          <a:xfrm>
            <a:off x="8394192" y="2971800"/>
            <a:ext cx="2944368" cy="365760"/>
          </a:xfrm>
          <a:prstGeom prst="rect">
            <a:avLst/>
          </a:prstGeom>
          <a:noFill/>
          <a:ln/>
        </p:spPr>
        <p:txBody>
          <a:bodyPr wrap="square" lIns="0" tIns="0" rIns="0" bIns="0" rtlCol="0" anchor="ctr"/>
          <a:lstStyle/>
          <a:p>
            <a:pPr algn="ctr" indent="0" marL="0">
              <a:buNone/>
            </a:pPr>
            <a:r>
              <a:rPr lang="en-US" sz="1550" b="1" dirty="0">
                <a:solidFill>
                  <a:srgbClr val="153A40"/>
                </a:solidFill>
                <a:latin typeface="Cambria" pitchFamily="34" charset="0"/>
                <a:ea typeface="Cambria" pitchFamily="34" charset="-122"/>
                <a:cs typeface="Cambria" pitchFamily="34" charset="-120"/>
              </a:rPr>
              <a:t>Re-ranking &amp; rules</a:t>
            </a:r>
            <a:endParaRPr lang="en-US" sz="1550" dirty="0"/>
          </a:p>
        </p:txBody>
      </p:sp>
      <p:sp>
        <p:nvSpPr>
          <p:cNvPr id="27" name="Text 20"/>
          <p:cNvSpPr/>
          <p:nvPr/>
        </p:nvSpPr>
        <p:spPr>
          <a:xfrm>
            <a:off x="8449056" y="3355848"/>
            <a:ext cx="2834640" cy="640080"/>
          </a:xfrm>
          <a:prstGeom prst="rect">
            <a:avLst/>
          </a:prstGeom>
          <a:noFill/>
          <a:ln/>
        </p:spPr>
        <p:txBody>
          <a:bodyPr wrap="square" lIns="0" tIns="0" rIns="0" bIns="0" rtlCol="0" anchor="ctr"/>
          <a:lstStyle/>
          <a:p>
            <a:pPr algn="ctr" indent="0" marL="0">
              <a:buNone/>
            </a:pPr>
            <a:r>
              <a:rPr lang="en-US" sz="1200" dirty="0">
                <a:solidFill>
                  <a:srgbClr val="5E7A80"/>
                </a:solidFill>
                <a:latin typeface="Calibri" pitchFamily="34" charset="0"/>
                <a:ea typeface="Calibri" pitchFamily="34" charset="-122"/>
                <a:cs typeface="Calibri" pitchFamily="34" charset="-120"/>
              </a:rPr>
              <a:t>Add variety, remove out-of-stock, apply promos.</a:t>
            </a:r>
            <a:endParaRPr lang="en-US" sz="1200" dirty="0"/>
          </a:p>
        </p:txBody>
      </p:sp>
      <p:sp>
        <p:nvSpPr>
          <p:cNvPr id="28" name="Shape 21"/>
          <p:cNvSpPr/>
          <p:nvPr/>
        </p:nvSpPr>
        <p:spPr>
          <a:xfrm>
            <a:off x="8622792" y="3931920"/>
            <a:ext cx="2487168" cy="329184"/>
          </a:xfrm>
          <a:prstGeom prst="roundRect">
            <a:avLst>
              <a:gd name="adj" fmla="val 50000"/>
            </a:avLst>
          </a:prstGeom>
          <a:solidFill>
            <a:srgbClr val="FFFFFF"/>
          </a:solidFill>
          <a:ln w="12700">
            <a:solidFill>
              <a:srgbClr val="CDE8E3"/>
            </a:solidFill>
            <a:prstDash val="solid"/>
          </a:ln>
        </p:spPr>
      </p:sp>
      <p:sp>
        <p:nvSpPr>
          <p:cNvPr id="29" name="Text 22"/>
          <p:cNvSpPr/>
          <p:nvPr/>
        </p:nvSpPr>
        <p:spPr>
          <a:xfrm>
            <a:off x="8622792" y="3931920"/>
            <a:ext cx="2487168" cy="329184"/>
          </a:xfrm>
          <a:prstGeom prst="rect">
            <a:avLst/>
          </a:prstGeom>
          <a:noFill/>
          <a:ln/>
        </p:spPr>
        <p:txBody>
          <a:bodyPr wrap="square" lIns="0" tIns="0" rIns="0" bIns="0" rtlCol="0" anchor="ctr"/>
          <a:lstStyle/>
          <a:p>
            <a:pPr algn="ctr" indent="0" marL="0">
              <a:buNone/>
            </a:pPr>
            <a:r>
              <a:rPr lang="en-US" sz="1050" b="1" dirty="0">
                <a:solidFill>
                  <a:srgbClr val="028090"/>
                </a:solidFill>
                <a:latin typeface="Calibri" pitchFamily="34" charset="0"/>
                <a:ea typeface="Calibri" pitchFamily="34" charset="-122"/>
                <a:cs typeface="Calibri" pitchFamily="34" charset="-120"/>
              </a:rPr>
              <a:t>Dozens → top few</a:t>
            </a:r>
            <a:endParaRPr lang="en-US" sz="1050" dirty="0"/>
          </a:p>
        </p:txBody>
      </p:sp>
      <p:sp>
        <p:nvSpPr>
          <p:cNvPr id="30" name="Shape 23"/>
          <p:cNvSpPr/>
          <p:nvPr/>
        </p:nvSpPr>
        <p:spPr>
          <a:xfrm>
            <a:off x="640080" y="4645152"/>
            <a:ext cx="10927080" cy="841248"/>
          </a:xfrm>
          <a:prstGeom prst="roundRect">
            <a:avLst>
              <a:gd name="adj" fmla="val 13043"/>
            </a:avLst>
          </a:prstGeom>
          <a:solidFill>
            <a:srgbClr val="FFEDED"/>
          </a:solidFill>
          <a:ln/>
          <a:effectLst>
            <a:outerShdw sx="100000" sy="100000" kx="0" ky="0" algn="bl" rotWithShape="0" blurRad="127000" dist="50800" dir="5400000">
              <a:srgbClr val="8A93A6">
                <a:alpha val="13000"/>
              </a:srgbClr>
            </a:outerShdw>
          </a:effectLst>
        </p:spPr>
      </p:sp>
      <p:sp>
        <p:nvSpPr>
          <p:cNvPr id="31" name="Shape 24"/>
          <p:cNvSpPr/>
          <p:nvPr/>
        </p:nvSpPr>
        <p:spPr>
          <a:xfrm>
            <a:off x="896112" y="4800600"/>
            <a:ext cx="530352" cy="530352"/>
          </a:xfrm>
          <a:prstGeom prst="ellipse">
            <a:avLst/>
          </a:prstGeom>
          <a:solidFill>
            <a:srgbClr val="00A896"/>
          </a:solidFill>
          <a:ln/>
          <a:effectLst>
            <a:outerShdw sx="100000" sy="100000" kx="0" ky="0" algn="bl" rotWithShape="0" blurRad="127000" dist="50800" dir="5400000">
              <a:srgbClr val="8A93A6">
                <a:alpha val="13000"/>
              </a:srgbClr>
            </a:outerShdw>
          </a:effectLst>
        </p:spPr>
      </p:sp>
      <p:pic>
        <p:nvPicPr>
          <p:cNvPr id="32" name="Image 5" descr="preencoded.png">    </p:cNvPr>
          <p:cNvPicPr>
            <a:picLocks noChangeAspect="1"/>
          </p:cNvPicPr>
          <p:nvPr/>
        </p:nvPicPr>
        <p:blipFill>
          <a:blip r:embed="rId6"/>
          <a:stretch>
            <a:fillRect/>
          </a:stretch>
        </p:blipFill>
        <p:spPr>
          <a:xfrm>
            <a:off x="1039307" y="4943795"/>
            <a:ext cx="243962" cy="243962"/>
          </a:xfrm>
          <a:prstGeom prst="rect">
            <a:avLst/>
          </a:prstGeom>
        </p:spPr>
      </p:pic>
      <p:sp>
        <p:nvSpPr>
          <p:cNvPr id="33" name="Text 25"/>
          <p:cNvSpPr/>
          <p:nvPr/>
        </p:nvSpPr>
        <p:spPr>
          <a:xfrm>
            <a:off x="1691640" y="4645152"/>
            <a:ext cx="9692640" cy="841248"/>
          </a:xfrm>
          <a:prstGeom prst="rect">
            <a:avLst/>
          </a:prstGeom>
          <a:noFill/>
          <a:ln/>
        </p:spPr>
        <p:txBody>
          <a:bodyPr wrap="square" lIns="0" tIns="0" rIns="0" bIns="0" rtlCol="0" anchor="ctr"/>
          <a:lstStyle/>
          <a:p>
            <a:pPr indent="0" marL="0">
              <a:buNone/>
            </a:pPr>
            <a:r>
              <a:rPr lang="en-US" sz="1300" dirty="0">
                <a:solidFill>
                  <a:srgbClr val="153A40"/>
                </a:solidFill>
                <a:latin typeface="Calibri" pitchFamily="34" charset="0"/>
                <a:ea typeface="Calibri" pitchFamily="34" charset="-122"/>
                <a:cs typeface="Calibri" pitchFamily="34" charset="-120"/>
              </a:rPr>
              <a:t>Slow, heavy work is done ahead of time (batch). The final ranking happens live, in milliseconds (real-time).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881360" cy="274320"/>
          </a:xfrm>
          <a:prstGeom prst="rect">
            <a:avLst/>
          </a:prstGeom>
          <a:noFill/>
          <a:ln/>
        </p:spPr>
        <p:txBody>
          <a:bodyPr wrap="square" lIns="0" tIns="0" rIns="0" bIns="0" rtlCol="0" anchor="ctr"/>
          <a:lstStyle/>
          <a:p>
            <a:pPr indent="0" marL="0">
              <a:buNone/>
            </a:pPr>
            <a:r>
              <a:rPr lang="en-US" sz="1200" b="1" spc="200" kern="0" dirty="0">
                <a:solidFill>
                  <a:srgbClr val="FF6B6B"/>
                </a:solidFill>
                <a:latin typeface="Calibri" pitchFamily="34" charset="0"/>
                <a:ea typeface="Calibri" pitchFamily="34" charset="-122"/>
                <a:cs typeface="Calibri" pitchFamily="34" charset="-120"/>
              </a:rPr>
              <a:t>CHALLENGES &amp; ETHICS</a:t>
            </a:r>
            <a:endParaRPr lang="en-US" sz="1200" dirty="0"/>
          </a:p>
        </p:txBody>
      </p:sp>
      <p:sp>
        <p:nvSpPr>
          <p:cNvPr id="3" name="Text 1"/>
          <p:cNvSpPr/>
          <p:nvPr/>
        </p:nvSpPr>
        <p:spPr>
          <a:xfrm>
            <a:off x="640080" y="630936"/>
            <a:ext cx="10881360" cy="731520"/>
          </a:xfrm>
          <a:prstGeom prst="rect">
            <a:avLst/>
          </a:prstGeom>
          <a:noFill/>
          <a:ln/>
        </p:spPr>
        <p:txBody>
          <a:bodyPr wrap="square" lIns="0" tIns="0" rIns="0" bIns="0" rtlCol="0" anchor="ctr"/>
          <a:lstStyle/>
          <a:p>
            <a:pPr indent="0" marL="0">
              <a:buNone/>
            </a:pPr>
            <a:r>
              <a:rPr lang="en-US" sz="2700" b="1" dirty="0">
                <a:solidFill>
                  <a:srgbClr val="153A40"/>
                </a:solidFill>
                <a:latin typeface="Cambria" pitchFamily="34" charset="0"/>
                <a:ea typeface="Cambria" pitchFamily="34" charset="-122"/>
                <a:cs typeface="Cambria" pitchFamily="34" charset="-120"/>
              </a:rPr>
              <a:t>Relevance is not the only thing that matters</a:t>
            </a:r>
            <a:endParaRPr lang="en-US" sz="2700" dirty="0"/>
          </a:p>
        </p:txBody>
      </p:sp>
      <p:sp>
        <p:nvSpPr>
          <p:cNvPr id="4" name="Shape 2"/>
          <p:cNvSpPr/>
          <p:nvPr/>
        </p:nvSpPr>
        <p:spPr>
          <a:xfrm>
            <a:off x="640080" y="1627632"/>
            <a:ext cx="3456432" cy="1828800"/>
          </a:xfrm>
          <a:prstGeom prst="roundRect">
            <a:avLst>
              <a:gd name="adj" fmla="val 6000"/>
            </a:avLst>
          </a:prstGeom>
          <a:solidFill>
            <a:srgbClr val="EAF7F5"/>
          </a:solidFill>
          <a:ln/>
          <a:effectLst>
            <a:outerShdw sx="100000" sy="100000" kx="0" ky="0" algn="bl" rotWithShape="0" blurRad="127000" dist="50800" dir="5400000">
              <a:srgbClr val="8A93A6">
                <a:alpha val="13000"/>
              </a:srgbClr>
            </a:outerShdw>
          </a:effectLst>
        </p:spPr>
      </p:sp>
      <p:sp>
        <p:nvSpPr>
          <p:cNvPr id="5" name="Shape 3"/>
          <p:cNvSpPr/>
          <p:nvPr/>
        </p:nvSpPr>
        <p:spPr>
          <a:xfrm>
            <a:off x="932688" y="1920240"/>
            <a:ext cx="621792" cy="621792"/>
          </a:xfrm>
          <a:prstGeom prst="ellipse">
            <a:avLst/>
          </a:prstGeom>
          <a:solidFill>
            <a:srgbClr val="FF6B6B"/>
          </a:solidFill>
          <a:ln/>
          <a:effectLst>
            <a:outerShdw sx="100000" sy="100000" kx="0" ky="0" algn="bl" rotWithShape="0" blurRad="127000" dist="50800" dir="5400000">
              <a:srgbClr val="8A93A6">
                <a:alpha val="13000"/>
              </a:srgbClr>
            </a:outerShdw>
          </a:effectLst>
        </p:spPr>
      </p:sp>
      <p:pic>
        <p:nvPicPr>
          <p:cNvPr id="6" name="Image 0" descr="preencoded.png">    </p:cNvPr>
          <p:cNvPicPr>
            <a:picLocks noChangeAspect="1"/>
          </p:cNvPicPr>
          <p:nvPr/>
        </p:nvPicPr>
        <p:blipFill>
          <a:blip r:embed="rId1"/>
          <a:stretch>
            <a:fillRect/>
          </a:stretch>
        </p:blipFill>
        <p:spPr>
          <a:xfrm>
            <a:off x="1100572" y="2088124"/>
            <a:ext cx="286024" cy="286024"/>
          </a:xfrm>
          <a:prstGeom prst="rect">
            <a:avLst/>
          </a:prstGeom>
        </p:spPr>
      </p:pic>
      <p:sp>
        <p:nvSpPr>
          <p:cNvPr id="7" name="Text 4"/>
          <p:cNvSpPr/>
          <p:nvPr/>
        </p:nvSpPr>
        <p:spPr>
          <a:xfrm>
            <a:off x="932688" y="2651760"/>
            <a:ext cx="2907792" cy="347472"/>
          </a:xfrm>
          <a:prstGeom prst="rect">
            <a:avLst/>
          </a:prstGeom>
          <a:noFill/>
          <a:ln/>
        </p:spPr>
        <p:txBody>
          <a:bodyPr wrap="square" lIns="0" tIns="0" rIns="0" bIns="0" rtlCol="0" anchor="ctr"/>
          <a:lstStyle/>
          <a:p>
            <a:pPr indent="0" marL="0">
              <a:buNone/>
            </a:pPr>
            <a:r>
              <a:rPr lang="en-US" sz="1450" b="1" dirty="0">
                <a:solidFill>
                  <a:srgbClr val="153A40"/>
                </a:solidFill>
                <a:latin typeface="Cambria" pitchFamily="34" charset="0"/>
                <a:ea typeface="Cambria" pitchFamily="34" charset="-122"/>
                <a:cs typeface="Cambria" pitchFamily="34" charset="-120"/>
              </a:rPr>
              <a:t>Filter bubbles</a:t>
            </a:r>
            <a:endParaRPr lang="en-US" sz="1450" dirty="0"/>
          </a:p>
        </p:txBody>
      </p:sp>
      <p:sp>
        <p:nvSpPr>
          <p:cNvPr id="8" name="Text 5"/>
          <p:cNvSpPr/>
          <p:nvPr/>
        </p:nvSpPr>
        <p:spPr>
          <a:xfrm>
            <a:off x="932688" y="2999232"/>
            <a:ext cx="2907792" cy="411480"/>
          </a:xfrm>
          <a:prstGeom prst="rect">
            <a:avLst/>
          </a:prstGeom>
          <a:noFill/>
          <a:ln/>
        </p:spPr>
        <p:txBody>
          <a:bodyPr wrap="square" lIns="0" tIns="0" rIns="0" bIns="0" rtlCol="0" anchor="ctr"/>
          <a:lstStyle/>
          <a:p>
            <a:pPr indent="0" marL="0">
              <a:buNone/>
            </a:pPr>
            <a:r>
              <a:rPr lang="en-US" sz="1150" dirty="0">
                <a:solidFill>
                  <a:srgbClr val="5E7A80"/>
                </a:solidFill>
                <a:latin typeface="Calibri" pitchFamily="34" charset="0"/>
                <a:ea typeface="Calibri" pitchFamily="34" charset="-122"/>
                <a:cs typeface="Calibri" pitchFamily="34" charset="-120"/>
              </a:rPr>
              <a:t>Only seeing similar things can trap users in a loop.</a:t>
            </a:r>
            <a:endParaRPr lang="en-US" sz="1150" dirty="0"/>
          </a:p>
        </p:txBody>
      </p:sp>
      <p:sp>
        <p:nvSpPr>
          <p:cNvPr id="9" name="Shape 6"/>
          <p:cNvSpPr/>
          <p:nvPr/>
        </p:nvSpPr>
        <p:spPr>
          <a:xfrm>
            <a:off x="4379976" y="1627632"/>
            <a:ext cx="3456432" cy="1828800"/>
          </a:xfrm>
          <a:prstGeom prst="roundRect">
            <a:avLst>
              <a:gd name="adj" fmla="val 6000"/>
            </a:avLst>
          </a:prstGeom>
          <a:solidFill>
            <a:srgbClr val="EAF7F5"/>
          </a:solidFill>
          <a:ln/>
          <a:effectLst>
            <a:outerShdw sx="100000" sy="100000" kx="0" ky="0" algn="bl" rotWithShape="0" blurRad="127000" dist="50800" dir="5400000">
              <a:srgbClr val="8A93A6">
                <a:alpha val="13000"/>
              </a:srgbClr>
            </a:outerShdw>
          </a:effectLst>
        </p:spPr>
      </p:sp>
      <p:sp>
        <p:nvSpPr>
          <p:cNvPr id="10" name="Shape 7"/>
          <p:cNvSpPr/>
          <p:nvPr/>
        </p:nvSpPr>
        <p:spPr>
          <a:xfrm>
            <a:off x="4672584" y="1920240"/>
            <a:ext cx="621792" cy="621792"/>
          </a:xfrm>
          <a:prstGeom prst="ellipse">
            <a:avLst/>
          </a:prstGeom>
          <a:solidFill>
            <a:srgbClr val="028090"/>
          </a:solidFill>
          <a:ln/>
          <a:effectLst>
            <a:outerShdw sx="100000" sy="100000" kx="0" ky="0" algn="bl" rotWithShape="0" blurRad="127000" dist="50800" dir="5400000">
              <a:srgbClr val="8A93A6">
                <a:alpha val="13000"/>
              </a:srgbClr>
            </a:outerShdw>
          </a:effectLst>
        </p:spPr>
      </p:sp>
      <p:pic>
        <p:nvPicPr>
          <p:cNvPr id="11" name="Image 1" descr="preencoded.png">    </p:cNvPr>
          <p:cNvPicPr>
            <a:picLocks noChangeAspect="1"/>
          </p:cNvPicPr>
          <p:nvPr/>
        </p:nvPicPr>
        <p:blipFill>
          <a:blip r:embed="rId2"/>
          <a:stretch>
            <a:fillRect/>
          </a:stretch>
        </p:blipFill>
        <p:spPr>
          <a:xfrm>
            <a:off x="4840468" y="2088124"/>
            <a:ext cx="286024" cy="286024"/>
          </a:xfrm>
          <a:prstGeom prst="rect">
            <a:avLst/>
          </a:prstGeom>
        </p:spPr>
      </p:pic>
      <p:sp>
        <p:nvSpPr>
          <p:cNvPr id="12" name="Text 8"/>
          <p:cNvSpPr/>
          <p:nvPr/>
        </p:nvSpPr>
        <p:spPr>
          <a:xfrm>
            <a:off x="4672584" y="2651760"/>
            <a:ext cx="2907792" cy="347472"/>
          </a:xfrm>
          <a:prstGeom prst="rect">
            <a:avLst/>
          </a:prstGeom>
          <a:noFill/>
          <a:ln/>
        </p:spPr>
        <p:txBody>
          <a:bodyPr wrap="square" lIns="0" tIns="0" rIns="0" bIns="0" rtlCol="0" anchor="ctr"/>
          <a:lstStyle/>
          <a:p>
            <a:pPr indent="0" marL="0">
              <a:buNone/>
            </a:pPr>
            <a:r>
              <a:rPr lang="en-US" sz="1450" b="1" dirty="0">
                <a:solidFill>
                  <a:srgbClr val="153A40"/>
                </a:solidFill>
                <a:latin typeface="Cambria" pitchFamily="34" charset="0"/>
                <a:ea typeface="Cambria" pitchFamily="34" charset="-122"/>
                <a:cs typeface="Cambria" pitchFamily="34" charset="-120"/>
              </a:rPr>
              <a:t>Popularity bias</a:t>
            </a:r>
            <a:endParaRPr lang="en-US" sz="1450" dirty="0"/>
          </a:p>
        </p:txBody>
      </p:sp>
      <p:sp>
        <p:nvSpPr>
          <p:cNvPr id="13" name="Text 9"/>
          <p:cNvSpPr/>
          <p:nvPr/>
        </p:nvSpPr>
        <p:spPr>
          <a:xfrm>
            <a:off x="4672584" y="2999232"/>
            <a:ext cx="2907792" cy="411480"/>
          </a:xfrm>
          <a:prstGeom prst="rect">
            <a:avLst/>
          </a:prstGeom>
          <a:noFill/>
          <a:ln/>
        </p:spPr>
        <p:txBody>
          <a:bodyPr wrap="square" lIns="0" tIns="0" rIns="0" bIns="0" rtlCol="0" anchor="ctr"/>
          <a:lstStyle/>
          <a:p>
            <a:pPr indent="0" marL="0">
              <a:buNone/>
            </a:pPr>
            <a:r>
              <a:rPr lang="en-US" sz="1150" dirty="0">
                <a:solidFill>
                  <a:srgbClr val="5E7A80"/>
                </a:solidFill>
                <a:latin typeface="Calibri" pitchFamily="34" charset="0"/>
                <a:ea typeface="Calibri" pitchFamily="34" charset="-122"/>
                <a:cs typeface="Calibri" pitchFamily="34" charset="-120"/>
              </a:rPr>
              <a:t>Popular items get recommended more, getting even more popular.</a:t>
            </a:r>
            <a:endParaRPr lang="en-US" sz="1150" dirty="0"/>
          </a:p>
        </p:txBody>
      </p:sp>
      <p:sp>
        <p:nvSpPr>
          <p:cNvPr id="14" name="Shape 10"/>
          <p:cNvSpPr/>
          <p:nvPr/>
        </p:nvSpPr>
        <p:spPr>
          <a:xfrm>
            <a:off x="8119872" y="1627632"/>
            <a:ext cx="3456432" cy="1828800"/>
          </a:xfrm>
          <a:prstGeom prst="roundRect">
            <a:avLst>
              <a:gd name="adj" fmla="val 6000"/>
            </a:avLst>
          </a:prstGeom>
          <a:solidFill>
            <a:srgbClr val="EAF7F5"/>
          </a:solidFill>
          <a:ln/>
          <a:effectLst>
            <a:outerShdw sx="100000" sy="100000" kx="0" ky="0" algn="bl" rotWithShape="0" blurRad="127000" dist="50800" dir="5400000">
              <a:srgbClr val="8A93A6">
                <a:alpha val="13000"/>
              </a:srgbClr>
            </a:outerShdw>
          </a:effectLst>
        </p:spPr>
      </p:sp>
      <p:sp>
        <p:nvSpPr>
          <p:cNvPr id="15" name="Shape 11"/>
          <p:cNvSpPr/>
          <p:nvPr/>
        </p:nvSpPr>
        <p:spPr>
          <a:xfrm>
            <a:off x="8412480" y="1920240"/>
            <a:ext cx="621792" cy="621792"/>
          </a:xfrm>
          <a:prstGeom prst="ellipse">
            <a:avLst/>
          </a:prstGeom>
          <a:solidFill>
            <a:srgbClr val="FF6B6B"/>
          </a:solidFill>
          <a:ln/>
          <a:effectLst>
            <a:outerShdw sx="100000" sy="100000" kx="0" ky="0" algn="bl" rotWithShape="0" blurRad="127000" dist="50800" dir="5400000">
              <a:srgbClr val="8A93A6">
                <a:alpha val="13000"/>
              </a:srgbClr>
            </a:outerShdw>
          </a:effectLst>
        </p:spPr>
      </p:sp>
      <p:pic>
        <p:nvPicPr>
          <p:cNvPr id="16" name="Image 2" descr="preencoded.png">    </p:cNvPr>
          <p:cNvPicPr>
            <a:picLocks noChangeAspect="1"/>
          </p:cNvPicPr>
          <p:nvPr/>
        </p:nvPicPr>
        <p:blipFill>
          <a:blip r:embed="rId3"/>
          <a:stretch>
            <a:fillRect/>
          </a:stretch>
        </p:blipFill>
        <p:spPr>
          <a:xfrm>
            <a:off x="8580364" y="2088124"/>
            <a:ext cx="286024" cy="286024"/>
          </a:xfrm>
          <a:prstGeom prst="rect">
            <a:avLst/>
          </a:prstGeom>
        </p:spPr>
      </p:pic>
      <p:sp>
        <p:nvSpPr>
          <p:cNvPr id="17" name="Text 12"/>
          <p:cNvSpPr/>
          <p:nvPr/>
        </p:nvSpPr>
        <p:spPr>
          <a:xfrm>
            <a:off x="8412480" y="2651760"/>
            <a:ext cx="2907792" cy="347472"/>
          </a:xfrm>
          <a:prstGeom prst="rect">
            <a:avLst/>
          </a:prstGeom>
          <a:noFill/>
          <a:ln/>
        </p:spPr>
        <p:txBody>
          <a:bodyPr wrap="square" lIns="0" tIns="0" rIns="0" bIns="0" rtlCol="0" anchor="ctr"/>
          <a:lstStyle/>
          <a:p>
            <a:pPr indent="0" marL="0">
              <a:buNone/>
            </a:pPr>
            <a:r>
              <a:rPr lang="en-US" sz="1450" b="1" dirty="0">
                <a:solidFill>
                  <a:srgbClr val="153A40"/>
                </a:solidFill>
                <a:latin typeface="Cambria" pitchFamily="34" charset="0"/>
                <a:ea typeface="Cambria" pitchFamily="34" charset="-122"/>
                <a:cs typeface="Cambria" pitchFamily="34" charset="-120"/>
              </a:rPr>
              <a:t>Diversity vs. relevance</a:t>
            </a:r>
            <a:endParaRPr lang="en-US" sz="1450" dirty="0"/>
          </a:p>
        </p:txBody>
      </p:sp>
      <p:sp>
        <p:nvSpPr>
          <p:cNvPr id="18" name="Text 13"/>
          <p:cNvSpPr/>
          <p:nvPr/>
        </p:nvSpPr>
        <p:spPr>
          <a:xfrm>
            <a:off x="8412480" y="2999232"/>
            <a:ext cx="2907792" cy="411480"/>
          </a:xfrm>
          <a:prstGeom prst="rect">
            <a:avLst/>
          </a:prstGeom>
          <a:noFill/>
          <a:ln/>
        </p:spPr>
        <p:txBody>
          <a:bodyPr wrap="square" lIns="0" tIns="0" rIns="0" bIns="0" rtlCol="0" anchor="ctr"/>
          <a:lstStyle/>
          <a:p>
            <a:pPr indent="0" marL="0">
              <a:buNone/>
            </a:pPr>
            <a:r>
              <a:rPr lang="en-US" sz="1150" dirty="0">
                <a:solidFill>
                  <a:srgbClr val="5E7A80"/>
                </a:solidFill>
                <a:latin typeface="Calibri" pitchFamily="34" charset="0"/>
                <a:ea typeface="Calibri" pitchFamily="34" charset="-122"/>
                <a:cs typeface="Calibri" pitchFamily="34" charset="-120"/>
              </a:rPr>
              <a:t>Spot-on but repetitive, or varied but risky? Find a balance.</a:t>
            </a:r>
            <a:endParaRPr lang="en-US" sz="1150" dirty="0"/>
          </a:p>
        </p:txBody>
      </p:sp>
      <p:sp>
        <p:nvSpPr>
          <p:cNvPr id="19" name="Shape 14"/>
          <p:cNvSpPr/>
          <p:nvPr/>
        </p:nvSpPr>
        <p:spPr>
          <a:xfrm>
            <a:off x="2510028" y="3730752"/>
            <a:ext cx="3456432" cy="1828800"/>
          </a:xfrm>
          <a:prstGeom prst="roundRect">
            <a:avLst>
              <a:gd name="adj" fmla="val 6000"/>
            </a:avLst>
          </a:prstGeom>
          <a:solidFill>
            <a:srgbClr val="EAF7F5"/>
          </a:solidFill>
          <a:ln/>
          <a:effectLst>
            <a:outerShdw sx="100000" sy="100000" kx="0" ky="0" algn="bl" rotWithShape="0" blurRad="127000" dist="50800" dir="5400000">
              <a:srgbClr val="8A93A6">
                <a:alpha val="13000"/>
              </a:srgbClr>
            </a:outerShdw>
          </a:effectLst>
        </p:spPr>
      </p:sp>
      <p:sp>
        <p:nvSpPr>
          <p:cNvPr id="20" name="Shape 15"/>
          <p:cNvSpPr/>
          <p:nvPr/>
        </p:nvSpPr>
        <p:spPr>
          <a:xfrm>
            <a:off x="2802636" y="4023360"/>
            <a:ext cx="621792" cy="621792"/>
          </a:xfrm>
          <a:prstGeom prst="ellipse">
            <a:avLst/>
          </a:prstGeom>
          <a:solidFill>
            <a:srgbClr val="028090"/>
          </a:solidFill>
          <a:ln/>
          <a:effectLst>
            <a:outerShdw sx="100000" sy="100000" kx="0" ky="0" algn="bl" rotWithShape="0" blurRad="127000" dist="50800" dir="5400000">
              <a:srgbClr val="8A93A6">
                <a:alpha val="13000"/>
              </a:srgbClr>
            </a:outerShdw>
          </a:effectLst>
        </p:spPr>
      </p:sp>
      <p:pic>
        <p:nvPicPr>
          <p:cNvPr id="21" name="Image 3" descr="preencoded.png">    </p:cNvPr>
          <p:cNvPicPr>
            <a:picLocks noChangeAspect="1"/>
          </p:cNvPicPr>
          <p:nvPr/>
        </p:nvPicPr>
        <p:blipFill>
          <a:blip r:embed="rId4"/>
          <a:stretch>
            <a:fillRect/>
          </a:stretch>
        </p:blipFill>
        <p:spPr>
          <a:xfrm>
            <a:off x="2970520" y="4191244"/>
            <a:ext cx="286024" cy="286024"/>
          </a:xfrm>
          <a:prstGeom prst="rect">
            <a:avLst/>
          </a:prstGeom>
        </p:spPr>
      </p:pic>
      <p:sp>
        <p:nvSpPr>
          <p:cNvPr id="22" name="Text 16"/>
          <p:cNvSpPr/>
          <p:nvPr/>
        </p:nvSpPr>
        <p:spPr>
          <a:xfrm>
            <a:off x="2802636" y="4754880"/>
            <a:ext cx="2907792" cy="347472"/>
          </a:xfrm>
          <a:prstGeom prst="rect">
            <a:avLst/>
          </a:prstGeom>
          <a:noFill/>
          <a:ln/>
        </p:spPr>
        <p:txBody>
          <a:bodyPr wrap="square" lIns="0" tIns="0" rIns="0" bIns="0" rtlCol="0" anchor="ctr"/>
          <a:lstStyle/>
          <a:p>
            <a:pPr indent="0" marL="0">
              <a:buNone/>
            </a:pPr>
            <a:r>
              <a:rPr lang="en-US" sz="1450" b="1" dirty="0">
                <a:solidFill>
                  <a:srgbClr val="153A40"/>
                </a:solidFill>
                <a:latin typeface="Cambria" pitchFamily="34" charset="0"/>
                <a:ea typeface="Cambria" pitchFamily="34" charset="-122"/>
                <a:cs typeface="Cambria" pitchFamily="34" charset="-120"/>
              </a:rPr>
              <a:t>Privacy</a:t>
            </a:r>
            <a:endParaRPr lang="en-US" sz="1450" dirty="0"/>
          </a:p>
        </p:txBody>
      </p:sp>
      <p:sp>
        <p:nvSpPr>
          <p:cNvPr id="23" name="Text 17"/>
          <p:cNvSpPr/>
          <p:nvPr/>
        </p:nvSpPr>
        <p:spPr>
          <a:xfrm>
            <a:off x="2802636" y="5102352"/>
            <a:ext cx="2907792" cy="411480"/>
          </a:xfrm>
          <a:prstGeom prst="rect">
            <a:avLst/>
          </a:prstGeom>
          <a:noFill/>
          <a:ln/>
        </p:spPr>
        <p:txBody>
          <a:bodyPr wrap="square" lIns="0" tIns="0" rIns="0" bIns="0" rtlCol="0" anchor="ctr"/>
          <a:lstStyle/>
          <a:p>
            <a:pPr indent="0" marL="0">
              <a:buNone/>
            </a:pPr>
            <a:r>
              <a:rPr lang="en-US" sz="1150" dirty="0">
                <a:solidFill>
                  <a:srgbClr val="5E7A80"/>
                </a:solidFill>
                <a:latin typeface="Calibri" pitchFamily="34" charset="0"/>
                <a:ea typeface="Calibri" pitchFamily="34" charset="-122"/>
                <a:cs typeface="Calibri" pitchFamily="34" charset="-120"/>
              </a:rPr>
              <a:t>Personalization uses data — handle it responsibly and with consent.</a:t>
            </a:r>
            <a:endParaRPr lang="en-US" sz="1150" dirty="0"/>
          </a:p>
        </p:txBody>
      </p:sp>
      <p:sp>
        <p:nvSpPr>
          <p:cNvPr id="24" name="Shape 18"/>
          <p:cNvSpPr/>
          <p:nvPr/>
        </p:nvSpPr>
        <p:spPr>
          <a:xfrm>
            <a:off x="6249924" y="3730752"/>
            <a:ext cx="3456432" cy="1828800"/>
          </a:xfrm>
          <a:prstGeom prst="roundRect">
            <a:avLst>
              <a:gd name="adj" fmla="val 6000"/>
            </a:avLst>
          </a:prstGeom>
          <a:solidFill>
            <a:srgbClr val="EAF7F5"/>
          </a:solidFill>
          <a:ln/>
          <a:effectLst>
            <a:outerShdw sx="100000" sy="100000" kx="0" ky="0" algn="bl" rotWithShape="0" blurRad="127000" dist="50800" dir="5400000">
              <a:srgbClr val="8A93A6">
                <a:alpha val="13000"/>
              </a:srgbClr>
            </a:outerShdw>
          </a:effectLst>
        </p:spPr>
      </p:sp>
      <p:sp>
        <p:nvSpPr>
          <p:cNvPr id="25" name="Shape 19"/>
          <p:cNvSpPr/>
          <p:nvPr/>
        </p:nvSpPr>
        <p:spPr>
          <a:xfrm>
            <a:off x="6542532" y="4023360"/>
            <a:ext cx="621792" cy="621792"/>
          </a:xfrm>
          <a:prstGeom prst="ellipse">
            <a:avLst/>
          </a:prstGeom>
          <a:solidFill>
            <a:srgbClr val="FF6B6B"/>
          </a:solidFill>
          <a:ln/>
          <a:effectLst>
            <a:outerShdw sx="100000" sy="100000" kx="0" ky="0" algn="bl" rotWithShape="0" blurRad="127000" dist="50800" dir="5400000">
              <a:srgbClr val="8A93A6">
                <a:alpha val="13000"/>
              </a:srgbClr>
            </a:outerShdw>
          </a:effectLst>
        </p:spPr>
      </p:sp>
      <p:pic>
        <p:nvPicPr>
          <p:cNvPr id="26" name="Image 4" descr="preencoded.png">    </p:cNvPr>
          <p:cNvPicPr>
            <a:picLocks noChangeAspect="1"/>
          </p:cNvPicPr>
          <p:nvPr/>
        </p:nvPicPr>
        <p:blipFill>
          <a:blip r:embed="rId5"/>
          <a:stretch>
            <a:fillRect/>
          </a:stretch>
        </p:blipFill>
        <p:spPr>
          <a:xfrm>
            <a:off x="6710416" y="4191244"/>
            <a:ext cx="286024" cy="286024"/>
          </a:xfrm>
          <a:prstGeom prst="rect">
            <a:avLst/>
          </a:prstGeom>
        </p:spPr>
      </p:pic>
      <p:sp>
        <p:nvSpPr>
          <p:cNvPr id="27" name="Text 20"/>
          <p:cNvSpPr/>
          <p:nvPr/>
        </p:nvSpPr>
        <p:spPr>
          <a:xfrm>
            <a:off x="6542532" y="4754880"/>
            <a:ext cx="2907792" cy="347472"/>
          </a:xfrm>
          <a:prstGeom prst="rect">
            <a:avLst/>
          </a:prstGeom>
          <a:noFill/>
          <a:ln/>
        </p:spPr>
        <p:txBody>
          <a:bodyPr wrap="square" lIns="0" tIns="0" rIns="0" bIns="0" rtlCol="0" anchor="ctr"/>
          <a:lstStyle/>
          <a:p>
            <a:pPr indent="0" marL="0">
              <a:buNone/>
            </a:pPr>
            <a:r>
              <a:rPr lang="en-US" sz="1450" b="1" dirty="0">
                <a:solidFill>
                  <a:srgbClr val="153A40"/>
                </a:solidFill>
                <a:latin typeface="Cambria" pitchFamily="34" charset="0"/>
                <a:ea typeface="Cambria" pitchFamily="34" charset="-122"/>
                <a:cs typeface="Cambria" pitchFamily="34" charset="-120"/>
              </a:rPr>
              <a:t>Fairness</a:t>
            </a:r>
            <a:endParaRPr lang="en-US" sz="1450" dirty="0"/>
          </a:p>
        </p:txBody>
      </p:sp>
      <p:sp>
        <p:nvSpPr>
          <p:cNvPr id="28" name="Text 21"/>
          <p:cNvSpPr/>
          <p:nvPr/>
        </p:nvSpPr>
        <p:spPr>
          <a:xfrm>
            <a:off x="6542532" y="5102352"/>
            <a:ext cx="2907792" cy="411480"/>
          </a:xfrm>
          <a:prstGeom prst="rect">
            <a:avLst/>
          </a:prstGeom>
          <a:noFill/>
          <a:ln/>
        </p:spPr>
        <p:txBody>
          <a:bodyPr wrap="square" lIns="0" tIns="0" rIns="0" bIns="0" rtlCol="0" anchor="ctr"/>
          <a:lstStyle/>
          <a:p>
            <a:pPr indent="0" marL="0">
              <a:buNone/>
            </a:pPr>
            <a:r>
              <a:rPr lang="en-US" sz="1150" dirty="0">
                <a:solidFill>
                  <a:srgbClr val="5E7A80"/>
                </a:solidFill>
                <a:latin typeface="Calibri" pitchFamily="34" charset="0"/>
                <a:ea typeface="Calibri" pitchFamily="34" charset="-122"/>
                <a:cs typeface="Calibri" pitchFamily="34" charset="-120"/>
              </a:rPr>
              <a:t>Avoid systematically favoring some users or sellers.</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65760"/>
            <a:ext cx="10881360" cy="274320"/>
          </a:xfrm>
          <a:prstGeom prst="rect">
            <a:avLst/>
          </a:prstGeom>
          <a:noFill/>
          <a:ln/>
        </p:spPr>
        <p:txBody>
          <a:bodyPr wrap="square" lIns="0" tIns="0" rIns="0" bIns="0" rtlCol="0" anchor="ctr"/>
          <a:lstStyle/>
          <a:p>
            <a:pPr indent="0" marL="0">
              <a:buNone/>
            </a:pPr>
            <a:r>
              <a:rPr lang="en-US" sz="1200" b="1" spc="200" kern="0" dirty="0">
                <a:solidFill>
                  <a:srgbClr val="FF6B6B"/>
                </a:solidFill>
                <a:latin typeface="Calibri" pitchFamily="34" charset="0"/>
                <a:ea typeface="Calibri" pitchFamily="34" charset="-122"/>
                <a:cs typeface="Calibri" pitchFamily="34" charset="-120"/>
              </a:rPr>
              <a:t>CASE STUDY</a:t>
            </a:r>
            <a:endParaRPr lang="en-US" sz="1200" dirty="0"/>
          </a:p>
        </p:txBody>
      </p:sp>
      <p:sp>
        <p:nvSpPr>
          <p:cNvPr id="3" name="Text 1"/>
          <p:cNvSpPr/>
          <p:nvPr/>
        </p:nvSpPr>
        <p:spPr>
          <a:xfrm>
            <a:off x="640080" y="630936"/>
            <a:ext cx="10881360" cy="731520"/>
          </a:xfrm>
          <a:prstGeom prst="rect">
            <a:avLst/>
          </a:prstGeom>
          <a:noFill/>
          <a:ln/>
        </p:spPr>
        <p:txBody>
          <a:bodyPr wrap="square" lIns="0" tIns="0" rIns="0" bIns="0" rtlCol="0" anchor="ctr"/>
          <a:lstStyle/>
          <a:p>
            <a:pPr indent="0" marL="0">
              <a:buNone/>
            </a:pPr>
            <a:r>
              <a:rPr lang="en-US" sz="2700" b="1" dirty="0">
                <a:solidFill>
                  <a:srgbClr val="153A40"/>
                </a:solidFill>
                <a:latin typeface="Cambria" pitchFamily="34" charset="0"/>
                <a:ea typeface="Cambria" pitchFamily="34" charset="-122"/>
                <a:cs typeface="Cambria" pitchFamily="34" charset="-120"/>
              </a:rPr>
              <a:t>Amazon's item-to-item collaborative filtering</a:t>
            </a:r>
            <a:endParaRPr lang="en-US" sz="2700" dirty="0"/>
          </a:p>
        </p:txBody>
      </p:sp>
      <p:sp>
        <p:nvSpPr>
          <p:cNvPr id="4" name="Shape 2"/>
          <p:cNvSpPr/>
          <p:nvPr/>
        </p:nvSpPr>
        <p:spPr>
          <a:xfrm>
            <a:off x="640080" y="1691640"/>
            <a:ext cx="5669280" cy="3200400"/>
          </a:xfrm>
          <a:prstGeom prst="roundRect">
            <a:avLst>
              <a:gd name="adj" fmla="val 3429"/>
            </a:avLst>
          </a:prstGeom>
          <a:solidFill>
            <a:srgbClr val="EAF7F5"/>
          </a:solidFill>
          <a:ln/>
          <a:effectLst>
            <a:outerShdw sx="100000" sy="100000" kx="0" ky="0" algn="bl" rotWithShape="0" blurRad="127000" dist="50800" dir="5400000">
              <a:srgbClr val="8A93A6">
                <a:alpha val="13000"/>
              </a:srgbClr>
            </a:outerShdw>
          </a:effectLst>
        </p:spPr>
      </p:sp>
      <p:sp>
        <p:nvSpPr>
          <p:cNvPr id="5" name="Text 3"/>
          <p:cNvSpPr/>
          <p:nvPr/>
        </p:nvSpPr>
        <p:spPr>
          <a:xfrm>
            <a:off x="914400" y="1947672"/>
            <a:ext cx="5120640" cy="365760"/>
          </a:xfrm>
          <a:prstGeom prst="rect">
            <a:avLst/>
          </a:prstGeom>
          <a:noFill/>
          <a:ln/>
        </p:spPr>
        <p:txBody>
          <a:bodyPr wrap="square" lIns="0" tIns="0" rIns="0" bIns="0" rtlCol="0" anchor="ctr"/>
          <a:lstStyle/>
          <a:p>
            <a:pPr indent="0" marL="0">
              <a:buNone/>
            </a:pPr>
            <a:r>
              <a:rPr lang="en-US" sz="1600" b="1" dirty="0">
                <a:solidFill>
                  <a:srgbClr val="153A40"/>
                </a:solidFill>
                <a:latin typeface="Cambria" pitchFamily="34" charset="0"/>
                <a:ea typeface="Cambria" pitchFamily="34" charset="-122"/>
                <a:cs typeface="Cambria" pitchFamily="34" charset="-120"/>
              </a:rPr>
              <a:t>The approach</a:t>
            </a:r>
            <a:endParaRPr lang="en-US" sz="1600" dirty="0"/>
          </a:p>
        </p:txBody>
      </p:sp>
      <p:sp>
        <p:nvSpPr>
          <p:cNvPr id="6" name="Shape 4"/>
          <p:cNvSpPr/>
          <p:nvPr/>
        </p:nvSpPr>
        <p:spPr>
          <a:xfrm>
            <a:off x="914400" y="2532888"/>
            <a:ext cx="365760" cy="365760"/>
          </a:xfrm>
          <a:prstGeom prst="ellipse">
            <a:avLst/>
          </a:prstGeom>
          <a:solidFill>
            <a:srgbClr val="028090"/>
          </a:solidFill>
          <a:ln/>
        </p:spPr>
      </p:sp>
      <p:sp>
        <p:nvSpPr>
          <p:cNvPr id="7" name="Text 5"/>
          <p:cNvSpPr/>
          <p:nvPr/>
        </p:nvSpPr>
        <p:spPr>
          <a:xfrm>
            <a:off x="914400" y="253288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1417320" y="2487168"/>
            <a:ext cx="4709160" cy="640080"/>
          </a:xfrm>
          <a:prstGeom prst="rect">
            <a:avLst/>
          </a:prstGeom>
          <a:noFill/>
          <a:ln/>
        </p:spPr>
        <p:txBody>
          <a:bodyPr wrap="square" lIns="0" tIns="0" rIns="0" bIns="0" rtlCol="0" anchor="ctr"/>
          <a:lstStyle/>
          <a:p>
            <a:pPr indent="0" marL="0">
              <a:buNone/>
            </a:pPr>
            <a:r>
              <a:rPr lang="en-US" sz="1300" dirty="0">
                <a:solidFill>
                  <a:srgbClr val="153A40"/>
                </a:solidFill>
                <a:latin typeface="Calibri" pitchFamily="34" charset="0"/>
                <a:ea typeface="Calibri" pitchFamily="34" charset="-122"/>
                <a:cs typeface="Calibri" pitchFamily="34" charset="-120"/>
              </a:rPr>
              <a:t>Instead of comparing users, compare items: which products co-occur?</a:t>
            </a:r>
            <a:endParaRPr lang="en-US" sz="1300" dirty="0"/>
          </a:p>
        </p:txBody>
      </p:sp>
      <p:sp>
        <p:nvSpPr>
          <p:cNvPr id="9" name="Shape 7"/>
          <p:cNvSpPr/>
          <p:nvPr/>
        </p:nvSpPr>
        <p:spPr>
          <a:xfrm>
            <a:off x="914400" y="3310128"/>
            <a:ext cx="365760" cy="365760"/>
          </a:xfrm>
          <a:prstGeom prst="ellipse">
            <a:avLst/>
          </a:prstGeom>
          <a:solidFill>
            <a:srgbClr val="028090"/>
          </a:solidFill>
          <a:ln/>
        </p:spPr>
      </p:sp>
      <p:sp>
        <p:nvSpPr>
          <p:cNvPr id="10" name="Text 8"/>
          <p:cNvSpPr/>
          <p:nvPr/>
        </p:nvSpPr>
        <p:spPr>
          <a:xfrm>
            <a:off x="914400" y="33101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p:nvPr/>
        </p:nvSpPr>
        <p:spPr>
          <a:xfrm>
            <a:off x="1417320" y="3264408"/>
            <a:ext cx="4709160" cy="640080"/>
          </a:xfrm>
          <a:prstGeom prst="rect">
            <a:avLst/>
          </a:prstGeom>
          <a:noFill/>
          <a:ln/>
        </p:spPr>
        <p:txBody>
          <a:bodyPr wrap="square" lIns="0" tIns="0" rIns="0" bIns="0" rtlCol="0" anchor="ctr"/>
          <a:lstStyle/>
          <a:p>
            <a:pPr indent="0" marL="0">
              <a:buNone/>
            </a:pPr>
            <a:r>
              <a:rPr lang="en-US" sz="1300" dirty="0">
                <a:solidFill>
                  <a:srgbClr val="153A40"/>
                </a:solidFill>
                <a:latin typeface="Calibri" pitchFamily="34" charset="0"/>
                <a:ea typeface="Calibri" pitchFamily="34" charset="-122"/>
                <a:cs typeface="Calibri" pitchFamily="34" charset="-120"/>
              </a:rPr>
              <a:t>Precompute an “items like this” list for every product, offline</a:t>
            </a:r>
            <a:endParaRPr lang="en-US" sz="1300" dirty="0"/>
          </a:p>
        </p:txBody>
      </p:sp>
      <p:sp>
        <p:nvSpPr>
          <p:cNvPr id="12" name="Shape 10"/>
          <p:cNvSpPr/>
          <p:nvPr/>
        </p:nvSpPr>
        <p:spPr>
          <a:xfrm>
            <a:off x="914400" y="4087368"/>
            <a:ext cx="365760" cy="365760"/>
          </a:xfrm>
          <a:prstGeom prst="ellipse">
            <a:avLst/>
          </a:prstGeom>
          <a:solidFill>
            <a:srgbClr val="028090"/>
          </a:solidFill>
          <a:ln/>
        </p:spPr>
      </p:sp>
      <p:sp>
        <p:nvSpPr>
          <p:cNvPr id="13" name="Text 11"/>
          <p:cNvSpPr/>
          <p:nvPr/>
        </p:nvSpPr>
        <p:spPr>
          <a:xfrm>
            <a:off x="914400" y="408736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p:nvPr/>
        </p:nvSpPr>
        <p:spPr>
          <a:xfrm>
            <a:off x="1417320" y="4041648"/>
            <a:ext cx="4709160" cy="640080"/>
          </a:xfrm>
          <a:prstGeom prst="rect">
            <a:avLst/>
          </a:prstGeom>
          <a:noFill/>
          <a:ln/>
        </p:spPr>
        <p:txBody>
          <a:bodyPr wrap="square" lIns="0" tIns="0" rIns="0" bIns="0" rtlCol="0" anchor="ctr"/>
          <a:lstStyle/>
          <a:p>
            <a:pPr indent="0" marL="0">
              <a:buNone/>
            </a:pPr>
            <a:r>
              <a:rPr lang="en-US" sz="1300" dirty="0">
                <a:solidFill>
                  <a:srgbClr val="153A40"/>
                </a:solidFill>
                <a:latin typeface="Calibri" pitchFamily="34" charset="0"/>
                <a:ea typeface="Calibri" pitchFamily="34" charset="-122"/>
                <a:cs typeface="Calibri" pitchFamily="34" charset="-120"/>
              </a:rPr>
              <a:t>At serve time, just look it up — fast, even with huge catalogs</a:t>
            </a:r>
            <a:endParaRPr lang="en-US" sz="1300" dirty="0"/>
          </a:p>
        </p:txBody>
      </p:sp>
      <p:sp>
        <p:nvSpPr>
          <p:cNvPr id="15" name="Shape 13"/>
          <p:cNvSpPr/>
          <p:nvPr/>
        </p:nvSpPr>
        <p:spPr>
          <a:xfrm>
            <a:off x="6492240" y="1691640"/>
            <a:ext cx="5074920" cy="3200400"/>
          </a:xfrm>
          <a:prstGeom prst="roundRect">
            <a:avLst>
              <a:gd name="adj" fmla="val 3429"/>
            </a:avLst>
          </a:prstGeom>
          <a:solidFill>
            <a:srgbClr val="FFFFFF"/>
          </a:solidFill>
          <a:ln/>
          <a:effectLst>
            <a:outerShdw sx="100000" sy="100000" kx="0" ky="0" algn="bl" rotWithShape="0" blurRad="127000" dist="50800" dir="5400000">
              <a:srgbClr val="8A93A6">
                <a:alpha val="13000"/>
              </a:srgbClr>
            </a:outerShdw>
          </a:effectLst>
        </p:spPr>
      </p:sp>
      <p:sp>
        <p:nvSpPr>
          <p:cNvPr id="16" name="Shape 14"/>
          <p:cNvSpPr/>
          <p:nvPr/>
        </p:nvSpPr>
        <p:spPr>
          <a:xfrm>
            <a:off x="6492240" y="1691640"/>
            <a:ext cx="5074920" cy="3200400"/>
          </a:xfrm>
          <a:prstGeom prst="roundRect">
            <a:avLst>
              <a:gd name="adj" fmla="val 3429"/>
            </a:avLst>
          </a:prstGeom>
          <a:solidFill>
            <a:srgbClr val="FFFFFF">
              <a:alpha val="0"/>
            </a:srgbClr>
          </a:solidFill>
          <a:ln w="12700">
            <a:solidFill>
              <a:srgbClr val="CDE8E3"/>
            </a:solidFill>
            <a:prstDash val="solid"/>
          </a:ln>
        </p:spPr>
      </p:sp>
      <p:sp>
        <p:nvSpPr>
          <p:cNvPr id="17" name="Text 15"/>
          <p:cNvSpPr/>
          <p:nvPr/>
        </p:nvSpPr>
        <p:spPr>
          <a:xfrm>
            <a:off x="6812280" y="1920240"/>
            <a:ext cx="4434840" cy="320040"/>
          </a:xfrm>
          <a:prstGeom prst="rect">
            <a:avLst/>
          </a:prstGeom>
          <a:noFill/>
          <a:ln/>
        </p:spPr>
        <p:txBody>
          <a:bodyPr wrap="square" lIns="0" tIns="0" rIns="0" bIns="0" rtlCol="0" anchor="ctr"/>
          <a:lstStyle/>
          <a:p>
            <a:pPr indent="0" marL="0">
              <a:buNone/>
            </a:pPr>
            <a:r>
              <a:rPr lang="en-US" sz="1300" b="1" dirty="0">
                <a:solidFill>
                  <a:srgbClr val="153A40"/>
                </a:solidFill>
                <a:latin typeface="Calibri" pitchFamily="34" charset="0"/>
                <a:ea typeface="Calibri" pitchFamily="34" charset="-122"/>
                <a:cs typeface="Calibri" pitchFamily="34" charset="-120"/>
              </a:rPr>
              <a:t>Why item-based won (illustrative)</a:t>
            </a:r>
            <a:endParaRPr lang="en-US" sz="1300" dirty="0"/>
          </a:p>
        </p:txBody>
      </p:sp>
      <p:graphicFrame>
        <p:nvGraphicFramePr>
          <p:cNvPr id="18" name="Chart 0" descr=""/>
          <p:cNvGraphicFramePr/>
          <p:nvPr/>
        </p:nvGraphicFramePr>
        <p:xfrm>
          <a:off x="6675120" y="2313432"/>
          <a:ext cx="4709160" cy="2423160"/>
        </p:xfrm>
        <a:graphic xmlns:a="http://schemas.openxmlformats.org/drawingml/2006/main">
          <a:graphicData uri="http://schemas.openxmlformats.org/drawingml/2006/chart">
            <c:chart xmlns:c="http://schemas.openxmlformats.org/drawingml/2006/chart" r:id="rId1"/>
          </a:graphicData>
        </a:graphic>
      </p:graphicFrame>
      <p:sp>
        <p:nvSpPr>
          <p:cNvPr id="19" name="Shape 16"/>
          <p:cNvSpPr/>
          <p:nvPr/>
        </p:nvSpPr>
        <p:spPr>
          <a:xfrm>
            <a:off x="640080" y="5001768"/>
            <a:ext cx="10927080" cy="713232"/>
          </a:xfrm>
          <a:prstGeom prst="roundRect">
            <a:avLst>
              <a:gd name="adj" fmla="val 15385"/>
            </a:avLst>
          </a:prstGeom>
          <a:solidFill>
            <a:srgbClr val="028090"/>
          </a:solidFill>
          <a:ln/>
          <a:effectLst>
            <a:outerShdw sx="100000" sy="100000" kx="0" ky="0" algn="bl" rotWithShape="0" blurRad="127000" dist="50800" dir="5400000">
              <a:srgbClr val="8A93A6">
                <a:alpha val="13000"/>
              </a:srgbClr>
            </a:outerShdw>
          </a:effectLst>
        </p:spPr>
      </p:sp>
      <p:sp>
        <p:nvSpPr>
          <p:cNvPr id="20" name="Shape 17"/>
          <p:cNvSpPr/>
          <p:nvPr/>
        </p:nvSpPr>
        <p:spPr>
          <a:xfrm>
            <a:off x="868680" y="5111496"/>
            <a:ext cx="493776" cy="493776"/>
          </a:xfrm>
          <a:prstGeom prst="ellipse">
            <a:avLst/>
          </a:prstGeom>
          <a:solidFill>
            <a:srgbClr val="FF6B6B"/>
          </a:solidFill>
          <a:ln/>
          <a:effectLst>
            <a:outerShdw sx="100000" sy="100000" kx="0" ky="0" algn="bl" rotWithShape="0" blurRad="127000" dist="50800" dir="5400000">
              <a:srgbClr val="8A93A6">
                <a:alpha val="13000"/>
              </a:srgbClr>
            </a:outerShdw>
          </a:effectLst>
        </p:spPr>
      </p:sp>
      <p:pic>
        <p:nvPicPr>
          <p:cNvPr id="21" name="Image 0" descr="preencoded.png">    </p:cNvPr>
          <p:cNvPicPr>
            <a:picLocks noChangeAspect="1"/>
          </p:cNvPicPr>
          <p:nvPr/>
        </p:nvPicPr>
        <p:blipFill>
          <a:blip r:embed="rId2"/>
          <a:stretch>
            <a:fillRect/>
          </a:stretch>
        </p:blipFill>
        <p:spPr>
          <a:xfrm>
            <a:off x="1002000" y="5244816"/>
            <a:ext cx="227137" cy="227137"/>
          </a:xfrm>
          <a:prstGeom prst="rect">
            <a:avLst/>
          </a:prstGeom>
        </p:spPr>
      </p:pic>
      <p:sp>
        <p:nvSpPr>
          <p:cNvPr id="22" name="Text 18"/>
          <p:cNvSpPr/>
          <p:nvPr/>
        </p:nvSpPr>
        <p:spPr>
          <a:xfrm>
            <a:off x="1554480" y="5001768"/>
            <a:ext cx="9875520" cy="713232"/>
          </a:xfrm>
          <a:prstGeom prst="rect">
            <a:avLst/>
          </a:prstGeom>
          <a:noFill/>
          <a:ln/>
        </p:spPr>
        <p:txBody>
          <a:bodyPr wrap="square" lIns="0" tIns="0" rIns="0" bIns="0" rtlCol="0" anchor="ctr"/>
          <a:lstStyle/>
          <a:p>
            <a:pPr indent="0" marL="0">
              <a:buNone/>
            </a:pPr>
            <a:r>
              <a:rPr lang="en-US" sz="1300" i="1" dirty="0">
                <a:solidFill>
                  <a:srgbClr val="E8F6F4"/>
                </a:solidFill>
                <a:latin typeface="Calibri" pitchFamily="34" charset="0"/>
                <a:ea typeface="Calibri" pitchFamily="34" charset="-122"/>
                <a:cs typeface="Calibri" pitchFamily="34" charset="-120"/>
              </a:rPr>
              <a:t>A famous, beginner-friendly example: a clever shift in perspective made recommendations fast and scalable.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6363E"/>
        </a:solidFill>
      </p:bgPr>
    </p:bg>
    <p:spTree>
      <p:nvGrpSpPr>
        <p:cNvPr id="1" name=""/>
        <p:cNvGrpSpPr/>
        <p:nvPr/>
      </p:nvGrpSpPr>
      <p:grpSpPr>
        <a:xfrm>
          <a:off x="0" y="0"/>
          <a:ext cx="0" cy="0"/>
          <a:chOff x="0" y="0"/>
          <a:chExt cx="0" cy="0"/>
        </a:xfrm>
      </p:grpSpPr>
      <p:sp>
        <p:nvSpPr>
          <p:cNvPr id="2" name="Text 0"/>
          <p:cNvSpPr/>
          <p:nvPr/>
        </p:nvSpPr>
        <p:spPr>
          <a:xfrm>
            <a:off x="777240" y="640080"/>
            <a:ext cx="10607040" cy="365760"/>
          </a:xfrm>
          <a:prstGeom prst="rect">
            <a:avLst/>
          </a:prstGeom>
          <a:noFill/>
          <a:ln/>
        </p:spPr>
        <p:txBody>
          <a:bodyPr wrap="square" lIns="0" tIns="0" rIns="0" bIns="0" rtlCol="0" anchor="ctr"/>
          <a:lstStyle/>
          <a:p>
            <a:pPr indent="0" marL="0">
              <a:buNone/>
            </a:pPr>
            <a:r>
              <a:rPr lang="en-US" sz="1400" b="1" spc="300" kern="0" dirty="0">
                <a:solidFill>
                  <a:srgbClr val="FF6B6B"/>
                </a:solidFill>
                <a:latin typeface="Calibri" pitchFamily="34" charset="0"/>
                <a:ea typeface="Calibri" pitchFamily="34" charset="-122"/>
                <a:cs typeface="Calibri" pitchFamily="34" charset="-120"/>
              </a:rPr>
              <a:t>KEY TAKEAWAYS</a:t>
            </a:r>
            <a:endParaRPr lang="en-US" sz="1400" dirty="0"/>
          </a:p>
        </p:txBody>
      </p:sp>
      <p:sp>
        <p:nvSpPr>
          <p:cNvPr id="3" name="Text 1"/>
          <p:cNvSpPr/>
          <p:nvPr/>
        </p:nvSpPr>
        <p:spPr>
          <a:xfrm>
            <a:off x="749808" y="960120"/>
            <a:ext cx="10607040" cy="594360"/>
          </a:xfrm>
          <a:prstGeom prst="rect">
            <a:avLst/>
          </a:prstGeom>
          <a:noFill/>
          <a:ln/>
        </p:spPr>
        <p:txBody>
          <a:bodyPr wrap="square" lIns="0" tIns="0" rIns="0" bIns="0" rtlCol="0" anchor="ctr"/>
          <a:lstStyle/>
          <a:p>
            <a:pPr indent="0" marL="0">
              <a:buNone/>
            </a:pPr>
            <a:r>
              <a:rPr lang="en-US" sz="2700" b="1" dirty="0">
                <a:solidFill>
                  <a:srgbClr val="E8F6F4"/>
                </a:solidFill>
                <a:latin typeface="Cambria" pitchFamily="34" charset="0"/>
                <a:ea typeface="Cambria" pitchFamily="34" charset="-122"/>
                <a:cs typeface="Cambria" pitchFamily="34" charset="-120"/>
              </a:rPr>
              <a:t>What to carry out of this session</a:t>
            </a:r>
            <a:endParaRPr lang="en-US" sz="2700" dirty="0"/>
          </a:p>
        </p:txBody>
      </p:sp>
      <p:sp>
        <p:nvSpPr>
          <p:cNvPr id="4" name="Shape 2"/>
          <p:cNvSpPr/>
          <p:nvPr/>
        </p:nvSpPr>
        <p:spPr>
          <a:xfrm>
            <a:off x="777240" y="1920240"/>
            <a:ext cx="457200" cy="457200"/>
          </a:xfrm>
          <a:prstGeom prst="ellipse">
            <a:avLst/>
          </a:prstGeom>
          <a:solidFill>
            <a:srgbClr val="FF6B6B"/>
          </a:solidFill>
          <a:ln/>
        </p:spPr>
      </p:sp>
      <p:sp>
        <p:nvSpPr>
          <p:cNvPr id="5" name="Text 3"/>
          <p:cNvSpPr/>
          <p:nvPr/>
        </p:nvSpPr>
        <p:spPr>
          <a:xfrm>
            <a:off x="777240" y="1920240"/>
            <a:ext cx="457200" cy="457200"/>
          </a:xfrm>
          <a:prstGeom prst="rect">
            <a:avLst/>
          </a:prstGeom>
          <a:noFill/>
          <a:ln/>
        </p:spPr>
        <p:txBody>
          <a:bodyPr wrap="square" lIns="0" tIns="0" rIns="0" bIns="0" rtlCol="0" anchor="ctr"/>
          <a:lstStyle/>
          <a:p>
            <a:pPr algn="ctr" indent="0" marL="0">
              <a:buNone/>
            </a:pPr>
            <a:r>
              <a:rPr lang="en-US" sz="1600" b="1" dirty="0">
                <a:solidFill>
                  <a:srgbClr val="06363E"/>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463040" y="1865376"/>
            <a:ext cx="10058400" cy="566928"/>
          </a:xfrm>
          <a:prstGeom prst="rect">
            <a:avLst/>
          </a:prstGeom>
          <a:noFill/>
          <a:ln/>
        </p:spPr>
        <p:txBody>
          <a:bodyPr wrap="square" lIns="0" tIns="0" rIns="0" bIns="0" rtlCol="0" anchor="ctr"/>
          <a:lstStyle/>
          <a:p>
            <a:pPr indent="0" marL="0">
              <a:buNone/>
            </a:pPr>
            <a:r>
              <a:rPr lang="en-US" sz="1600" dirty="0">
                <a:solidFill>
                  <a:srgbClr val="E8F6F4"/>
                </a:solidFill>
                <a:latin typeface="Calibri" pitchFamily="34" charset="0"/>
                <a:ea typeface="Calibri" pitchFamily="34" charset="-122"/>
                <a:cs typeface="Calibri" pitchFamily="34" charset="-120"/>
              </a:rPr>
              <a:t>Recommenders predict what you'll like and rank items for you</a:t>
            </a:r>
            <a:endParaRPr lang="en-US" sz="1600" dirty="0"/>
          </a:p>
        </p:txBody>
      </p:sp>
      <p:sp>
        <p:nvSpPr>
          <p:cNvPr id="7" name="Shape 5"/>
          <p:cNvSpPr/>
          <p:nvPr/>
        </p:nvSpPr>
        <p:spPr>
          <a:xfrm>
            <a:off x="777240" y="2578608"/>
            <a:ext cx="457200" cy="457200"/>
          </a:xfrm>
          <a:prstGeom prst="ellipse">
            <a:avLst/>
          </a:prstGeom>
          <a:solidFill>
            <a:srgbClr val="FF6B6B"/>
          </a:solidFill>
          <a:ln/>
        </p:spPr>
      </p:sp>
      <p:sp>
        <p:nvSpPr>
          <p:cNvPr id="8" name="Text 6"/>
          <p:cNvSpPr/>
          <p:nvPr/>
        </p:nvSpPr>
        <p:spPr>
          <a:xfrm>
            <a:off x="777240" y="2578608"/>
            <a:ext cx="457200" cy="457200"/>
          </a:xfrm>
          <a:prstGeom prst="rect">
            <a:avLst/>
          </a:prstGeom>
          <a:noFill/>
          <a:ln/>
        </p:spPr>
        <p:txBody>
          <a:bodyPr wrap="square" lIns="0" tIns="0" rIns="0" bIns="0" rtlCol="0" anchor="ctr"/>
          <a:lstStyle/>
          <a:p>
            <a:pPr algn="ctr" indent="0" marL="0">
              <a:buNone/>
            </a:pPr>
            <a:r>
              <a:rPr lang="en-US" sz="1600" b="1" dirty="0">
                <a:solidFill>
                  <a:srgbClr val="06363E"/>
                </a:solidFill>
                <a:latin typeface="Calibri" pitchFamily="34" charset="0"/>
                <a:ea typeface="Calibri" pitchFamily="34" charset="-122"/>
                <a:cs typeface="Calibri" pitchFamily="34" charset="-120"/>
              </a:rPr>
              <a:t>2</a:t>
            </a:r>
            <a:endParaRPr lang="en-US" sz="1600" dirty="0"/>
          </a:p>
        </p:txBody>
      </p:sp>
      <p:sp>
        <p:nvSpPr>
          <p:cNvPr id="9" name="Text 7"/>
          <p:cNvSpPr/>
          <p:nvPr/>
        </p:nvSpPr>
        <p:spPr>
          <a:xfrm>
            <a:off x="1463040" y="2523744"/>
            <a:ext cx="10058400" cy="566928"/>
          </a:xfrm>
          <a:prstGeom prst="rect">
            <a:avLst/>
          </a:prstGeom>
          <a:noFill/>
          <a:ln/>
        </p:spPr>
        <p:txBody>
          <a:bodyPr wrap="square" lIns="0" tIns="0" rIns="0" bIns="0" rtlCol="0" anchor="ctr"/>
          <a:lstStyle/>
          <a:p>
            <a:pPr indent="0" marL="0">
              <a:buNone/>
            </a:pPr>
            <a:r>
              <a:rPr lang="en-US" sz="1600" dirty="0">
                <a:solidFill>
                  <a:srgbClr val="E8F6F4"/>
                </a:solidFill>
                <a:latin typeface="Calibri" pitchFamily="34" charset="0"/>
                <a:ea typeface="Calibri" pitchFamily="34" charset="-122"/>
                <a:cs typeface="Calibri" pitchFamily="34" charset="-120"/>
              </a:rPr>
              <a:t>Two big ideas: content-based (features) and collaborative (behavior)</a:t>
            </a:r>
            <a:endParaRPr lang="en-US" sz="1600" dirty="0"/>
          </a:p>
        </p:txBody>
      </p:sp>
      <p:sp>
        <p:nvSpPr>
          <p:cNvPr id="10" name="Shape 8"/>
          <p:cNvSpPr/>
          <p:nvPr/>
        </p:nvSpPr>
        <p:spPr>
          <a:xfrm>
            <a:off x="777240" y="3236976"/>
            <a:ext cx="457200" cy="457200"/>
          </a:xfrm>
          <a:prstGeom prst="ellipse">
            <a:avLst/>
          </a:prstGeom>
          <a:solidFill>
            <a:srgbClr val="FF6B6B"/>
          </a:solidFill>
          <a:ln/>
        </p:spPr>
      </p:sp>
      <p:sp>
        <p:nvSpPr>
          <p:cNvPr id="11" name="Text 9"/>
          <p:cNvSpPr/>
          <p:nvPr/>
        </p:nvSpPr>
        <p:spPr>
          <a:xfrm>
            <a:off x="777240" y="3236976"/>
            <a:ext cx="457200" cy="457200"/>
          </a:xfrm>
          <a:prstGeom prst="rect">
            <a:avLst/>
          </a:prstGeom>
          <a:noFill/>
          <a:ln/>
        </p:spPr>
        <p:txBody>
          <a:bodyPr wrap="square" lIns="0" tIns="0" rIns="0" bIns="0" rtlCol="0" anchor="ctr"/>
          <a:lstStyle/>
          <a:p>
            <a:pPr algn="ctr" indent="0" marL="0">
              <a:buNone/>
            </a:pPr>
            <a:r>
              <a:rPr lang="en-US" sz="1600" b="1" dirty="0">
                <a:solidFill>
                  <a:srgbClr val="06363E"/>
                </a:solidFill>
                <a:latin typeface="Calibri" pitchFamily="34" charset="0"/>
                <a:ea typeface="Calibri" pitchFamily="34" charset="-122"/>
                <a:cs typeface="Calibri" pitchFamily="34" charset="-120"/>
              </a:rPr>
              <a:t>3</a:t>
            </a:r>
            <a:endParaRPr lang="en-US" sz="1600" dirty="0"/>
          </a:p>
        </p:txBody>
      </p:sp>
      <p:sp>
        <p:nvSpPr>
          <p:cNvPr id="12" name="Text 10"/>
          <p:cNvSpPr/>
          <p:nvPr/>
        </p:nvSpPr>
        <p:spPr>
          <a:xfrm>
            <a:off x="1463040" y="3182112"/>
            <a:ext cx="10058400" cy="566928"/>
          </a:xfrm>
          <a:prstGeom prst="rect">
            <a:avLst/>
          </a:prstGeom>
          <a:noFill/>
          <a:ln/>
        </p:spPr>
        <p:txBody>
          <a:bodyPr wrap="square" lIns="0" tIns="0" rIns="0" bIns="0" rtlCol="0" anchor="ctr"/>
          <a:lstStyle/>
          <a:p>
            <a:pPr indent="0" marL="0">
              <a:buNone/>
            </a:pPr>
            <a:r>
              <a:rPr lang="en-US" sz="1600" dirty="0">
                <a:solidFill>
                  <a:srgbClr val="E8F6F4"/>
                </a:solidFill>
                <a:latin typeface="Calibri" pitchFamily="34" charset="0"/>
                <a:ea typeface="Calibri" pitchFamily="34" charset="-122"/>
                <a:cs typeface="Calibri" pitchFamily="34" charset="-120"/>
              </a:rPr>
              <a:t>Implicit data is everywhere; explicit data is clearer but rarer</a:t>
            </a:r>
            <a:endParaRPr lang="en-US" sz="1600" dirty="0"/>
          </a:p>
        </p:txBody>
      </p:sp>
      <p:sp>
        <p:nvSpPr>
          <p:cNvPr id="13" name="Shape 11"/>
          <p:cNvSpPr/>
          <p:nvPr/>
        </p:nvSpPr>
        <p:spPr>
          <a:xfrm>
            <a:off x="777240" y="3895344"/>
            <a:ext cx="457200" cy="457200"/>
          </a:xfrm>
          <a:prstGeom prst="ellipse">
            <a:avLst/>
          </a:prstGeom>
          <a:solidFill>
            <a:srgbClr val="FF6B6B"/>
          </a:solidFill>
          <a:ln/>
        </p:spPr>
      </p:sp>
      <p:sp>
        <p:nvSpPr>
          <p:cNvPr id="14" name="Text 12"/>
          <p:cNvSpPr/>
          <p:nvPr/>
        </p:nvSpPr>
        <p:spPr>
          <a:xfrm>
            <a:off x="777240" y="3895344"/>
            <a:ext cx="457200" cy="457200"/>
          </a:xfrm>
          <a:prstGeom prst="rect">
            <a:avLst/>
          </a:prstGeom>
          <a:noFill/>
          <a:ln/>
        </p:spPr>
        <p:txBody>
          <a:bodyPr wrap="square" lIns="0" tIns="0" rIns="0" bIns="0" rtlCol="0" anchor="ctr"/>
          <a:lstStyle/>
          <a:p>
            <a:pPr algn="ctr" indent="0" marL="0">
              <a:buNone/>
            </a:pPr>
            <a:r>
              <a:rPr lang="en-US" sz="1600" b="1" dirty="0">
                <a:solidFill>
                  <a:srgbClr val="06363E"/>
                </a:solidFill>
                <a:latin typeface="Calibri" pitchFamily="34" charset="0"/>
                <a:ea typeface="Calibri" pitchFamily="34" charset="-122"/>
                <a:cs typeface="Calibri" pitchFamily="34" charset="-120"/>
              </a:rPr>
              <a:t>4</a:t>
            </a:r>
            <a:endParaRPr lang="en-US" sz="1600" dirty="0"/>
          </a:p>
        </p:txBody>
      </p:sp>
      <p:sp>
        <p:nvSpPr>
          <p:cNvPr id="15" name="Text 13"/>
          <p:cNvSpPr/>
          <p:nvPr/>
        </p:nvSpPr>
        <p:spPr>
          <a:xfrm>
            <a:off x="1463040" y="3840480"/>
            <a:ext cx="10058400" cy="566928"/>
          </a:xfrm>
          <a:prstGeom prst="rect">
            <a:avLst/>
          </a:prstGeom>
          <a:noFill/>
          <a:ln/>
        </p:spPr>
        <p:txBody>
          <a:bodyPr wrap="square" lIns="0" tIns="0" rIns="0" bIns="0" rtlCol="0" anchor="ctr"/>
          <a:lstStyle/>
          <a:p>
            <a:pPr indent="0" marL="0">
              <a:buNone/>
            </a:pPr>
            <a:r>
              <a:rPr lang="en-US" sz="1600" dirty="0">
                <a:solidFill>
                  <a:srgbClr val="E8F6F4"/>
                </a:solidFill>
                <a:latin typeface="Calibri" pitchFamily="34" charset="0"/>
                <a:ea typeface="Calibri" pitchFamily="34" charset="-122"/>
                <a:cs typeface="Calibri" pitchFamily="34" charset="-120"/>
              </a:rPr>
              <a:t>Watch out for cold-start — new users and new items</a:t>
            </a:r>
            <a:endParaRPr lang="en-US" sz="1600" dirty="0"/>
          </a:p>
        </p:txBody>
      </p:sp>
      <p:sp>
        <p:nvSpPr>
          <p:cNvPr id="16" name="Shape 14"/>
          <p:cNvSpPr/>
          <p:nvPr/>
        </p:nvSpPr>
        <p:spPr>
          <a:xfrm>
            <a:off x="777240" y="4553712"/>
            <a:ext cx="457200" cy="457200"/>
          </a:xfrm>
          <a:prstGeom prst="ellipse">
            <a:avLst/>
          </a:prstGeom>
          <a:solidFill>
            <a:srgbClr val="FF6B6B"/>
          </a:solidFill>
          <a:ln/>
        </p:spPr>
      </p:sp>
      <p:sp>
        <p:nvSpPr>
          <p:cNvPr id="17" name="Text 15"/>
          <p:cNvSpPr/>
          <p:nvPr/>
        </p:nvSpPr>
        <p:spPr>
          <a:xfrm>
            <a:off x="777240" y="4553712"/>
            <a:ext cx="457200" cy="457200"/>
          </a:xfrm>
          <a:prstGeom prst="rect">
            <a:avLst/>
          </a:prstGeom>
          <a:noFill/>
          <a:ln/>
        </p:spPr>
        <p:txBody>
          <a:bodyPr wrap="square" lIns="0" tIns="0" rIns="0" bIns="0" rtlCol="0" anchor="ctr"/>
          <a:lstStyle/>
          <a:p>
            <a:pPr algn="ctr" indent="0" marL="0">
              <a:buNone/>
            </a:pPr>
            <a:r>
              <a:rPr lang="en-US" sz="1600" b="1" dirty="0">
                <a:solidFill>
                  <a:srgbClr val="06363E"/>
                </a:solidFill>
                <a:latin typeface="Calibri" pitchFamily="34" charset="0"/>
                <a:ea typeface="Calibri" pitchFamily="34" charset="-122"/>
                <a:cs typeface="Calibri" pitchFamily="34" charset="-120"/>
              </a:rPr>
              <a:t>5</a:t>
            </a:r>
            <a:endParaRPr lang="en-US" sz="1600" dirty="0"/>
          </a:p>
        </p:txBody>
      </p:sp>
      <p:sp>
        <p:nvSpPr>
          <p:cNvPr id="18" name="Text 16"/>
          <p:cNvSpPr/>
          <p:nvPr/>
        </p:nvSpPr>
        <p:spPr>
          <a:xfrm>
            <a:off x="1463040" y="4498848"/>
            <a:ext cx="10058400" cy="566928"/>
          </a:xfrm>
          <a:prstGeom prst="rect">
            <a:avLst/>
          </a:prstGeom>
          <a:noFill/>
          <a:ln/>
        </p:spPr>
        <p:txBody>
          <a:bodyPr wrap="square" lIns="0" tIns="0" rIns="0" bIns="0" rtlCol="0" anchor="ctr"/>
          <a:lstStyle/>
          <a:p>
            <a:pPr indent="0" marL="0">
              <a:buNone/>
            </a:pPr>
            <a:r>
              <a:rPr lang="en-US" sz="1600" dirty="0">
                <a:solidFill>
                  <a:srgbClr val="E8F6F4"/>
                </a:solidFill>
                <a:latin typeface="Calibri" pitchFamily="34" charset="0"/>
                <a:ea typeface="Calibri" pitchFamily="34" charset="-122"/>
                <a:cs typeface="Calibri" pitchFamily="34" charset="-120"/>
              </a:rPr>
              <a:t>Always measure: offline metrics first, A/B tests to decide</a:t>
            </a:r>
            <a:endParaRPr lang="en-US" sz="1600" dirty="0"/>
          </a:p>
        </p:txBody>
      </p:sp>
      <p:sp>
        <p:nvSpPr>
          <p:cNvPr id="19" name="Shape 17"/>
          <p:cNvSpPr/>
          <p:nvPr/>
        </p:nvSpPr>
        <p:spPr>
          <a:xfrm>
            <a:off x="795528" y="5321808"/>
            <a:ext cx="3657600" cy="0"/>
          </a:xfrm>
          <a:prstGeom prst="line">
            <a:avLst/>
          </a:prstGeom>
          <a:noFill/>
          <a:ln w="9525">
            <a:solidFill>
              <a:srgbClr val="E8F6F4">
                <a:alpha val="45000"/>
              </a:srgbClr>
            </a:solidFill>
            <a:prstDash val="solid"/>
          </a:ln>
        </p:spPr>
      </p:sp>
      <p:sp>
        <p:nvSpPr>
          <p:cNvPr id="20" name="Text 18"/>
          <p:cNvSpPr/>
          <p:nvPr/>
        </p:nvSpPr>
        <p:spPr>
          <a:xfrm>
            <a:off x="749808" y="5468112"/>
            <a:ext cx="10607040" cy="548640"/>
          </a:xfrm>
          <a:prstGeom prst="rect">
            <a:avLst/>
          </a:prstGeom>
          <a:noFill/>
          <a:ln/>
        </p:spPr>
        <p:txBody>
          <a:bodyPr wrap="square" lIns="0" tIns="0" rIns="0" bIns="0" rtlCol="0" anchor="ctr"/>
          <a:lstStyle/>
          <a:p>
            <a:pPr indent="0" marL="0">
              <a:buNone/>
            </a:pPr>
            <a:r>
              <a:rPr lang="en-US" sz="1800" b="1" i="1" dirty="0">
                <a:solidFill>
                  <a:srgbClr val="FF6B6B"/>
                </a:solidFill>
                <a:latin typeface="Cambria" pitchFamily="34" charset="0"/>
                <a:ea typeface="Cambria" pitchFamily="34" charset="-122"/>
                <a:cs typeface="Cambria" pitchFamily="34" charset="-120"/>
              </a:rPr>
              <a:t>Now you have the map. Next stop: build your first recommender!</a:t>
            </a:r>
            <a:endParaRPr lang="en-US" sz="1800" dirty="0"/>
          </a:p>
        </p:txBody>
      </p:sp>
      <p:sp>
        <p:nvSpPr>
          <p:cNvPr id="21" name="Text 19"/>
          <p:cNvSpPr/>
          <p:nvPr/>
        </p:nvSpPr>
        <p:spPr>
          <a:xfrm>
            <a:off x="749808" y="6080760"/>
            <a:ext cx="5486400" cy="365760"/>
          </a:xfrm>
          <a:prstGeom prst="rect">
            <a:avLst/>
          </a:prstGeom>
          <a:noFill/>
          <a:ln/>
        </p:spPr>
        <p:txBody>
          <a:bodyPr wrap="square" lIns="0" tIns="0" rIns="0" bIns="0" rtlCol="0" anchor="ctr"/>
          <a:lstStyle/>
          <a:p>
            <a:pPr indent="0" marL="0">
              <a:buNone/>
            </a:pPr>
            <a:r>
              <a:rPr lang="en-US" sz="1300" dirty="0">
                <a:solidFill>
                  <a:srgbClr val="E8F6F4"/>
                </a:solidFill>
                <a:latin typeface="Calibri" pitchFamily="34" charset="0"/>
                <a:ea typeface="Calibri" pitchFamily="34" charset="-122"/>
                <a:cs typeface="Calibri" pitchFamily="34" charset="-120"/>
              </a:rPr>
              <a:t>Thank you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Product Recommendation Systems in E-Commerce — Data Science Beginners</dc:title>
  <dc:subject>PptxGenJS Presentation</dc:subject>
  <dc:creator>Recommendation Systems Briefing</dc:creator>
  <cp:lastModifiedBy>Recommendation Systems Briefing</cp:lastModifiedBy>
  <cp:revision>1</cp:revision>
  <dcterms:created xsi:type="dcterms:W3CDTF">2026-06-29T05:04:48Z</dcterms:created>
  <dcterms:modified xsi:type="dcterms:W3CDTF">2026-06-29T05:04:48Z</dcterms:modified>
</cp:coreProperties>
</file>