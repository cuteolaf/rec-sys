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learners. This deck builds intuition from the ground up with small worked examples rather than heavy math. By the end they should understand the two core approaches, the data behind them, how systems are evaluated, and how to build a first baseline. Encourage questions throughout — it's a teaching session, not a briefing.
— MODIFIABLE FOR YOUR PLATFORM —
• Swap in your name and the session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as learning objectives so people know where they're headed. Reassure them that the math stays light — we lean on small concrete examples. Revisit this list at the end to confirm each objective was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analogy — a store with a billion shelves — because it makes the abstract concrete. Connect the two human problems (can't browse it all, too many choices paralyze us) to why a recommender is valuable: it's an automated, personalized guide. The stats are recent (Salesforce's 2024 Shopping Index, 1.5 billion shoppers): AI-driven recommendations and personalization drove 17% of global online orders, and retailers using generative AI saw 7% higher average order value.
— MODIFIABLE FOR YOUR PLATFORM —
• These are recent industry figures (Salesforce, 2024); swap in your own platform's data if you have it.
— ABBREVIATIONS —
• AOV = Average Order Value
• AI = Artificial Intelligence
— SOURCES —
• Salesforce Shopping Index, 2024 — AI drove 17% of global orders; +7% AOV with generative AI (analysis of 1.5B shoppers).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the whole field in one sentence: score every item, sort, show the top. Everything else — content-based, collaborative, deep learning — is just a different way of computing that score. Keep returning to this mental model as the methods get more sophisticated.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example slowly. Content-based filtering compares item features (tags, categories, text). The shopper liked a trail running shoe, so items sharing tags like 'outdoor' or 'lightweight' score higher; an office loafer shares none, so it scores low. Emphasize the trade-off: great for new items and easy to explain, but it can trap users in a narrow lane and depends on good item metadata.
— MODIFIABLE FOR YOUR PLATFORM —
• Replace the shoe example with a product from your own catalog to make it relatable to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teaching deck — work the matrix live. Point out that we never used any item features; we only used ratings (behavior). 'You' and Ana agree on Items A and B, so they're similar users. Ana rated Item D four stars and you haven't seen it, so the system predicts you'll like Item D and recommends it (the '?' cell). Then explain the two flavors: user-based (find similar users) vs item-based (find items rated similarly), and note item-based tends to scale better — that's what Amazon famously used.
— ABBREVIATIONS —
• CF = Collaborative Filtering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the concrete table to the idea powering modern systems. The rating matrix is enormous and sparse; embeddings squeeze each user/item into a handful of numbers — coordinates in a 'taste space.' In the picture, sporty products cluster together and formal products elsewhere; recommending becomes 'find nearby points.' This is the intuition behind matrix factorization and the graph embeddings Alibaba's Taobao uses at billion-item scale. Keep it visual; no equations needed.
— ABBREVIATIONS —
• Embedding = a compact list of numbers (a vector) representing a user or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the two data types and stress the practical reality: you'll mostly work with implicit signals because they're abundant, but they're noisy — a click might be a misclick, a long dwell might mean confusion, not interest. Beginners often over-trust implicit signals; flag that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start is a classic chicken-and-egg problem and a favorite interview topic. New users have no history; new items have no interactions. The fixes are practical: fall back to popularity, ask onboarding questions to seed taste, use content features to place new items, and lean on context. Note that content-based filtering is the natural rescue for new items because it doesn't need interactions.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metrics tangible. Precision@k just asks: of the k items we showed, how many were relevant? In the example, 2 of 3 liked = 0.67. Recall asks how many of all the good items we managed to surface. NDCG additionally rewards ranking the best items highest. Then the crucial distinction: offline metrics are cheap proxies on past data, but only an online A/B test on real users tells you it actually works. Beginners often stop at offline — warn against it.
— ABBREVIATIONS —
• Precision@k = fraction of the top-k recommended items that are relevant
• Recall = fraction of all relevant items that were successfully recommended
• NDCG = Normalized Discounted Cumulative Gain (ranking-quality score that rewards relevant items near the top)
• A/B test = randomized live experiment comparing two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lesson to reality so it doesn't feel academic. Amazon is the textbook item-based CF example you just saw in the matrix. Taobao (Alibaba) builds an item graph from behavior and learns embeddings — exactly the 'taste space' idea — to feed its 'Guess What You Like' homepage across a billion items. JD.com uses deep learning to match shoppers to products in milliseconds. Same core concepts, just scaled up massively.
— ABBREVIATIONS —
• CF = Collaborative Filtering
• JD = Jingdong (JD.com)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practical lists. The pitfalls are the mistakes beginners actually make — especially trusting offline metrics and accidental data leakage (training and testing on overlapping data). The glossary collects the abbreviations used throughout so learners have a single reference. Encourage them to screenshot this slide.
— ABBREVIATIONS —
• CF = Collaborative Filtering
• AOV = Average Order Value
• CTR = Click-Through Rate
• NDCG = Normalized Discounted Cumulative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momentum: a concrete starter path. MovieLens is the standard learning dataset; Surprise/LightFM/implicit are friendly libraries. The key habit to instill: get a tiny baseline running end-to-end before optimizing — a working popularity model beats a half-built neural network. Then improve one component at a time and measure each change.
— MODIFIABLE FOR YOUR PLATFORM —
• Swap in your team's preferred stack or an internal dataset if you have one available for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Revisit the learning objectives from slide 2 and confirm each is covered. Encourage learners to take the next-steps slide and actually build something this week — hands-on practice cements all of this far better than more slides.
— ABBREVIATIONS —
• NDCG = Normalized Discounted Cumulative Gain
• A/B test = randomized live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divider. These slides support the deck with each platform's documented recommender history — including the post-GPT (generative/LLM) era — and effectiveness by user class. Every quantitative figure is from a source published after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arc simply: it started as “people who bought this also bought” (1998), Amazon published how it worked (2003), then pages got personalized (2017). The big recent change is Rufus (2024) — a chat assistant powered by large language models — which by 2025 had 300M+ users and drove ~$12B extra sales. The lesson: recommendations went from matching past purchases to understanding what you mean.
— ABBREVIATIONS —
• CF = Collaborative Filtering
• RAG = Retrieval-Augmented Generation
• GenAI = Generative AI
— SOURCES —
• Amazon Science (2024); Amazon Q4 2025 earnings; COSMO, ACM SIGMOD 2024; Linden et al., IEEE (2003).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Taobao first turned browsing into “taste vectors” (2018). Recently (2025) it built LLM-based systems: LUM (a giant user model), URM (one model that fetches items for any goal), and RecGPT (an assistant that reasons about intent). Concrete wins: +2.9% more clicks, and far more discovery of new categories (18.8%→46.2%).
— ABBREVIATIONS —
• EGES = Enhanced Graph Embedding w/ Side info
• DIN = Deep Interest Network
• CTR = Click-Through Rate
• RPM = Revenue Per Mille
• LUM = Large User Model
• URM = Universal Retrieval Model
— SOURCES —
• Yan et al., LUM (2025); Jiang et al., URM (2025, arXiv:2502.03041); Yi et al., RecGPT (2025); Wang et al., EGES (KDD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JD's path: an early AI recommender that also looked at images (2017), smarter meaning-based search (2021), and now generative AI that predicts clicks and fetches products (2025). JD shares fewer public numbers, so we describe the direction rather than exact figures.
— ABBREVIATIONS —
• CTR = Click-Through Rate
• RAG = Retrieval-Augmented Generation
• GRAM = Generative Retrieval and Alignment Model
— SOURCES —
• Kong et al., GenCTR (2025, arXiv:2507.11246); JD GRAM &amp; CFRAG (2025); Zhao et al. (2017); Li et al.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lesson for learners: recommendation quality isn't the same for everyone. New users are the hardest (the “cold-start” problem) — and this is exactly where LLM-based systems help most, because they can read product descriptions and language instead of relying only on past clicks. Loyal users with lots of history were already well served; they get incremental gains. Note the honesty caveat: platforms seldom publish exact per-group numbers, so these are drawn from 2025 studies.
— ABBREVIATIONS —
• CF = Collaborative Filtering
• Recall@k = share of relevant items in top k
• CTR = Click-Through Rate
• RAG = Retrieval-Augmented Generation
• URM = Universal Retrieval Model
• LUM = Large User Model
— SOURCES —
• Jiang et al., URM (2025); Yan et al., LUM (2025); Amazon Q4 2025; Li et al., Nov 2025 (Netflix cold-start); cold-start video study, Aug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Consolidated citations for the appendix. All quantitative effectiveness numbers come from 2024–2026 sources; the only pre-2024 references describe historical milestones.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363E"/>
        </a:solidFill>
      </p:bgPr>
    </p:bg>
    <p:spTree>
      <p:nvGrpSpPr>
        <p:cNvPr id="1" name=""/>
        <p:cNvGrpSpPr/>
        <p:nvPr/>
      </p:nvGrpSpPr>
      <p:grpSpPr>
        <a:xfrm>
          <a:off x="0" y="0"/>
          <a:ext cx="0" cy="0"/>
          <a:chOff x="0" y="0"/>
          <a:chExt cx="0" cy="0"/>
        </a:xfrm>
      </p:grpSpPr>
      <p:sp>
        <p:nvSpPr>
          <p:cNvPr id="2" name="Shape 0"/>
          <p:cNvSpPr/>
          <p:nvPr/>
        </p:nvSpPr>
        <p:spPr>
          <a:xfrm>
            <a:off x="9738360" y="3977640"/>
            <a:ext cx="1828800" cy="-1554480"/>
          </a:xfrm>
          <a:prstGeom prst="line">
            <a:avLst/>
          </a:prstGeom>
          <a:noFill/>
          <a:ln w="15875">
            <a:solidFill>
              <a:srgbClr val="FF6B6B">
                <a:alpha val="55000"/>
              </a:srgbClr>
            </a:solidFill>
            <a:prstDash val="solid"/>
          </a:ln>
        </p:spPr>
      </p:sp>
      <p:sp>
        <p:nvSpPr>
          <p:cNvPr id="3" name="Shape 1"/>
          <p:cNvSpPr/>
          <p:nvPr/>
        </p:nvSpPr>
        <p:spPr>
          <a:xfrm>
            <a:off x="9738360" y="3977640"/>
            <a:ext cx="2331720" cy="-91440"/>
          </a:xfrm>
          <a:prstGeom prst="line">
            <a:avLst/>
          </a:prstGeom>
          <a:noFill/>
          <a:ln w="15875">
            <a:solidFill>
              <a:srgbClr val="FF6B6B">
                <a:alpha val="55000"/>
              </a:srgbClr>
            </a:solidFill>
            <a:prstDash val="solid"/>
          </a:ln>
        </p:spPr>
      </p:sp>
      <p:sp>
        <p:nvSpPr>
          <p:cNvPr id="4" name="Shape 2"/>
          <p:cNvSpPr/>
          <p:nvPr/>
        </p:nvSpPr>
        <p:spPr>
          <a:xfrm>
            <a:off x="9738360" y="3977640"/>
            <a:ext cx="1737360" cy="1371600"/>
          </a:xfrm>
          <a:prstGeom prst="line">
            <a:avLst/>
          </a:prstGeom>
          <a:noFill/>
          <a:ln w="15875">
            <a:solidFill>
              <a:srgbClr val="FF6B6B">
                <a:alpha val="55000"/>
              </a:srgbClr>
            </a:solidFill>
            <a:prstDash val="solid"/>
          </a:ln>
        </p:spPr>
      </p:sp>
      <p:sp>
        <p:nvSpPr>
          <p:cNvPr id="5" name="Shape 3"/>
          <p:cNvSpPr/>
          <p:nvPr/>
        </p:nvSpPr>
        <p:spPr>
          <a:xfrm>
            <a:off x="9738360" y="3977640"/>
            <a:ext cx="-457200" cy="1737360"/>
          </a:xfrm>
          <a:prstGeom prst="line">
            <a:avLst/>
          </a:prstGeom>
          <a:noFill/>
          <a:ln w="15875">
            <a:solidFill>
              <a:srgbClr val="FF6B6B">
                <a:alpha val="55000"/>
              </a:srgbClr>
            </a:solidFill>
            <a:prstDash val="solid"/>
          </a:ln>
        </p:spPr>
      </p:sp>
      <p:sp>
        <p:nvSpPr>
          <p:cNvPr id="6" name="Shape 4"/>
          <p:cNvSpPr/>
          <p:nvPr/>
        </p:nvSpPr>
        <p:spPr>
          <a:xfrm>
            <a:off x="9738360" y="3977640"/>
            <a:ext cx="-1554480" cy="548640"/>
          </a:xfrm>
          <a:prstGeom prst="line">
            <a:avLst/>
          </a:prstGeom>
          <a:noFill/>
          <a:ln w="15875">
            <a:solidFill>
              <a:srgbClr val="FF6B6B">
                <a:alpha val="55000"/>
              </a:srgbClr>
            </a:solidFill>
            <a:prstDash val="solid"/>
          </a:ln>
        </p:spPr>
      </p:sp>
      <p:sp>
        <p:nvSpPr>
          <p:cNvPr id="7" name="Shape 5"/>
          <p:cNvSpPr/>
          <p:nvPr/>
        </p:nvSpPr>
        <p:spPr>
          <a:xfrm>
            <a:off x="9738360" y="3977640"/>
            <a:ext cx="-1280160" cy="-1280160"/>
          </a:xfrm>
          <a:prstGeom prst="line">
            <a:avLst/>
          </a:prstGeom>
          <a:noFill/>
          <a:ln w="15875">
            <a:solidFill>
              <a:srgbClr val="FF6B6B">
                <a:alpha val="55000"/>
              </a:srgbClr>
            </a:solidFill>
            <a:prstDash val="solid"/>
          </a:ln>
        </p:spPr>
      </p:sp>
      <p:sp>
        <p:nvSpPr>
          <p:cNvPr id="8" name="Shape 6"/>
          <p:cNvSpPr/>
          <p:nvPr/>
        </p:nvSpPr>
        <p:spPr>
          <a:xfrm>
            <a:off x="11155680" y="2011680"/>
            <a:ext cx="457200" cy="457200"/>
          </a:xfrm>
          <a:prstGeom prst="ellipse">
            <a:avLst/>
          </a:prstGeom>
          <a:solidFill>
            <a:srgbClr val="E8F6F4">
              <a:alpha val="82000"/>
            </a:srgbClr>
          </a:solidFill>
          <a:ln/>
        </p:spPr>
      </p:sp>
      <p:sp>
        <p:nvSpPr>
          <p:cNvPr id="9" name="Shape 7"/>
          <p:cNvSpPr/>
          <p:nvPr/>
        </p:nvSpPr>
        <p:spPr>
          <a:xfrm>
            <a:off x="11658600" y="3474720"/>
            <a:ext cx="457200" cy="457200"/>
          </a:xfrm>
          <a:prstGeom prst="ellipse">
            <a:avLst/>
          </a:prstGeom>
          <a:solidFill>
            <a:srgbClr val="E8F6F4">
              <a:alpha val="82000"/>
            </a:srgbClr>
          </a:solidFill>
          <a:ln/>
        </p:spPr>
      </p:sp>
      <p:sp>
        <p:nvSpPr>
          <p:cNvPr id="10" name="Shape 8"/>
          <p:cNvSpPr/>
          <p:nvPr/>
        </p:nvSpPr>
        <p:spPr>
          <a:xfrm>
            <a:off x="11064240" y="4937760"/>
            <a:ext cx="457200" cy="457200"/>
          </a:xfrm>
          <a:prstGeom prst="ellipse">
            <a:avLst/>
          </a:prstGeom>
          <a:solidFill>
            <a:srgbClr val="E8F6F4">
              <a:alpha val="82000"/>
            </a:srgbClr>
          </a:solidFill>
          <a:ln/>
        </p:spPr>
      </p:sp>
      <p:sp>
        <p:nvSpPr>
          <p:cNvPr id="11" name="Shape 9"/>
          <p:cNvSpPr/>
          <p:nvPr/>
        </p:nvSpPr>
        <p:spPr>
          <a:xfrm>
            <a:off x="8869680" y="5303520"/>
            <a:ext cx="457200" cy="457200"/>
          </a:xfrm>
          <a:prstGeom prst="ellipse">
            <a:avLst/>
          </a:prstGeom>
          <a:solidFill>
            <a:srgbClr val="E8F6F4">
              <a:alpha val="82000"/>
            </a:srgbClr>
          </a:solidFill>
          <a:ln/>
        </p:spPr>
      </p:sp>
      <p:sp>
        <p:nvSpPr>
          <p:cNvPr id="12" name="Shape 10"/>
          <p:cNvSpPr/>
          <p:nvPr/>
        </p:nvSpPr>
        <p:spPr>
          <a:xfrm>
            <a:off x="7772400" y="4114800"/>
            <a:ext cx="457200" cy="457200"/>
          </a:xfrm>
          <a:prstGeom prst="ellipse">
            <a:avLst/>
          </a:prstGeom>
          <a:solidFill>
            <a:srgbClr val="E8F6F4">
              <a:alpha val="82000"/>
            </a:srgbClr>
          </a:solidFill>
          <a:ln/>
        </p:spPr>
      </p:sp>
      <p:sp>
        <p:nvSpPr>
          <p:cNvPr id="13" name="Shape 11"/>
          <p:cNvSpPr/>
          <p:nvPr/>
        </p:nvSpPr>
        <p:spPr>
          <a:xfrm>
            <a:off x="8046720" y="2286000"/>
            <a:ext cx="457200" cy="457200"/>
          </a:xfrm>
          <a:prstGeom prst="ellipse">
            <a:avLst/>
          </a:prstGeom>
          <a:solidFill>
            <a:srgbClr val="E8F6F4">
              <a:alpha val="82000"/>
            </a:srgbClr>
          </a:solidFill>
          <a:ln/>
        </p:spPr>
      </p:sp>
      <p:sp>
        <p:nvSpPr>
          <p:cNvPr id="14" name="Shape 12"/>
          <p:cNvSpPr/>
          <p:nvPr/>
        </p:nvSpPr>
        <p:spPr>
          <a:xfrm>
            <a:off x="9326880" y="3566160"/>
            <a:ext cx="822960" cy="822960"/>
          </a:xfrm>
          <a:prstGeom prst="ellipse">
            <a:avLst/>
          </a:prstGeom>
          <a:solidFill>
            <a:srgbClr val="FF6B6B"/>
          </a:solidFill>
          <a:ln/>
        </p:spPr>
      </p:sp>
      <p:pic>
        <p:nvPicPr>
          <p:cNvPr id="15" name="Image 0" descr="preencoded.png">    </p:cNvPr>
          <p:cNvPicPr>
            <a:picLocks noChangeAspect="1"/>
          </p:cNvPicPr>
          <p:nvPr/>
        </p:nvPicPr>
        <p:blipFill>
          <a:blip r:embed="rId1"/>
          <a:stretch>
            <a:fillRect/>
          </a:stretch>
        </p:blipFill>
        <p:spPr>
          <a:xfrm>
            <a:off x="9546336" y="3767328"/>
            <a:ext cx="384048" cy="420624"/>
          </a:xfrm>
          <a:prstGeom prst="rect">
            <a:avLst/>
          </a:prstGeom>
        </p:spPr>
      </p:pic>
      <p:sp>
        <p:nvSpPr>
          <p:cNvPr id="16" name="Text 13"/>
          <p:cNvSpPr/>
          <p:nvPr/>
        </p:nvSpPr>
        <p:spPr>
          <a:xfrm>
            <a:off x="777240" y="1188720"/>
            <a:ext cx="7315200" cy="274320"/>
          </a:xfrm>
          <a:prstGeom prst="rect">
            <a:avLst/>
          </a:prstGeom>
          <a:noFill/>
          <a:ln/>
        </p:spPr>
        <p:txBody>
          <a:bodyPr wrap="square" lIns="0" tIns="0" rIns="0" bIns="0" rtlCol="0" anchor="ctr"/>
          <a:lstStyle/>
          <a:p>
            <a:pPr indent="0" marL="0">
              <a:buNone/>
            </a:pPr>
            <a:r>
              <a:rPr lang="en-US" sz="1300" b="1" spc="200" kern="0" dirty="0">
                <a:solidFill>
                  <a:srgbClr val="FF6B6B"/>
                </a:solidFill>
                <a:latin typeface="Calibri" pitchFamily="34" charset="0"/>
                <a:ea typeface="Calibri" pitchFamily="34" charset="-122"/>
                <a:cs typeface="Calibri" pitchFamily="34" charset="-120"/>
              </a:rPr>
              <a:t>E-COMMERCE  ·  A BEGINNER'S GUIDE</a:t>
            </a:r>
            <a:endParaRPr lang="en-US" sz="1300" dirty="0"/>
          </a:p>
        </p:txBody>
      </p:sp>
      <p:sp>
        <p:nvSpPr>
          <p:cNvPr id="17" name="Text 14"/>
          <p:cNvSpPr/>
          <p:nvPr/>
        </p:nvSpPr>
        <p:spPr>
          <a:xfrm>
            <a:off x="749808" y="1627632"/>
            <a:ext cx="7223760" cy="1737360"/>
          </a:xfrm>
          <a:prstGeom prst="rect">
            <a:avLst/>
          </a:prstGeom>
          <a:noFill/>
          <a:ln/>
        </p:spPr>
        <p:txBody>
          <a:bodyPr wrap="square" lIns="0" tIns="0" rIns="0" bIns="0" rtlCol="0" anchor="ctr"/>
          <a:lstStyle/>
          <a:p>
            <a:pPr indent="0" marL="0">
              <a:lnSpc>
                <a:spcPct val="102000"/>
              </a:lnSpc>
              <a:buNone/>
            </a:pPr>
            <a:r>
              <a:rPr lang="en-US" sz="4000" b="1" dirty="0">
                <a:solidFill>
                  <a:srgbClr val="E8F6F4"/>
                </a:solidFill>
                <a:latin typeface="Cambria" pitchFamily="34" charset="0"/>
                <a:ea typeface="Cambria" pitchFamily="34" charset="-122"/>
                <a:cs typeface="Cambria" pitchFamily="34" charset="-120"/>
              </a:rPr>
              <a:t>How Recommendation Systems Work</a:t>
            </a:r>
            <a:endParaRPr lang="en-US" sz="4000" dirty="0"/>
          </a:p>
        </p:txBody>
      </p:sp>
      <p:sp>
        <p:nvSpPr>
          <p:cNvPr id="18" name="Text 15"/>
          <p:cNvSpPr/>
          <p:nvPr/>
        </p:nvSpPr>
        <p:spPr>
          <a:xfrm>
            <a:off x="777240" y="3611880"/>
            <a:ext cx="6949440" cy="457200"/>
          </a:xfrm>
          <a:prstGeom prst="rect">
            <a:avLst/>
          </a:prstGeom>
          <a:noFill/>
          <a:ln/>
        </p:spPr>
        <p:txBody>
          <a:bodyPr wrap="square" lIns="0" tIns="0" rIns="0" bIns="0" rtlCol="0" anchor="ctr"/>
          <a:lstStyle/>
          <a:p>
            <a:pPr indent="0" marL="0">
              <a:buNone/>
            </a:pPr>
            <a:r>
              <a:rPr lang="en-US" sz="1900" i="1" dirty="0">
                <a:solidFill>
                  <a:srgbClr val="FF6B6B"/>
                </a:solidFill>
                <a:latin typeface="Calibri" pitchFamily="34" charset="0"/>
                <a:ea typeface="Calibri" pitchFamily="34" charset="-122"/>
                <a:cs typeface="Calibri" pitchFamily="34" charset="-120"/>
              </a:rPr>
              <a:t>A hands-on, jargon-light introduction</a:t>
            </a:r>
            <a:endParaRPr lang="en-US" sz="1900" dirty="0"/>
          </a:p>
        </p:txBody>
      </p:sp>
      <p:sp>
        <p:nvSpPr>
          <p:cNvPr id="19" name="Text 16"/>
          <p:cNvSpPr/>
          <p:nvPr/>
        </p:nvSpPr>
        <p:spPr>
          <a:xfrm>
            <a:off x="777240" y="4160520"/>
            <a:ext cx="6949440" cy="365760"/>
          </a:xfrm>
          <a:prstGeom prst="rect">
            <a:avLst/>
          </a:prstGeom>
          <a:noFill/>
          <a:ln/>
        </p:spPr>
        <p:txBody>
          <a:bodyPr wrap="square" lIns="0" tIns="0" rIns="0" bIns="0" rtlCol="0" anchor="ctr"/>
          <a:lstStyle/>
          <a:p>
            <a:pPr indent="0" marL="0">
              <a:buNone/>
            </a:pPr>
            <a:r>
              <a:rPr lang="en-US" sz="1500" dirty="0">
                <a:solidFill>
                  <a:srgbClr val="E8F6F4"/>
                </a:solidFill>
                <a:latin typeface="Calibri" pitchFamily="34" charset="0"/>
                <a:ea typeface="Calibri" pitchFamily="34" charset="-122"/>
                <a:cs typeface="Calibri" pitchFamily="34" charset="-120"/>
              </a:rPr>
              <a:t>For aspiring data scientists</a:t>
            </a:r>
            <a:endParaRPr lang="en-US" sz="1500" dirty="0"/>
          </a:p>
        </p:txBody>
      </p:sp>
      <p:sp>
        <p:nvSpPr>
          <p:cNvPr id="20" name="Shape 17"/>
          <p:cNvSpPr/>
          <p:nvPr/>
        </p:nvSpPr>
        <p:spPr>
          <a:xfrm>
            <a:off x="795528" y="5074920"/>
            <a:ext cx="2926080" cy="0"/>
          </a:xfrm>
          <a:prstGeom prst="line">
            <a:avLst/>
          </a:prstGeom>
          <a:noFill/>
          <a:ln w="9525">
            <a:solidFill>
              <a:srgbClr val="E8F6F4">
                <a:alpha val="45000"/>
              </a:srgbClr>
            </a:solidFill>
            <a:prstDash val="solid"/>
          </a:ln>
        </p:spPr>
      </p:sp>
      <p:sp>
        <p:nvSpPr>
          <p:cNvPr id="21" name="Text 18"/>
          <p:cNvSpPr/>
          <p:nvPr/>
        </p:nvSpPr>
        <p:spPr>
          <a:xfrm>
            <a:off x="777240" y="5212080"/>
            <a:ext cx="6949440" cy="320040"/>
          </a:xfrm>
          <a:prstGeom prst="rect">
            <a:avLst/>
          </a:prstGeom>
          <a:noFill/>
          <a:ln/>
        </p:spPr>
        <p:txBody>
          <a:bodyPr wrap="square" lIns="0" tIns="0" rIns="0" bIns="0" rtlCol="0" anchor="ctr"/>
          <a:lstStyle/>
          <a:p>
            <a:pPr indent="0" marL="0">
              <a:buNone/>
            </a:pPr>
            <a:r>
              <a:rPr lang="en-US" sz="1300" dirty="0">
                <a:solidFill>
                  <a:srgbClr val="E8F6F4"/>
                </a:solidFill>
                <a:latin typeface="Calibri" pitchFamily="34" charset="0"/>
                <a:ea typeface="Calibri" pitchFamily="34" charset="-122"/>
                <a:cs typeface="Calibri" pitchFamily="34" charset="-120"/>
              </a:rPr>
              <a:t>Presented by Your Name   ·   June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FF6B6B"/>
                </a:solidFill>
                <a:latin typeface="Calibri" pitchFamily="34" charset="0"/>
                <a:ea typeface="Calibri" pitchFamily="34" charset="-122"/>
                <a:cs typeface="Calibri" pitchFamily="34" charset="-120"/>
              </a:rPr>
              <a:t>WHAT YOU'LL LEARN</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53A40"/>
                </a:solidFill>
                <a:latin typeface="Cambria" pitchFamily="34" charset="0"/>
                <a:ea typeface="Cambria" pitchFamily="34" charset="-122"/>
                <a:cs typeface="Cambria" pitchFamily="34" charset="-120"/>
              </a:rPr>
              <a:t>Five things you'll be able to explain by the end</a:t>
            </a:r>
            <a:endParaRPr lang="en-US" sz="2700" dirty="0"/>
          </a:p>
        </p:txBody>
      </p:sp>
      <p:sp>
        <p:nvSpPr>
          <p:cNvPr id="4" name="Shape 2"/>
          <p:cNvSpPr/>
          <p:nvPr/>
        </p:nvSpPr>
        <p:spPr>
          <a:xfrm>
            <a:off x="640080" y="1691640"/>
            <a:ext cx="10927080" cy="786384"/>
          </a:xfrm>
          <a:prstGeom prst="roundRect">
            <a:avLst>
              <a:gd name="adj" fmla="val 11628"/>
            </a:avLst>
          </a:prstGeom>
          <a:solidFill>
            <a:srgbClr val="EAF7F5"/>
          </a:solidFill>
          <a:ln/>
          <a:effectLst>
            <a:outerShdw sx="100000" sy="100000" kx="0" ky="0" algn="bl" rotWithShape="0" blurRad="127000" dist="50800" dir="5400000">
              <a:srgbClr val="8A93A6">
                <a:alpha val="13000"/>
              </a:srgbClr>
            </a:outerShdw>
          </a:effectLst>
        </p:spPr>
      </p:sp>
      <p:sp>
        <p:nvSpPr>
          <p:cNvPr id="5" name="Shape 3"/>
          <p:cNvSpPr/>
          <p:nvPr/>
        </p:nvSpPr>
        <p:spPr>
          <a:xfrm>
            <a:off x="868680" y="1828800"/>
            <a:ext cx="512064" cy="512064"/>
          </a:xfrm>
          <a:prstGeom prst="ellipse">
            <a:avLst/>
          </a:prstGeom>
          <a:solidFill>
            <a:srgbClr val="028090"/>
          </a:solidFill>
          <a:ln/>
          <a:effectLst>
            <a:outerShdw sx="100000" sy="100000" kx="0" ky="0" algn="bl" rotWithShape="0" blurRad="127000" dist="50800" dir="5400000">
              <a:srgbClr val="8A93A6">
                <a:alpha val="13000"/>
              </a:srgbClr>
            </a:outerShdw>
          </a:effectLst>
        </p:spPr>
      </p:sp>
      <p:pic>
        <p:nvPicPr>
          <p:cNvPr id="6" name="Image 0" descr="preencoded.png">    </p:cNvPr>
          <p:cNvPicPr>
            <a:picLocks noChangeAspect="1"/>
          </p:cNvPicPr>
          <p:nvPr/>
        </p:nvPicPr>
        <p:blipFill>
          <a:blip r:embed="rId1"/>
          <a:stretch>
            <a:fillRect/>
          </a:stretch>
        </p:blipFill>
        <p:spPr>
          <a:xfrm>
            <a:off x="1006937" y="1967057"/>
            <a:ext cx="235549" cy="235549"/>
          </a:xfrm>
          <a:prstGeom prst="rect">
            <a:avLst/>
          </a:prstGeom>
        </p:spPr>
      </p:pic>
      <p:sp>
        <p:nvSpPr>
          <p:cNvPr id="7" name="Text 4"/>
          <p:cNvSpPr/>
          <p:nvPr/>
        </p:nvSpPr>
        <p:spPr>
          <a:xfrm>
            <a:off x="1600200" y="1810512"/>
            <a:ext cx="3657600" cy="548640"/>
          </a:xfrm>
          <a:prstGeom prst="rect">
            <a:avLst/>
          </a:prstGeom>
          <a:noFill/>
          <a:ln/>
        </p:spPr>
        <p:txBody>
          <a:bodyPr wrap="square" lIns="0" tIns="0" rIns="0" bIns="0" rtlCol="0" anchor="ctr"/>
          <a:lstStyle/>
          <a:p>
            <a:pPr indent="0" marL="0">
              <a:buNone/>
            </a:pPr>
            <a:r>
              <a:rPr lang="en-US" sz="1550" b="1" dirty="0">
                <a:solidFill>
                  <a:srgbClr val="153A40"/>
                </a:solidFill>
                <a:latin typeface="Cambria" pitchFamily="34" charset="0"/>
                <a:ea typeface="Cambria" pitchFamily="34" charset="-122"/>
                <a:cs typeface="Cambria" pitchFamily="34" charset="-120"/>
              </a:rPr>
              <a:t>The problem</a:t>
            </a:r>
            <a:endParaRPr lang="en-US" sz="1550" dirty="0"/>
          </a:p>
        </p:txBody>
      </p:sp>
      <p:sp>
        <p:nvSpPr>
          <p:cNvPr id="8" name="Text 5"/>
          <p:cNvSpPr/>
          <p:nvPr/>
        </p:nvSpPr>
        <p:spPr>
          <a:xfrm>
            <a:off x="5394960" y="1810512"/>
            <a:ext cx="5943600" cy="548640"/>
          </a:xfrm>
          <a:prstGeom prst="rect">
            <a:avLst/>
          </a:prstGeom>
          <a:noFill/>
          <a:ln/>
        </p:spPr>
        <p:txBody>
          <a:bodyPr wrap="square" lIns="0" tIns="0" rIns="0" bIns="0" rtlCol="0" anchor="ctr"/>
          <a:lstStyle/>
          <a:p>
            <a:pPr indent="0" marL="0">
              <a:buNone/>
            </a:pPr>
            <a:r>
              <a:rPr lang="en-US" sz="1300" dirty="0">
                <a:solidFill>
                  <a:srgbClr val="5E7A80"/>
                </a:solidFill>
                <a:latin typeface="Calibri" pitchFamily="34" charset="0"/>
                <a:ea typeface="Calibri" pitchFamily="34" charset="-122"/>
                <a:cs typeface="Calibri" pitchFamily="34" charset="-120"/>
              </a:rPr>
              <a:t>Why recommendations exist and what they solve</a:t>
            </a:r>
            <a:endParaRPr lang="en-US" sz="1300" dirty="0"/>
          </a:p>
        </p:txBody>
      </p:sp>
      <p:sp>
        <p:nvSpPr>
          <p:cNvPr id="9" name="Shape 6"/>
          <p:cNvSpPr/>
          <p:nvPr/>
        </p:nvSpPr>
        <p:spPr>
          <a:xfrm>
            <a:off x="640080" y="2569464"/>
            <a:ext cx="10927080" cy="786384"/>
          </a:xfrm>
          <a:prstGeom prst="roundRect">
            <a:avLst>
              <a:gd name="adj" fmla="val 11628"/>
            </a:avLst>
          </a:prstGeom>
          <a:solidFill>
            <a:srgbClr val="FFFFFF"/>
          </a:solidFill>
          <a:ln/>
        </p:spPr>
      </p:sp>
      <p:sp>
        <p:nvSpPr>
          <p:cNvPr id="10" name="Shape 7"/>
          <p:cNvSpPr/>
          <p:nvPr/>
        </p:nvSpPr>
        <p:spPr>
          <a:xfrm>
            <a:off x="640080" y="2569464"/>
            <a:ext cx="10927080" cy="786384"/>
          </a:xfrm>
          <a:prstGeom prst="roundRect">
            <a:avLst>
              <a:gd name="adj" fmla="val 11628"/>
            </a:avLst>
          </a:prstGeom>
          <a:solidFill>
            <a:srgbClr val="FFFFFF">
              <a:alpha val="0"/>
            </a:srgbClr>
          </a:solidFill>
          <a:ln w="12700">
            <a:solidFill>
              <a:srgbClr val="CDE8E3"/>
            </a:solidFill>
            <a:prstDash val="solid"/>
          </a:ln>
        </p:spPr>
      </p:sp>
      <p:sp>
        <p:nvSpPr>
          <p:cNvPr id="11" name="Shape 8"/>
          <p:cNvSpPr/>
          <p:nvPr/>
        </p:nvSpPr>
        <p:spPr>
          <a:xfrm>
            <a:off x="868680" y="2706624"/>
            <a:ext cx="512064" cy="512064"/>
          </a:xfrm>
          <a:prstGeom prst="ellipse">
            <a:avLst/>
          </a:prstGeom>
          <a:solidFill>
            <a:srgbClr val="00A896"/>
          </a:solidFill>
          <a:ln/>
          <a:effectLst>
            <a:outerShdw sx="100000" sy="100000" kx="0" ky="0" algn="bl" rotWithShape="0" blurRad="127000" dist="50800" dir="5400000">
              <a:srgbClr val="8A93A6">
                <a:alpha val="13000"/>
              </a:srgbClr>
            </a:outerShdw>
          </a:effectLst>
        </p:spPr>
      </p:sp>
      <p:pic>
        <p:nvPicPr>
          <p:cNvPr id="12" name="Image 1" descr="preencoded.png">    </p:cNvPr>
          <p:cNvPicPr>
            <a:picLocks noChangeAspect="1"/>
          </p:cNvPicPr>
          <p:nvPr/>
        </p:nvPicPr>
        <p:blipFill>
          <a:blip r:embed="rId2"/>
          <a:stretch>
            <a:fillRect/>
          </a:stretch>
        </p:blipFill>
        <p:spPr>
          <a:xfrm>
            <a:off x="1006937" y="2844881"/>
            <a:ext cx="235549" cy="235549"/>
          </a:xfrm>
          <a:prstGeom prst="rect">
            <a:avLst/>
          </a:prstGeom>
        </p:spPr>
      </p:pic>
      <p:sp>
        <p:nvSpPr>
          <p:cNvPr id="13" name="Text 9"/>
          <p:cNvSpPr/>
          <p:nvPr/>
        </p:nvSpPr>
        <p:spPr>
          <a:xfrm>
            <a:off x="1600200" y="2688336"/>
            <a:ext cx="3657600" cy="548640"/>
          </a:xfrm>
          <a:prstGeom prst="rect">
            <a:avLst/>
          </a:prstGeom>
          <a:noFill/>
          <a:ln/>
        </p:spPr>
        <p:txBody>
          <a:bodyPr wrap="square" lIns="0" tIns="0" rIns="0" bIns="0" rtlCol="0" anchor="ctr"/>
          <a:lstStyle/>
          <a:p>
            <a:pPr indent="0" marL="0">
              <a:buNone/>
            </a:pPr>
            <a:r>
              <a:rPr lang="en-US" sz="1550" b="1" dirty="0">
                <a:solidFill>
                  <a:srgbClr val="153A40"/>
                </a:solidFill>
                <a:latin typeface="Cambria" pitchFamily="34" charset="0"/>
                <a:ea typeface="Cambria" pitchFamily="34" charset="-122"/>
                <a:cs typeface="Cambria" pitchFamily="34" charset="-120"/>
              </a:rPr>
              <a:t>Content-based filtering</a:t>
            </a:r>
            <a:endParaRPr lang="en-US" sz="1550" dirty="0"/>
          </a:p>
        </p:txBody>
      </p:sp>
      <p:sp>
        <p:nvSpPr>
          <p:cNvPr id="14" name="Text 10"/>
          <p:cNvSpPr/>
          <p:nvPr/>
        </p:nvSpPr>
        <p:spPr>
          <a:xfrm>
            <a:off x="5394960" y="2688336"/>
            <a:ext cx="5943600" cy="548640"/>
          </a:xfrm>
          <a:prstGeom prst="rect">
            <a:avLst/>
          </a:prstGeom>
          <a:noFill/>
          <a:ln/>
        </p:spPr>
        <p:txBody>
          <a:bodyPr wrap="square" lIns="0" tIns="0" rIns="0" bIns="0" rtlCol="0" anchor="ctr"/>
          <a:lstStyle/>
          <a:p>
            <a:pPr indent="0" marL="0">
              <a:buNone/>
            </a:pPr>
            <a:r>
              <a:rPr lang="en-US" sz="1300" dirty="0">
                <a:solidFill>
                  <a:srgbClr val="5E7A80"/>
                </a:solidFill>
                <a:latin typeface="Calibri" pitchFamily="34" charset="0"/>
                <a:ea typeface="Calibri" pitchFamily="34" charset="-122"/>
                <a:cs typeface="Calibri" pitchFamily="34" charset="-120"/>
              </a:rPr>
              <a:t>Recommending by item features</a:t>
            </a:r>
            <a:endParaRPr lang="en-US" sz="1300" dirty="0"/>
          </a:p>
        </p:txBody>
      </p:sp>
      <p:sp>
        <p:nvSpPr>
          <p:cNvPr id="15" name="Shape 11"/>
          <p:cNvSpPr/>
          <p:nvPr/>
        </p:nvSpPr>
        <p:spPr>
          <a:xfrm>
            <a:off x="640080" y="3447288"/>
            <a:ext cx="10927080" cy="786384"/>
          </a:xfrm>
          <a:prstGeom prst="roundRect">
            <a:avLst>
              <a:gd name="adj" fmla="val 11628"/>
            </a:avLst>
          </a:prstGeom>
          <a:solidFill>
            <a:srgbClr val="EAF7F5"/>
          </a:solidFill>
          <a:ln/>
          <a:effectLst>
            <a:outerShdw sx="100000" sy="100000" kx="0" ky="0" algn="bl" rotWithShape="0" blurRad="127000" dist="50800" dir="5400000">
              <a:srgbClr val="8A93A6">
                <a:alpha val="13000"/>
              </a:srgbClr>
            </a:outerShdw>
          </a:effectLst>
        </p:spPr>
      </p:sp>
      <p:sp>
        <p:nvSpPr>
          <p:cNvPr id="16" name="Shape 12"/>
          <p:cNvSpPr/>
          <p:nvPr/>
        </p:nvSpPr>
        <p:spPr>
          <a:xfrm>
            <a:off x="868680" y="3584448"/>
            <a:ext cx="512064" cy="512064"/>
          </a:xfrm>
          <a:prstGeom prst="ellipse">
            <a:avLst/>
          </a:prstGeom>
          <a:solidFill>
            <a:srgbClr val="028090"/>
          </a:solidFill>
          <a:ln/>
          <a:effectLst>
            <a:outerShdw sx="100000" sy="100000" kx="0" ky="0" algn="bl" rotWithShape="0" blurRad="127000" dist="50800" dir="5400000">
              <a:srgbClr val="8A93A6">
                <a:alpha val="13000"/>
              </a:srgbClr>
            </a:outerShdw>
          </a:effectLst>
        </p:spPr>
      </p:sp>
      <p:pic>
        <p:nvPicPr>
          <p:cNvPr id="17" name="Image 2" descr="preencoded.png">    </p:cNvPr>
          <p:cNvPicPr>
            <a:picLocks noChangeAspect="1"/>
          </p:cNvPicPr>
          <p:nvPr/>
        </p:nvPicPr>
        <p:blipFill>
          <a:blip r:embed="rId3"/>
          <a:stretch>
            <a:fillRect/>
          </a:stretch>
        </p:blipFill>
        <p:spPr>
          <a:xfrm>
            <a:off x="1006937" y="3722705"/>
            <a:ext cx="235549" cy="235549"/>
          </a:xfrm>
          <a:prstGeom prst="rect">
            <a:avLst/>
          </a:prstGeom>
        </p:spPr>
      </p:pic>
      <p:sp>
        <p:nvSpPr>
          <p:cNvPr id="18" name="Text 13"/>
          <p:cNvSpPr/>
          <p:nvPr/>
        </p:nvSpPr>
        <p:spPr>
          <a:xfrm>
            <a:off x="1600200" y="3566160"/>
            <a:ext cx="3657600" cy="548640"/>
          </a:xfrm>
          <a:prstGeom prst="rect">
            <a:avLst/>
          </a:prstGeom>
          <a:noFill/>
          <a:ln/>
        </p:spPr>
        <p:txBody>
          <a:bodyPr wrap="square" lIns="0" tIns="0" rIns="0" bIns="0" rtlCol="0" anchor="ctr"/>
          <a:lstStyle/>
          <a:p>
            <a:pPr indent="0" marL="0">
              <a:buNone/>
            </a:pPr>
            <a:r>
              <a:rPr lang="en-US" sz="1550" b="1" dirty="0">
                <a:solidFill>
                  <a:srgbClr val="153A40"/>
                </a:solidFill>
                <a:latin typeface="Cambria" pitchFamily="34" charset="0"/>
                <a:ea typeface="Cambria" pitchFamily="34" charset="-122"/>
                <a:cs typeface="Cambria" pitchFamily="34" charset="-120"/>
              </a:rPr>
              <a:t>Collaborative filtering</a:t>
            </a:r>
            <a:endParaRPr lang="en-US" sz="1550" dirty="0"/>
          </a:p>
        </p:txBody>
      </p:sp>
      <p:sp>
        <p:nvSpPr>
          <p:cNvPr id="19" name="Text 14"/>
          <p:cNvSpPr/>
          <p:nvPr/>
        </p:nvSpPr>
        <p:spPr>
          <a:xfrm>
            <a:off x="5394960" y="3566160"/>
            <a:ext cx="5943600" cy="548640"/>
          </a:xfrm>
          <a:prstGeom prst="rect">
            <a:avLst/>
          </a:prstGeom>
          <a:noFill/>
          <a:ln/>
        </p:spPr>
        <p:txBody>
          <a:bodyPr wrap="square" lIns="0" tIns="0" rIns="0" bIns="0" rtlCol="0" anchor="ctr"/>
          <a:lstStyle/>
          <a:p>
            <a:pPr indent="0" marL="0">
              <a:buNone/>
            </a:pPr>
            <a:r>
              <a:rPr lang="en-US" sz="1300" dirty="0">
                <a:solidFill>
                  <a:srgbClr val="5E7A80"/>
                </a:solidFill>
                <a:latin typeface="Calibri" pitchFamily="34" charset="0"/>
                <a:ea typeface="Calibri" pitchFamily="34" charset="-122"/>
                <a:cs typeface="Calibri" pitchFamily="34" charset="-120"/>
              </a:rPr>
              <a:t>Recommending from behavior patterns</a:t>
            </a:r>
            <a:endParaRPr lang="en-US" sz="1300" dirty="0"/>
          </a:p>
        </p:txBody>
      </p:sp>
      <p:sp>
        <p:nvSpPr>
          <p:cNvPr id="20" name="Shape 15"/>
          <p:cNvSpPr/>
          <p:nvPr/>
        </p:nvSpPr>
        <p:spPr>
          <a:xfrm>
            <a:off x="640080" y="4325112"/>
            <a:ext cx="10927080" cy="786384"/>
          </a:xfrm>
          <a:prstGeom prst="roundRect">
            <a:avLst>
              <a:gd name="adj" fmla="val 11628"/>
            </a:avLst>
          </a:prstGeom>
          <a:solidFill>
            <a:srgbClr val="FFFFFF"/>
          </a:solidFill>
          <a:ln/>
        </p:spPr>
      </p:sp>
      <p:sp>
        <p:nvSpPr>
          <p:cNvPr id="21" name="Shape 16"/>
          <p:cNvSpPr/>
          <p:nvPr/>
        </p:nvSpPr>
        <p:spPr>
          <a:xfrm>
            <a:off x="640080" y="4325112"/>
            <a:ext cx="10927080" cy="786384"/>
          </a:xfrm>
          <a:prstGeom prst="roundRect">
            <a:avLst>
              <a:gd name="adj" fmla="val 11628"/>
            </a:avLst>
          </a:prstGeom>
          <a:solidFill>
            <a:srgbClr val="FFFFFF">
              <a:alpha val="0"/>
            </a:srgbClr>
          </a:solidFill>
          <a:ln w="12700">
            <a:solidFill>
              <a:srgbClr val="CDE8E3"/>
            </a:solidFill>
            <a:prstDash val="solid"/>
          </a:ln>
        </p:spPr>
      </p:sp>
      <p:sp>
        <p:nvSpPr>
          <p:cNvPr id="22" name="Shape 17"/>
          <p:cNvSpPr/>
          <p:nvPr/>
        </p:nvSpPr>
        <p:spPr>
          <a:xfrm>
            <a:off x="868680" y="4462272"/>
            <a:ext cx="512064" cy="512064"/>
          </a:xfrm>
          <a:prstGeom prst="ellipse">
            <a:avLst/>
          </a:prstGeom>
          <a:solidFill>
            <a:srgbClr val="00A896"/>
          </a:solidFill>
          <a:ln/>
          <a:effectLst>
            <a:outerShdw sx="100000" sy="100000" kx="0" ky="0" algn="bl" rotWithShape="0" blurRad="127000" dist="50800" dir="5400000">
              <a:srgbClr val="8A93A6">
                <a:alpha val="13000"/>
              </a:srgbClr>
            </a:outerShdw>
          </a:effectLst>
        </p:spPr>
      </p:sp>
      <p:pic>
        <p:nvPicPr>
          <p:cNvPr id="23" name="Image 3" descr="preencoded.png">    </p:cNvPr>
          <p:cNvPicPr>
            <a:picLocks noChangeAspect="1"/>
          </p:cNvPicPr>
          <p:nvPr/>
        </p:nvPicPr>
        <p:blipFill>
          <a:blip r:embed="rId4"/>
          <a:stretch>
            <a:fillRect/>
          </a:stretch>
        </p:blipFill>
        <p:spPr>
          <a:xfrm>
            <a:off x="1006937" y="4600529"/>
            <a:ext cx="235549" cy="235549"/>
          </a:xfrm>
          <a:prstGeom prst="rect">
            <a:avLst/>
          </a:prstGeom>
        </p:spPr>
      </p:pic>
      <p:sp>
        <p:nvSpPr>
          <p:cNvPr id="24" name="Text 18"/>
          <p:cNvSpPr/>
          <p:nvPr/>
        </p:nvSpPr>
        <p:spPr>
          <a:xfrm>
            <a:off x="1600200" y="4443984"/>
            <a:ext cx="3657600" cy="548640"/>
          </a:xfrm>
          <a:prstGeom prst="rect">
            <a:avLst/>
          </a:prstGeom>
          <a:noFill/>
          <a:ln/>
        </p:spPr>
        <p:txBody>
          <a:bodyPr wrap="square" lIns="0" tIns="0" rIns="0" bIns="0" rtlCol="0" anchor="ctr"/>
          <a:lstStyle/>
          <a:p>
            <a:pPr indent="0" marL="0">
              <a:buNone/>
            </a:pPr>
            <a:r>
              <a:rPr lang="en-US" sz="1550" b="1" dirty="0">
                <a:solidFill>
                  <a:srgbClr val="153A40"/>
                </a:solidFill>
                <a:latin typeface="Cambria" pitchFamily="34" charset="0"/>
                <a:ea typeface="Cambria" pitchFamily="34" charset="-122"/>
                <a:cs typeface="Cambria" pitchFamily="34" charset="-120"/>
              </a:rPr>
              <a:t>Evaluation</a:t>
            </a:r>
            <a:endParaRPr lang="en-US" sz="1550" dirty="0"/>
          </a:p>
        </p:txBody>
      </p:sp>
      <p:sp>
        <p:nvSpPr>
          <p:cNvPr id="25" name="Text 19"/>
          <p:cNvSpPr/>
          <p:nvPr/>
        </p:nvSpPr>
        <p:spPr>
          <a:xfrm>
            <a:off x="5394960" y="4443984"/>
            <a:ext cx="5943600" cy="548640"/>
          </a:xfrm>
          <a:prstGeom prst="rect">
            <a:avLst/>
          </a:prstGeom>
          <a:noFill/>
          <a:ln/>
        </p:spPr>
        <p:txBody>
          <a:bodyPr wrap="square" lIns="0" tIns="0" rIns="0" bIns="0" rtlCol="0" anchor="ctr"/>
          <a:lstStyle/>
          <a:p>
            <a:pPr indent="0" marL="0">
              <a:buNone/>
            </a:pPr>
            <a:r>
              <a:rPr lang="en-US" sz="1300" dirty="0">
                <a:solidFill>
                  <a:srgbClr val="5E7A80"/>
                </a:solidFill>
                <a:latin typeface="Calibri" pitchFamily="34" charset="0"/>
                <a:ea typeface="Calibri" pitchFamily="34" charset="-122"/>
                <a:cs typeface="Calibri" pitchFamily="34" charset="-120"/>
              </a:rPr>
              <a:t>How we measure if recommendations are good</a:t>
            </a:r>
            <a:endParaRPr lang="en-US" sz="1300" dirty="0"/>
          </a:p>
        </p:txBody>
      </p:sp>
      <p:sp>
        <p:nvSpPr>
          <p:cNvPr id="26" name="Shape 20"/>
          <p:cNvSpPr/>
          <p:nvPr/>
        </p:nvSpPr>
        <p:spPr>
          <a:xfrm>
            <a:off x="640080" y="5202936"/>
            <a:ext cx="10927080" cy="786384"/>
          </a:xfrm>
          <a:prstGeom prst="roundRect">
            <a:avLst>
              <a:gd name="adj" fmla="val 11628"/>
            </a:avLst>
          </a:prstGeom>
          <a:solidFill>
            <a:srgbClr val="EAF7F5"/>
          </a:solidFill>
          <a:ln/>
          <a:effectLst>
            <a:outerShdw sx="100000" sy="100000" kx="0" ky="0" algn="bl" rotWithShape="0" blurRad="127000" dist="50800" dir="5400000">
              <a:srgbClr val="8A93A6">
                <a:alpha val="13000"/>
              </a:srgbClr>
            </a:outerShdw>
          </a:effectLst>
        </p:spPr>
      </p:sp>
      <p:sp>
        <p:nvSpPr>
          <p:cNvPr id="27" name="Shape 21"/>
          <p:cNvSpPr/>
          <p:nvPr/>
        </p:nvSpPr>
        <p:spPr>
          <a:xfrm>
            <a:off x="868680" y="5340096"/>
            <a:ext cx="512064" cy="512064"/>
          </a:xfrm>
          <a:prstGeom prst="ellipse">
            <a:avLst/>
          </a:prstGeom>
          <a:solidFill>
            <a:srgbClr val="028090"/>
          </a:solidFill>
          <a:ln/>
          <a:effectLst>
            <a:outerShdw sx="100000" sy="100000" kx="0" ky="0" algn="bl" rotWithShape="0" blurRad="127000" dist="50800" dir="5400000">
              <a:srgbClr val="8A93A6">
                <a:alpha val="13000"/>
              </a:srgbClr>
            </a:outerShdw>
          </a:effectLst>
        </p:spPr>
      </p:sp>
      <p:pic>
        <p:nvPicPr>
          <p:cNvPr id="28" name="Image 4" descr="preencoded.png">    </p:cNvPr>
          <p:cNvPicPr>
            <a:picLocks noChangeAspect="1"/>
          </p:cNvPicPr>
          <p:nvPr/>
        </p:nvPicPr>
        <p:blipFill>
          <a:blip r:embed="rId5"/>
          <a:stretch>
            <a:fillRect/>
          </a:stretch>
        </p:blipFill>
        <p:spPr>
          <a:xfrm>
            <a:off x="1006937" y="5478353"/>
            <a:ext cx="235549" cy="235549"/>
          </a:xfrm>
          <a:prstGeom prst="rect">
            <a:avLst/>
          </a:prstGeom>
        </p:spPr>
      </p:pic>
      <p:sp>
        <p:nvSpPr>
          <p:cNvPr id="29" name="Text 22"/>
          <p:cNvSpPr/>
          <p:nvPr/>
        </p:nvSpPr>
        <p:spPr>
          <a:xfrm>
            <a:off x="1600200" y="5321808"/>
            <a:ext cx="3657600" cy="548640"/>
          </a:xfrm>
          <a:prstGeom prst="rect">
            <a:avLst/>
          </a:prstGeom>
          <a:noFill/>
          <a:ln/>
        </p:spPr>
        <p:txBody>
          <a:bodyPr wrap="square" lIns="0" tIns="0" rIns="0" bIns="0" rtlCol="0" anchor="ctr"/>
          <a:lstStyle/>
          <a:p>
            <a:pPr indent="0" marL="0">
              <a:buNone/>
            </a:pPr>
            <a:r>
              <a:rPr lang="en-US" sz="1550" b="1" dirty="0">
                <a:solidFill>
                  <a:srgbClr val="153A40"/>
                </a:solidFill>
                <a:latin typeface="Cambria" pitchFamily="34" charset="0"/>
                <a:ea typeface="Cambria" pitchFamily="34" charset="-122"/>
                <a:cs typeface="Cambria" pitchFamily="34" charset="-120"/>
              </a:rPr>
              <a:t>Getting started</a:t>
            </a:r>
            <a:endParaRPr lang="en-US" sz="1550" dirty="0"/>
          </a:p>
        </p:txBody>
      </p:sp>
      <p:sp>
        <p:nvSpPr>
          <p:cNvPr id="30" name="Text 23"/>
          <p:cNvSpPr/>
          <p:nvPr/>
        </p:nvSpPr>
        <p:spPr>
          <a:xfrm>
            <a:off x="5394960" y="5321808"/>
            <a:ext cx="5943600" cy="548640"/>
          </a:xfrm>
          <a:prstGeom prst="rect">
            <a:avLst/>
          </a:prstGeom>
          <a:noFill/>
          <a:ln/>
        </p:spPr>
        <p:txBody>
          <a:bodyPr wrap="square" lIns="0" tIns="0" rIns="0" bIns="0" rtlCol="0" anchor="ctr"/>
          <a:lstStyle/>
          <a:p>
            <a:pPr indent="0" marL="0">
              <a:buNone/>
            </a:pPr>
            <a:r>
              <a:rPr lang="en-US" sz="1300" dirty="0">
                <a:solidFill>
                  <a:srgbClr val="5E7A80"/>
                </a:solidFill>
                <a:latin typeface="Calibri" pitchFamily="34" charset="0"/>
                <a:ea typeface="Calibri" pitchFamily="34" charset="-122"/>
                <a:cs typeface="Calibri" pitchFamily="34" charset="-120"/>
              </a:rPr>
              <a:t>Tools and datasets to build your first model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FF6B6B"/>
                </a:solidFill>
                <a:latin typeface="Calibri" pitchFamily="34" charset="0"/>
                <a:ea typeface="Calibri" pitchFamily="34" charset="-122"/>
                <a:cs typeface="Calibri" pitchFamily="34" charset="-120"/>
              </a:rPr>
              <a:t>THE PROBLEM, INTUITIVELY</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53A40"/>
                </a:solidFill>
                <a:latin typeface="Cambria" pitchFamily="34" charset="0"/>
                <a:ea typeface="Cambria" pitchFamily="34" charset="-122"/>
                <a:cs typeface="Cambria" pitchFamily="34" charset="-120"/>
              </a:rPr>
              <a:t>Imagine a store with a billion shelves</a:t>
            </a:r>
            <a:endParaRPr lang="en-US" sz="2700" dirty="0"/>
          </a:p>
        </p:txBody>
      </p:sp>
      <p:sp>
        <p:nvSpPr>
          <p:cNvPr id="4" name="Shape 2"/>
          <p:cNvSpPr/>
          <p:nvPr/>
        </p:nvSpPr>
        <p:spPr>
          <a:xfrm>
            <a:off x="685800" y="1783080"/>
            <a:ext cx="566928" cy="566928"/>
          </a:xfrm>
          <a:prstGeom prst="ellipse">
            <a:avLst/>
          </a:prstGeom>
          <a:solidFill>
            <a:srgbClr val="028090"/>
          </a:solidFill>
          <a:ln/>
          <a:effectLst>
            <a:outerShdw sx="100000" sy="100000" kx="0" ky="0" algn="bl" rotWithShape="0" blurRad="127000" dist="50800" dir="5400000">
              <a:srgbClr val="8A93A6">
                <a:alpha val="13000"/>
              </a:srgbClr>
            </a:outerShdw>
          </a:effectLst>
        </p:spPr>
      </p:sp>
      <p:pic>
        <p:nvPicPr>
          <p:cNvPr id="5" name="Image 0" descr="preencoded.png">    </p:cNvPr>
          <p:cNvPicPr>
            <a:picLocks noChangeAspect="1"/>
          </p:cNvPicPr>
          <p:nvPr/>
        </p:nvPicPr>
        <p:blipFill>
          <a:blip r:embed="rId1"/>
          <a:stretch>
            <a:fillRect/>
          </a:stretch>
        </p:blipFill>
        <p:spPr>
          <a:xfrm>
            <a:off x="838871" y="1936151"/>
            <a:ext cx="260787" cy="260787"/>
          </a:xfrm>
          <a:prstGeom prst="rect">
            <a:avLst/>
          </a:prstGeom>
        </p:spPr>
      </p:pic>
      <p:sp>
        <p:nvSpPr>
          <p:cNvPr id="6" name="Text 3"/>
          <p:cNvSpPr/>
          <p:nvPr/>
        </p:nvSpPr>
        <p:spPr>
          <a:xfrm>
            <a:off x="1417320" y="1746504"/>
            <a:ext cx="5394960" cy="365760"/>
          </a:xfrm>
          <a:prstGeom prst="rect">
            <a:avLst/>
          </a:prstGeom>
          <a:noFill/>
          <a:ln/>
        </p:spPr>
        <p:txBody>
          <a:bodyPr wrap="square" lIns="0" tIns="0" rIns="0" bIns="0" rtlCol="0" anchor="ctr"/>
          <a:lstStyle/>
          <a:p>
            <a:pPr indent="0" marL="0">
              <a:buNone/>
            </a:pPr>
            <a:r>
              <a:rPr lang="en-US" sz="1650" b="1" dirty="0">
                <a:solidFill>
                  <a:srgbClr val="153A40"/>
                </a:solidFill>
                <a:latin typeface="Cambria" pitchFamily="34" charset="0"/>
                <a:ea typeface="Cambria" pitchFamily="34" charset="-122"/>
                <a:cs typeface="Cambria" pitchFamily="34" charset="-120"/>
              </a:rPr>
              <a:t>You can't browse it all</a:t>
            </a:r>
            <a:endParaRPr lang="en-US" sz="1650" dirty="0"/>
          </a:p>
        </p:txBody>
      </p:sp>
      <p:sp>
        <p:nvSpPr>
          <p:cNvPr id="7" name="Text 4"/>
          <p:cNvSpPr/>
          <p:nvPr/>
        </p:nvSpPr>
        <p:spPr>
          <a:xfrm>
            <a:off x="1417320" y="2112264"/>
            <a:ext cx="5486400" cy="777240"/>
          </a:xfrm>
          <a:prstGeom prst="rect">
            <a:avLst/>
          </a:prstGeom>
          <a:noFill/>
          <a:ln/>
        </p:spPr>
        <p:txBody>
          <a:bodyPr wrap="square" lIns="0" tIns="0" rIns="0" bIns="0" rtlCol="0" anchor="ctr"/>
          <a:lstStyle/>
          <a:p>
            <a:pPr indent="0" marL="0">
              <a:buNone/>
            </a:pPr>
            <a:r>
              <a:rPr lang="en-US" sz="1350" dirty="0">
                <a:solidFill>
                  <a:srgbClr val="5E7A80"/>
                </a:solidFill>
                <a:latin typeface="Calibri" pitchFamily="34" charset="0"/>
                <a:ea typeface="Calibri" pitchFamily="34" charset="-122"/>
                <a:cs typeface="Calibri" pitchFamily="34" charset="-120"/>
              </a:rPr>
              <a:t>Nobody can scroll a billion products. Most never get seen.</a:t>
            </a:r>
            <a:endParaRPr lang="en-US" sz="1350" dirty="0"/>
          </a:p>
        </p:txBody>
      </p:sp>
      <p:sp>
        <p:nvSpPr>
          <p:cNvPr id="8" name="Shape 5"/>
          <p:cNvSpPr/>
          <p:nvPr/>
        </p:nvSpPr>
        <p:spPr>
          <a:xfrm>
            <a:off x="685800" y="3246120"/>
            <a:ext cx="566928" cy="566928"/>
          </a:xfrm>
          <a:prstGeom prst="ellipse">
            <a:avLst/>
          </a:prstGeom>
          <a:solidFill>
            <a:srgbClr val="028090"/>
          </a:solidFill>
          <a:ln/>
          <a:effectLst>
            <a:outerShdw sx="100000" sy="100000" kx="0" ky="0" algn="bl" rotWithShape="0" blurRad="127000" dist="50800" dir="5400000">
              <a:srgbClr val="8A93A6">
                <a:alpha val="13000"/>
              </a:srgbClr>
            </a:outerShdw>
          </a:effectLst>
        </p:spPr>
      </p:sp>
      <p:pic>
        <p:nvPicPr>
          <p:cNvPr id="9" name="Image 1" descr="preencoded.png">    </p:cNvPr>
          <p:cNvPicPr>
            <a:picLocks noChangeAspect="1"/>
          </p:cNvPicPr>
          <p:nvPr/>
        </p:nvPicPr>
        <p:blipFill>
          <a:blip r:embed="rId2"/>
          <a:stretch>
            <a:fillRect/>
          </a:stretch>
        </p:blipFill>
        <p:spPr>
          <a:xfrm>
            <a:off x="838871" y="3399191"/>
            <a:ext cx="260787" cy="260787"/>
          </a:xfrm>
          <a:prstGeom prst="rect">
            <a:avLst/>
          </a:prstGeom>
        </p:spPr>
      </p:pic>
      <p:sp>
        <p:nvSpPr>
          <p:cNvPr id="10" name="Text 6"/>
          <p:cNvSpPr/>
          <p:nvPr/>
        </p:nvSpPr>
        <p:spPr>
          <a:xfrm>
            <a:off x="1417320" y="3209544"/>
            <a:ext cx="5394960" cy="365760"/>
          </a:xfrm>
          <a:prstGeom prst="rect">
            <a:avLst/>
          </a:prstGeom>
          <a:noFill/>
          <a:ln/>
        </p:spPr>
        <p:txBody>
          <a:bodyPr wrap="square" lIns="0" tIns="0" rIns="0" bIns="0" rtlCol="0" anchor="ctr"/>
          <a:lstStyle/>
          <a:p>
            <a:pPr indent="0" marL="0">
              <a:buNone/>
            </a:pPr>
            <a:r>
              <a:rPr lang="en-US" sz="1650" b="1" dirty="0">
                <a:solidFill>
                  <a:srgbClr val="153A40"/>
                </a:solidFill>
                <a:latin typeface="Cambria" pitchFamily="34" charset="0"/>
                <a:ea typeface="Cambria" pitchFamily="34" charset="-122"/>
                <a:cs typeface="Cambria" pitchFamily="34" charset="-120"/>
              </a:rPr>
              <a:t>Too many choices freeze us</a:t>
            </a:r>
            <a:endParaRPr lang="en-US" sz="1650" dirty="0"/>
          </a:p>
        </p:txBody>
      </p:sp>
      <p:sp>
        <p:nvSpPr>
          <p:cNvPr id="11" name="Text 7"/>
          <p:cNvSpPr/>
          <p:nvPr/>
        </p:nvSpPr>
        <p:spPr>
          <a:xfrm>
            <a:off x="1417320" y="3575304"/>
            <a:ext cx="5486400" cy="777240"/>
          </a:xfrm>
          <a:prstGeom prst="rect">
            <a:avLst/>
          </a:prstGeom>
          <a:noFill/>
          <a:ln/>
        </p:spPr>
        <p:txBody>
          <a:bodyPr wrap="square" lIns="0" tIns="0" rIns="0" bIns="0" rtlCol="0" anchor="ctr"/>
          <a:lstStyle/>
          <a:p>
            <a:pPr indent="0" marL="0">
              <a:buNone/>
            </a:pPr>
            <a:r>
              <a:rPr lang="en-US" sz="1350" dirty="0">
                <a:solidFill>
                  <a:srgbClr val="5E7A80"/>
                </a:solidFill>
                <a:latin typeface="Calibri" pitchFamily="34" charset="0"/>
                <a:ea typeface="Calibri" pitchFamily="34" charset="-122"/>
                <a:cs typeface="Calibri" pitchFamily="34" charset="-120"/>
              </a:rPr>
              <a:t>Faced with endless options, people often buy nothing.</a:t>
            </a:r>
            <a:endParaRPr lang="en-US" sz="1350" dirty="0"/>
          </a:p>
        </p:txBody>
      </p:sp>
      <p:sp>
        <p:nvSpPr>
          <p:cNvPr id="12" name="Shape 8"/>
          <p:cNvSpPr/>
          <p:nvPr/>
        </p:nvSpPr>
        <p:spPr>
          <a:xfrm>
            <a:off x="685800" y="4709160"/>
            <a:ext cx="566928" cy="566928"/>
          </a:xfrm>
          <a:prstGeom prst="ellipse">
            <a:avLst/>
          </a:prstGeom>
          <a:solidFill>
            <a:srgbClr val="FF6B6B"/>
          </a:solidFill>
          <a:ln/>
          <a:effectLst>
            <a:outerShdw sx="100000" sy="100000" kx="0" ky="0" algn="bl" rotWithShape="0" blurRad="127000" dist="50800" dir="5400000">
              <a:srgbClr val="8A93A6">
                <a:alpha val="13000"/>
              </a:srgbClr>
            </a:outerShdw>
          </a:effectLst>
        </p:spPr>
      </p:sp>
      <p:pic>
        <p:nvPicPr>
          <p:cNvPr id="13" name="Image 2" descr="preencoded.png">    </p:cNvPr>
          <p:cNvPicPr>
            <a:picLocks noChangeAspect="1"/>
          </p:cNvPicPr>
          <p:nvPr/>
        </p:nvPicPr>
        <p:blipFill>
          <a:blip r:embed="rId3"/>
          <a:stretch>
            <a:fillRect/>
          </a:stretch>
        </p:blipFill>
        <p:spPr>
          <a:xfrm>
            <a:off x="838871" y="4862231"/>
            <a:ext cx="260787" cy="260787"/>
          </a:xfrm>
          <a:prstGeom prst="rect">
            <a:avLst/>
          </a:prstGeom>
        </p:spPr>
      </p:pic>
      <p:sp>
        <p:nvSpPr>
          <p:cNvPr id="14" name="Text 9"/>
          <p:cNvSpPr/>
          <p:nvPr/>
        </p:nvSpPr>
        <p:spPr>
          <a:xfrm>
            <a:off x="1417320" y="4672584"/>
            <a:ext cx="5394960" cy="365760"/>
          </a:xfrm>
          <a:prstGeom prst="rect">
            <a:avLst/>
          </a:prstGeom>
          <a:noFill/>
          <a:ln/>
        </p:spPr>
        <p:txBody>
          <a:bodyPr wrap="square" lIns="0" tIns="0" rIns="0" bIns="0" rtlCol="0" anchor="ctr"/>
          <a:lstStyle/>
          <a:p>
            <a:pPr indent="0" marL="0">
              <a:buNone/>
            </a:pPr>
            <a:r>
              <a:rPr lang="en-US" sz="1650" b="1" dirty="0">
                <a:solidFill>
                  <a:srgbClr val="153A40"/>
                </a:solidFill>
                <a:latin typeface="Cambria" pitchFamily="34" charset="0"/>
                <a:ea typeface="Cambria" pitchFamily="34" charset="-122"/>
                <a:cs typeface="Cambria" pitchFamily="34" charset="-120"/>
              </a:rPr>
              <a:t>A good guide helps</a:t>
            </a:r>
            <a:endParaRPr lang="en-US" sz="1650" dirty="0"/>
          </a:p>
        </p:txBody>
      </p:sp>
      <p:sp>
        <p:nvSpPr>
          <p:cNvPr id="15" name="Text 10"/>
          <p:cNvSpPr/>
          <p:nvPr/>
        </p:nvSpPr>
        <p:spPr>
          <a:xfrm>
            <a:off x="1417320" y="5038344"/>
            <a:ext cx="5486400" cy="777240"/>
          </a:xfrm>
          <a:prstGeom prst="rect">
            <a:avLst/>
          </a:prstGeom>
          <a:noFill/>
          <a:ln/>
        </p:spPr>
        <p:txBody>
          <a:bodyPr wrap="square" lIns="0" tIns="0" rIns="0" bIns="0" rtlCol="0" anchor="ctr"/>
          <a:lstStyle/>
          <a:p>
            <a:pPr indent="0" marL="0">
              <a:buNone/>
            </a:pPr>
            <a:r>
              <a:rPr lang="en-US" sz="1350" dirty="0">
                <a:solidFill>
                  <a:srgbClr val="5E7A80"/>
                </a:solidFill>
                <a:latin typeface="Calibri" pitchFamily="34" charset="0"/>
                <a:ea typeface="Calibri" pitchFamily="34" charset="-122"/>
                <a:cs typeface="Calibri" pitchFamily="34" charset="-120"/>
              </a:rPr>
              <a:t>A recommender is like a clerk who remembers everyone's taste.</a:t>
            </a:r>
            <a:endParaRPr lang="en-US" sz="1350" dirty="0"/>
          </a:p>
        </p:txBody>
      </p:sp>
      <p:sp>
        <p:nvSpPr>
          <p:cNvPr id="16" name="Shape 11"/>
          <p:cNvSpPr/>
          <p:nvPr/>
        </p:nvSpPr>
        <p:spPr>
          <a:xfrm>
            <a:off x="7406640" y="1783080"/>
            <a:ext cx="4114800" cy="4160520"/>
          </a:xfrm>
          <a:prstGeom prst="roundRect">
            <a:avLst>
              <a:gd name="adj" fmla="val 3111"/>
            </a:avLst>
          </a:prstGeom>
          <a:solidFill>
            <a:srgbClr val="EAF7F5"/>
          </a:solidFill>
          <a:ln/>
          <a:effectLst>
            <a:outerShdw sx="100000" sy="100000" kx="0" ky="0" algn="bl" rotWithShape="0" blurRad="127000" dist="50800" dir="5400000">
              <a:srgbClr val="8A93A6">
                <a:alpha val="13000"/>
              </a:srgbClr>
            </a:outerShdw>
          </a:effectLst>
        </p:spPr>
      </p:sp>
      <p:sp>
        <p:nvSpPr>
          <p:cNvPr id="17" name="Text 12"/>
          <p:cNvSpPr/>
          <p:nvPr/>
        </p:nvSpPr>
        <p:spPr>
          <a:xfrm>
            <a:off x="7726680" y="2011680"/>
            <a:ext cx="3474720" cy="365760"/>
          </a:xfrm>
          <a:prstGeom prst="rect">
            <a:avLst/>
          </a:prstGeom>
          <a:noFill/>
          <a:ln/>
        </p:spPr>
        <p:txBody>
          <a:bodyPr wrap="square" lIns="0" tIns="0" rIns="0" bIns="0" rtlCol="0" anchor="ctr"/>
          <a:lstStyle/>
          <a:p>
            <a:pPr indent="0" marL="0">
              <a:buNone/>
            </a:pPr>
            <a:r>
              <a:rPr lang="en-US" sz="1400" b="1" dirty="0">
                <a:solidFill>
                  <a:srgbClr val="153A40"/>
                </a:solidFill>
                <a:latin typeface="Cambria" pitchFamily="34" charset="0"/>
                <a:ea typeface="Cambria" pitchFamily="34" charset="-122"/>
                <a:cs typeface="Cambria" pitchFamily="34" charset="-120"/>
              </a:rPr>
              <a:t>Why it pays off</a:t>
            </a:r>
            <a:endParaRPr lang="en-US" sz="1400" dirty="0"/>
          </a:p>
        </p:txBody>
      </p:sp>
      <p:sp>
        <p:nvSpPr>
          <p:cNvPr id="18" name="Text 13"/>
          <p:cNvSpPr/>
          <p:nvPr/>
        </p:nvSpPr>
        <p:spPr>
          <a:xfrm>
            <a:off x="7589520" y="2560320"/>
            <a:ext cx="3749040" cy="731520"/>
          </a:xfrm>
          <a:prstGeom prst="rect">
            <a:avLst/>
          </a:prstGeom>
          <a:noFill/>
          <a:ln/>
        </p:spPr>
        <p:txBody>
          <a:bodyPr wrap="square" lIns="0" tIns="0" rIns="0" bIns="0" rtlCol="0" anchor="ctr"/>
          <a:lstStyle/>
          <a:p>
            <a:pPr algn="ctr" indent="0" marL="0">
              <a:buNone/>
            </a:pPr>
            <a:r>
              <a:rPr lang="en-US" sz="4000" b="1" dirty="0">
                <a:solidFill>
                  <a:srgbClr val="028090"/>
                </a:solidFill>
                <a:latin typeface="Cambria" pitchFamily="34" charset="0"/>
                <a:ea typeface="Cambria" pitchFamily="34" charset="-122"/>
                <a:cs typeface="Cambria" pitchFamily="34" charset="-120"/>
              </a:rPr>
              <a:t>17%</a:t>
            </a:r>
            <a:endParaRPr lang="en-US" sz="4000" dirty="0"/>
          </a:p>
        </p:txBody>
      </p:sp>
      <p:sp>
        <p:nvSpPr>
          <p:cNvPr id="19" name="Text 14"/>
          <p:cNvSpPr/>
          <p:nvPr/>
        </p:nvSpPr>
        <p:spPr>
          <a:xfrm>
            <a:off x="7589520" y="3310128"/>
            <a:ext cx="3749040" cy="548640"/>
          </a:xfrm>
          <a:prstGeom prst="rect">
            <a:avLst/>
          </a:prstGeom>
          <a:noFill/>
          <a:ln/>
        </p:spPr>
        <p:txBody>
          <a:bodyPr wrap="square" lIns="0" tIns="0" rIns="0" bIns="0" rtlCol="0" anchor="ctr"/>
          <a:lstStyle/>
          <a:p>
            <a:pPr algn="ctr" indent="0" marL="0">
              <a:buNone/>
            </a:pPr>
            <a:r>
              <a:rPr lang="en-US" sz="1150" dirty="0">
                <a:solidFill>
                  <a:srgbClr val="5E7A80"/>
                </a:solidFill>
                <a:latin typeface="Calibri" pitchFamily="34" charset="0"/>
                <a:ea typeface="Calibri" pitchFamily="34" charset="-122"/>
                <a:cs typeface="Calibri" pitchFamily="34" charset="-120"/>
              </a:rPr>
              <a:t>of global online orders driven by AI recommendations &amp; personalization</a:t>
            </a:r>
            <a:endParaRPr lang="en-US" sz="1150" dirty="0"/>
          </a:p>
        </p:txBody>
      </p:sp>
      <p:sp>
        <p:nvSpPr>
          <p:cNvPr id="20" name="Shape 15"/>
          <p:cNvSpPr/>
          <p:nvPr/>
        </p:nvSpPr>
        <p:spPr>
          <a:xfrm>
            <a:off x="7863840" y="3931920"/>
            <a:ext cx="3200400" cy="0"/>
          </a:xfrm>
          <a:prstGeom prst="line">
            <a:avLst/>
          </a:prstGeom>
          <a:noFill/>
          <a:ln w="12700">
            <a:solidFill>
              <a:srgbClr val="CDE8E3"/>
            </a:solidFill>
            <a:prstDash val="solid"/>
          </a:ln>
        </p:spPr>
      </p:sp>
      <p:sp>
        <p:nvSpPr>
          <p:cNvPr id="21" name="Text 16"/>
          <p:cNvSpPr/>
          <p:nvPr/>
        </p:nvSpPr>
        <p:spPr>
          <a:xfrm>
            <a:off x="7589520" y="4114800"/>
            <a:ext cx="3749040" cy="731520"/>
          </a:xfrm>
          <a:prstGeom prst="rect">
            <a:avLst/>
          </a:prstGeom>
          <a:noFill/>
          <a:ln/>
        </p:spPr>
        <p:txBody>
          <a:bodyPr wrap="square" lIns="0" tIns="0" rIns="0" bIns="0" rtlCol="0" anchor="ctr"/>
          <a:lstStyle/>
          <a:p>
            <a:pPr algn="ctr" indent="0" marL="0">
              <a:buNone/>
            </a:pPr>
            <a:r>
              <a:rPr lang="en-US" sz="4000" b="1" dirty="0">
                <a:solidFill>
                  <a:srgbClr val="00A896"/>
                </a:solidFill>
                <a:latin typeface="Cambria" pitchFamily="34" charset="0"/>
                <a:ea typeface="Cambria" pitchFamily="34" charset="-122"/>
                <a:cs typeface="Cambria" pitchFamily="34" charset="-120"/>
              </a:rPr>
              <a:t>+7%</a:t>
            </a:r>
            <a:endParaRPr lang="en-US" sz="4000" dirty="0"/>
          </a:p>
        </p:txBody>
      </p:sp>
      <p:sp>
        <p:nvSpPr>
          <p:cNvPr id="22" name="Text 17"/>
          <p:cNvSpPr/>
          <p:nvPr/>
        </p:nvSpPr>
        <p:spPr>
          <a:xfrm>
            <a:off x="7589520" y="4864608"/>
            <a:ext cx="3749040" cy="548640"/>
          </a:xfrm>
          <a:prstGeom prst="rect">
            <a:avLst/>
          </a:prstGeom>
          <a:noFill/>
          <a:ln/>
        </p:spPr>
        <p:txBody>
          <a:bodyPr wrap="square" lIns="0" tIns="0" rIns="0" bIns="0" rtlCol="0" anchor="ctr"/>
          <a:lstStyle/>
          <a:p>
            <a:pPr algn="ctr" indent="0" marL="0">
              <a:buNone/>
            </a:pPr>
            <a:r>
              <a:rPr lang="en-US" sz="1150" dirty="0">
                <a:solidFill>
                  <a:srgbClr val="5E7A80"/>
                </a:solidFill>
                <a:latin typeface="Calibri" pitchFamily="34" charset="0"/>
                <a:ea typeface="Calibri" pitchFamily="34" charset="-122"/>
                <a:cs typeface="Calibri" pitchFamily="34" charset="-120"/>
              </a:rPr>
              <a:t>higher average order value for retailers using generative AI</a:t>
            </a:r>
            <a:endParaRPr lang="en-US" sz="1150" dirty="0"/>
          </a:p>
        </p:txBody>
      </p:sp>
      <p:sp>
        <p:nvSpPr>
          <p:cNvPr id="23" name="Text 18"/>
          <p:cNvSpPr/>
          <p:nvPr/>
        </p:nvSpPr>
        <p:spPr>
          <a:xfrm>
            <a:off x="7726680" y="5532120"/>
            <a:ext cx="3474720" cy="365760"/>
          </a:xfrm>
          <a:prstGeom prst="rect">
            <a:avLst/>
          </a:prstGeom>
          <a:noFill/>
          <a:ln/>
        </p:spPr>
        <p:txBody>
          <a:bodyPr wrap="square" lIns="0" tIns="0" rIns="0" bIns="0" rtlCol="0" anchor="ctr"/>
          <a:lstStyle/>
          <a:p>
            <a:pPr algn="ctr" indent="0" marL="0">
              <a:buNone/>
            </a:pPr>
            <a:r>
              <a:rPr lang="en-US" sz="950" i="1" dirty="0">
                <a:solidFill>
                  <a:srgbClr val="5E7A80"/>
                </a:solidFill>
                <a:latin typeface="Calibri" pitchFamily="34" charset="0"/>
                <a:ea typeface="Calibri" pitchFamily="34" charset="-122"/>
                <a:cs typeface="Calibri" pitchFamily="34" charset="-120"/>
              </a:rPr>
              <a:t>Salesforce Shopping Index, 2024.</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FF6B6B"/>
                </a:solidFill>
                <a:latin typeface="Calibri" pitchFamily="34" charset="0"/>
                <a:ea typeface="Calibri" pitchFamily="34" charset="-122"/>
                <a:cs typeface="Calibri" pitchFamily="34" charset="-120"/>
              </a:rPr>
              <a:t>THE CORE IDEA</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53A40"/>
                </a:solidFill>
                <a:latin typeface="Cambria" pitchFamily="34" charset="0"/>
                <a:ea typeface="Cambria" pitchFamily="34" charset="-122"/>
                <a:cs typeface="Cambria" pitchFamily="34" charset="-120"/>
              </a:rPr>
              <a:t>Predict a score, then sort by score</a:t>
            </a:r>
            <a:endParaRPr lang="en-US" sz="2700" dirty="0"/>
          </a:p>
        </p:txBody>
      </p:sp>
      <p:sp>
        <p:nvSpPr>
          <p:cNvPr id="4" name="Shape 2"/>
          <p:cNvSpPr/>
          <p:nvPr/>
        </p:nvSpPr>
        <p:spPr>
          <a:xfrm>
            <a:off x="640080" y="1645920"/>
            <a:ext cx="10927080" cy="960120"/>
          </a:xfrm>
          <a:prstGeom prst="roundRect">
            <a:avLst>
              <a:gd name="adj" fmla="val 11429"/>
            </a:avLst>
          </a:prstGeom>
          <a:solidFill>
            <a:srgbClr val="EAF7F5"/>
          </a:solidFill>
          <a:ln/>
          <a:effectLst>
            <a:outerShdw sx="100000" sy="100000" kx="0" ky="0" algn="bl" rotWithShape="0" blurRad="127000" dist="50800" dir="5400000">
              <a:srgbClr val="8A93A6">
                <a:alpha val="13000"/>
              </a:srgbClr>
            </a:outerShdw>
          </a:effectLst>
        </p:spPr>
      </p:sp>
      <p:sp>
        <p:nvSpPr>
          <p:cNvPr id="5" name="Shape 3"/>
          <p:cNvSpPr/>
          <p:nvPr/>
        </p:nvSpPr>
        <p:spPr>
          <a:xfrm>
            <a:off x="896112" y="1828800"/>
            <a:ext cx="548640" cy="548640"/>
          </a:xfrm>
          <a:prstGeom prst="ellipse">
            <a:avLst/>
          </a:prstGeom>
          <a:solidFill>
            <a:srgbClr val="FF6B6B"/>
          </a:solidFill>
          <a:ln/>
          <a:effectLst>
            <a:outerShdw sx="100000" sy="100000" kx="0" ky="0" algn="bl" rotWithShape="0" blurRad="127000" dist="50800" dir="5400000">
              <a:srgbClr val="8A93A6">
                <a:alpha val="13000"/>
              </a:srgbClr>
            </a:outerShdw>
          </a:effectLst>
        </p:spPr>
      </p:sp>
      <p:pic>
        <p:nvPicPr>
          <p:cNvPr id="6" name="Image 0" descr="preencoded.png">    </p:cNvPr>
          <p:cNvPicPr>
            <a:picLocks noChangeAspect="1"/>
          </p:cNvPicPr>
          <p:nvPr/>
        </p:nvPicPr>
        <p:blipFill>
          <a:blip r:embed="rId1"/>
          <a:stretch>
            <a:fillRect/>
          </a:stretch>
        </p:blipFill>
        <p:spPr>
          <a:xfrm>
            <a:off x="1044245" y="1976933"/>
            <a:ext cx="252374" cy="252374"/>
          </a:xfrm>
          <a:prstGeom prst="rect">
            <a:avLst/>
          </a:prstGeom>
        </p:spPr>
      </p:pic>
      <p:sp>
        <p:nvSpPr>
          <p:cNvPr id="7" name="Text 4"/>
          <p:cNvSpPr/>
          <p:nvPr/>
        </p:nvSpPr>
        <p:spPr>
          <a:xfrm>
            <a:off x="1645920" y="1700784"/>
            <a:ext cx="9692640" cy="868680"/>
          </a:xfrm>
          <a:prstGeom prst="rect">
            <a:avLst/>
          </a:prstGeom>
          <a:noFill/>
          <a:ln/>
        </p:spPr>
        <p:txBody>
          <a:bodyPr wrap="square" lIns="0" tIns="0" rIns="0" bIns="0" rtlCol="0" anchor="ctr"/>
          <a:lstStyle/>
          <a:p>
            <a:pPr indent="0" marL="0">
              <a:buNone/>
            </a:pPr>
            <a:r>
              <a:rPr lang="en-US" sz="1400" dirty="0">
                <a:solidFill>
                  <a:srgbClr val="153A40"/>
                </a:solidFill>
                <a:latin typeface="Calibri" pitchFamily="34" charset="0"/>
                <a:ea typeface="Calibri" pitchFamily="34" charset="-122"/>
                <a:cs typeface="Calibri" pitchFamily="34" charset="-120"/>
              </a:rPr>
              <a:t>Almost every recommender does the same thing: give each item a “how much will this user like it?” score, then show the highest-scoring items first.</a:t>
            </a:r>
            <a:endParaRPr lang="en-US" sz="1400" dirty="0"/>
          </a:p>
        </p:txBody>
      </p:sp>
      <p:sp>
        <p:nvSpPr>
          <p:cNvPr id="8" name="Shape 5"/>
          <p:cNvSpPr/>
          <p:nvPr/>
        </p:nvSpPr>
        <p:spPr>
          <a:xfrm>
            <a:off x="640080" y="3108960"/>
            <a:ext cx="3154680" cy="2286000"/>
          </a:xfrm>
          <a:prstGeom prst="roundRect">
            <a:avLst>
              <a:gd name="adj" fmla="val 4800"/>
            </a:avLst>
          </a:prstGeom>
          <a:solidFill>
            <a:srgbClr val="FFFFFF"/>
          </a:solidFill>
          <a:ln/>
          <a:effectLst>
            <a:outerShdw sx="100000" sy="100000" kx="0" ky="0" algn="bl" rotWithShape="0" blurRad="127000" dist="50800" dir="5400000">
              <a:srgbClr val="8A93A6">
                <a:alpha val="13000"/>
              </a:srgbClr>
            </a:outerShdw>
          </a:effectLst>
        </p:spPr>
      </p:sp>
      <p:sp>
        <p:nvSpPr>
          <p:cNvPr id="9" name="Shape 6"/>
          <p:cNvSpPr/>
          <p:nvPr/>
        </p:nvSpPr>
        <p:spPr>
          <a:xfrm>
            <a:off x="640080" y="3108960"/>
            <a:ext cx="3154680" cy="2286000"/>
          </a:xfrm>
          <a:prstGeom prst="roundRect">
            <a:avLst>
              <a:gd name="adj" fmla="val 4800"/>
            </a:avLst>
          </a:prstGeom>
          <a:solidFill>
            <a:srgbClr val="FFFFFF">
              <a:alpha val="0"/>
            </a:srgbClr>
          </a:solidFill>
          <a:ln w="12700">
            <a:solidFill>
              <a:srgbClr val="CDE8E3"/>
            </a:solidFill>
            <a:prstDash val="solid"/>
          </a:ln>
        </p:spPr>
      </p:sp>
      <p:sp>
        <p:nvSpPr>
          <p:cNvPr id="10" name="Shape 7"/>
          <p:cNvSpPr/>
          <p:nvPr/>
        </p:nvSpPr>
        <p:spPr>
          <a:xfrm>
            <a:off x="1888236" y="3383280"/>
            <a:ext cx="658368" cy="658368"/>
          </a:xfrm>
          <a:prstGeom prst="ellipse">
            <a:avLst/>
          </a:prstGeom>
          <a:solidFill>
            <a:srgbClr val="028090"/>
          </a:solidFill>
          <a:ln/>
          <a:effectLst>
            <a:outerShdw sx="100000" sy="100000" kx="0" ky="0" algn="bl" rotWithShape="0" blurRad="127000" dist="50800" dir="5400000">
              <a:srgbClr val="8A93A6">
                <a:alpha val="13000"/>
              </a:srgbClr>
            </a:outerShdw>
          </a:effectLst>
        </p:spPr>
      </p:sp>
      <p:pic>
        <p:nvPicPr>
          <p:cNvPr id="11" name="Image 1" descr="preencoded.png">    </p:cNvPr>
          <p:cNvPicPr>
            <a:picLocks noChangeAspect="1"/>
          </p:cNvPicPr>
          <p:nvPr/>
        </p:nvPicPr>
        <p:blipFill>
          <a:blip r:embed="rId2"/>
          <a:stretch>
            <a:fillRect/>
          </a:stretch>
        </p:blipFill>
        <p:spPr>
          <a:xfrm>
            <a:off x="2065995" y="3561039"/>
            <a:ext cx="302849" cy="302849"/>
          </a:xfrm>
          <a:prstGeom prst="rect">
            <a:avLst/>
          </a:prstGeom>
        </p:spPr>
      </p:pic>
      <p:sp>
        <p:nvSpPr>
          <p:cNvPr id="12" name="Text 8"/>
          <p:cNvSpPr/>
          <p:nvPr/>
        </p:nvSpPr>
        <p:spPr>
          <a:xfrm>
            <a:off x="822960" y="4160520"/>
            <a:ext cx="2788920" cy="365760"/>
          </a:xfrm>
          <a:prstGeom prst="rect">
            <a:avLst/>
          </a:prstGeom>
          <a:noFill/>
          <a:ln/>
        </p:spPr>
        <p:txBody>
          <a:bodyPr wrap="square" lIns="0" tIns="0" rIns="0" bIns="0" rtlCol="0" anchor="ctr"/>
          <a:lstStyle/>
          <a:p>
            <a:pPr algn="ctr" indent="0" marL="0">
              <a:buNone/>
            </a:pPr>
            <a:r>
              <a:rPr lang="en-US" sz="1600" b="1" dirty="0">
                <a:solidFill>
                  <a:srgbClr val="153A40"/>
                </a:solidFill>
                <a:latin typeface="Cambria" pitchFamily="34" charset="0"/>
                <a:ea typeface="Cambria" pitchFamily="34" charset="-122"/>
                <a:cs typeface="Cambria" pitchFamily="34" charset="-120"/>
              </a:rPr>
              <a:t>Input</a:t>
            </a:r>
            <a:endParaRPr lang="en-US" sz="1600" dirty="0"/>
          </a:p>
        </p:txBody>
      </p:sp>
      <p:sp>
        <p:nvSpPr>
          <p:cNvPr id="13" name="Text 9"/>
          <p:cNvSpPr/>
          <p:nvPr/>
        </p:nvSpPr>
        <p:spPr>
          <a:xfrm>
            <a:off x="896112" y="4535424"/>
            <a:ext cx="2642616" cy="777240"/>
          </a:xfrm>
          <a:prstGeom prst="rect">
            <a:avLst/>
          </a:prstGeom>
          <a:noFill/>
          <a:ln/>
        </p:spPr>
        <p:txBody>
          <a:bodyPr wrap="square" lIns="0" tIns="0" rIns="0" bIns="0" rtlCol="0" anchor="ctr"/>
          <a:lstStyle/>
          <a:p>
            <a:pPr algn="ctr" indent="0" marL="0">
              <a:buNone/>
            </a:pPr>
            <a:r>
              <a:rPr lang="en-US" sz="1250" dirty="0">
                <a:solidFill>
                  <a:srgbClr val="5E7A80"/>
                </a:solidFill>
                <a:latin typeface="Calibri" pitchFamily="34" charset="0"/>
                <a:ea typeface="Calibri" pitchFamily="34" charset="-122"/>
                <a:cs typeface="Calibri" pitchFamily="34" charset="-120"/>
              </a:rPr>
              <a:t>What we know: your past clicks/buys, item details, the moment.</a:t>
            </a:r>
            <a:endParaRPr lang="en-US" sz="1250" dirty="0"/>
          </a:p>
        </p:txBody>
      </p:sp>
      <p:pic>
        <p:nvPicPr>
          <p:cNvPr id="14" name="Image 2" descr="preencoded.png">    </p:cNvPr>
          <p:cNvPicPr>
            <a:picLocks noChangeAspect="1"/>
          </p:cNvPicPr>
          <p:nvPr/>
        </p:nvPicPr>
        <p:blipFill>
          <a:blip r:embed="rId3"/>
          <a:stretch>
            <a:fillRect/>
          </a:stretch>
        </p:blipFill>
        <p:spPr>
          <a:xfrm>
            <a:off x="3904488" y="4078224"/>
            <a:ext cx="347472" cy="173736"/>
          </a:xfrm>
          <a:prstGeom prst="rect">
            <a:avLst/>
          </a:prstGeom>
        </p:spPr>
      </p:pic>
      <p:sp>
        <p:nvSpPr>
          <p:cNvPr id="15" name="Shape 10"/>
          <p:cNvSpPr/>
          <p:nvPr/>
        </p:nvSpPr>
        <p:spPr>
          <a:xfrm>
            <a:off x="4361688" y="3108960"/>
            <a:ext cx="3154680" cy="2286000"/>
          </a:xfrm>
          <a:prstGeom prst="roundRect">
            <a:avLst>
              <a:gd name="adj" fmla="val 4800"/>
            </a:avLst>
          </a:prstGeom>
          <a:solidFill>
            <a:srgbClr val="FFFFFF"/>
          </a:solidFill>
          <a:ln/>
          <a:effectLst>
            <a:outerShdw sx="100000" sy="100000" kx="0" ky="0" algn="bl" rotWithShape="0" blurRad="127000" dist="50800" dir="5400000">
              <a:srgbClr val="8A93A6">
                <a:alpha val="13000"/>
              </a:srgbClr>
            </a:outerShdw>
          </a:effectLst>
        </p:spPr>
      </p:sp>
      <p:sp>
        <p:nvSpPr>
          <p:cNvPr id="16" name="Shape 11"/>
          <p:cNvSpPr/>
          <p:nvPr/>
        </p:nvSpPr>
        <p:spPr>
          <a:xfrm>
            <a:off x="4361688" y="3108960"/>
            <a:ext cx="3154680" cy="2286000"/>
          </a:xfrm>
          <a:prstGeom prst="roundRect">
            <a:avLst>
              <a:gd name="adj" fmla="val 4800"/>
            </a:avLst>
          </a:prstGeom>
          <a:solidFill>
            <a:srgbClr val="FFFFFF">
              <a:alpha val="0"/>
            </a:srgbClr>
          </a:solidFill>
          <a:ln w="12700">
            <a:solidFill>
              <a:srgbClr val="CDE8E3"/>
            </a:solidFill>
            <a:prstDash val="solid"/>
          </a:ln>
        </p:spPr>
      </p:sp>
      <p:sp>
        <p:nvSpPr>
          <p:cNvPr id="17" name="Shape 12"/>
          <p:cNvSpPr/>
          <p:nvPr/>
        </p:nvSpPr>
        <p:spPr>
          <a:xfrm>
            <a:off x="5609844" y="3383280"/>
            <a:ext cx="658368" cy="658368"/>
          </a:xfrm>
          <a:prstGeom prst="ellipse">
            <a:avLst/>
          </a:prstGeom>
          <a:solidFill>
            <a:srgbClr val="028090"/>
          </a:solidFill>
          <a:ln/>
          <a:effectLst>
            <a:outerShdw sx="100000" sy="100000" kx="0" ky="0" algn="bl" rotWithShape="0" blurRad="127000" dist="50800" dir="5400000">
              <a:srgbClr val="8A93A6">
                <a:alpha val="13000"/>
              </a:srgbClr>
            </a:outerShdw>
          </a:effectLst>
        </p:spPr>
      </p:sp>
      <p:pic>
        <p:nvPicPr>
          <p:cNvPr id="18" name="Image 3" descr="preencoded.png">    </p:cNvPr>
          <p:cNvPicPr>
            <a:picLocks noChangeAspect="1"/>
          </p:cNvPicPr>
          <p:nvPr/>
        </p:nvPicPr>
        <p:blipFill>
          <a:blip r:embed="rId4"/>
          <a:stretch>
            <a:fillRect/>
          </a:stretch>
        </p:blipFill>
        <p:spPr>
          <a:xfrm>
            <a:off x="5787603" y="3561039"/>
            <a:ext cx="302849" cy="302849"/>
          </a:xfrm>
          <a:prstGeom prst="rect">
            <a:avLst/>
          </a:prstGeom>
        </p:spPr>
      </p:pic>
      <p:sp>
        <p:nvSpPr>
          <p:cNvPr id="19" name="Text 13"/>
          <p:cNvSpPr/>
          <p:nvPr/>
        </p:nvSpPr>
        <p:spPr>
          <a:xfrm>
            <a:off x="4544568" y="4160520"/>
            <a:ext cx="2788920" cy="365760"/>
          </a:xfrm>
          <a:prstGeom prst="rect">
            <a:avLst/>
          </a:prstGeom>
          <a:noFill/>
          <a:ln/>
        </p:spPr>
        <p:txBody>
          <a:bodyPr wrap="square" lIns="0" tIns="0" rIns="0" bIns="0" rtlCol="0" anchor="ctr"/>
          <a:lstStyle/>
          <a:p>
            <a:pPr algn="ctr" indent="0" marL="0">
              <a:buNone/>
            </a:pPr>
            <a:r>
              <a:rPr lang="en-US" sz="1600" b="1" dirty="0">
                <a:solidFill>
                  <a:srgbClr val="153A40"/>
                </a:solidFill>
                <a:latin typeface="Cambria" pitchFamily="34" charset="0"/>
                <a:ea typeface="Cambria" pitchFamily="34" charset="-122"/>
                <a:cs typeface="Cambria" pitchFamily="34" charset="-120"/>
              </a:rPr>
              <a:t>Model</a:t>
            </a:r>
            <a:endParaRPr lang="en-US" sz="1600" dirty="0"/>
          </a:p>
        </p:txBody>
      </p:sp>
      <p:sp>
        <p:nvSpPr>
          <p:cNvPr id="20" name="Text 14"/>
          <p:cNvSpPr/>
          <p:nvPr/>
        </p:nvSpPr>
        <p:spPr>
          <a:xfrm>
            <a:off x="4617720" y="4535424"/>
            <a:ext cx="2642616" cy="777240"/>
          </a:xfrm>
          <a:prstGeom prst="rect">
            <a:avLst/>
          </a:prstGeom>
          <a:noFill/>
          <a:ln/>
        </p:spPr>
        <p:txBody>
          <a:bodyPr wrap="square" lIns="0" tIns="0" rIns="0" bIns="0" rtlCol="0" anchor="ctr"/>
          <a:lstStyle/>
          <a:p>
            <a:pPr algn="ctr" indent="0" marL="0">
              <a:buNone/>
            </a:pPr>
            <a:r>
              <a:rPr lang="en-US" sz="1250" dirty="0">
                <a:solidFill>
                  <a:srgbClr val="5E7A80"/>
                </a:solidFill>
                <a:latin typeface="Calibri" pitchFamily="34" charset="0"/>
                <a:ea typeface="Calibri" pitchFamily="34" charset="-122"/>
                <a:cs typeface="Calibri" pitchFamily="34" charset="-120"/>
              </a:rPr>
              <a:t>A formula that outputs a relevance score for each item.</a:t>
            </a:r>
            <a:endParaRPr lang="en-US" sz="1250" dirty="0"/>
          </a:p>
        </p:txBody>
      </p:sp>
      <p:pic>
        <p:nvPicPr>
          <p:cNvPr id="21" name="Image 4" descr="preencoded.png">    </p:cNvPr>
          <p:cNvPicPr>
            <a:picLocks noChangeAspect="1"/>
          </p:cNvPicPr>
          <p:nvPr/>
        </p:nvPicPr>
        <p:blipFill>
          <a:blip r:embed="rId5"/>
          <a:stretch>
            <a:fillRect/>
          </a:stretch>
        </p:blipFill>
        <p:spPr>
          <a:xfrm>
            <a:off x="7626096" y="4078224"/>
            <a:ext cx="347472" cy="173736"/>
          </a:xfrm>
          <a:prstGeom prst="rect">
            <a:avLst/>
          </a:prstGeom>
        </p:spPr>
      </p:pic>
      <p:sp>
        <p:nvSpPr>
          <p:cNvPr id="22" name="Shape 15"/>
          <p:cNvSpPr/>
          <p:nvPr/>
        </p:nvSpPr>
        <p:spPr>
          <a:xfrm>
            <a:off x="8083296" y="3108960"/>
            <a:ext cx="3154680" cy="2286000"/>
          </a:xfrm>
          <a:prstGeom prst="roundRect">
            <a:avLst>
              <a:gd name="adj" fmla="val 4800"/>
            </a:avLst>
          </a:prstGeom>
          <a:solidFill>
            <a:srgbClr val="FFFFFF"/>
          </a:solidFill>
          <a:ln/>
          <a:effectLst>
            <a:outerShdw sx="100000" sy="100000" kx="0" ky="0" algn="bl" rotWithShape="0" blurRad="127000" dist="50800" dir="5400000">
              <a:srgbClr val="8A93A6">
                <a:alpha val="13000"/>
              </a:srgbClr>
            </a:outerShdw>
          </a:effectLst>
        </p:spPr>
      </p:sp>
      <p:sp>
        <p:nvSpPr>
          <p:cNvPr id="23" name="Shape 16"/>
          <p:cNvSpPr/>
          <p:nvPr/>
        </p:nvSpPr>
        <p:spPr>
          <a:xfrm>
            <a:off x="8083296" y="3108960"/>
            <a:ext cx="3154680" cy="2286000"/>
          </a:xfrm>
          <a:prstGeom prst="roundRect">
            <a:avLst>
              <a:gd name="adj" fmla="val 4800"/>
            </a:avLst>
          </a:prstGeom>
          <a:solidFill>
            <a:srgbClr val="FFFFFF">
              <a:alpha val="0"/>
            </a:srgbClr>
          </a:solidFill>
          <a:ln w="12700">
            <a:solidFill>
              <a:srgbClr val="CDE8E3"/>
            </a:solidFill>
            <a:prstDash val="solid"/>
          </a:ln>
        </p:spPr>
      </p:sp>
      <p:sp>
        <p:nvSpPr>
          <p:cNvPr id="24" name="Shape 17"/>
          <p:cNvSpPr/>
          <p:nvPr/>
        </p:nvSpPr>
        <p:spPr>
          <a:xfrm>
            <a:off x="9331452" y="3383280"/>
            <a:ext cx="658368" cy="658368"/>
          </a:xfrm>
          <a:prstGeom prst="ellipse">
            <a:avLst/>
          </a:prstGeom>
          <a:solidFill>
            <a:srgbClr val="028090"/>
          </a:solidFill>
          <a:ln/>
          <a:effectLst>
            <a:outerShdw sx="100000" sy="100000" kx="0" ky="0" algn="bl" rotWithShape="0" blurRad="127000" dist="50800" dir="5400000">
              <a:srgbClr val="8A93A6">
                <a:alpha val="13000"/>
              </a:srgbClr>
            </a:outerShdw>
          </a:effectLst>
        </p:spPr>
      </p:sp>
      <p:pic>
        <p:nvPicPr>
          <p:cNvPr id="25" name="Image 5" descr="preencoded.png">    </p:cNvPr>
          <p:cNvPicPr>
            <a:picLocks noChangeAspect="1"/>
          </p:cNvPicPr>
          <p:nvPr/>
        </p:nvPicPr>
        <p:blipFill>
          <a:blip r:embed="rId6"/>
          <a:stretch>
            <a:fillRect/>
          </a:stretch>
        </p:blipFill>
        <p:spPr>
          <a:xfrm>
            <a:off x="9509211" y="3561039"/>
            <a:ext cx="302849" cy="302849"/>
          </a:xfrm>
          <a:prstGeom prst="rect">
            <a:avLst/>
          </a:prstGeom>
        </p:spPr>
      </p:pic>
      <p:sp>
        <p:nvSpPr>
          <p:cNvPr id="26" name="Text 18"/>
          <p:cNvSpPr/>
          <p:nvPr/>
        </p:nvSpPr>
        <p:spPr>
          <a:xfrm>
            <a:off x="8266176" y="4160520"/>
            <a:ext cx="2788920" cy="365760"/>
          </a:xfrm>
          <a:prstGeom prst="rect">
            <a:avLst/>
          </a:prstGeom>
          <a:noFill/>
          <a:ln/>
        </p:spPr>
        <p:txBody>
          <a:bodyPr wrap="square" lIns="0" tIns="0" rIns="0" bIns="0" rtlCol="0" anchor="ctr"/>
          <a:lstStyle/>
          <a:p>
            <a:pPr algn="ctr" indent="0" marL="0">
              <a:buNone/>
            </a:pPr>
            <a:r>
              <a:rPr lang="en-US" sz="1600" b="1" dirty="0">
                <a:solidFill>
                  <a:srgbClr val="153A40"/>
                </a:solidFill>
                <a:latin typeface="Cambria" pitchFamily="34" charset="0"/>
                <a:ea typeface="Cambria" pitchFamily="34" charset="-122"/>
                <a:cs typeface="Cambria" pitchFamily="34" charset="-120"/>
              </a:rPr>
              <a:t>Ranked output</a:t>
            </a:r>
            <a:endParaRPr lang="en-US" sz="1600" dirty="0"/>
          </a:p>
        </p:txBody>
      </p:sp>
      <p:sp>
        <p:nvSpPr>
          <p:cNvPr id="27" name="Text 19"/>
          <p:cNvSpPr/>
          <p:nvPr/>
        </p:nvSpPr>
        <p:spPr>
          <a:xfrm>
            <a:off x="8339328" y="4535424"/>
            <a:ext cx="2642616" cy="777240"/>
          </a:xfrm>
          <a:prstGeom prst="rect">
            <a:avLst/>
          </a:prstGeom>
          <a:noFill/>
          <a:ln/>
        </p:spPr>
        <p:txBody>
          <a:bodyPr wrap="square" lIns="0" tIns="0" rIns="0" bIns="0" rtlCol="0" anchor="ctr"/>
          <a:lstStyle/>
          <a:p>
            <a:pPr algn="ctr" indent="0" marL="0">
              <a:buNone/>
            </a:pPr>
            <a:r>
              <a:rPr lang="en-US" sz="1250" dirty="0">
                <a:solidFill>
                  <a:srgbClr val="5E7A80"/>
                </a:solidFill>
                <a:latin typeface="Calibri" pitchFamily="34" charset="0"/>
                <a:ea typeface="Calibri" pitchFamily="34" charset="-122"/>
                <a:cs typeface="Calibri" pitchFamily="34" charset="-120"/>
              </a:rPr>
              <a:t>Items sorted from highest score to lowest — top ones shown.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FF6B6B"/>
                </a:solidFill>
                <a:latin typeface="Calibri" pitchFamily="34" charset="0"/>
                <a:ea typeface="Calibri" pitchFamily="34" charset="-122"/>
                <a:cs typeface="Calibri" pitchFamily="34" charset="-120"/>
              </a:rPr>
              <a:t>APPROACH 1 — CONTENT-BASED FILTERING</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53A40"/>
                </a:solidFill>
                <a:latin typeface="Cambria" pitchFamily="34" charset="0"/>
                <a:ea typeface="Cambria" pitchFamily="34" charset="-122"/>
                <a:cs typeface="Cambria" pitchFamily="34" charset="-120"/>
              </a:rPr>
              <a:t>“You liked this, so here's something similar”</a:t>
            </a:r>
            <a:endParaRPr lang="en-US" sz="2700" dirty="0"/>
          </a:p>
        </p:txBody>
      </p:sp>
      <p:sp>
        <p:nvSpPr>
          <p:cNvPr id="4" name="Text 2"/>
          <p:cNvSpPr/>
          <p:nvPr/>
        </p:nvSpPr>
        <p:spPr>
          <a:xfrm>
            <a:off x="640080" y="1371600"/>
            <a:ext cx="10881360" cy="292608"/>
          </a:xfrm>
          <a:prstGeom prst="rect">
            <a:avLst/>
          </a:prstGeom>
          <a:noFill/>
          <a:ln/>
        </p:spPr>
        <p:txBody>
          <a:bodyPr wrap="square" lIns="0" tIns="0" rIns="0" bIns="0" rtlCol="0" anchor="ctr"/>
          <a:lstStyle/>
          <a:p>
            <a:pPr indent="0" marL="0">
              <a:buNone/>
            </a:pPr>
            <a:r>
              <a:rPr lang="en-US" sz="1350" i="1" dirty="0">
                <a:solidFill>
                  <a:srgbClr val="5E7A80"/>
                </a:solidFill>
                <a:latin typeface="Calibri" pitchFamily="34" charset="0"/>
                <a:ea typeface="Calibri" pitchFamily="34" charset="-122"/>
                <a:cs typeface="Calibri" pitchFamily="34" charset="-120"/>
              </a:rPr>
              <a:t>Recommend items whose features match what the user already liked.</a:t>
            </a:r>
            <a:endParaRPr lang="en-US" sz="1350" dirty="0"/>
          </a:p>
        </p:txBody>
      </p:sp>
      <p:sp>
        <p:nvSpPr>
          <p:cNvPr id="5" name="Shape 3"/>
          <p:cNvSpPr/>
          <p:nvPr/>
        </p:nvSpPr>
        <p:spPr>
          <a:xfrm>
            <a:off x="640080" y="1828800"/>
            <a:ext cx="5120640" cy="3383280"/>
          </a:xfrm>
          <a:prstGeom prst="roundRect">
            <a:avLst>
              <a:gd name="adj" fmla="val 3784"/>
            </a:avLst>
          </a:prstGeom>
          <a:solidFill>
            <a:srgbClr val="EAF7F5"/>
          </a:solidFill>
          <a:ln/>
          <a:effectLst>
            <a:outerShdw sx="100000" sy="100000" kx="0" ky="0" algn="bl" rotWithShape="0" blurRad="127000" dist="50800" dir="5400000">
              <a:srgbClr val="8A93A6">
                <a:alpha val="13000"/>
              </a:srgbClr>
            </a:outerShdw>
          </a:effectLst>
        </p:spPr>
      </p:sp>
      <p:sp>
        <p:nvSpPr>
          <p:cNvPr id="6" name="Text 4"/>
          <p:cNvSpPr/>
          <p:nvPr/>
        </p:nvSpPr>
        <p:spPr>
          <a:xfrm>
            <a:off x="914400" y="2011680"/>
            <a:ext cx="4572000" cy="320040"/>
          </a:xfrm>
          <a:prstGeom prst="rect">
            <a:avLst/>
          </a:prstGeom>
          <a:noFill/>
          <a:ln/>
        </p:spPr>
        <p:txBody>
          <a:bodyPr wrap="square" lIns="0" tIns="0" rIns="0" bIns="0" rtlCol="0" anchor="ctr"/>
          <a:lstStyle/>
          <a:p>
            <a:pPr indent="0" marL="0">
              <a:buNone/>
            </a:pPr>
            <a:r>
              <a:rPr lang="en-US" sz="1400" b="1" dirty="0">
                <a:solidFill>
                  <a:srgbClr val="153A40"/>
                </a:solidFill>
                <a:latin typeface="Cambria" pitchFamily="34" charset="0"/>
                <a:ea typeface="Cambria" pitchFamily="34" charset="-122"/>
                <a:cs typeface="Cambria" pitchFamily="34" charset="-120"/>
              </a:rPr>
              <a:t>Example</a:t>
            </a:r>
            <a:endParaRPr lang="en-US" sz="1400" dirty="0"/>
          </a:p>
        </p:txBody>
      </p:sp>
      <p:sp>
        <p:nvSpPr>
          <p:cNvPr id="7" name="Text 5"/>
          <p:cNvSpPr/>
          <p:nvPr/>
        </p:nvSpPr>
        <p:spPr>
          <a:xfrm>
            <a:off x="914400" y="2423160"/>
            <a:ext cx="4572000" cy="320040"/>
          </a:xfrm>
          <a:prstGeom prst="rect">
            <a:avLst/>
          </a:prstGeom>
          <a:noFill/>
          <a:ln/>
        </p:spPr>
        <p:txBody>
          <a:bodyPr wrap="square" lIns="0" tIns="0" rIns="0" bIns="0" rtlCol="0" anchor="ctr"/>
          <a:lstStyle/>
          <a:p>
            <a:pPr indent="0" marL="0">
              <a:buNone/>
            </a:pPr>
            <a:r>
              <a:rPr lang="en-US" sz="1300" b="1" dirty="0">
                <a:solidFill>
                  <a:srgbClr val="153A40"/>
                </a:solidFill>
                <a:latin typeface="Calibri" pitchFamily="34" charset="0"/>
                <a:ea typeface="Calibri" pitchFamily="34" charset="-122"/>
                <a:cs typeface="Calibri" pitchFamily="34" charset="-120"/>
              </a:rPr>
              <a:t>A shopper liked: </a:t>
            </a:r>
            <a:pPr indent="0" marL="0">
              <a:buNone/>
            </a:pPr>
            <a:r>
              <a:rPr lang="en-US" sz="1300" i="1" dirty="0">
                <a:solidFill>
                  <a:srgbClr val="028090"/>
                </a:solidFill>
                <a:latin typeface="Calibri" pitchFamily="34" charset="0"/>
                <a:ea typeface="Calibri" pitchFamily="34" charset="-122"/>
                <a:cs typeface="Calibri" pitchFamily="34" charset="-120"/>
              </a:rPr>
              <a:t>“Trail Running Shoe”</a:t>
            </a:r>
            <a:endParaRPr lang="en-US" sz="1300" dirty="0"/>
          </a:p>
        </p:txBody>
      </p:sp>
      <p:sp>
        <p:nvSpPr>
          <p:cNvPr id="8" name="Text 6"/>
          <p:cNvSpPr/>
          <p:nvPr/>
        </p:nvSpPr>
        <p:spPr>
          <a:xfrm>
            <a:off x="914400" y="2743200"/>
            <a:ext cx="4572000" cy="320040"/>
          </a:xfrm>
          <a:prstGeom prst="rect">
            <a:avLst/>
          </a:prstGeom>
          <a:noFill/>
          <a:ln/>
        </p:spPr>
        <p:txBody>
          <a:bodyPr wrap="square" lIns="0" tIns="0" rIns="0" bIns="0" rtlCol="0" anchor="ctr"/>
          <a:lstStyle/>
          <a:p>
            <a:pPr indent="0" marL="0">
              <a:buNone/>
            </a:pPr>
            <a:r>
              <a:rPr lang="en-US" sz="1200" dirty="0">
                <a:solidFill>
                  <a:srgbClr val="5E7A80"/>
                </a:solidFill>
                <a:latin typeface="Calibri" pitchFamily="34" charset="0"/>
                <a:ea typeface="Calibri" pitchFamily="34" charset="-122"/>
                <a:cs typeface="Calibri" pitchFamily="34" charset="-120"/>
              </a:rPr>
              <a:t>Tags: sport · outdoor · lightweight · rubber sole</a:t>
            </a:r>
            <a:endParaRPr lang="en-US" sz="1200" dirty="0"/>
          </a:p>
        </p:txBody>
      </p:sp>
      <p:sp>
        <p:nvSpPr>
          <p:cNvPr id="9" name="Text 7"/>
          <p:cNvSpPr/>
          <p:nvPr/>
        </p:nvSpPr>
        <p:spPr>
          <a:xfrm>
            <a:off x="914400" y="3200400"/>
            <a:ext cx="4572000" cy="320040"/>
          </a:xfrm>
          <a:prstGeom prst="rect">
            <a:avLst/>
          </a:prstGeom>
          <a:noFill/>
          <a:ln/>
        </p:spPr>
        <p:txBody>
          <a:bodyPr wrap="square" lIns="0" tIns="0" rIns="0" bIns="0" rtlCol="0" anchor="ctr"/>
          <a:lstStyle/>
          <a:p>
            <a:pPr indent="0" marL="0">
              <a:buNone/>
            </a:pPr>
            <a:r>
              <a:rPr lang="en-US" sz="1250" dirty="0">
                <a:solidFill>
                  <a:srgbClr val="153A40"/>
                </a:solidFill>
                <a:latin typeface="Calibri" pitchFamily="34" charset="0"/>
                <a:ea typeface="Calibri" pitchFamily="34" charset="-122"/>
                <a:cs typeface="Calibri" pitchFamily="34" charset="-120"/>
              </a:rPr>
              <a:t>So we look for items sharing those tags:</a:t>
            </a:r>
            <a:endParaRPr lang="en-US" sz="1250" dirty="0"/>
          </a:p>
        </p:txBody>
      </p:sp>
      <p:pic>
        <p:nvPicPr>
          <p:cNvPr id="10" name="Image 0" descr="preencoded.png">    </p:cNvPr>
          <p:cNvPicPr>
            <a:picLocks noChangeAspect="1"/>
          </p:cNvPicPr>
          <p:nvPr/>
        </p:nvPicPr>
        <p:blipFill>
          <a:blip r:embed="rId1"/>
          <a:stretch>
            <a:fillRect/>
          </a:stretch>
        </p:blipFill>
        <p:spPr>
          <a:xfrm>
            <a:off x="960120" y="3630168"/>
            <a:ext cx="237744" cy="237744"/>
          </a:xfrm>
          <a:prstGeom prst="rect">
            <a:avLst/>
          </a:prstGeom>
        </p:spPr>
      </p:pic>
      <p:sp>
        <p:nvSpPr>
          <p:cNvPr id="11" name="Text 8"/>
          <p:cNvSpPr/>
          <p:nvPr/>
        </p:nvSpPr>
        <p:spPr>
          <a:xfrm>
            <a:off x="1325880" y="3593592"/>
            <a:ext cx="4206240" cy="320040"/>
          </a:xfrm>
          <a:prstGeom prst="rect">
            <a:avLst/>
          </a:prstGeom>
          <a:noFill/>
          <a:ln/>
        </p:spPr>
        <p:txBody>
          <a:bodyPr wrap="square" lIns="0" tIns="0" rIns="0" bIns="0" rtlCol="0" anchor="ctr"/>
          <a:lstStyle/>
          <a:p>
            <a:pPr indent="0" marL="0">
              <a:buNone/>
            </a:pPr>
            <a:r>
              <a:rPr lang="en-US" sz="1250" b="1" dirty="0">
                <a:solidFill>
                  <a:srgbClr val="153A40"/>
                </a:solidFill>
                <a:latin typeface="Calibri" pitchFamily="34" charset="0"/>
                <a:ea typeface="Calibri" pitchFamily="34" charset="-122"/>
                <a:cs typeface="Calibri" pitchFamily="34" charset="-120"/>
              </a:rPr>
              <a:t>Hiking Sandals  </a:t>
            </a:r>
            <a:pPr indent="0" marL="0">
              <a:buNone/>
            </a:pPr>
            <a:r>
              <a:rPr lang="en-US" sz="1100" dirty="0">
                <a:solidFill>
                  <a:srgbClr val="5E7A80"/>
                </a:solidFill>
                <a:latin typeface="Calibri" pitchFamily="34" charset="0"/>
                <a:ea typeface="Calibri" pitchFamily="34" charset="-122"/>
                <a:cs typeface="Calibri" pitchFamily="34" charset="-120"/>
              </a:rPr>
              <a:t>outdoor · lightweight</a:t>
            </a:r>
            <a:endParaRPr lang="en-US" sz="1250" dirty="0"/>
          </a:p>
        </p:txBody>
      </p:sp>
      <p:pic>
        <p:nvPicPr>
          <p:cNvPr id="12" name="Image 1" descr="preencoded.png">    </p:cNvPr>
          <p:cNvPicPr>
            <a:picLocks noChangeAspect="1"/>
          </p:cNvPicPr>
          <p:nvPr/>
        </p:nvPicPr>
        <p:blipFill>
          <a:blip r:embed="rId2"/>
          <a:stretch>
            <a:fillRect/>
          </a:stretch>
        </p:blipFill>
        <p:spPr>
          <a:xfrm>
            <a:off x="960120" y="4087368"/>
            <a:ext cx="237744" cy="237744"/>
          </a:xfrm>
          <a:prstGeom prst="rect">
            <a:avLst/>
          </a:prstGeom>
        </p:spPr>
      </p:pic>
      <p:sp>
        <p:nvSpPr>
          <p:cNvPr id="13" name="Text 9"/>
          <p:cNvSpPr/>
          <p:nvPr/>
        </p:nvSpPr>
        <p:spPr>
          <a:xfrm>
            <a:off x="1325880" y="4050792"/>
            <a:ext cx="4206240" cy="320040"/>
          </a:xfrm>
          <a:prstGeom prst="rect">
            <a:avLst/>
          </a:prstGeom>
          <a:noFill/>
          <a:ln/>
        </p:spPr>
        <p:txBody>
          <a:bodyPr wrap="square" lIns="0" tIns="0" rIns="0" bIns="0" rtlCol="0" anchor="ctr"/>
          <a:lstStyle/>
          <a:p>
            <a:pPr indent="0" marL="0">
              <a:buNone/>
            </a:pPr>
            <a:r>
              <a:rPr lang="en-US" sz="1250" b="1" dirty="0">
                <a:solidFill>
                  <a:srgbClr val="153A40"/>
                </a:solidFill>
                <a:latin typeface="Calibri" pitchFamily="34" charset="0"/>
                <a:ea typeface="Calibri" pitchFamily="34" charset="-122"/>
                <a:cs typeface="Calibri" pitchFamily="34" charset="-120"/>
              </a:rPr>
              <a:t>Gym Trainers  </a:t>
            </a:r>
            <a:pPr indent="0" marL="0">
              <a:buNone/>
            </a:pPr>
            <a:r>
              <a:rPr lang="en-US" sz="1100" dirty="0">
                <a:solidFill>
                  <a:srgbClr val="5E7A80"/>
                </a:solidFill>
                <a:latin typeface="Calibri" pitchFamily="34" charset="0"/>
                <a:ea typeface="Calibri" pitchFamily="34" charset="-122"/>
                <a:cs typeface="Calibri" pitchFamily="34" charset="-120"/>
              </a:rPr>
              <a:t>sport · rubber sole</a:t>
            </a:r>
            <a:endParaRPr lang="en-US" sz="1250" dirty="0"/>
          </a:p>
        </p:txBody>
      </p:sp>
      <p:pic>
        <p:nvPicPr>
          <p:cNvPr id="14" name="Image 2" descr="preencoded.png">    </p:cNvPr>
          <p:cNvPicPr>
            <a:picLocks noChangeAspect="1"/>
          </p:cNvPicPr>
          <p:nvPr/>
        </p:nvPicPr>
        <p:blipFill>
          <a:blip r:embed="rId3"/>
          <a:stretch>
            <a:fillRect/>
          </a:stretch>
        </p:blipFill>
        <p:spPr>
          <a:xfrm>
            <a:off x="960120" y="4544568"/>
            <a:ext cx="237744" cy="237744"/>
          </a:xfrm>
          <a:prstGeom prst="rect">
            <a:avLst/>
          </a:prstGeom>
        </p:spPr>
      </p:pic>
      <p:sp>
        <p:nvSpPr>
          <p:cNvPr id="15" name="Text 10"/>
          <p:cNvSpPr/>
          <p:nvPr/>
        </p:nvSpPr>
        <p:spPr>
          <a:xfrm>
            <a:off x="1325880" y="4507992"/>
            <a:ext cx="4206240" cy="320040"/>
          </a:xfrm>
          <a:prstGeom prst="rect">
            <a:avLst/>
          </a:prstGeom>
          <a:noFill/>
          <a:ln/>
        </p:spPr>
        <p:txBody>
          <a:bodyPr wrap="square" lIns="0" tIns="0" rIns="0" bIns="0" rtlCol="0" anchor="ctr"/>
          <a:lstStyle/>
          <a:p>
            <a:pPr indent="0" marL="0">
              <a:buNone/>
            </a:pPr>
            <a:r>
              <a:rPr lang="en-US" sz="1250" b="1" dirty="0">
                <a:solidFill>
                  <a:srgbClr val="153A40"/>
                </a:solidFill>
                <a:latin typeface="Calibri" pitchFamily="34" charset="0"/>
                <a:ea typeface="Calibri" pitchFamily="34" charset="-122"/>
                <a:cs typeface="Calibri" pitchFamily="34" charset="-120"/>
              </a:rPr>
              <a:t>Office Loafer  </a:t>
            </a:r>
            <a:pPr indent="0" marL="0">
              <a:buNone/>
            </a:pPr>
            <a:r>
              <a:rPr lang="en-US" sz="1100" dirty="0">
                <a:solidFill>
                  <a:srgbClr val="5E7A80"/>
                </a:solidFill>
                <a:latin typeface="Calibri" pitchFamily="34" charset="0"/>
                <a:ea typeface="Calibri" pitchFamily="34" charset="-122"/>
                <a:cs typeface="Calibri" pitchFamily="34" charset="-120"/>
              </a:rPr>
              <a:t>formal · leather</a:t>
            </a:r>
            <a:endParaRPr lang="en-US" sz="1250" dirty="0"/>
          </a:p>
        </p:txBody>
      </p:sp>
      <p:sp>
        <p:nvSpPr>
          <p:cNvPr id="16" name="Shape 11"/>
          <p:cNvSpPr/>
          <p:nvPr/>
        </p:nvSpPr>
        <p:spPr>
          <a:xfrm>
            <a:off x="5989320" y="1828800"/>
            <a:ext cx="5577840" cy="3383280"/>
          </a:xfrm>
          <a:prstGeom prst="roundRect">
            <a:avLst>
              <a:gd name="adj" fmla="val 3784"/>
            </a:avLst>
          </a:prstGeom>
          <a:solidFill>
            <a:srgbClr val="FFFFFF"/>
          </a:solidFill>
          <a:ln/>
          <a:effectLst>
            <a:outerShdw sx="100000" sy="100000" kx="0" ky="0" algn="bl" rotWithShape="0" blurRad="127000" dist="50800" dir="5400000">
              <a:srgbClr val="8A93A6">
                <a:alpha val="13000"/>
              </a:srgbClr>
            </a:outerShdw>
          </a:effectLst>
        </p:spPr>
      </p:sp>
      <p:sp>
        <p:nvSpPr>
          <p:cNvPr id="17" name="Shape 12"/>
          <p:cNvSpPr/>
          <p:nvPr/>
        </p:nvSpPr>
        <p:spPr>
          <a:xfrm>
            <a:off x="5989320" y="1828800"/>
            <a:ext cx="5577840" cy="3383280"/>
          </a:xfrm>
          <a:prstGeom prst="roundRect">
            <a:avLst>
              <a:gd name="adj" fmla="val 3784"/>
            </a:avLst>
          </a:prstGeom>
          <a:solidFill>
            <a:srgbClr val="FFFFFF">
              <a:alpha val="0"/>
            </a:srgbClr>
          </a:solidFill>
          <a:ln w="12700">
            <a:solidFill>
              <a:srgbClr val="CDE8E3"/>
            </a:solidFill>
            <a:prstDash val="solid"/>
          </a:ln>
        </p:spPr>
      </p:sp>
      <p:sp>
        <p:nvSpPr>
          <p:cNvPr id="18" name="Text 13"/>
          <p:cNvSpPr/>
          <p:nvPr/>
        </p:nvSpPr>
        <p:spPr>
          <a:xfrm>
            <a:off x="6263640" y="2011680"/>
            <a:ext cx="5029200" cy="320040"/>
          </a:xfrm>
          <a:prstGeom prst="rect">
            <a:avLst/>
          </a:prstGeom>
          <a:noFill/>
          <a:ln/>
        </p:spPr>
        <p:txBody>
          <a:bodyPr wrap="square" lIns="0" tIns="0" rIns="0" bIns="0" rtlCol="0" anchor="ctr"/>
          <a:lstStyle/>
          <a:p>
            <a:pPr indent="0" marL="0">
              <a:buNone/>
            </a:pPr>
            <a:r>
              <a:rPr lang="en-US" sz="1400" b="1" dirty="0">
                <a:solidFill>
                  <a:srgbClr val="153A40"/>
                </a:solidFill>
                <a:latin typeface="Cambria" pitchFamily="34" charset="0"/>
                <a:ea typeface="Cambria" pitchFamily="34" charset="-122"/>
                <a:cs typeface="Cambria" pitchFamily="34" charset="-120"/>
              </a:rPr>
              <a:t>Good to know</a:t>
            </a:r>
            <a:endParaRPr lang="en-US" sz="1400" dirty="0"/>
          </a:p>
        </p:txBody>
      </p:sp>
      <p:pic>
        <p:nvPicPr>
          <p:cNvPr id="19" name="Image 3" descr="preencoded.png">    </p:cNvPr>
          <p:cNvPicPr>
            <a:picLocks noChangeAspect="1"/>
          </p:cNvPicPr>
          <p:nvPr/>
        </p:nvPicPr>
        <p:blipFill>
          <a:blip r:embed="rId4"/>
          <a:stretch>
            <a:fillRect/>
          </a:stretch>
        </p:blipFill>
        <p:spPr>
          <a:xfrm>
            <a:off x="6309360" y="2505456"/>
            <a:ext cx="201168" cy="201168"/>
          </a:xfrm>
          <a:prstGeom prst="rect">
            <a:avLst/>
          </a:prstGeom>
        </p:spPr>
      </p:pic>
      <p:sp>
        <p:nvSpPr>
          <p:cNvPr id="20" name="Text 14"/>
          <p:cNvSpPr/>
          <p:nvPr/>
        </p:nvSpPr>
        <p:spPr>
          <a:xfrm>
            <a:off x="6629400" y="2432304"/>
            <a:ext cx="4663440" cy="457200"/>
          </a:xfrm>
          <a:prstGeom prst="rect">
            <a:avLst/>
          </a:prstGeom>
          <a:noFill/>
          <a:ln/>
        </p:spPr>
        <p:txBody>
          <a:bodyPr wrap="square" lIns="0" tIns="0" rIns="0" bIns="0" rtlCol="0" anchor="t"/>
          <a:lstStyle/>
          <a:p>
            <a:pPr indent="0" marL="0">
              <a:buNone/>
            </a:pPr>
            <a:r>
              <a:rPr lang="en-US" sz="1300" dirty="0">
                <a:solidFill>
                  <a:srgbClr val="153A40"/>
                </a:solidFill>
                <a:latin typeface="Calibri" pitchFamily="34" charset="0"/>
                <a:ea typeface="Calibri" pitchFamily="34" charset="-122"/>
                <a:cs typeface="Calibri" pitchFamily="34" charset="-120"/>
              </a:rPr>
              <a:t>Works for brand-new items (we know their features)</a:t>
            </a:r>
            <a:endParaRPr lang="en-US" sz="1300" dirty="0"/>
          </a:p>
        </p:txBody>
      </p:sp>
      <p:pic>
        <p:nvPicPr>
          <p:cNvPr id="21" name="Image 4" descr="preencoded.png">    </p:cNvPr>
          <p:cNvPicPr>
            <a:picLocks noChangeAspect="1"/>
          </p:cNvPicPr>
          <p:nvPr/>
        </p:nvPicPr>
        <p:blipFill>
          <a:blip r:embed="rId5"/>
          <a:stretch>
            <a:fillRect/>
          </a:stretch>
        </p:blipFill>
        <p:spPr>
          <a:xfrm>
            <a:off x="6309360" y="3108960"/>
            <a:ext cx="201168" cy="201168"/>
          </a:xfrm>
          <a:prstGeom prst="rect">
            <a:avLst/>
          </a:prstGeom>
        </p:spPr>
      </p:pic>
      <p:sp>
        <p:nvSpPr>
          <p:cNvPr id="22" name="Text 15"/>
          <p:cNvSpPr/>
          <p:nvPr/>
        </p:nvSpPr>
        <p:spPr>
          <a:xfrm>
            <a:off x="6629400" y="3035808"/>
            <a:ext cx="4663440" cy="457200"/>
          </a:xfrm>
          <a:prstGeom prst="rect">
            <a:avLst/>
          </a:prstGeom>
          <a:noFill/>
          <a:ln/>
        </p:spPr>
        <p:txBody>
          <a:bodyPr wrap="square" lIns="0" tIns="0" rIns="0" bIns="0" rtlCol="0" anchor="t"/>
          <a:lstStyle/>
          <a:p>
            <a:pPr indent="0" marL="0">
              <a:buNone/>
            </a:pPr>
            <a:r>
              <a:rPr lang="en-US" sz="1300" dirty="0">
                <a:solidFill>
                  <a:srgbClr val="153A40"/>
                </a:solidFill>
                <a:latin typeface="Calibri" pitchFamily="34" charset="0"/>
                <a:ea typeface="Calibri" pitchFamily="34" charset="-122"/>
                <a:cs typeface="Calibri" pitchFamily="34" charset="-120"/>
              </a:rPr>
              <a:t>Easy to explain: “because it's also outdoor gear”</a:t>
            </a:r>
            <a:endParaRPr lang="en-US" sz="1300" dirty="0"/>
          </a:p>
        </p:txBody>
      </p:sp>
      <p:pic>
        <p:nvPicPr>
          <p:cNvPr id="23" name="Image 5" descr="preencoded.png">    </p:cNvPr>
          <p:cNvPicPr>
            <a:picLocks noChangeAspect="1"/>
          </p:cNvPicPr>
          <p:nvPr/>
        </p:nvPicPr>
        <p:blipFill>
          <a:blip r:embed="rId6"/>
          <a:stretch>
            <a:fillRect/>
          </a:stretch>
        </p:blipFill>
        <p:spPr>
          <a:xfrm>
            <a:off x="6309360" y="3712464"/>
            <a:ext cx="201168" cy="201168"/>
          </a:xfrm>
          <a:prstGeom prst="rect">
            <a:avLst/>
          </a:prstGeom>
        </p:spPr>
      </p:pic>
      <p:sp>
        <p:nvSpPr>
          <p:cNvPr id="24" name="Text 16"/>
          <p:cNvSpPr/>
          <p:nvPr/>
        </p:nvSpPr>
        <p:spPr>
          <a:xfrm>
            <a:off x="6629400" y="3639312"/>
            <a:ext cx="4663440" cy="457200"/>
          </a:xfrm>
          <a:prstGeom prst="rect">
            <a:avLst/>
          </a:prstGeom>
          <a:noFill/>
          <a:ln/>
        </p:spPr>
        <p:txBody>
          <a:bodyPr wrap="square" lIns="0" tIns="0" rIns="0" bIns="0" rtlCol="0" anchor="t"/>
          <a:lstStyle/>
          <a:p>
            <a:pPr indent="0" marL="0">
              <a:buNone/>
            </a:pPr>
            <a:r>
              <a:rPr lang="en-US" sz="1300" dirty="0">
                <a:solidFill>
                  <a:srgbClr val="153A40"/>
                </a:solidFill>
                <a:latin typeface="Calibri" pitchFamily="34" charset="0"/>
                <a:ea typeface="Calibri" pitchFamily="34" charset="-122"/>
                <a:cs typeface="Calibri" pitchFamily="34" charset="-120"/>
              </a:rPr>
              <a:t>Can feel repetitive — stays close to what you know</a:t>
            </a:r>
            <a:endParaRPr lang="en-US" sz="1300" dirty="0"/>
          </a:p>
        </p:txBody>
      </p:sp>
      <p:pic>
        <p:nvPicPr>
          <p:cNvPr id="25" name="Image 6" descr="preencoded.png">    </p:cNvPr>
          <p:cNvPicPr>
            <a:picLocks noChangeAspect="1"/>
          </p:cNvPicPr>
          <p:nvPr/>
        </p:nvPicPr>
        <p:blipFill>
          <a:blip r:embed="rId7"/>
          <a:stretch>
            <a:fillRect/>
          </a:stretch>
        </p:blipFill>
        <p:spPr>
          <a:xfrm>
            <a:off x="6309360" y="4315968"/>
            <a:ext cx="201168" cy="201168"/>
          </a:xfrm>
          <a:prstGeom prst="rect">
            <a:avLst/>
          </a:prstGeom>
        </p:spPr>
      </p:pic>
      <p:sp>
        <p:nvSpPr>
          <p:cNvPr id="26" name="Text 17"/>
          <p:cNvSpPr/>
          <p:nvPr/>
        </p:nvSpPr>
        <p:spPr>
          <a:xfrm>
            <a:off x="6629400" y="4242816"/>
            <a:ext cx="4663440" cy="457200"/>
          </a:xfrm>
          <a:prstGeom prst="rect">
            <a:avLst/>
          </a:prstGeom>
          <a:noFill/>
          <a:ln/>
        </p:spPr>
        <p:txBody>
          <a:bodyPr wrap="square" lIns="0" tIns="0" rIns="0" bIns="0" rtlCol="0" anchor="t"/>
          <a:lstStyle/>
          <a:p>
            <a:pPr indent="0" marL="0">
              <a:buNone/>
            </a:pPr>
            <a:r>
              <a:rPr lang="en-US" sz="1300" dirty="0">
                <a:solidFill>
                  <a:srgbClr val="153A40"/>
                </a:solidFill>
                <a:latin typeface="Calibri" pitchFamily="34" charset="0"/>
                <a:ea typeface="Calibri" pitchFamily="34" charset="-122"/>
                <a:cs typeface="Calibri" pitchFamily="34" charset="-120"/>
              </a:rPr>
              <a:t>Needs good item data (tags, descriptions)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FF6B6B"/>
                </a:solidFill>
                <a:latin typeface="Calibri" pitchFamily="34" charset="0"/>
                <a:ea typeface="Calibri" pitchFamily="34" charset="-122"/>
                <a:cs typeface="Calibri" pitchFamily="34" charset="-120"/>
              </a:rPr>
              <a:t>APPROACH 2 — COLLABORATIVE FILTERING</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53A40"/>
                </a:solidFill>
                <a:latin typeface="Cambria" pitchFamily="34" charset="0"/>
                <a:ea typeface="Cambria" pitchFamily="34" charset="-122"/>
                <a:cs typeface="Cambria" pitchFamily="34" charset="-120"/>
              </a:rPr>
              <a:t>“People like you also liked…”</a:t>
            </a:r>
            <a:endParaRPr lang="en-US" sz="2700" dirty="0"/>
          </a:p>
        </p:txBody>
      </p:sp>
      <p:sp>
        <p:nvSpPr>
          <p:cNvPr id="4" name="Text 2"/>
          <p:cNvSpPr/>
          <p:nvPr/>
        </p:nvSpPr>
        <p:spPr>
          <a:xfrm>
            <a:off x="640080" y="1371600"/>
            <a:ext cx="10881360" cy="292608"/>
          </a:xfrm>
          <a:prstGeom prst="rect">
            <a:avLst/>
          </a:prstGeom>
          <a:noFill/>
          <a:ln/>
        </p:spPr>
        <p:txBody>
          <a:bodyPr wrap="square" lIns="0" tIns="0" rIns="0" bIns="0" rtlCol="0" anchor="ctr"/>
          <a:lstStyle/>
          <a:p>
            <a:pPr indent="0" marL="0">
              <a:buNone/>
            </a:pPr>
            <a:r>
              <a:rPr lang="en-US" sz="1350" i="1" dirty="0">
                <a:solidFill>
                  <a:srgbClr val="5E7A80"/>
                </a:solidFill>
                <a:latin typeface="Calibri" pitchFamily="34" charset="0"/>
                <a:ea typeface="Calibri" pitchFamily="34" charset="-122"/>
                <a:cs typeface="Calibri" pitchFamily="34" charset="-120"/>
              </a:rPr>
              <a:t>Ignore item features. Learn from behavior: find users with similar taste, then recommend what they liked.</a:t>
            </a:r>
            <a:endParaRPr lang="en-US" sz="13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6583680" cy="914400"/>
        </p:xfrm>
        <a:graphic>
          <a:graphicData uri="http://schemas.openxmlformats.org/drawingml/2006/table">
            <a:tbl>
              <a:tblPr/>
              <a:tblGrid>
                <a:gridCol w="1463040"/>
                <a:gridCol w="1280160"/>
                <a:gridCol w="1280160"/>
                <a:gridCol w="1280160"/>
                <a:gridCol w="1280160"/>
              </a:tblGrid>
              <a:tr h="411480">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Item A</a:t>
                      </a:r>
                      <a:endParaRPr lang="en-US" sz="12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0280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Item B</a:t>
                      </a:r>
                      <a:endParaRPr lang="en-US" sz="12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0280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Item C</a:t>
                      </a:r>
                      <a:endParaRPr lang="en-US" sz="12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0280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Item D</a:t>
                      </a:r>
                      <a:endParaRPr lang="en-US" sz="12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028090"/>
                    </a:solidFill>
                  </a:tcPr>
                </a:tc>
              </a:tr>
              <a:tr h="548640">
                <a:tc>
                  <a:txBody>
                    <a:bodyPr/>
                    <a:lstStyle/>
                    <a:p>
                      <a:pPr algn="l" indent="0" marL="0">
                        <a:buNone/>
                      </a:pPr>
                      <a:r>
                        <a:rPr lang="en-US" sz="1200" b="1" dirty="0">
                          <a:solidFill>
                            <a:srgbClr val="153A40"/>
                          </a:solidFill>
                          <a:latin typeface="Calibri" pitchFamily="34" charset="0"/>
                          <a:ea typeface="Calibri" pitchFamily="34" charset="-122"/>
                          <a:cs typeface="Calibri" pitchFamily="34" charset="-120"/>
                        </a:rPr>
                        <a:t>You</a:t>
                      </a:r>
                      <a:endParaRPr lang="en-US" sz="12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FFEDED"/>
                    </a:solidFill>
                  </a:tcPr>
                </a:tc>
                <a:tc>
                  <a:txBody>
                    <a:bodyPr/>
                    <a:lstStyle/>
                    <a:p>
                      <a:pPr algn="ctr" indent="0" marL="0">
                        <a:buNone/>
                      </a:pPr>
                      <a:r>
                        <a:rPr lang="en-US" sz="1300" dirty="0">
                          <a:solidFill>
                            <a:srgbClr val="153A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FFEDED"/>
                    </a:solidFill>
                  </a:tcPr>
                </a:tc>
                <a:tc>
                  <a:txBody>
                    <a:bodyPr/>
                    <a:lstStyle/>
                    <a:p>
                      <a:pPr algn="ctr" indent="0" marL="0">
                        <a:buNone/>
                      </a:pPr>
                      <a:r>
                        <a:rPr lang="en-US" sz="1300" dirty="0">
                          <a:solidFill>
                            <a:srgbClr val="153A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FFEDED"/>
                    </a:solidFill>
                  </a:tcPr>
                </a:tc>
                <a:tc>
                  <a:txBody>
                    <a:bodyPr/>
                    <a:lstStyle/>
                    <a:p>
                      <a:pPr algn="ctr" indent="0" marL="0">
                        <a:buNone/>
                      </a:pPr>
                      <a:r>
                        <a:rPr lang="en-US" sz="1300" dirty="0">
                          <a:solidFill>
                            <a:srgbClr val="153A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FFEDED"/>
                    </a:solidFill>
                  </a:tcPr>
                </a:tc>
                <a:tc>
                  <a:txBody>
                    <a:bodyPr/>
                    <a:lstStyle/>
                    <a:p>
                      <a:pPr algn="ctr" indent="0" marL="0">
                        <a:buNone/>
                      </a:pPr>
                      <a:r>
                        <a:rPr lang="en-US" sz="1300" b="1" dirty="0">
                          <a:solidFill>
                            <a:srgbClr val="FF6B6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FFEDED"/>
                    </a:solidFill>
                  </a:tcPr>
                </a:tc>
              </a:tr>
              <a:tr h="548640">
                <a:tc>
                  <a:txBody>
                    <a:bodyPr/>
                    <a:lstStyle/>
                    <a:p>
                      <a:pPr algn="l" indent="0" marL="0">
                        <a:buNone/>
                      </a:pPr>
                      <a:r>
                        <a:rPr lang="en-US" sz="1200" b="1" dirty="0">
                          <a:solidFill>
                            <a:srgbClr val="153A40"/>
                          </a:solidFill>
                          <a:latin typeface="Calibri" pitchFamily="34" charset="0"/>
                          <a:ea typeface="Calibri" pitchFamily="34" charset="-122"/>
                          <a:cs typeface="Calibri" pitchFamily="34" charset="-120"/>
                        </a:rPr>
                        <a:t>Ana</a:t>
                      </a:r>
                      <a:endParaRPr lang="en-US" sz="12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EAF7F5"/>
                    </a:solidFill>
                  </a:tcPr>
                </a:tc>
                <a:tc>
                  <a:txBody>
                    <a:bodyPr/>
                    <a:lstStyle/>
                    <a:p>
                      <a:pPr algn="ctr" indent="0" marL="0">
                        <a:buNone/>
                      </a:pPr>
                      <a:r>
                        <a:rPr lang="en-US" sz="1300" dirty="0">
                          <a:solidFill>
                            <a:srgbClr val="153A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53A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53A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53A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153A40"/>
                          </a:solidFill>
                          <a:latin typeface="Calibri" pitchFamily="34" charset="0"/>
                          <a:ea typeface="Calibri" pitchFamily="34" charset="-122"/>
                          <a:cs typeface="Calibri" pitchFamily="34" charset="-120"/>
                        </a:rPr>
                        <a:t>Ben</a:t>
                      </a:r>
                      <a:endParaRPr lang="en-US" sz="12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EAF7F5"/>
                    </a:solidFill>
                  </a:tcPr>
                </a:tc>
                <a:tc>
                  <a:txBody>
                    <a:bodyPr/>
                    <a:lstStyle/>
                    <a:p>
                      <a:pPr algn="ctr" indent="0" marL="0">
                        <a:buNone/>
                      </a:pPr>
                      <a:r>
                        <a:rPr lang="en-US" sz="1300" dirty="0">
                          <a:solidFill>
                            <a:srgbClr val="153A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53A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53A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53A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153A40"/>
                          </a:solidFill>
                          <a:latin typeface="Calibri" pitchFamily="34" charset="0"/>
                          <a:ea typeface="Calibri" pitchFamily="34" charset="-122"/>
                          <a:cs typeface="Calibri" pitchFamily="34" charset="-120"/>
                        </a:rPr>
                        <a:t>Cara</a:t>
                      </a:r>
                      <a:endParaRPr lang="en-US" sz="12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EAF7F5"/>
                    </a:solidFill>
                  </a:tcPr>
                </a:tc>
                <a:tc>
                  <a:txBody>
                    <a:bodyPr/>
                    <a:lstStyle/>
                    <a:p>
                      <a:pPr algn="ctr" indent="0" marL="0">
                        <a:buNone/>
                      </a:pPr>
                      <a:r>
                        <a:rPr lang="en-US" sz="1300" dirty="0">
                          <a:solidFill>
                            <a:srgbClr val="153A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53A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53A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53A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CDE8E3"/>
                      </a:solidFill>
                      <a:prstDash val="solid"/>
                      <a:round/>
                      <a:headEnd type="none" w="med" len="med"/>
                      <a:tailEnd type="none" w="med" len="med"/>
                    </a:lnL>
                    <a:lnR w="12700" cap="flat" cmpd="sng" algn="ctr">
                      <a:solidFill>
                        <a:srgbClr val="CDE8E3"/>
                      </a:solidFill>
                      <a:prstDash val="solid"/>
                      <a:round/>
                      <a:headEnd type="none" w="med" len="med"/>
                      <a:tailEnd type="none" w="med" len="med"/>
                    </a:lnR>
                    <a:lnT w="12700" cap="flat" cmpd="sng" algn="ctr">
                      <a:solidFill>
                        <a:srgbClr val="CDE8E3"/>
                      </a:solidFill>
                      <a:prstDash val="solid"/>
                      <a:round/>
                      <a:headEnd type="none" w="med" len="med"/>
                      <a:tailEnd type="none" w="med" len="med"/>
                    </a:lnT>
                    <a:lnB w="12700" cap="flat" cmpd="sng" algn="ctr">
                      <a:solidFill>
                        <a:srgbClr val="CDE8E3"/>
                      </a:solidFill>
                      <a:prstDash val="solid"/>
                      <a:round/>
                      <a:headEnd type="none" w="med" len="med"/>
                      <a:tailEnd type="none" w="med" len="med"/>
                    </a:lnB>
                    <a:solidFill>
                      <a:srgbClr val="FFFFFF"/>
                    </a:solidFill>
                  </a:tcPr>
                </a:tc>
              </a:tr>
            </a:tbl>
          </a:graphicData>
        </a:graphic>
      </p:graphicFrame>
      <p:sp>
        <p:nvSpPr>
          <p:cNvPr id="6" name="Shape 3"/>
          <p:cNvSpPr/>
          <p:nvPr/>
        </p:nvSpPr>
        <p:spPr>
          <a:xfrm>
            <a:off x="7498080" y="1874520"/>
            <a:ext cx="4069080" cy="3246120"/>
          </a:xfrm>
          <a:prstGeom prst="roundRect">
            <a:avLst>
              <a:gd name="adj" fmla="val 3944"/>
            </a:avLst>
          </a:prstGeom>
          <a:solidFill>
            <a:srgbClr val="EAF7F5"/>
          </a:solidFill>
          <a:ln/>
          <a:effectLst>
            <a:outerShdw sx="100000" sy="100000" kx="0" ky="0" algn="bl" rotWithShape="0" blurRad="127000" dist="50800" dir="5400000">
              <a:srgbClr val="8A93A6">
                <a:alpha val="13000"/>
              </a:srgbClr>
            </a:outerShdw>
          </a:effectLst>
        </p:spPr>
      </p:sp>
      <p:sp>
        <p:nvSpPr>
          <p:cNvPr id="7" name="Text 4"/>
          <p:cNvSpPr/>
          <p:nvPr/>
        </p:nvSpPr>
        <p:spPr>
          <a:xfrm>
            <a:off x="7772400" y="2057400"/>
            <a:ext cx="3566160" cy="320040"/>
          </a:xfrm>
          <a:prstGeom prst="rect">
            <a:avLst/>
          </a:prstGeom>
          <a:noFill/>
          <a:ln/>
        </p:spPr>
        <p:txBody>
          <a:bodyPr wrap="square" lIns="0" tIns="0" rIns="0" bIns="0" rtlCol="0" anchor="ctr"/>
          <a:lstStyle/>
          <a:p>
            <a:pPr indent="0" marL="0">
              <a:buNone/>
            </a:pPr>
            <a:r>
              <a:rPr lang="en-US" sz="1400" b="1" dirty="0">
                <a:solidFill>
                  <a:srgbClr val="153A40"/>
                </a:solidFill>
                <a:latin typeface="Cambria" pitchFamily="34" charset="0"/>
                <a:ea typeface="Cambria" pitchFamily="34" charset="-122"/>
                <a:cs typeface="Cambria" pitchFamily="34" charset="-120"/>
              </a:rPr>
              <a:t>Reading the table</a:t>
            </a:r>
            <a:endParaRPr lang="en-US" sz="1400" dirty="0"/>
          </a:p>
        </p:txBody>
      </p:sp>
      <p:sp>
        <p:nvSpPr>
          <p:cNvPr id="8" name="Shape 5"/>
          <p:cNvSpPr/>
          <p:nvPr/>
        </p:nvSpPr>
        <p:spPr>
          <a:xfrm>
            <a:off x="7772400" y="2514600"/>
            <a:ext cx="310896" cy="310896"/>
          </a:xfrm>
          <a:prstGeom prst="ellipse">
            <a:avLst/>
          </a:prstGeom>
          <a:solidFill>
            <a:srgbClr val="028090"/>
          </a:solidFill>
          <a:ln/>
        </p:spPr>
      </p:sp>
      <p:sp>
        <p:nvSpPr>
          <p:cNvPr id="9" name="Text 6"/>
          <p:cNvSpPr/>
          <p:nvPr/>
        </p:nvSpPr>
        <p:spPr>
          <a:xfrm>
            <a:off x="7772400" y="25146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0" name="Text 7"/>
          <p:cNvSpPr/>
          <p:nvPr/>
        </p:nvSpPr>
        <p:spPr>
          <a:xfrm>
            <a:off x="8183880" y="2441448"/>
            <a:ext cx="3200400" cy="548640"/>
          </a:xfrm>
          <a:prstGeom prst="rect">
            <a:avLst/>
          </a:prstGeom>
          <a:noFill/>
          <a:ln/>
        </p:spPr>
        <p:txBody>
          <a:bodyPr wrap="square" lIns="0" tIns="0" rIns="0" bIns="0" rtlCol="0" anchor="t"/>
          <a:lstStyle/>
          <a:p>
            <a:pPr indent="0" marL="0">
              <a:buNone/>
            </a:pPr>
            <a:r>
              <a:rPr lang="en-US" sz="1150" dirty="0">
                <a:solidFill>
                  <a:srgbClr val="153A40"/>
                </a:solidFill>
                <a:latin typeface="Calibri" pitchFamily="34" charset="0"/>
                <a:ea typeface="Calibri" pitchFamily="34" charset="-122"/>
                <a:cs typeface="Calibri" pitchFamily="34" charset="-120"/>
              </a:rPr>
              <a:t>You and Ana rate Items A &amp; B almost identically.</a:t>
            </a:r>
            <a:endParaRPr lang="en-US" sz="1150" dirty="0"/>
          </a:p>
        </p:txBody>
      </p:sp>
      <p:sp>
        <p:nvSpPr>
          <p:cNvPr id="11" name="Shape 8"/>
          <p:cNvSpPr/>
          <p:nvPr/>
        </p:nvSpPr>
        <p:spPr>
          <a:xfrm>
            <a:off x="7772400" y="3154680"/>
            <a:ext cx="310896" cy="310896"/>
          </a:xfrm>
          <a:prstGeom prst="ellipse">
            <a:avLst/>
          </a:prstGeom>
          <a:solidFill>
            <a:srgbClr val="028090"/>
          </a:solidFill>
          <a:ln/>
        </p:spPr>
      </p:sp>
      <p:sp>
        <p:nvSpPr>
          <p:cNvPr id="12" name="Text 9"/>
          <p:cNvSpPr/>
          <p:nvPr/>
        </p:nvSpPr>
        <p:spPr>
          <a:xfrm>
            <a:off x="7772400" y="31546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3" name="Text 10"/>
          <p:cNvSpPr/>
          <p:nvPr/>
        </p:nvSpPr>
        <p:spPr>
          <a:xfrm>
            <a:off x="8183880" y="3081528"/>
            <a:ext cx="3200400" cy="548640"/>
          </a:xfrm>
          <a:prstGeom prst="rect">
            <a:avLst/>
          </a:prstGeom>
          <a:noFill/>
          <a:ln/>
        </p:spPr>
        <p:txBody>
          <a:bodyPr wrap="square" lIns="0" tIns="0" rIns="0" bIns="0" rtlCol="0" anchor="t"/>
          <a:lstStyle/>
          <a:p>
            <a:pPr indent="0" marL="0">
              <a:buNone/>
            </a:pPr>
            <a:r>
              <a:rPr lang="en-US" sz="1150" dirty="0">
                <a:solidFill>
                  <a:srgbClr val="153A40"/>
                </a:solidFill>
                <a:latin typeface="Calibri" pitchFamily="34" charset="0"/>
                <a:ea typeface="Calibri" pitchFamily="34" charset="-122"/>
                <a:cs typeface="Calibri" pitchFamily="34" charset="-120"/>
              </a:rPr>
              <a:t>Ana loves Item D (★★★★). You haven't tried it.</a:t>
            </a:r>
            <a:endParaRPr lang="en-US" sz="1150" dirty="0"/>
          </a:p>
        </p:txBody>
      </p:sp>
      <p:sp>
        <p:nvSpPr>
          <p:cNvPr id="14" name="Shape 11"/>
          <p:cNvSpPr/>
          <p:nvPr/>
        </p:nvSpPr>
        <p:spPr>
          <a:xfrm>
            <a:off x="7772400" y="3794760"/>
            <a:ext cx="310896" cy="310896"/>
          </a:xfrm>
          <a:prstGeom prst="ellipse">
            <a:avLst/>
          </a:prstGeom>
          <a:solidFill>
            <a:srgbClr val="FF6B6B"/>
          </a:solidFill>
          <a:ln/>
        </p:spPr>
      </p:sp>
      <p:sp>
        <p:nvSpPr>
          <p:cNvPr id="15" name="Text 12"/>
          <p:cNvSpPr/>
          <p:nvPr/>
        </p:nvSpPr>
        <p:spPr>
          <a:xfrm>
            <a:off x="7772400" y="37947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6" name="Text 13"/>
          <p:cNvSpPr/>
          <p:nvPr/>
        </p:nvSpPr>
        <p:spPr>
          <a:xfrm>
            <a:off x="8183880" y="3721608"/>
            <a:ext cx="3200400" cy="548640"/>
          </a:xfrm>
          <a:prstGeom prst="rect">
            <a:avLst/>
          </a:prstGeom>
          <a:noFill/>
          <a:ln/>
        </p:spPr>
        <p:txBody>
          <a:bodyPr wrap="square" lIns="0" tIns="0" rIns="0" bIns="0" rtlCol="0" anchor="t"/>
          <a:lstStyle/>
          <a:p>
            <a:pPr indent="0" marL="0">
              <a:buNone/>
            </a:pPr>
            <a:r>
              <a:rPr lang="en-US" sz="1150" dirty="0">
                <a:solidFill>
                  <a:srgbClr val="153A40"/>
                </a:solidFill>
                <a:latin typeface="Calibri" pitchFamily="34" charset="0"/>
                <a:ea typeface="Calibri" pitchFamily="34" charset="-122"/>
                <a:cs typeface="Calibri" pitchFamily="34" charset="-120"/>
              </a:rPr>
              <a:t>So we predict you'll like Item D too → recommend it.</a:t>
            </a:r>
            <a:endParaRPr lang="en-US" sz="1150" dirty="0"/>
          </a:p>
        </p:txBody>
      </p:sp>
      <p:sp>
        <p:nvSpPr>
          <p:cNvPr id="17" name="Shape 14"/>
          <p:cNvSpPr/>
          <p:nvPr/>
        </p:nvSpPr>
        <p:spPr>
          <a:xfrm>
            <a:off x="7772400" y="4434840"/>
            <a:ext cx="310896" cy="310896"/>
          </a:xfrm>
          <a:prstGeom prst="ellipse">
            <a:avLst/>
          </a:prstGeom>
          <a:solidFill>
            <a:srgbClr val="028090"/>
          </a:solidFill>
          <a:ln/>
        </p:spPr>
      </p:sp>
      <p:sp>
        <p:nvSpPr>
          <p:cNvPr id="18" name="Text 15"/>
          <p:cNvSpPr/>
          <p:nvPr/>
        </p:nvSpPr>
        <p:spPr>
          <a:xfrm>
            <a:off x="7772400" y="44348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19" name="Text 16"/>
          <p:cNvSpPr/>
          <p:nvPr/>
        </p:nvSpPr>
        <p:spPr>
          <a:xfrm>
            <a:off x="8183880" y="4361688"/>
            <a:ext cx="3200400" cy="548640"/>
          </a:xfrm>
          <a:prstGeom prst="rect">
            <a:avLst/>
          </a:prstGeom>
          <a:noFill/>
          <a:ln/>
        </p:spPr>
        <p:txBody>
          <a:bodyPr wrap="square" lIns="0" tIns="0" rIns="0" bIns="0" rtlCol="0" anchor="t"/>
          <a:lstStyle/>
          <a:p>
            <a:pPr indent="0" marL="0">
              <a:buNone/>
            </a:pPr>
            <a:r>
              <a:rPr lang="en-US" sz="1150" dirty="0">
                <a:solidFill>
                  <a:srgbClr val="153A40"/>
                </a:solidFill>
                <a:latin typeface="Calibri" pitchFamily="34" charset="0"/>
                <a:ea typeface="Calibri" pitchFamily="34" charset="-122"/>
                <a:cs typeface="Calibri" pitchFamily="34" charset="-120"/>
              </a:rPr>
              <a:t>That's “user-based” CF. “Item-based” flips it: find items rated alike.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FF6B6B"/>
                </a:solidFill>
                <a:latin typeface="Calibri" pitchFamily="34" charset="0"/>
                <a:ea typeface="Calibri" pitchFamily="34" charset="-122"/>
                <a:cs typeface="Calibri" pitchFamily="34" charset="-120"/>
              </a:rPr>
              <a:t>FROM BIG TABLES TO EMBEDDINGS</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53A40"/>
                </a:solidFill>
                <a:latin typeface="Cambria" pitchFamily="34" charset="0"/>
                <a:ea typeface="Cambria" pitchFamily="34" charset="-122"/>
                <a:cs typeface="Cambria" pitchFamily="34" charset="-120"/>
              </a:rPr>
              <a:t>Turn taste into coordinates; nearby = similar</a:t>
            </a:r>
            <a:endParaRPr lang="en-US" sz="2700" dirty="0"/>
          </a:p>
        </p:txBody>
      </p:sp>
      <p:sp>
        <p:nvSpPr>
          <p:cNvPr id="4" name="Text 2"/>
          <p:cNvSpPr/>
          <p:nvPr/>
        </p:nvSpPr>
        <p:spPr>
          <a:xfrm>
            <a:off x="640080" y="1828800"/>
            <a:ext cx="4754880" cy="3108960"/>
          </a:xfrm>
          <a:prstGeom prst="rect">
            <a:avLst/>
          </a:prstGeom>
          <a:noFill/>
          <a:ln/>
        </p:spPr>
        <p:txBody>
          <a:bodyPr wrap="square" lIns="0" tIns="0" rIns="0" bIns="0" rtlCol="0" anchor="t"/>
          <a:lstStyle/>
          <a:p>
            <a:pPr indent="0" marL="0">
              <a:lnSpc>
                <a:spcPct val="105000"/>
              </a:lnSpc>
              <a:buNone/>
            </a:pPr>
            <a:r>
              <a:rPr lang="en-US" sz="1400" dirty="0">
                <a:solidFill>
                  <a:srgbClr val="153A40"/>
                </a:solidFill>
                <a:latin typeface="Calibri" pitchFamily="34" charset="0"/>
                <a:ea typeface="Calibri" pitchFamily="34" charset="-122"/>
                <a:cs typeface="Calibri" pitchFamily="34" charset="-120"/>
              </a:rPr>
              <a:t>Real rating tables are huge and mostly empty (most people rate almost nothing).</a:t>
            </a:r>
            <a:endParaRPr lang="en-US" sz="1400" dirty="0"/>
          </a:p>
          <a:p>
            <a:pPr indent="0" marL="0">
              <a:lnSpc>
                <a:spcPct val="105000"/>
              </a:lnSpc>
              <a:buNone/>
            </a:pPr>
            <a:endParaRPr lang="en-US" sz="1400" dirty="0"/>
          </a:p>
          <a:p>
            <a:pPr indent="0" marL="0">
              <a:lnSpc>
                <a:spcPct val="105000"/>
              </a:lnSpc>
              <a:buNone/>
            </a:pPr>
            <a:r>
              <a:rPr lang="en-US" sz="1400" dirty="0">
                <a:solidFill>
                  <a:srgbClr val="153A40"/>
                </a:solidFill>
                <a:latin typeface="Calibri" pitchFamily="34" charset="0"/>
                <a:ea typeface="Calibri" pitchFamily="34" charset="-122"/>
                <a:cs typeface="Calibri" pitchFamily="34" charset="-120"/>
              </a:rPr>
              <a:t>Embeddings compress each user and item into a short list of numbers — a point in space.</a:t>
            </a:r>
            <a:endParaRPr lang="en-US" sz="1400" dirty="0"/>
          </a:p>
          <a:p>
            <a:pPr indent="0" marL="0">
              <a:lnSpc>
                <a:spcPct val="105000"/>
              </a:lnSpc>
              <a:buNone/>
            </a:pPr>
            <a:endParaRPr lang="en-US" sz="1400" dirty="0"/>
          </a:p>
          <a:p>
            <a:pPr indent="0" marL="0">
              <a:lnSpc>
                <a:spcPct val="105000"/>
              </a:lnSpc>
              <a:buNone/>
            </a:pPr>
            <a:r>
              <a:rPr lang="en-US" sz="1400" b="1" dirty="0">
                <a:solidFill>
                  <a:srgbClr val="028090"/>
                </a:solidFill>
                <a:latin typeface="Calibri" pitchFamily="34" charset="0"/>
                <a:ea typeface="Calibri" pitchFamily="34" charset="-122"/>
                <a:cs typeface="Calibri" pitchFamily="34" charset="-120"/>
              </a:rPr>
              <a:t>Items close together are similar; we recommend items near what you like.</a:t>
            </a:r>
            <a:endParaRPr lang="en-US" sz="1400" dirty="0"/>
          </a:p>
        </p:txBody>
      </p:sp>
      <p:sp>
        <p:nvSpPr>
          <p:cNvPr id="5" name="Shape 3"/>
          <p:cNvSpPr/>
          <p:nvPr/>
        </p:nvSpPr>
        <p:spPr>
          <a:xfrm>
            <a:off x="5852160" y="1783080"/>
            <a:ext cx="5715000" cy="3566160"/>
          </a:xfrm>
          <a:prstGeom prst="roundRect">
            <a:avLst>
              <a:gd name="adj" fmla="val 3590"/>
            </a:avLst>
          </a:prstGeom>
          <a:solidFill>
            <a:srgbClr val="EAF7F5"/>
          </a:solidFill>
          <a:ln/>
          <a:effectLst>
            <a:outerShdw sx="100000" sy="100000" kx="0" ky="0" algn="bl" rotWithShape="0" blurRad="127000" dist="50800" dir="5400000">
              <a:srgbClr val="8A93A6">
                <a:alpha val="13000"/>
              </a:srgbClr>
            </a:outerShdw>
          </a:effectLst>
        </p:spPr>
      </p:sp>
      <p:sp>
        <p:nvSpPr>
          <p:cNvPr id="6" name="Shape 4"/>
          <p:cNvSpPr/>
          <p:nvPr/>
        </p:nvSpPr>
        <p:spPr>
          <a:xfrm>
            <a:off x="6309360" y="4800600"/>
            <a:ext cx="4800600" cy="0"/>
          </a:xfrm>
          <a:prstGeom prst="line">
            <a:avLst/>
          </a:prstGeom>
          <a:noFill/>
          <a:ln w="12700">
            <a:solidFill>
              <a:srgbClr val="5E7A80"/>
            </a:solidFill>
            <a:prstDash val="solid"/>
          </a:ln>
        </p:spPr>
      </p:sp>
      <p:sp>
        <p:nvSpPr>
          <p:cNvPr id="7" name="Shape 5"/>
          <p:cNvSpPr/>
          <p:nvPr/>
        </p:nvSpPr>
        <p:spPr>
          <a:xfrm>
            <a:off x="6309360" y="2240280"/>
            <a:ext cx="0" cy="2560320"/>
          </a:xfrm>
          <a:prstGeom prst="line">
            <a:avLst/>
          </a:prstGeom>
          <a:noFill/>
          <a:ln w="12700">
            <a:solidFill>
              <a:srgbClr val="5E7A80"/>
            </a:solidFill>
            <a:prstDash val="solid"/>
          </a:ln>
        </p:spPr>
      </p:sp>
      <p:sp>
        <p:nvSpPr>
          <p:cNvPr id="8" name="Shape 6"/>
          <p:cNvSpPr/>
          <p:nvPr/>
        </p:nvSpPr>
        <p:spPr>
          <a:xfrm>
            <a:off x="7680960" y="3200400"/>
            <a:ext cx="274320" cy="274320"/>
          </a:xfrm>
          <a:prstGeom prst="ellipse">
            <a:avLst/>
          </a:prstGeom>
          <a:solidFill>
            <a:srgbClr val="028090"/>
          </a:solidFill>
          <a:ln/>
        </p:spPr>
      </p:sp>
      <p:sp>
        <p:nvSpPr>
          <p:cNvPr id="9" name="Shape 7"/>
          <p:cNvSpPr/>
          <p:nvPr/>
        </p:nvSpPr>
        <p:spPr>
          <a:xfrm>
            <a:off x="8138160" y="3566160"/>
            <a:ext cx="274320" cy="274320"/>
          </a:xfrm>
          <a:prstGeom prst="ellipse">
            <a:avLst/>
          </a:prstGeom>
          <a:solidFill>
            <a:srgbClr val="028090"/>
          </a:solidFill>
          <a:ln/>
        </p:spPr>
      </p:sp>
      <p:sp>
        <p:nvSpPr>
          <p:cNvPr id="10" name="Shape 8"/>
          <p:cNvSpPr/>
          <p:nvPr/>
        </p:nvSpPr>
        <p:spPr>
          <a:xfrm>
            <a:off x="7498080" y="3840480"/>
            <a:ext cx="274320" cy="274320"/>
          </a:xfrm>
          <a:prstGeom prst="ellipse">
            <a:avLst/>
          </a:prstGeom>
          <a:solidFill>
            <a:srgbClr val="028090"/>
          </a:solidFill>
          <a:ln/>
        </p:spPr>
      </p:sp>
      <p:sp>
        <p:nvSpPr>
          <p:cNvPr id="11" name="Shape 9"/>
          <p:cNvSpPr/>
          <p:nvPr/>
        </p:nvSpPr>
        <p:spPr>
          <a:xfrm>
            <a:off x="8412480" y="3017520"/>
            <a:ext cx="274320" cy="274320"/>
          </a:xfrm>
          <a:prstGeom prst="ellipse">
            <a:avLst/>
          </a:prstGeom>
          <a:solidFill>
            <a:srgbClr val="028090"/>
          </a:solidFill>
          <a:ln/>
        </p:spPr>
      </p:sp>
      <p:sp>
        <p:nvSpPr>
          <p:cNvPr id="12" name="Shape 10"/>
          <p:cNvSpPr/>
          <p:nvPr/>
        </p:nvSpPr>
        <p:spPr>
          <a:xfrm>
            <a:off x="10241280" y="4572000"/>
            <a:ext cx="274320" cy="274320"/>
          </a:xfrm>
          <a:prstGeom prst="ellipse">
            <a:avLst/>
          </a:prstGeom>
          <a:solidFill>
            <a:srgbClr val="FF6B6B"/>
          </a:solidFill>
          <a:ln/>
        </p:spPr>
      </p:sp>
      <p:sp>
        <p:nvSpPr>
          <p:cNvPr id="13" name="Shape 11"/>
          <p:cNvSpPr/>
          <p:nvPr/>
        </p:nvSpPr>
        <p:spPr>
          <a:xfrm>
            <a:off x="10698480" y="4937760"/>
            <a:ext cx="274320" cy="274320"/>
          </a:xfrm>
          <a:prstGeom prst="ellipse">
            <a:avLst/>
          </a:prstGeom>
          <a:solidFill>
            <a:srgbClr val="FF6B6B"/>
          </a:solidFill>
          <a:ln/>
        </p:spPr>
      </p:sp>
      <p:sp>
        <p:nvSpPr>
          <p:cNvPr id="14" name="Shape 12"/>
          <p:cNvSpPr/>
          <p:nvPr/>
        </p:nvSpPr>
        <p:spPr>
          <a:xfrm>
            <a:off x="10058400" y="5029200"/>
            <a:ext cx="274320" cy="274320"/>
          </a:xfrm>
          <a:prstGeom prst="ellipse">
            <a:avLst/>
          </a:prstGeom>
          <a:solidFill>
            <a:srgbClr val="FF6B6B"/>
          </a:solidFill>
          <a:ln/>
        </p:spPr>
      </p:sp>
      <p:sp>
        <p:nvSpPr>
          <p:cNvPr id="15" name="Shape 13"/>
          <p:cNvSpPr/>
          <p:nvPr/>
        </p:nvSpPr>
        <p:spPr>
          <a:xfrm>
            <a:off x="10881360" y="4389120"/>
            <a:ext cx="274320" cy="274320"/>
          </a:xfrm>
          <a:prstGeom prst="ellipse">
            <a:avLst/>
          </a:prstGeom>
          <a:solidFill>
            <a:srgbClr val="FF6B6B"/>
          </a:solidFill>
          <a:ln/>
        </p:spPr>
      </p:sp>
      <p:sp>
        <p:nvSpPr>
          <p:cNvPr id="16" name="Text 14"/>
          <p:cNvSpPr/>
          <p:nvPr/>
        </p:nvSpPr>
        <p:spPr>
          <a:xfrm>
            <a:off x="7132320" y="4023360"/>
            <a:ext cx="1645920" cy="27432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Sporty items</a:t>
            </a:r>
            <a:endParaRPr lang="en-US" sz="1100" dirty="0"/>
          </a:p>
        </p:txBody>
      </p:sp>
      <p:sp>
        <p:nvSpPr>
          <p:cNvPr id="17" name="Text 15"/>
          <p:cNvSpPr/>
          <p:nvPr/>
        </p:nvSpPr>
        <p:spPr>
          <a:xfrm>
            <a:off x="9692640" y="5257800"/>
            <a:ext cx="1645920" cy="274320"/>
          </a:xfrm>
          <a:prstGeom prst="rect">
            <a:avLst/>
          </a:prstGeom>
          <a:noFill/>
          <a:ln/>
        </p:spPr>
        <p:txBody>
          <a:bodyPr wrap="square" lIns="0" tIns="0" rIns="0" bIns="0" rtlCol="0" anchor="ctr"/>
          <a:lstStyle/>
          <a:p>
            <a:pPr indent="0" marL="0">
              <a:buNone/>
            </a:pPr>
            <a:r>
              <a:rPr lang="en-US" sz="1100" b="1" dirty="0">
                <a:solidFill>
                  <a:srgbClr val="FF6B6B"/>
                </a:solidFill>
                <a:latin typeface="Calibri" pitchFamily="34" charset="0"/>
                <a:ea typeface="Calibri" pitchFamily="34" charset="-122"/>
                <a:cs typeface="Calibri" pitchFamily="34" charset="-120"/>
              </a:rPr>
              <a:t>Formal items</a:t>
            </a:r>
            <a:endParaRPr lang="en-US" sz="1100" dirty="0"/>
          </a:p>
        </p:txBody>
      </p:sp>
      <p:sp>
        <p:nvSpPr>
          <p:cNvPr id="18" name="Text 16"/>
          <p:cNvSpPr/>
          <p:nvPr/>
        </p:nvSpPr>
        <p:spPr>
          <a:xfrm>
            <a:off x="6309360" y="4892040"/>
            <a:ext cx="4800600" cy="274320"/>
          </a:xfrm>
          <a:prstGeom prst="rect">
            <a:avLst/>
          </a:prstGeom>
          <a:noFill/>
          <a:ln/>
        </p:spPr>
        <p:txBody>
          <a:bodyPr wrap="square" lIns="0" tIns="0" rIns="0" bIns="0" rtlCol="0" anchor="ctr"/>
          <a:lstStyle/>
          <a:p>
            <a:pPr algn="ctr" indent="0" marL="0">
              <a:buNone/>
            </a:pPr>
            <a:r>
              <a:rPr lang="en-US" sz="1050" i="1" dirty="0">
                <a:solidFill>
                  <a:srgbClr val="5E7A80"/>
                </a:solidFill>
                <a:latin typeface="Calibri" pitchFamily="34" charset="0"/>
                <a:ea typeface="Calibri" pitchFamily="34" charset="-122"/>
                <a:cs typeface="Calibri" pitchFamily="34" charset="-120"/>
              </a:rPr>
              <a:t>Each dot = one product, placed by learned taste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FF6B6B"/>
                </a:solidFill>
                <a:latin typeface="Calibri" pitchFamily="34" charset="0"/>
                <a:ea typeface="Calibri" pitchFamily="34" charset="-122"/>
                <a:cs typeface="Calibri" pitchFamily="34" charset="-120"/>
              </a:rPr>
              <a:t>THE DATA BEHIND IT</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53A40"/>
                </a:solidFill>
                <a:latin typeface="Cambria" pitchFamily="34" charset="0"/>
                <a:ea typeface="Cambria" pitchFamily="34" charset="-122"/>
                <a:cs typeface="Cambria" pitchFamily="34" charset="-120"/>
              </a:rPr>
              <a:t>What users say vs. what they do</a:t>
            </a:r>
            <a:endParaRPr lang="en-US" sz="2700" dirty="0"/>
          </a:p>
        </p:txBody>
      </p:sp>
      <p:sp>
        <p:nvSpPr>
          <p:cNvPr id="4" name="Shape 2"/>
          <p:cNvSpPr/>
          <p:nvPr/>
        </p:nvSpPr>
        <p:spPr>
          <a:xfrm>
            <a:off x="640080" y="1737360"/>
            <a:ext cx="5120640" cy="3108960"/>
          </a:xfrm>
          <a:prstGeom prst="roundRect">
            <a:avLst>
              <a:gd name="adj" fmla="val 4118"/>
            </a:avLst>
          </a:prstGeom>
          <a:solidFill>
            <a:srgbClr val="EAF7F5"/>
          </a:solidFill>
          <a:ln/>
          <a:effectLst>
            <a:outerShdw sx="100000" sy="100000" kx="0" ky="0" algn="bl" rotWithShape="0" blurRad="127000" dist="50800" dir="5400000">
              <a:srgbClr val="8A93A6">
                <a:alpha val="13000"/>
              </a:srgbClr>
            </a:outerShdw>
          </a:effectLst>
        </p:spPr>
      </p:sp>
      <p:sp>
        <p:nvSpPr>
          <p:cNvPr id="5" name="Shape 3"/>
          <p:cNvSpPr/>
          <p:nvPr/>
        </p:nvSpPr>
        <p:spPr>
          <a:xfrm>
            <a:off x="932688" y="2011680"/>
            <a:ext cx="585216" cy="585216"/>
          </a:xfrm>
          <a:prstGeom prst="ellipse">
            <a:avLst/>
          </a:prstGeom>
          <a:solidFill>
            <a:srgbClr val="028090"/>
          </a:solidFill>
          <a:ln/>
          <a:effectLst>
            <a:outerShdw sx="100000" sy="100000" kx="0" ky="0" algn="bl" rotWithShape="0" blurRad="127000" dist="50800" dir="5400000">
              <a:srgbClr val="8A93A6">
                <a:alpha val="13000"/>
              </a:srgbClr>
            </a:outerShdw>
          </a:effectLst>
        </p:spPr>
      </p:sp>
      <p:pic>
        <p:nvPicPr>
          <p:cNvPr id="6" name="Image 0" descr="preencoded.png">    </p:cNvPr>
          <p:cNvPicPr>
            <a:picLocks noChangeAspect="1"/>
          </p:cNvPicPr>
          <p:nvPr/>
        </p:nvPicPr>
        <p:blipFill>
          <a:blip r:embed="rId1"/>
          <a:stretch>
            <a:fillRect/>
          </a:stretch>
        </p:blipFill>
        <p:spPr>
          <a:xfrm>
            <a:off x="1090696" y="2169688"/>
            <a:ext cx="269199" cy="269199"/>
          </a:xfrm>
          <a:prstGeom prst="rect">
            <a:avLst/>
          </a:prstGeom>
        </p:spPr>
      </p:pic>
      <p:sp>
        <p:nvSpPr>
          <p:cNvPr id="7" name="Text 4"/>
          <p:cNvSpPr/>
          <p:nvPr/>
        </p:nvSpPr>
        <p:spPr>
          <a:xfrm>
            <a:off x="1664208" y="2011680"/>
            <a:ext cx="3840480" cy="365760"/>
          </a:xfrm>
          <a:prstGeom prst="rect">
            <a:avLst/>
          </a:prstGeom>
          <a:noFill/>
          <a:ln/>
        </p:spPr>
        <p:txBody>
          <a:bodyPr wrap="square" lIns="0" tIns="0" rIns="0" bIns="0" rtlCol="0" anchor="ctr"/>
          <a:lstStyle/>
          <a:p>
            <a:pPr indent="0" marL="0">
              <a:buNone/>
            </a:pPr>
            <a:r>
              <a:rPr lang="en-US" sz="1800" b="1" dirty="0">
                <a:solidFill>
                  <a:srgbClr val="153A40"/>
                </a:solidFill>
                <a:latin typeface="Cambria" pitchFamily="34" charset="0"/>
                <a:ea typeface="Cambria" pitchFamily="34" charset="-122"/>
                <a:cs typeface="Cambria" pitchFamily="34" charset="-120"/>
              </a:rPr>
              <a:t>Explicit signals</a:t>
            </a:r>
            <a:endParaRPr lang="en-US" sz="1800" dirty="0"/>
          </a:p>
        </p:txBody>
      </p:sp>
      <p:sp>
        <p:nvSpPr>
          <p:cNvPr id="8" name="Text 5"/>
          <p:cNvSpPr/>
          <p:nvPr/>
        </p:nvSpPr>
        <p:spPr>
          <a:xfrm>
            <a:off x="1664208" y="2395728"/>
            <a:ext cx="3840480" cy="274320"/>
          </a:xfrm>
          <a:prstGeom prst="rect">
            <a:avLst/>
          </a:prstGeom>
          <a:noFill/>
          <a:ln/>
        </p:spPr>
        <p:txBody>
          <a:bodyPr wrap="square" lIns="0" tIns="0" rIns="0" bIns="0" rtlCol="0" anchor="ctr"/>
          <a:lstStyle/>
          <a:p>
            <a:pPr indent="0" marL="0">
              <a:buNone/>
            </a:pPr>
            <a:r>
              <a:rPr lang="en-US" sz="1200" i="1" dirty="0">
                <a:solidFill>
                  <a:srgbClr val="5E7A80"/>
                </a:solidFill>
                <a:latin typeface="Calibri" pitchFamily="34" charset="0"/>
                <a:ea typeface="Calibri" pitchFamily="34" charset="-122"/>
                <a:cs typeface="Calibri" pitchFamily="34" charset="-120"/>
              </a:rPr>
              <a:t>Users tell us directly</a:t>
            </a:r>
            <a:endParaRPr lang="en-US" sz="1200" dirty="0"/>
          </a:p>
        </p:txBody>
      </p:sp>
      <p:pic>
        <p:nvPicPr>
          <p:cNvPr id="9" name="Image 1" descr="preencoded.png">    </p:cNvPr>
          <p:cNvPicPr>
            <a:picLocks noChangeAspect="1"/>
          </p:cNvPicPr>
          <p:nvPr/>
        </p:nvPicPr>
        <p:blipFill>
          <a:blip r:embed="rId2"/>
          <a:stretch>
            <a:fillRect/>
          </a:stretch>
        </p:blipFill>
        <p:spPr>
          <a:xfrm>
            <a:off x="1005840" y="2935224"/>
            <a:ext cx="219456" cy="219456"/>
          </a:xfrm>
          <a:prstGeom prst="rect">
            <a:avLst/>
          </a:prstGeom>
        </p:spPr>
      </p:pic>
      <p:sp>
        <p:nvSpPr>
          <p:cNvPr id="10" name="Text 6"/>
          <p:cNvSpPr/>
          <p:nvPr/>
        </p:nvSpPr>
        <p:spPr>
          <a:xfrm>
            <a:off x="1353312" y="2907792"/>
            <a:ext cx="4114800" cy="292608"/>
          </a:xfrm>
          <a:prstGeom prst="rect">
            <a:avLst/>
          </a:prstGeom>
          <a:noFill/>
          <a:ln/>
        </p:spPr>
        <p:txBody>
          <a:bodyPr wrap="square" lIns="0" tIns="0" rIns="0" bIns="0" rtlCol="0" anchor="ctr"/>
          <a:lstStyle/>
          <a:p>
            <a:pPr indent="0" marL="0">
              <a:buNone/>
            </a:pPr>
            <a:r>
              <a:rPr lang="en-US" sz="1350" dirty="0">
                <a:solidFill>
                  <a:srgbClr val="153A40"/>
                </a:solidFill>
                <a:latin typeface="Calibri" pitchFamily="34" charset="0"/>
                <a:ea typeface="Calibri" pitchFamily="34" charset="-122"/>
                <a:cs typeface="Calibri" pitchFamily="34" charset="-120"/>
              </a:rPr>
              <a:t>Star ratings you give</a:t>
            </a:r>
            <a:endParaRPr lang="en-US" sz="1350" dirty="0"/>
          </a:p>
        </p:txBody>
      </p:sp>
      <p:pic>
        <p:nvPicPr>
          <p:cNvPr id="11" name="Image 2" descr="preencoded.png">    </p:cNvPr>
          <p:cNvPicPr>
            <a:picLocks noChangeAspect="1"/>
          </p:cNvPicPr>
          <p:nvPr/>
        </p:nvPicPr>
        <p:blipFill>
          <a:blip r:embed="rId3"/>
          <a:stretch>
            <a:fillRect/>
          </a:stretch>
        </p:blipFill>
        <p:spPr>
          <a:xfrm>
            <a:off x="1005840" y="3374136"/>
            <a:ext cx="219456" cy="219456"/>
          </a:xfrm>
          <a:prstGeom prst="rect">
            <a:avLst/>
          </a:prstGeom>
        </p:spPr>
      </p:pic>
      <p:sp>
        <p:nvSpPr>
          <p:cNvPr id="12" name="Text 7"/>
          <p:cNvSpPr/>
          <p:nvPr/>
        </p:nvSpPr>
        <p:spPr>
          <a:xfrm>
            <a:off x="1353312" y="3346704"/>
            <a:ext cx="4114800" cy="292608"/>
          </a:xfrm>
          <a:prstGeom prst="rect">
            <a:avLst/>
          </a:prstGeom>
          <a:noFill/>
          <a:ln/>
        </p:spPr>
        <p:txBody>
          <a:bodyPr wrap="square" lIns="0" tIns="0" rIns="0" bIns="0" rtlCol="0" anchor="ctr"/>
          <a:lstStyle/>
          <a:p>
            <a:pPr indent="0" marL="0">
              <a:buNone/>
            </a:pPr>
            <a:r>
              <a:rPr lang="en-US" sz="1350" dirty="0">
                <a:solidFill>
                  <a:srgbClr val="153A40"/>
                </a:solidFill>
                <a:latin typeface="Calibri" pitchFamily="34" charset="0"/>
                <a:ea typeface="Calibri" pitchFamily="34" charset="-122"/>
                <a:cs typeface="Calibri" pitchFamily="34" charset="-120"/>
              </a:rPr>
              <a:t>Reviews you write</a:t>
            </a:r>
            <a:endParaRPr lang="en-US" sz="1350" dirty="0"/>
          </a:p>
        </p:txBody>
      </p:sp>
      <p:pic>
        <p:nvPicPr>
          <p:cNvPr id="13" name="Image 3" descr="preencoded.png">    </p:cNvPr>
          <p:cNvPicPr>
            <a:picLocks noChangeAspect="1"/>
          </p:cNvPicPr>
          <p:nvPr/>
        </p:nvPicPr>
        <p:blipFill>
          <a:blip r:embed="rId4"/>
          <a:stretch>
            <a:fillRect/>
          </a:stretch>
        </p:blipFill>
        <p:spPr>
          <a:xfrm>
            <a:off x="1005840" y="3813048"/>
            <a:ext cx="219456" cy="219456"/>
          </a:xfrm>
          <a:prstGeom prst="rect">
            <a:avLst/>
          </a:prstGeom>
        </p:spPr>
      </p:pic>
      <p:sp>
        <p:nvSpPr>
          <p:cNvPr id="14" name="Text 8"/>
          <p:cNvSpPr/>
          <p:nvPr/>
        </p:nvSpPr>
        <p:spPr>
          <a:xfrm>
            <a:off x="1353312" y="3785616"/>
            <a:ext cx="4114800" cy="292608"/>
          </a:xfrm>
          <a:prstGeom prst="rect">
            <a:avLst/>
          </a:prstGeom>
          <a:noFill/>
          <a:ln/>
        </p:spPr>
        <p:txBody>
          <a:bodyPr wrap="square" lIns="0" tIns="0" rIns="0" bIns="0" rtlCol="0" anchor="ctr"/>
          <a:lstStyle/>
          <a:p>
            <a:pPr indent="0" marL="0">
              <a:buNone/>
            </a:pPr>
            <a:r>
              <a:rPr lang="en-US" sz="1350" dirty="0">
                <a:solidFill>
                  <a:srgbClr val="153A40"/>
                </a:solidFill>
                <a:latin typeface="Calibri" pitchFamily="34" charset="0"/>
                <a:ea typeface="Calibri" pitchFamily="34" charset="-122"/>
                <a:cs typeface="Calibri" pitchFamily="34" charset="-120"/>
              </a:rPr>
              <a:t>Likes &amp; wishlists</a:t>
            </a:r>
            <a:endParaRPr lang="en-US" sz="1350" dirty="0"/>
          </a:p>
        </p:txBody>
      </p:sp>
      <p:pic>
        <p:nvPicPr>
          <p:cNvPr id="15" name="Image 4" descr="preencoded.png">    </p:cNvPr>
          <p:cNvPicPr>
            <a:picLocks noChangeAspect="1"/>
          </p:cNvPicPr>
          <p:nvPr/>
        </p:nvPicPr>
        <p:blipFill>
          <a:blip r:embed="rId5"/>
          <a:stretch>
            <a:fillRect/>
          </a:stretch>
        </p:blipFill>
        <p:spPr>
          <a:xfrm>
            <a:off x="1005840" y="4251960"/>
            <a:ext cx="219456" cy="219456"/>
          </a:xfrm>
          <a:prstGeom prst="rect">
            <a:avLst/>
          </a:prstGeom>
        </p:spPr>
      </p:pic>
      <p:sp>
        <p:nvSpPr>
          <p:cNvPr id="16" name="Text 9"/>
          <p:cNvSpPr/>
          <p:nvPr/>
        </p:nvSpPr>
        <p:spPr>
          <a:xfrm>
            <a:off x="1353312" y="4224528"/>
            <a:ext cx="4114800" cy="292608"/>
          </a:xfrm>
          <a:prstGeom prst="rect">
            <a:avLst/>
          </a:prstGeom>
          <a:noFill/>
          <a:ln/>
        </p:spPr>
        <p:txBody>
          <a:bodyPr wrap="square" lIns="0" tIns="0" rIns="0" bIns="0" rtlCol="0" anchor="ctr"/>
          <a:lstStyle/>
          <a:p>
            <a:pPr indent="0" marL="0">
              <a:buNone/>
            </a:pPr>
            <a:r>
              <a:rPr lang="en-US" sz="1350" dirty="0">
                <a:solidFill>
                  <a:srgbClr val="153A40"/>
                </a:solidFill>
                <a:latin typeface="Calibri" pitchFamily="34" charset="0"/>
                <a:ea typeface="Calibri" pitchFamily="34" charset="-122"/>
                <a:cs typeface="Calibri" pitchFamily="34" charset="-120"/>
              </a:rPr>
              <a:t>Preferences you pick</a:t>
            </a:r>
            <a:endParaRPr lang="en-US" sz="1350" dirty="0"/>
          </a:p>
        </p:txBody>
      </p:sp>
      <p:sp>
        <p:nvSpPr>
          <p:cNvPr id="17" name="Shape 10"/>
          <p:cNvSpPr/>
          <p:nvPr/>
        </p:nvSpPr>
        <p:spPr>
          <a:xfrm>
            <a:off x="6263640" y="1737360"/>
            <a:ext cx="5120640" cy="3108960"/>
          </a:xfrm>
          <a:prstGeom prst="roundRect">
            <a:avLst>
              <a:gd name="adj" fmla="val 4118"/>
            </a:avLst>
          </a:prstGeom>
          <a:solidFill>
            <a:srgbClr val="EAF7F5"/>
          </a:solidFill>
          <a:ln/>
          <a:effectLst>
            <a:outerShdw sx="100000" sy="100000" kx="0" ky="0" algn="bl" rotWithShape="0" blurRad="127000" dist="50800" dir="5400000">
              <a:srgbClr val="8A93A6">
                <a:alpha val="13000"/>
              </a:srgbClr>
            </a:outerShdw>
          </a:effectLst>
        </p:spPr>
      </p:sp>
      <p:sp>
        <p:nvSpPr>
          <p:cNvPr id="18" name="Shape 11"/>
          <p:cNvSpPr/>
          <p:nvPr/>
        </p:nvSpPr>
        <p:spPr>
          <a:xfrm>
            <a:off x="6556248" y="2011680"/>
            <a:ext cx="585216" cy="585216"/>
          </a:xfrm>
          <a:prstGeom prst="ellipse">
            <a:avLst/>
          </a:prstGeom>
          <a:solidFill>
            <a:srgbClr val="00A896"/>
          </a:solidFill>
          <a:ln/>
          <a:effectLst>
            <a:outerShdw sx="100000" sy="100000" kx="0" ky="0" algn="bl" rotWithShape="0" blurRad="127000" dist="50800" dir="5400000">
              <a:srgbClr val="8A93A6">
                <a:alpha val="13000"/>
              </a:srgbClr>
            </a:outerShdw>
          </a:effectLst>
        </p:spPr>
      </p:sp>
      <p:pic>
        <p:nvPicPr>
          <p:cNvPr id="19" name="Image 5" descr="preencoded.png">    </p:cNvPr>
          <p:cNvPicPr>
            <a:picLocks noChangeAspect="1"/>
          </p:cNvPicPr>
          <p:nvPr/>
        </p:nvPicPr>
        <p:blipFill>
          <a:blip r:embed="rId6"/>
          <a:stretch>
            <a:fillRect/>
          </a:stretch>
        </p:blipFill>
        <p:spPr>
          <a:xfrm>
            <a:off x="6714256" y="2169688"/>
            <a:ext cx="269199" cy="269199"/>
          </a:xfrm>
          <a:prstGeom prst="rect">
            <a:avLst/>
          </a:prstGeom>
        </p:spPr>
      </p:pic>
      <p:sp>
        <p:nvSpPr>
          <p:cNvPr id="20" name="Text 12"/>
          <p:cNvSpPr/>
          <p:nvPr/>
        </p:nvSpPr>
        <p:spPr>
          <a:xfrm>
            <a:off x="7287768" y="2011680"/>
            <a:ext cx="3840480" cy="365760"/>
          </a:xfrm>
          <a:prstGeom prst="rect">
            <a:avLst/>
          </a:prstGeom>
          <a:noFill/>
          <a:ln/>
        </p:spPr>
        <p:txBody>
          <a:bodyPr wrap="square" lIns="0" tIns="0" rIns="0" bIns="0" rtlCol="0" anchor="ctr"/>
          <a:lstStyle/>
          <a:p>
            <a:pPr indent="0" marL="0">
              <a:buNone/>
            </a:pPr>
            <a:r>
              <a:rPr lang="en-US" sz="1800" b="1" dirty="0">
                <a:solidFill>
                  <a:srgbClr val="153A40"/>
                </a:solidFill>
                <a:latin typeface="Cambria" pitchFamily="34" charset="0"/>
                <a:ea typeface="Cambria" pitchFamily="34" charset="-122"/>
                <a:cs typeface="Cambria" pitchFamily="34" charset="-120"/>
              </a:rPr>
              <a:t>Implicit signals</a:t>
            </a:r>
            <a:endParaRPr lang="en-US" sz="1800" dirty="0"/>
          </a:p>
        </p:txBody>
      </p:sp>
      <p:sp>
        <p:nvSpPr>
          <p:cNvPr id="21" name="Text 13"/>
          <p:cNvSpPr/>
          <p:nvPr/>
        </p:nvSpPr>
        <p:spPr>
          <a:xfrm>
            <a:off x="7287768" y="2395728"/>
            <a:ext cx="3840480" cy="274320"/>
          </a:xfrm>
          <a:prstGeom prst="rect">
            <a:avLst/>
          </a:prstGeom>
          <a:noFill/>
          <a:ln/>
        </p:spPr>
        <p:txBody>
          <a:bodyPr wrap="square" lIns="0" tIns="0" rIns="0" bIns="0" rtlCol="0" anchor="ctr"/>
          <a:lstStyle/>
          <a:p>
            <a:pPr indent="0" marL="0">
              <a:buNone/>
            </a:pPr>
            <a:r>
              <a:rPr lang="en-US" sz="1200" i="1" dirty="0">
                <a:solidFill>
                  <a:srgbClr val="5E7A80"/>
                </a:solidFill>
                <a:latin typeface="Calibri" pitchFamily="34" charset="0"/>
                <a:ea typeface="Calibri" pitchFamily="34" charset="-122"/>
                <a:cs typeface="Calibri" pitchFamily="34" charset="-120"/>
              </a:rPr>
              <a:t>We watch behavior</a:t>
            </a:r>
            <a:endParaRPr lang="en-US" sz="1200" dirty="0"/>
          </a:p>
        </p:txBody>
      </p:sp>
      <p:pic>
        <p:nvPicPr>
          <p:cNvPr id="22" name="Image 6" descr="preencoded.png">    </p:cNvPr>
          <p:cNvPicPr>
            <a:picLocks noChangeAspect="1"/>
          </p:cNvPicPr>
          <p:nvPr/>
        </p:nvPicPr>
        <p:blipFill>
          <a:blip r:embed="rId7"/>
          <a:stretch>
            <a:fillRect/>
          </a:stretch>
        </p:blipFill>
        <p:spPr>
          <a:xfrm>
            <a:off x="6629400" y="2935224"/>
            <a:ext cx="219456" cy="219456"/>
          </a:xfrm>
          <a:prstGeom prst="rect">
            <a:avLst/>
          </a:prstGeom>
        </p:spPr>
      </p:pic>
      <p:sp>
        <p:nvSpPr>
          <p:cNvPr id="23" name="Text 14"/>
          <p:cNvSpPr/>
          <p:nvPr/>
        </p:nvSpPr>
        <p:spPr>
          <a:xfrm>
            <a:off x="6976872" y="2907792"/>
            <a:ext cx="4114800" cy="292608"/>
          </a:xfrm>
          <a:prstGeom prst="rect">
            <a:avLst/>
          </a:prstGeom>
          <a:noFill/>
          <a:ln/>
        </p:spPr>
        <p:txBody>
          <a:bodyPr wrap="square" lIns="0" tIns="0" rIns="0" bIns="0" rtlCol="0" anchor="ctr"/>
          <a:lstStyle/>
          <a:p>
            <a:pPr indent="0" marL="0">
              <a:buNone/>
            </a:pPr>
            <a:r>
              <a:rPr lang="en-US" sz="1350" dirty="0">
                <a:solidFill>
                  <a:srgbClr val="153A40"/>
                </a:solidFill>
                <a:latin typeface="Calibri" pitchFamily="34" charset="0"/>
                <a:ea typeface="Calibri" pitchFamily="34" charset="-122"/>
                <a:cs typeface="Calibri" pitchFamily="34" charset="-120"/>
              </a:rPr>
              <a:t>Clicks and taps</a:t>
            </a:r>
            <a:endParaRPr lang="en-US" sz="1350" dirty="0"/>
          </a:p>
        </p:txBody>
      </p:sp>
      <p:pic>
        <p:nvPicPr>
          <p:cNvPr id="24" name="Image 7" descr="preencoded.png">    </p:cNvPr>
          <p:cNvPicPr>
            <a:picLocks noChangeAspect="1"/>
          </p:cNvPicPr>
          <p:nvPr/>
        </p:nvPicPr>
        <p:blipFill>
          <a:blip r:embed="rId8"/>
          <a:stretch>
            <a:fillRect/>
          </a:stretch>
        </p:blipFill>
        <p:spPr>
          <a:xfrm>
            <a:off x="6629400" y="3374136"/>
            <a:ext cx="219456" cy="219456"/>
          </a:xfrm>
          <a:prstGeom prst="rect">
            <a:avLst/>
          </a:prstGeom>
        </p:spPr>
      </p:pic>
      <p:sp>
        <p:nvSpPr>
          <p:cNvPr id="25" name="Text 15"/>
          <p:cNvSpPr/>
          <p:nvPr/>
        </p:nvSpPr>
        <p:spPr>
          <a:xfrm>
            <a:off x="6976872" y="3346704"/>
            <a:ext cx="4114800" cy="292608"/>
          </a:xfrm>
          <a:prstGeom prst="rect">
            <a:avLst/>
          </a:prstGeom>
          <a:noFill/>
          <a:ln/>
        </p:spPr>
        <p:txBody>
          <a:bodyPr wrap="square" lIns="0" tIns="0" rIns="0" bIns="0" rtlCol="0" anchor="ctr"/>
          <a:lstStyle/>
          <a:p>
            <a:pPr indent="0" marL="0">
              <a:buNone/>
            </a:pPr>
            <a:r>
              <a:rPr lang="en-US" sz="1350" dirty="0">
                <a:solidFill>
                  <a:srgbClr val="153A40"/>
                </a:solidFill>
                <a:latin typeface="Calibri" pitchFamily="34" charset="0"/>
                <a:ea typeface="Calibri" pitchFamily="34" charset="-122"/>
                <a:cs typeface="Calibri" pitchFamily="34" charset="-120"/>
              </a:rPr>
              <a:t>Things you buy</a:t>
            </a:r>
            <a:endParaRPr lang="en-US" sz="1350" dirty="0"/>
          </a:p>
        </p:txBody>
      </p:sp>
      <p:pic>
        <p:nvPicPr>
          <p:cNvPr id="26" name="Image 8" descr="preencoded.png">    </p:cNvPr>
          <p:cNvPicPr>
            <a:picLocks noChangeAspect="1"/>
          </p:cNvPicPr>
          <p:nvPr/>
        </p:nvPicPr>
        <p:blipFill>
          <a:blip r:embed="rId9"/>
          <a:stretch>
            <a:fillRect/>
          </a:stretch>
        </p:blipFill>
        <p:spPr>
          <a:xfrm>
            <a:off x="6629400" y="3813048"/>
            <a:ext cx="219456" cy="219456"/>
          </a:xfrm>
          <a:prstGeom prst="rect">
            <a:avLst/>
          </a:prstGeom>
        </p:spPr>
      </p:pic>
      <p:sp>
        <p:nvSpPr>
          <p:cNvPr id="27" name="Text 16"/>
          <p:cNvSpPr/>
          <p:nvPr/>
        </p:nvSpPr>
        <p:spPr>
          <a:xfrm>
            <a:off x="6976872" y="3785616"/>
            <a:ext cx="4114800" cy="292608"/>
          </a:xfrm>
          <a:prstGeom prst="rect">
            <a:avLst/>
          </a:prstGeom>
          <a:noFill/>
          <a:ln/>
        </p:spPr>
        <p:txBody>
          <a:bodyPr wrap="square" lIns="0" tIns="0" rIns="0" bIns="0" rtlCol="0" anchor="ctr"/>
          <a:lstStyle/>
          <a:p>
            <a:pPr indent="0" marL="0">
              <a:buNone/>
            </a:pPr>
            <a:r>
              <a:rPr lang="en-US" sz="1350" dirty="0">
                <a:solidFill>
                  <a:srgbClr val="153A40"/>
                </a:solidFill>
                <a:latin typeface="Calibri" pitchFamily="34" charset="0"/>
                <a:ea typeface="Calibri" pitchFamily="34" charset="-122"/>
                <a:cs typeface="Calibri" pitchFamily="34" charset="-120"/>
              </a:rPr>
              <a:t>How long you look</a:t>
            </a:r>
            <a:endParaRPr lang="en-US" sz="1350" dirty="0"/>
          </a:p>
        </p:txBody>
      </p:sp>
      <p:pic>
        <p:nvPicPr>
          <p:cNvPr id="28" name="Image 9" descr="preencoded.png">    </p:cNvPr>
          <p:cNvPicPr>
            <a:picLocks noChangeAspect="1"/>
          </p:cNvPicPr>
          <p:nvPr/>
        </p:nvPicPr>
        <p:blipFill>
          <a:blip r:embed="rId10"/>
          <a:stretch>
            <a:fillRect/>
          </a:stretch>
        </p:blipFill>
        <p:spPr>
          <a:xfrm>
            <a:off x="6629400" y="4251960"/>
            <a:ext cx="219456" cy="219456"/>
          </a:xfrm>
          <a:prstGeom prst="rect">
            <a:avLst/>
          </a:prstGeom>
        </p:spPr>
      </p:pic>
      <p:sp>
        <p:nvSpPr>
          <p:cNvPr id="29" name="Text 17"/>
          <p:cNvSpPr/>
          <p:nvPr/>
        </p:nvSpPr>
        <p:spPr>
          <a:xfrm>
            <a:off x="6976872" y="4224528"/>
            <a:ext cx="4114800" cy="292608"/>
          </a:xfrm>
          <a:prstGeom prst="rect">
            <a:avLst/>
          </a:prstGeom>
          <a:noFill/>
          <a:ln/>
        </p:spPr>
        <p:txBody>
          <a:bodyPr wrap="square" lIns="0" tIns="0" rIns="0" bIns="0" rtlCol="0" anchor="ctr"/>
          <a:lstStyle/>
          <a:p>
            <a:pPr indent="0" marL="0">
              <a:buNone/>
            </a:pPr>
            <a:r>
              <a:rPr lang="en-US" sz="1350" dirty="0">
                <a:solidFill>
                  <a:srgbClr val="153A40"/>
                </a:solidFill>
                <a:latin typeface="Calibri" pitchFamily="34" charset="0"/>
                <a:ea typeface="Calibri" pitchFamily="34" charset="-122"/>
                <a:cs typeface="Calibri" pitchFamily="34" charset="-120"/>
              </a:rPr>
              <a:t>Items added to cart</a:t>
            </a:r>
            <a:endParaRPr lang="en-US" sz="1350" dirty="0"/>
          </a:p>
        </p:txBody>
      </p:sp>
      <p:sp>
        <p:nvSpPr>
          <p:cNvPr id="30" name="Shape 18"/>
          <p:cNvSpPr/>
          <p:nvPr/>
        </p:nvSpPr>
        <p:spPr>
          <a:xfrm>
            <a:off x="640080" y="5029200"/>
            <a:ext cx="10927080" cy="713232"/>
          </a:xfrm>
          <a:prstGeom prst="roundRect">
            <a:avLst>
              <a:gd name="adj" fmla="val 15385"/>
            </a:avLst>
          </a:prstGeom>
          <a:solidFill>
            <a:srgbClr val="FFEDED"/>
          </a:solidFill>
          <a:ln/>
          <a:effectLst>
            <a:outerShdw sx="100000" sy="100000" kx="0" ky="0" algn="bl" rotWithShape="0" blurRad="127000" dist="50800" dir="5400000">
              <a:srgbClr val="8A93A6">
                <a:alpha val="13000"/>
              </a:srgbClr>
            </a:outerShdw>
          </a:effectLst>
        </p:spPr>
      </p:sp>
      <p:sp>
        <p:nvSpPr>
          <p:cNvPr id="31" name="Shape 19"/>
          <p:cNvSpPr/>
          <p:nvPr/>
        </p:nvSpPr>
        <p:spPr>
          <a:xfrm>
            <a:off x="868680" y="5138928"/>
            <a:ext cx="493776" cy="493776"/>
          </a:xfrm>
          <a:prstGeom prst="ellipse">
            <a:avLst/>
          </a:prstGeom>
          <a:solidFill>
            <a:srgbClr val="FF6B6B"/>
          </a:solidFill>
          <a:ln/>
          <a:effectLst>
            <a:outerShdw sx="100000" sy="100000" kx="0" ky="0" algn="bl" rotWithShape="0" blurRad="127000" dist="50800" dir="5400000">
              <a:srgbClr val="8A93A6">
                <a:alpha val="13000"/>
              </a:srgbClr>
            </a:outerShdw>
          </a:effectLst>
        </p:spPr>
      </p:sp>
      <p:pic>
        <p:nvPicPr>
          <p:cNvPr id="32" name="Image 10" descr="preencoded.png">    </p:cNvPr>
          <p:cNvPicPr>
            <a:picLocks noChangeAspect="1"/>
          </p:cNvPicPr>
          <p:nvPr/>
        </p:nvPicPr>
        <p:blipFill>
          <a:blip r:embed="rId11"/>
          <a:stretch>
            <a:fillRect/>
          </a:stretch>
        </p:blipFill>
        <p:spPr>
          <a:xfrm>
            <a:off x="1002000" y="5272248"/>
            <a:ext cx="227137" cy="227137"/>
          </a:xfrm>
          <a:prstGeom prst="rect">
            <a:avLst/>
          </a:prstGeom>
        </p:spPr>
      </p:pic>
      <p:sp>
        <p:nvSpPr>
          <p:cNvPr id="33" name="Text 20"/>
          <p:cNvSpPr/>
          <p:nvPr/>
        </p:nvSpPr>
        <p:spPr>
          <a:xfrm>
            <a:off x="1554480" y="5029200"/>
            <a:ext cx="9875520" cy="713232"/>
          </a:xfrm>
          <a:prstGeom prst="rect">
            <a:avLst/>
          </a:prstGeom>
          <a:noFill/>
          <a:ln/>
        </p:spPr>
        <p:txBody>
          <a:bodyPr wrap="square" lIns="0" tIns="0" rIns="0" bIns="0" rtlCol="0" anchor="ctr"/>
          <a:lstStyle/>
          <a:p>
            <a:pPr indent="0" marL="0">
              <a:buNone/>
            </a:pPr>
            <a:r>
              <a:rPr lang="en-US" sz="1300" dirty="0">
                <a:solidFill>
                  <a:srgbClr val="153A40"/>
                </a:solidFill>
                <a:latin typeface="Calibri" pitchFamily="34" charset="0"/>
                <a:ea typeface="Calibri" pitchFamily="34" charset="-122"/>
                <a:cs typeface="Calibri" pitchFamily="34" charset="-120"/>
              </a:rPr>
              <a:t>Explicit data is clear but rare (most people never rate). Implicit data is everywhere but noisy — a click isn't always a “like.”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FF6B6B"/>
                </a:solidFill>
                <a:latin typeface="Calibri" pitchFamily="34" charset="0"/>
                <a:ea typeface="Calibri" pitchFamily="34" charset="-122"/>
                <a:cs typeface="Calibri" pitchFamily="34" charset="-120"/>
              </a:rPr>
              <a:t>THE COLD-START PROBLEM</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53A40"/>
                </a:solidFill>
                <a:latin typeface="Cambria" pitchFamily="34" charset="0"/>
                <a:ea typeface="Cambria" pitchFamily="34" charset="-122"/>
                <a:cs typeface="Cambria" pitchFamily="34" charset="-120"/>
              </a:rPr>
              <a:t>What to do when there's no history yet</a:t>
            </a:r>
            <a:endParaRPr lang="en-US" sz="2700" dirty="0"/>
          </a:p>
        </p:txBody>
      </p:sp>
      <p:sp>
        <p:nvSpPr>
          <p:cNvPr id="4" name="Shape 2"/>
          <p:cNvSpPr/>
          <p:nvPr/>
        </p:nvSpPr>
        <p:spPr>
          <a:xfrm>
            <a:off x="640080" y="1645920"/>
            <a:ext cx="5349240" cy="1783080"/>
          </a:xfrm>
          <a:prstGeom prst="roundRect">
            <a:avLst>
              <a:gd name="adj" fmla="val 6154"/>
            </a:avLst>
          </a:prstGeom>
          <a:solidFill>
            <a:srgbClr val="EAF7F5"/>
          </a:solidFill>
          <a:ln/>
          <a:effectLst>
            <a:outerShdw sx="100000" sy="100000" kx="0" ky="0" algn="bl" rotWithShape="0" blurRad="127000" dist="50800" dir="5400000">
              <a:srgbClr val="8A93A6">
                <a:alpha val="13000"/>
              </a:srgbClr>
            </a:outerShdw>
          </a:effectLst>
        </p:spPr>
      </p:sp>
      <p:sp>
        <p:nvSpPr>
          <p:cNvPr id="5" name="Shape 3"/>
          <p:cNvSpPr/>
          <p:nvPr/>
        </p:nvSpPr>
        <p:spPr>
          <a:xfrm>
            <a:off x="932688" y="1938528"/>
            <a:ext cx="676656" cy="676656"/>
          </a:xfrm>
          <a:prstGeom prst="ellipse">
            <a:avLst/>
          </a:prstGeom>
          <a:solidFill>
            <a:srgbClr val="FF6B6B"/>
          </a:solidFill>
          <a:ln/>
          <a:effectLst>
            <a:outerShdw sx="100000" sy="100000" kx="0" ky="0" algn="bl" rotWithShape="0" blurRad="127000" dist="50800" dir="5400000">
              <a:srgbClr val="8A93A6">
                <a:alpha val="13000"/>
              </a:srgbClr>
            </a:outerShdw>
          </a:effectLst>
        </p:spPr>
      </p:sp>
      <p:pic>
        <p:nvPicPr>
          <p:cNvPr id="6" name="Image 0" descr="preencoded.png">    </p:cNvPr>
          <p:cNvPicPr>
            <a:picLocks noChangeAspect="1"/>
          </p:cNvPicPr>
          <p:nvPr/>
        </p:nvPicPr>
        <p:blipFill>
          <a:blip r:embed="rId1"/>
          <a:stretch>
            <a:fillRect/>
          </a:stretch>
        </p:blipFill>
        <p:spPr>
          <a:xfrm>
            <a:off x="1115385" y="2121225"/>
            <a:ext cx="311262" cy="311262"/>
          </a:xfrm>
          <a:prstGeom prst="rect">
            <a:avLst/>
          </a:prstGeom>
        </p:spPr>
      </p:pic>
      <p:sp>
        <p:nvSpPr>
          <p:cNvPr id="7" name="Text 4"/>
          <p:cNvSpPr/>
          <p:nvPr/>
        </p:nvSpPr>
        <p:spPr>
          <a:xfrm>
            <a:off x="1828800" y="1956816"/>
            <a:ext cx="3977640" cy="365760"/>
          </a:xfrm>
          <a:prstGeom prst="rect">
            <a:avLst/>
          </a:prstGeom>
          <a:noFill/>
          <a:ln/>
        </p:spPr>
        <p:txBody>
          <a:bodyPr wrap="square" lIns="0" tIns="0" rIns="0" bIns="0" rtlCol="0" anchor="ctr"/>
          <a:lstStyle/>
          <a:p>
            <a:pPr indent="0" marL="0">
              <a:buNone/>
            </a:pPr>
            <a:r>
              <a:rPr lang="en-US" sz="1700" b="1" dirty="0">
                <a:solidFill>
                  <a:srgbClr val="153A40"/>
                </a:solidFill>
                <a:latin typeface="Cambria" pitchFamily="34" charset="0"/>
                <a:ea typeface="Cambria" pitchFamily="34" charset="-122"/>
                <a:cs typeface="Cambria" pitchFamily="34" charset="-120"/>
              </a:rPr>
              <a:t>New user</a:t>
            </a:r>
            <a:endParaRPr lang="en-US" sz="1700" dirty="0"/>
          </a:p>
        </p:txBody>
      </p:sp>
      <p:sp>
        <p:nvSpPr>
          <p:cNvPr id="8" name="Text 5"/>
          <p:cNvSpPr/>
          <p:nvPr/>
        </p:nvSpPr>
        <p:spPr>
          <a:xfrm>
            <a:off x="1828800" y="2377440"/>
            <a:ext cx="3931920" cy="822960"/>
          </a:xfrm>
          <a:prstGeom prst="rect">
            <a:avLst/>
          </a:prstGeom>
          <a:noFill/>
          <a:ln/>
        </p:spPr>
        <p:txBody>
          <a:bodyPr wrap="square" lIns="0" tIns="0" rIns="0" bIns="0" rtlCol="0" anchor="ctr"/>
          <a:lstStyle/>
          <a:p>
            <a:pPr indent="0" marL="0">
              <a:buNone/>
            </a:pPr>
            <a:r>
              <a:rPr lang="en-US" sz="1300" dirty="0">
                <a:solidFill>
                  <a:srgbClr val="5E7A80"/>
                </a:solidFill>
                <a:latin typeface="Calibri" pitchFamily="34" charset="0"/>
                <a:ea typeface="Calibri" pitchFamily="34" charset="-122"/>
                <a:cs typeface="Calibri" pitchFamily="34" charset="-120"/>
              </a:rPr>
              <a:t>Someone just signed up — we don't know their taste yet.</a:t>
            </a:r>
            <a:endParaRPr lang="en-US" sz="1300" dirty="0"/>
          </a:p>
        </p:txBody>
      </p:sp>
      <p:sp>
        <p:nvSpPr>
          <p:cNvPr id="9" name="Shape 6"/>
          <p:cNvSpPr/>
          <p:nvPr/>
        </p:nvSpPr>
        <p:spPr>
          <a:xfrm>
            <a:off x="6217920" y="1645920"/>
            <a:ext cx="5349240" cy="1783080"/>
          </a:xfrm>
          <a:prstGeom prst="roundRect">
            <a:avLst>
              <a:gd name="adj" fmla="val 6154"/>
            </a:avLst>
          </a:prstGeom>
          <a:solidFill>
            <a:srgbClr val="EAF7F5"/>
          </a:solidFill>
          <a:ln/>
          <a:effectLst>
            <a:outerShdw sx="100000" sy="100000" kx="0" ky="0" algn="bl" rotWithShape="0" blurRad="127000" dist="50800" dir="5400000">
              <a:srgbClr val="8A93A6">
                <a:alpha val="13000"/>
              </a:srgbClr>
            </a:outerShdw>
          </a:effectLst>
        </p:spPr>
      </p:sp>
      <p:sp>
        <p:nvSpPr>
          <p:cNvPr id="10" name="Shape 7"/>
          <p:cNvSpPr/>
          <p:nvPr/>
        </p:nvSpPr>
        <p:spPr>
          <a:xfrm>
            <a:off x="6510528" y="1938528"/>
            <a:ext cx="676656" cy="676656"/>
          </a:xfrm>
          <a:prstGeom prst="ellipse">
            <a:avLst/>
          </a:prstGeom>
          <a:solidFill>
            <a:srgbClr val="FF6B6B"/>
          </a:solidFill>
          <a:ln/>
          <a:effectLst>
            <a:outerShdw sx="100000" sy="100000" kx="0" ky="0" algn="bl" rotWithShape="0" blurRad="127000" dist="50800" dir="5400000">
              <a:srgbClr val="8A93A6">
                <a:alpha val="13000"/>
              </a:srgbClr>
            </a:outerShdw>
          </a:effectLst>
        </p:spPr>
      </p:sp>
      <p:pic>
        <p:nvPicPr>
          <p:cNvPr id="11" name="Image 1" descr="preencoded.png">    </p:cNvPr>
          <p:cNvPicPr>
            <a:picLocks noChangeAspect="1"/>
          </p:cNvPicPr>
          <p:nvPr/>
        </p:nvPicPr>
        <p:blipFill>
          <a:blip r:embed="rId2"/>
          <a:stretch>
            <a:fillRect/>
          </a:stretch>
        </p:blipFill>
        <p:spPr>
          <a:xfrm>
            <a:off x="6693225" y="2121225"/>
            <a:ext cx="311262" cy="311262"/>
          </a:xfrm>
          <a:prstGeom prst="rect">
            <a:avLst/>
          </a:prstGeom>
        </p:spPr>
      </p:pic>
      <p:sp>
        <p:nvSpPr>
          <p:cNvPr id="12" name="Text 8"/>
          <p:cNvSpPr/>
          <p:nvPr/>
        </p:nvSpPr>
        <p:spPr>
          <a:xfrm>
            <a:off x="7406640" y="1956816"/>
            <a:ext cx="3977640" cy="365760"/>
          </a:xfrm>
          <a:prstGeom prst="rect">
            <a:avLst/>
          </a:prstGeom>
          <a:noFill/>
          <a:ln/>
        </p:spPr>
        <p:txBody>
          <a:bodyPr wrap="square" lIns="0" tIns="0" rIns="0" bIns="0" rtlCol="0" anchor="ctr"/>
          <a:lstStyle/>
          <a:p>
            <a:pPr indent="0" marL="0">
              <a:buNone/>
            </a:pPr>
            <a:r>
              <a:rPr lang="en-US" sz="1700" b="1" dirty="0">
                <a:solidFill>
                  <a:srgbClr val="153A40"/>
                </a:solidFill>
                <a:latin typeface="Cambria" pitchFamily="34" charset="0"/>
                <a:ea typeface="Cambria" pitchFamily="34" charset="-122"/>
                <a:cs typeface="Cambria" pitchFamily="34" charset="-120"/>
              </a:rPr>
              <a:t>New item</a:t>
            </a:r>
            <a:endParaRPr lang="en-US" sz="1700" dirty="0"/>
          </a:p>
        </p:txBody>
      </p:sp>
      <p:sp>
        <p:nvSpPr>
          <p:cNvPr id="13" name="Text 9"/>
          <p:cNvSpPr/>
          <p:nvPr/>
        </p:nvSpPr>
        <p:spPr>
          <a:xfrm>
            <a:off x="7406640" y="2377440"/>
            <a:ext cx="3931920" cy="822960"/>
          </a:xfrm>
          <a:prstGeom prst="rect">
            <a:avLst/>
          </a:prstGeom>
          <a:noFill/>
          <a:ln/>
        </p:spPr>
        <p:txBody>
          <a:bodyPr wrap="square" lIns="0" tIns="0" rIns="0" bIns="0" rtlCol="0" anchor="ctr"/>
          <a:lstStyle/>
          <a:p>
            <a:pPr indent="0" marL="0">
              <a:buNone/>
            </a:pPr>
            <a:r>
              <a:rPr lang="en-US" sz="1300" dirty="0">
                <a:solidFill>
                  <a:srgbClr val="5E7A80"/>
                </a:solidFill>
                <a:latin typeface="Calibri" pitchFamily="34" charset="0"/>
                <a:ea typeface="Calibri" pitchFamily="34" charset="-122"/>
                <a:cs typeface="Calibri" pitchFamily="34" charset="-120"/>
              </a:rPr>
              <a:t>A product nobody has interacted with — nothing to learn from.</a:t>
            </a:r>
            <a:endParaRPr lang="en-US" sz="1300" dirty="0"/>
          </a:p>
        </p:txBody>
      </p:sp>
      <p:sp>
        <p:nvSpPr>
          <p:cNvPr id="14" name="Text 10"/>
          <p:cNvSpPr/>
          <p:nvPr/>
        </p:nvSpPr>
        <p:spPr>
          <a:xfrm>
            <a:off x="640080" y="3703320"/>
            <a:ext cx="10881360" cy="365760"/>
          </a:xfrm>
          <a:prstGeom prst="rect">
            <a:avLst/>
          </a:prstGeom>
          <a:noFill/>
          <a:ln/>
        </p:spPr>
        <p:txBody>
          <a:bodyPr wrap="square" lIns="0" tIns="0" rIns="0" bIns="0" rtlCol="0" anchor="ctr"/>
          <a:lstStyle/>
          <a:p>
            <a:pPr indent="0" marL="0">
              <a:buNone/>
            </a:pPr>
            <a:r>
              <a:rPr lang="en-US" sz="1600" b="1" dirty="0">
                <a:solidFill>
                  <a:srgbClr val="153A40"/>
                </a:solidFill>
                <a:latin typeface="Cambria" pitchFamily="34" charset="0"/>
                <a:ea typeface="Cambria" pitchFamily="34" charset="-122"/>
                <a:cs typeface="Cambria" pitchFamily="34" charset="-120"/>
              </a:rPr>
              <a:t>Common fixes</a:t>
            </a:r>
            <a:endParaRPr lang="en-US" sz="1600" dirty="0"/>
          </a:p>
        </p:txBody>
      </p:sp>
      <p:sp>
        <p:nvSpPr>
          <p:cNvPr id="15" name="Shape 11"/>
          <p:cNvSpPr/>
          <p:nvPr/>
        </p:nvSpPr>
        <p:spPr>
          <a:xfrm>
            <a:off x="640080" y="4160520"/>
            <a:ext cx="5349240" cy="749808"/>
          </a:xfrm>
          <a:prstGeom prst="roundRect">
            <a:avLst>
              <a:gd name="adj" fmla="val 12195"/>
            </a:avLst>
          </a:prstGeom>
          <a:solidFill>
            <a:srgbClr val="FFFFFF"/>
          </a:solidFill>
          <a:ln/>
          <a:effectLst>
            <a:outerShdw sx="100000" sy="100000" kx="0" ky="0" algn="bl" rotWithShape="0" blurRad="127000" dist="50800" dir="5400000">
              <a:srgbClr val="8A93A6">
                <a:alpha val="13000"/>
              </a:srgbClr>
            </a:outerShdw>
          </a:effectLst>
        </p:spPr>
      </p:sp>
      <p:sp>
        <p:nvSpPr>
          <p:cNvPr id="16" name="Shape 12"/>
          <p:cNvSpPr/>
          <p:nvPr/>
        </p:nvSpPr>
        <p:spPr>
          <a:xfrm>
            <a:off x="640080" y="4160520"/>
            <a:ext cx="5349240" cy="749808"/>
          </a:xfrm>
          <a:prstGeom prst="roundRect">
            <a:avLst>
              <a:gd name="adj" fmla="val 12195"/>
            </a:avLst>
          </a:prstGeom>
          <a:solidFill>
            <a:srgbClr val="FFFFFF">
              <a:alpha val="0"/>
            </a:srgbClr>
          </a:solidFill>
          <a:ln w="12700">
            <a:solidFill>
              <a:srgbClr val="CDE8E3"/>
            </a:solidFill>
            <a:prstDash val="solid"/>
          </a:ln>
        </p:spPr>
      </p:sp>
      <p:pic>
        <p:nvPicPr>
          <p:cNvPr id="17" name="Image 2" descr="preencoded.png">    </p:cNvPr>
          <p:cNvPicPr>
            <a:picLocks noChangeAspect="1"/>
          </p:cNvPicPr>
          <p:nvPr/>
        </p:nvPicPr>
        <p:blipFill>
          <a:blip r:embed="rId3"/>
          <a:stretch>
            <a:fillRect/>
          </a:stretch>
        </p:blipFill>
        <p:spPr>
          <a:xfrm>
            <a:off x="896112" y="4389120"/>
            <a:ext cx="292608" cy="292608"/>
          </a:xfrm>
          <a:prstGeom prst="rect">
            <a:avLst/>
          </a:prstGeom>
        </p:spPr>
      </p:pic>
      <p:sp>
        <p:nvSpPr>
          <p:cNvPr id="18" name="Text 13"/>
          <p:cNvSpPr/>
          <p:nvPr/>
        </p:nvSpPr>
        <p:spPr>
          <a:xfrm>
            <a:off x="1353312" y="4160520"/>
            <a:ext cx="4434840" cy="749808"/>
          </a:xfrm>
          <a:prstGeom prst="rect">
            <a:avLst/>
          </a:prstGeom>
          <a:noFill/>
          <a:ln/>
        </p:spPr>
        <p:txBody>
          <a:bodyPr wrap="square" lIns="0" tIns="0" rIns="0" bIns="0" rtlCol="0" anchor="ctr"/>
          <a:lstStyle/>
          <a:p>
            <a:pPr indent="0" marL="0">
              <a:buNone/>
            </a:pPr>
            <a:r>
              <a:rPr lang="en-US" sz="1350" dirty="0">
                <a:solidFill>
                  <a:srgbClr val="153A40"/>
                </a:solidFill>
                <a:latin typeface="Calibri" pitchFamily="34" charset="0"/>
                <a:ea typeface="Calibri" pitchFamily="34" charset="-122"/>
                <a:cs typeface="Calibri" pitchFamily="34" charset="-120"/>
              </a:rPr>
              <a:t>Show popular items to everyone at first</a:t>
            </a:r>
            <a:endParaRPr lang="en-US" sz="1350" dirty="0"/>
          </a:p>
        </p:txBody>
      </p:sp>
      <p:sp>
        <p:nvSpPr>
          <p:cNvPr id="19" name="Shape 14"/>
          <p:cNvSpPr/>
          <p:nvPr/>
        </p:nvSpPr>
        <p:spPr>
          <a:xfrm>
            <a:off x="6217920" y="4160520"/>
            <a:ext cx="5349240" cy="749808"/>
          </a:xfrm>
          <a:prstGeom prst="roundRect">
            <a:avLst>
              <a:gd name="adj" fmla="val 12195"/>
            </a:avLst>
          </a:prstGeom>
          <a:solidFill>
            <a:srgbClr val="FFFFFF"/>
          </a:solidFill>
          <a:ln/>
          <a:effectLst>
            <a:outerShdw sx="100000" sy="100000" kx="0" ky="0" algn="bl" rotWithShape="0" blurRad="127000" dist="50800" dir="5400000">
              <a:srgbClr val="8A93A6">
                <a:alpha val="13000"/>
              </a:srgbClr>
            </a:outerShdw>
          </a:effectLst>
        </p:spPr>
      </p:sp>
      <p:sp>
        <p:nvSpPr>
          <p:cNvPr id="20" name="Shape 15"/>
          <p:cNvSpPr/>
          <p:nvPr/>
        </p:nvSpPr>
        <p:spPr>
          <a:xfrm>
            <a:off x="6217920" y="4160520"/>
            <a:ext cx="5349240" cy="749808"/>
          </a:xfrm>
          <a:prstGeom prst="roundRect">
            <a:avLst>
              <a:gd name="adj" fmla="val 12195"/>
            </a:avLst>
          </a:prstGeom>
          <a:solidFill>
            <a:srgbClr val="FFFFFF">
              <a:alpha val="0"/>
            </a:srgbClr>
          </a:solidFill>
          <a:ln w="12700">
            <a:solidFill>
              <a:srgbClr val="CDE8E3"/>
            </a:solidFill>
            <a:prstDash val="solid"/>
          </a:ln>
        </p:spPr>
      </p:sp>
      <p:pic>
        <p:nvPicPr>
          <p:cNvPr id="21" name="Image 3" descr="preencoded.png">    </p:cNvPr>
          <p:cNvPicPr>
            <a:picLocks noChangeAspect="1"/>
          </p:cNvPicPr>
          <p:nvPr/>
        </p:nvPicPr>
        <p:blipFill>
          <a:blip r:embed="rId4"/>
          <a:stretch>
            <a:fillRect/>
          </a:stretch>
        </p:blipFill>
        <p:spPr>
          <a:xfrm>
            <a:off x="6473952" y="4389120"/>
            <a:ext cx="292608" cy="292608"/>
          </a:xfrm>
          <a:prstGeom prst="rect">
            <a:avLst/>
          </a:prstGeom>
        </p:spPr>
      </p:pic>
      <p:sp>
        <p:nvSpPr>
          <p:cNvPr id="22" name="Text 16"/>
          <p:cNvSpPr/>
          <p:nvPr/>
        </p:nvSpPr>
        <p:spPr>
          <a:xfrm>
            <a:off x="6931152" y="4160520"/>
            <a:ext cx="4434840" cy="749808"/>
          </a:xfrm>
          <a:prstGeom prst="rect">
            <a:avLst/>
          </a:prstGeom>
          <a:noFill/>
          <a:ln/>
        </p:spPr>
        <p:txBody>
          <a:bodyPr wrap="square" lIns="0" tIns="0" rIns="0" bIns="0" rtlCol="0" anchor="ctr"/>
          <a:lstStyle/>
          <a:p>
            <a:pPr indent="0" marL="0">
              <a:buNone/>
            </a:pPr>
            <a:r>
              <a:rPr lang="en-US" sz="1350" dirty="0">
                <a:solidFill>
                  <a:srgbClr val="153A40"/>
                </a:solidFill>
                <a:latin typeface="Calibri" pitchFamily="34" charset="0"/>
                <a:ea typeface="Calibri" pitchFamily="34" charset="-122"/>
                <a:cs typeface="Calibri" pitchFamily="34" charset="-120"/>
              </a:rPr>
              <a:t>Ask a quick “what are you into?” at sign-up</a:t>
            </a:r>
            <a:endParaRPr lang="en-US" sz="1350" dirty="0"/>
          </a:p>
        </p:txBody>
      </p:sp>
      <p:sp>
        <p:nvSpPr>
          <p:cNvPr id="23" name="Shape 17"/>
          <p:cNvSpPr/>
          <p:nvPr/>
        </p:nvSpPr>
        <p:spPr>
          <a:xfrm>
            <a:off x="640080" y="5093208"/>
            <a:ext cx="5349240" cy="749808"/>
          </a:xfrm>
          <a:prstGeom prst="roundRect">
            <a:avLst>
              <a:gd name="adj" fmla="val 12195"/>
            </a:avLst>
          </a:prstGeom>
          <a:solidFill>
            <a:srgbClr val="FFFFFF"/>
          </a:solidFill>
          <a:ln/>
          <a:effectLst>
            <a:outerShdw sx="100000" sy="100000" kx="0" ky="0" algn="bl" rotWithShape="0" blurRad="127000" dist="50800" dir="5400000">
              <a:srgbClr val="8A93A6">
                <a:alpha val="13000"/>
              </a:srgbClr>
            </a:outerShdw>
          </a:effectLst>
        </p:spPr>
      </p:sp>
      <p:sp>
        <p:nvSpPr>
          <p:cNvPr id="24" name="Shape 18"/>
          <p:cNvSpPr/>
          <p:nvPr/>
        </p:nvSpPr>
        <p:spPr>
          <a:xfrm>
            <a:off x="640080" y="5093208"/>
            <a:ext cx="5349240" cy="749808"/>
          </a:xfrm>
          <a:prstGeom prst="roundRect">
            <a:avLst>
              <a:gd name="adj" fmla="val 12195"/>
            </a:avLst>
          </a:prstGeom>
          <a:solidFill>
            <a:srgbClr val="FFFFFF">
              <a:alpha val="0"/>
            </a:srgbClr>
          </a:solidFill>
          <a:ln w="12700">
            <a:solidFill>
              <a:srgbClr val="CDE8E3"/>
            </a:solidFill>
            <a:prstDash val="solid"/>
          </a:ln>
        </p:spPr>
      </p:sp>
      <p:pic>
        <p:nvPicPr>
          <p:cNvPr id="25" name="Image 4" descr="preencoded.png">    </p:cNvPr>
          <p:cNvPicPr>
            <a:picLocks noChangeAspect="1"/>
          </p:cNvPicPr>
          <p:nvPr/>
        </p:nvPicPr>
        <p:blipFill>
          <a:blip r:embed="rId5"/>
          <a:stretch>
            <a:fillRect/>
          </a:stretch>
        </p:blipFill>
        <p:spPr>
          <a:xfrm>
            <a:off x="896112" y="5321808"/>
            <a:ext cx="292608" cy="292608"/>
          </a:xfrm>
          <a:prstGeom prst="rect">
            <a:avLst/>
          </a:prstGeom>
        </p:spPr>
      </p:pic>
      <p:sp>
        <p:nvSpPr>
          <p:cNvPr id="26" name="Text 19"/>
          <p:cNvSpPr/>
          <p:nvPr/>
        </p:nvSpPr>
        <p:spPr>
          <a:xfrm>
            <a:off x="1353312" y="5093208"/>
            <a:ext cx="4434840" cy="749808"/>
          </a:xfrm>
          <a:prstGeom prst="rect">
            <a:avLst/>
          </a:prstGeom>
          <a:noFill/>
          <a:ln/>
        </p:spPr>
        <p:txBody>
          <a:bodyPr wrap="square" lIns="0" tIns="0" rIns="0" bIns="0" rtlCol="0" anchor="ctr"/>
          <a:lstStyle/>
          <a:p>
            <a:pPr indent="0" marL="0">
              <a:buNone/>
            </a:pPr>
            <a:r>
              <a:rPr lang="en-US" sz="1350" dirty="0">
                <a:solidFill>
                  <a:srgbClr val="153A40"/>
                </a:solidFill>
                <a:latin typeface="Calibri" pitchFamily="34" charset="0"/>
                <a:ea typeface="Calibri" pitchFamily="34" charset="-122"/>
                <a:cs typeface="Calibri" pitchFamily="34" charset="-120"/>
              </a:rPr>
              <a:t>Recommend new items by their features (content-based)</a:t>
            </a:r>
            <a:endParaRPr lang="en-US" sz="1350" dirty="0"/>
          </a:p>
        </p:txBody>
      </p:sp>
      <p:sp>
        <p:nvSpPr>
          <p:cNvPr id="27" name="Shape 20"/>
          <p:cNvSpPr/>
          <p:nvPr/>
        </p:nvSpPr>
        <p:spPr>
          <a:xfrm>
            <a:off x="6217920" y="5093208"/>
            <a:ext cx="5349240" cy="749808"/>
          </a:xfrm>
          <a:prstGeom prst="roundRect">
            <a:avLst>
              <a:gd name="adj" fmla="val 12195"/>
            </a:avLst>
          </a:prstGeom>
          <a:solidFill>
            <a:srgbClr val="FFFFFF"/>
          </a:solidFill>
          <a:ln/>
          <a:effectLst>
            <a:outerShdw sx="100000" sy="100000" kx="0" ky="0" algn="bl" rotWithShape="0" blurRad="127000" dist="50800" dir="5400000">
              <a:srgbClr val="8A93A6">
                <a:alpha val="13000"/>
              </a:srgbClr>
            </a:outerShdw>
          </a:effectLst>
        </p:spPr>
      </p:sp>
      <p:sp>
        <p:nvSpPr>
          <p:cNvPr id="28" name="Shape 21"/>
          <p:cNvSpPr/>
          <p:nvPr/>
        </p:nvSpPr>
        <p:spPr>
          <a:xfrm>
            <a:off x="6217920" y="5093208"/>
            <a:ext cx="5349240" cy="749808"/>
          </a:xfrm>
          <a:prstGeom prst="roundRect">
            <a:avLst>
              <a:gd name="adj" fmla="val 12195"/>
            </a:avLst>
          </a:prstGeom>
          <a:solidFill>
            <a:srgbClr val="FFFFFF">
              <a:alpha val="0"/>
            </a:srgbClr>
          </a:solidFill>
          <a:ln w="12700">
            <a:solidFill>
              <a:srgbClr val="CDE8E3"/>
            </a:solidFill>
            <a:prstDash val="solid"/>
          </a:ln>
        </p:spPr>
      </p:sp>
      <p:pic>
        <p:nvPicPr>
          <p:cNvPr id="29" name="Image 5" descr="preencoded.png">    </p:cNvPr>
          <p:cNvPicPr>
            <a:picLocks noChangeAspect="1"/>
          </p:cNvPicPr>
          <p:nvPr/>
        </p:nvPicPr>
        <p:blipFill>
          <a:blip r:embed="rId6"/>
          <a:stretch>
            <a:fillRect/>
          </a:stretch>
        </p:blipFill>
        <p:spPr>
          <a:xfrm>
            <a:off x="6473952" y="5321808"/>
            <a:ext cx="292608" cy="292608"/>
          </a:xfrm>
          <a:prstGeom prst="rect">
            <a:avLst/>
          </a:prstGeom>
        </p:spPr>
      </p:pic>
      <p:sp>
        <p:nvSpPr>
          <p:cNvPr id="30" name="Text 22"/>
          <p:cNvSpPr/>
          <p:nvPr/>
        </p:nvSpPr>
        <p:spPr>
          <a:xfrm>
            <a:off x="6931152" y="5093208"/>
            <a:ext cx="4434840" cy="749808"/>
          </a:xfrm>
          <a:prstGeom prst="rect">
            <a:avLst/>
          </a:prstGeom>
          <a:noFill/>
          <a:ln/>
        </p:spPr>
        <p:txBody>
          <a:bodyPr wrap="square" lIns="0" tIns="0" rIns="0" bIns="0" rtlCol="0" anchor="ctr"/>
          <a:lstStyle/>
          <a:p>
            <a:pPr indent="0" marL="0">
              <a:buNone/>
            </a:pPr>
            <a:r>
              <a:rPr lang="en-US" sz="1350" dirty="0">
                <a:solidFill>
                  <a:srgbClr val="153A40"/>
                </a:solidFill>
                <a:latin typeface="Calibri" pitchFamily="34" charset="0"/>
                <a:ea typeface="Calibri" pitchFamily="34" charset="-122"/>
                <a:cs typeface="Calibri" pitchFamily="34" charset="-120"/>
              </a:rPr>
              <a:t>Use clues: location, device, time of day</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FF6B6B"/>
                </a:solidFill>
                <a:latin typeface="Calibri" pitchFamily="34" charset="0"/>
                <a:ea typeface="Calibri" pitchFamily="34" charset="-122"/>
                <a:cs typeface="Calibri" pitchFamily="34" charset="-120"/>
              </a:rPr>
              <a:t>HOW DO WE KNOW IT'S GOOD?</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53A40"/>
                </a:solidFill>
                <a:latin typeface="Cambria" pitchFamily="34" charset="0"/>
                <a:ea typeface="Cambria" pitchFamily="34" charset="-122"/>
                <a:cs typeface="Cambria" pitchFamily="34" charset="-120"/>
              </a:rPr>
              <a:t>Two metrics, explained with a tiny example</a:t>
            </a:r>
            <a:endParaRPr lang="en-US" sz="2700" dirty="0"/>
          </a:p>
        </p:txBody>
      </p:sp>
      <p:sp>
        <p:nvSpPr>
          <p:cNvPr id="4" name="Shape 2"/>
          <p:cNvSpPr/>
          <p:nvPr/>
        </p:nvSpPr>
        <p:spPr>
          <a:xfrm>
            <a:off x="640080" y="1737360"/>
            <a:ext cx="5486400" cy="3657600"/>
          </a:xfrm>
          <a:prstGeom prst="roundRect">
            <a:avLst>
              <a:gd name="adj" fmla="val 3500"/>
            </a:avLst>
          </a:prstGeom>
          <a:solidFill>
            <a:srgbClr val="EAF7F5"/>
          </a:solidFill>
          <a:ln/>
          <a:effectLst>
            <a:outerShdw sx="100000" sy="100000" kx="0" ky="0" algn="bl" rotWithShape="0" blurRad="127000" dist="50800" dir="5400000">
              <a:srgbClr val="8A93A6">
                <a:alpha val="13000"/>
              </a:srgbClr>
            </a:outerShdw>
          </a:effectLst>
        </p:spPr>
      </p:sp>
      <p:sp>
        <p:nvSpPr>
          <p:cNvPr id="5" name="Text 3"/>
          <p:cNvSpPr/>
          <p:nvPr/>
        </p:nvSpPr>
        <p:spPr>
          <a:xfrm>
            <a:off x="914400" y="1920240"/>
            <a:ext cx="4937760" cy="320040"/>
          </a:xfrm>
          <a:prstGeom prst="rect">
            <a:avLst/>
          </a:prstGeom>
          <a:noFill/>
          <a:ln/>
        </p:spPr>
        <p:txBody>
          <a:bodyPr wrap="square" lIns="0" tIns="0" rIns="0" bIns="0" rtlCol="0" anchor="ctr"/>
          <a:lstStyle/>
          <a:p>
            <a:pPr indent="0" marL="0">
              <a:buNone/>
            </a:pPr>
            <a:r>
              <a:rPr lang="en-US" sz="1350" b="1" dirty="0">
                <a:solidFill>
                  <a:srgbClr val="153A40"/>
                </a:solidFill>
                <a:latin typeface="Cambria" pitchFamily="34" charset="0"/>
                <a:ea typeface="Cambria" pitchFamily="34" charset="-122"/>
                <a:cs typeface="Cambria" pitchFamily="34" charset="-120"/>
              </a:rPr>
              <a:t>We recommended 3 items. Did the user like them?</a:t>
            </a:r>
            <a:endParaRPr lang="en-US" sz="1350" dirty="0"/>
          </a:p>
        </p:txBody>
      </p:sp>
      <p:pic>
        <p:nvPicPr>
          <p:cNvPr id="6" name="Image 0" descr="preencoded.png">    </p:cNvPr>
          <p:cNvPicPr>
            <a:picLocks noChangeAspect="1"/>
          </p:cNvPicPr>
          <p:nvPr/>
        </p:nvPicPr>
        <p:blipFill>
          <a:blip r:embed="rId1"/>
          <a:stretch>
            <a:fillRect/>
          </a:stretch>
        </p:blipFill>
        <p:spPr>
          <a:xfrm>
            <a:off x="1005840" y="2459736"/>
            <a:ext cx="310896" cy="310896"/>
          </a:xfrm>
          <a:prstGeom prst="rect">
            <a:avLst/>
          </a:prstGeom>
        </p:spPr>
      </p:pic>
      <p:sp>
        <p:nvSpPr>
          <p:cNvPr id="7" name="Text 4"/>
          <p:cNvSpPr/>
          <p:nvPr/>
        </p:nvSpPr>
        <p:spPr>
          <a:xfrm>
            <a:off x="1463040" y="2423160"/>
            <a:ext cx="2743200" cy="365760"/>
          </a:xfrm>
          <a:prstGeom prst="rect">
            <a:avLst/>
          </a:prstGeom>
          <a:noFill/>
          <a:ln/>
        </p:spPr>
        <p:txBody>
          <a:bodyPr wrap="square" lIns="0" tIns="0" rIns="0" bIns="0" rtlCol="0" anchor="ctr"/>
          <a:lstStyle/>
          <a:p>
            <a:pPr indent="0" marL="0">
              <a:buNone/>
            </a:pPr>
            <a:r>
              <a:rPr lang="en-US" sz="1400" dirty="0">
                <a:solidFill>
                  <a:srgbClr val="153A40"/>
                </a:solidFill>
                <a:latin typeface="Calibri" pitchFamily="34" charset="0"/>
                <a:ea typeface="Calibri" pitchFamily="34" charset="-122"/>
                <a:cs typeface="Calibri" pitchFamily="34" charset="-120"/>
              </a:rPr>
              <a:t>Item A</a:t>
            </a:r>
            <a:endParaRPr lang="en-US" sz="1400" dirty="0"/>
          </a:p>
        </p:txBody>
      </p:sp>
      <p:sp>
        <p:nvSpPr>
          <p:cNvPr id="8" name="Text 5"/>
          <p:cNvSpPr/>
          <p:nvPr/>
        </p:nvSpPr>
        <p:spPr>
          <a:xfrm>
            <a:off x="4023360" y="2423160"/>
            <a:ext cx="1828800" cy="365760"/>
          </a:xfrm>
          <a:prstGeom prst="rect">
            <a:avLst/>
          </a:prstGeom>
          <a:noFill/>
          <a:ln/>
        </p:spPr>
        <p:txBody>
          <a:bodyPr wrap="square" lIns="0" tIns="0" rIns="0" bIns="0" rtlCol="0" anchor="ctr"/>
          <a:lstStyle/>
          <a:p>
            <a:pPr indent="0" marL="0">
              <a:buNone/>
            </a:pPr>
            <a:r>
              <a:rPr lang="en-US" sz="1200" i="1" dirty="0">
                <a:solidFill>
                  <a:srgbClr val="5E7A80"/>
                </a:solidFill>
                <a:latin typeface="Calibri" pitchFamily="34" charset="0"/>
                <a:ea typeface="Calibri" pitchFamily="34" charset="-122"/>
                <a:cs typeface="Calibri" pitchFamily="34" charset="-120"/>
              </a:rPr>
              <a:t>liked</a:t>
            </a:r>
            <a:endParaRPr lang="en-US" sz="1200" dirty="0"/>
          </a:p>
        </p:txBody>
      </p:sp>
      <p:pic>
        <p:nvPicPr>
          <p:cNvPr id="9" name="Image 1" descr="preencoded.png">    </p:cNvPr>
          <p:cNvPicPr>
            <a:picLocks noChangeAspect="1"/>
          </p:cNvPicPr>
          <p:nvPr/>
        </p:nvPicPr>
        <p:blipFill>
          <a:blip r:embed="rId2"/>
          <a:stretch>
            <a:fillRect/>
          </a:stretch>
        </p:blipFill>
        <p:spPr>
          <a:xfrm>
            <a:off x="1005840" y="3026664"/>
            <a:ext cx="310896" cy="310896"/>
          </a:xfrm>
          <a:prstGeom prst="rect">
            <a:avLst/>
          </a:prstGeom>
        </p:spPr>
      </p:pic>
      <p:sp>
        <p:nvSpPr>
          <p:cNvPr id="10" name="Text 6"/>
          <p:cNvSpPr/>
          <p:nvPr/>
        </p:nvSpPr>
        <p:spPr>
          <a:xfrm>
            <a:off x="1463040" y="2990088"/>
            <a:ext cx="2743200" cy="365760"/>
          </a:xfrm>
          <a:prstGeom prst="rect">
            <a:avLst/>
          </a:prstGeom>
          <a:noFill/>
          <a:ln/>
        </p:spPr>
        <p:txBody>
          <a:bodyPr wrap="square" lIns="0" tIns="0" rIns="0" bIns="0" rtlCol="0" anchor="ctr"/>
          <a:lstStyle/>
          <a:p>
            <a:pPr indent="0" marL="0">
              <a:buNone/>
            </a:pPr>
            <a:r>
              <a:rPr lang="en-US" sz="1400" dirty="0">
                <a:solidFill>
                  <a:srgbClr val="153A40"/>
                </a:solidFill>
                <a:latin typeface="Calibri" pitchFamily="34" charset="0"/>
                <a:ea typeface="Calibri" pitchFamily="34" charset="-122"/>
                <a:cs typeface="Calibri" pitchFamily="34" charset="-120"/>
              </a:rPr>
              <a:t>Item B</a:t>
            </a:r>
            <a:endParaRPr lang="en-US" sz="1400" dirty="0"/>
          </a:p>
        </p:txBody>
      </p:sp>
      <p:sp>
        <p:nvSpPr>
          <p:cNvPr id="11" name="Text 7"/>
          <p:cNvSpPr/>
          <p:nvPr/>
        </p:nvSpPr>
        <p:spPr>
          <a:xfrm>
            <a:off x="4023360" y="2990088"/>
            <a:ext cx="1828800" cy="365760"/>
          </a:xfrm>
          <a:prstGeom prst="rect">
            <a:avLst/>
          </a:prstGeom>
          <a:noFill/>
          <a:ln/>
        </p:spPr>
        <p:txBody>
          <a:bodyPr wrap="square" lIns="0" tIns="0" rIns="0" bIns="0" rtlCol="0" anchor="ctr"/>
          <a:lstStyle/>
          <a:p>
            <a:pPr indent="0" marL="0">
              <a:buNone/>
            </a:pPr>
            <a:r>
              <a:rPr lang="en-US" sz="1200" i="1" dirty="0">
                <a:solidFill>
                  <a:srgbClr val="5E7A80"/>
                </a:solidFill>
                <a:latin typeface="Calibri" pitchFamily="34" charset="0"/>
                <a:ea typeface="Calibri" pitchFamily="34" charset="-122"/>
                <a:cs typeface="Calibri" pitchFamily="34" charset="-120"/>
              </a:rPr>
              <a:t>liked</a:t>
            </a:r>
            <a:endParaRPr lang="en-US" sz="1200" dirty="0"/>
          </a:p>
        </p:txBody>
      </p:sp>
      <p:pic>
        <p:nvPicPr>
          <p:cNvPr id="12" name="Image 2" descr="preencoded.png">    </p:cNvPr>
          <p:cNvPicPr>
            <a:picLocks noChangeAspect="1"/>
          </p:cNvPicPr>
          <p:nvPr/>
        </p:nvPicPr>
        <p:blipFill>
          <a:blip r:embed="rId3"/>
          <a:stretch>
            <a:fillRect/>
          </a:stretch>
        </p:blipFill>
        <p:spPr>
          <a:xfrm>
            <a:off x="1005840" y="3593592"/>
            <a:ext cx="310896" cy="310896"/>
          </a:xfrm>
          <a:prstGeom prst="rect">
            <a:avLst/>
          </a:prstGeom>
        </p:spPr>
      </p:pic>
      <p:sp>
        <p:nvSpPr>
          <p:cNvPr id="13" name="Text 8"/>
          <p:cNvSpPr/>
          <p:nvPr/>
        </p:nvSpPr>
        <p:spPr>
          <a:xfrm>
            <a:off x="1463040" y="3557016"/>
            <a:ext cx="2743200" cy="365760"/>
          </a:xfrm>
          <a:prstGeom prst="rect">
            <a:avLst/>
          </a:prstGeom>
          <a:noFill/>
          <a:ln/>
        </p:spPr>
        <p:txBody>
          <a:bodyPr wrap="square" lIns="0" tIns="0" rIns="0" bIns="0" rtlCol="0" anchor="ctr"/>
          <a:lstStyle/>
          <a:p>
            <a:pPr indent="0" marL="0">
              <a:buNone/>
            </a:pPr>
            <a:r>
              <a:rPr lang="en-US" sz="1400" dirty="0">
                <a:solidFill>
                  <a:srgbClr val="153A40"/>
                </a:solidFill>
                <a:latin typeface="Calibri" pitchFamily="34" charset="0"/>
                <a:ea typeface="Calibri" pitchFamily="34" charset="-122"/>
                <a:cs typeface="Calibri" pitchFamily="34" charset="-120"/>
              </a:rPr>
              <a:t>Item C</a:t>
            </a:r>
            <a:endParaRPr lang="en-US" sz="1400" dirty="0"/>
          </a:p>
        </p:txBody>
      </p:sp>
      <p:sp>
        <p:nvSpPr>
          <p:cNvPr id="14" name="Text 9"/>
          <p:cNvSpPr/>
          <p:nvPr/>
        </p:nvSpPr>
        <p:spPr>
          <a:xfrm>
            <a:off x="4023360" y="3557016"/>
            <a:ext cx="1828800" cy="365760"/>
          </a:xfrm>
          <a:prstGeom prst="rect">
            <a:avLst/>
          </a:prstGeom>
          <a:noFill/>
          <a:ln/>
        </p:spPr>
        <p:txBody>
          <a:bodyPr wrap="square" lIns="0" tIns="0" rIns="0" bIns="0" rtlCol="0" anchor="ctr"/>
          <a:lstStyle/>
          <a:p>
            <a:pPr indent="0" marL="0">
              <a:buNone/>
            </a:pPr>
            <a:r>
              <a:rPr lang="en-US" sz="1200" i="1" dirty="0">
                <a:solidFill>
                  <a:srgbClr val="5E7A80"/>
                </a:solidFill>
                <a:latin typeface="Calibri" pitchFamily="34" charset="0"/>
                <a:ea typeface="Calibri" pitchFamily="34" charset="-122"/>
                <a:cs typeface="Calibri" pitchFamily="34" charset="-120"/>
              </a:rPr>
              <a:t>ignored</a:t>
            </a:r>
            <a:endParaRPr lang="en-US" sz="1200" dirty="0"/>
          </a:p>
        </p:txBody>
      </p:sp>
      <p:sp>
        <p:nvSpPr>
          <p:cNvPr id="15" name="Shape 10"/>
          <p:cNvSpPr/>
          <p:nvPr/>
        </p:nvSpPr>
        <p:spPr>
          <a:xfrm>
            <a:off x="914400" y="4206240"/>
            <a:ext cx="4937760" cy="0"/>
          </a:xfrm>
          <a:prstGeom prst="line">
            <a:avLst/>
          </a:prstGeom>
          <a:noFill/>
          <a:ln w="12700">
            <a:solidFill>
              <a:srgbClr val="CDE8E3"/>
            </a:solidFill>
            <a:prstDash val="solid"/>
          </a:ln>
        </p:spPr>
      </p:sp>
      <p:sp>
        <p:nvSpPr>
          <p:cNvPr id="16" name="Text 11"/>
          <p:cNvSpPr/>
          <p:nvPr/>
        </p:nvSpPr>
        <p:spPr>
          <a:xfrm>
            <a:off x="914400" y="4343400"/>
            <a:ext cx="4937760" cy="365760"/>
          </a:xfrm>
          <a:prstGeom prst="rect">
            <a:avLst/>
          </a:prstGeom>
          <a:noFill/>
          <a:ln/>
        </p:spPr>
        <p:txBody>
          <a:bodyPr wrap="square" lIns="0" tIns="0" rIns="0" bIns="0" rtlCol="0" anchor="ctr"/>
          <a:lstStyle/>
          <a:p>
            <a:pPr indent="0" marL="0">
              <a:buNone/>
            </a:pPr>
            <a:r>
              <a:rPr lang="en-US" sz="1500" b="1" dirty="0">
                <a:solidFill>
                  <a:srgbClr val="153A40"/>
                </a:solidFill>
                <a:latin typeface="Calibri" pitchFamily="34" charset="0"/>
                <a:ea typeface="Calibri" pitchFamily="34" charset="-122"/>
                <a:cs typeface="Calibri" pitchFamily="34" charset="-120"/>
              </a:rPr>
              <a:t>Precision@3 = 2 of 3 = </a:t>
            </a:r>
            <a:pPr indent="0" marL="0">
              <a:buNone/>
            </a:pPr>
            <a:r>
              <a:rPr lang="en-US" sz="1500" b="1" dirty="0">
                <a:solidFill>
                  <a:srgbClr val="028090"/>
                </a:solidFill>
                <a:latin typeface="Calibri" pitchFamily="34" charset="0"/>
                <a:ea typeface="Calibri" pitchFamily="34" charset="-122"/>
                <a:cs typeface="Calibri" pitchFamily="34" charset="-120"/>
              </a:rPr>
              <a:t>0.67</a:t>
            </a:r>
            <a:endParaRPr lang="en-US" sz="1500" dirty="0"/>
          </a:p>
        </p:txBody>
      </p:sp>
      <p:sp>
        <p:nvSpPr>
          <p:cNvPr id="17" name="Text 12"/>
          <p:cNvSpPr/>
          <p:nvPr/>
        </p:nvSpPr>
        <p:spPr>
          <a:xfrm>
            <a:off x="914400" y="4754880"/>
            <a:ext cx="4937760" cy="548640"/>
          </a:xfrm>
          <a:prstGeom prst="rect">
            <a:avLst/>
          </a:prstGeom>
          <a:noFill/>
          <a:ln/>
        </p:spPr>
        <p:txBody>
          <a:bodyPr wrap="square" lIns="0" tIns="0" rIns="0" bIns="0" rtlCol="0" anchor="ctr"/>
          <a:lstStyle/>
          <a:p>
            <a:pPr indent="0" marL="0">
              <a:buNone/>
            </a:pPr>
            <a:r>
              <a:rPr lang="en-US" sz="1150" i="1" dirty="0">
                <a:solidFill>
                  <a:srgbClr val="5E7A80"/>
                </a:solidFill>
                <a:latin typeface="Calibri" pitchFamily="34" charset="0"/>
                <a:ea typeface="Calibri" pitchFamily="34" charset="-122"/>
                <a:cs typeface="Calibri" pitchFamily="34" charset="-120"/>
              </a:rPr>
              <a:t>NDCG also rewards putting the liked items higher up the list.</a:t>
            </a:r>
            <a:endParaRPr lang="en-US" sz="1150" dirty="0"/>
          </a:p>
        </p:txBody>
      </p:sp>
      <p:sp>
        <p:nvSpPr>
          <p:cNvPr id="18" name="Shape 13"/>
          <p:cNvSpPr/>
          <p:nvPr/>
        </p:nvSpPr>
        <p:spPr>
          <a:xfrm>
            <a:off x="6355080" y="1737360"/>
            <a:ext cx="5212080" cy="3657600"/>
          </a:xfrm>
          <a:prstGeom prst="roundRect">
            <a:avLst>
              <a:gd name="adj" fmla="val 3500"/>
            </a:avLst>
          </a:prstGeom>
          <a:solidFill>
            <a:srgbClr val="FFFFFF"/>
          </a:solidFill>
          <a:ln/>
          <a:effectLst>
            <a:outerShdw sx="100000" sy="100000" kx="0" ky="0" algn="bl" rotWithShape="0" blurRad="127000" dist="50800" dir="5400000">
              <a:srgbClr val="8A93A6">
                <a:alpha val="13000"/>
              </a:srgbClr>
            </a:outerShdw>
          </a:effectLst>
        </p:spPr>
      </p:sp>
      <p:sp>
        <p:nvSpPr>
          <p:cNvPr id="19" name="Shape 14"/>
          <p:cNvSpPr/>
          <p:nvPr/>
        </p:nvSpPr>
        <p:spPr>
          <a:xfrm>
            <a:off x="6355080" y="1737360"/>
            <a:ext cx="5212080" cy="3657600"/>
          </a:xfrm>
          <a:prstGeom prst="roundRect">
            <a:avLst>
              <a:gd name="adj" fmla="val 3500"/>
            </a:avLst>
          </a:prstGeom>
          <a:solidFill>
            <a:srgbClr val="FFFFFF">
              <a:alpha val="0"/>
            </a:srgbClr>
          </a:solidFill>
          <a:ln w="12700">
            <a:solidFill>
              <a:srgbClr val="CDE8E3"/>
            </a:solidFill>
            <a:prstDash val="solid"/>
          </a:ln>
        </p:spPr>
      </p:sp>
      <p:sp>
        <p:nvSpPr>
          <p:cNvPr id="20" name="Text 15"/>
          <p:cNvSpPr/>
          <p:nvPr/>
        </p:nvSpPr>
        <p:spPr>
          <a:xfrm>
            <a:off x="6629400" y="1920240"/>
            <a:ext cx="4663440" cy="320040"/>
          </a:xfrm>
          <a:prstGeom prst="rect">
            <a:avLst/>
          </a:prstGeom>
          <a:noFill/>
          <a:ln/>
        </p:spPr>
        <p:txBody>
          <a:bodyPr wrap="square" lIns="0" tIns="0" rIns="0" bIns="0" rtlCol="0" anchor="ctr"/>
          <a:lstStyle/>
          <a:p>
            <a:pPr indent="0" marL="0">
              <a:buNone/>
            </a:pPr>
            <a:r>
              <a:rPr lang="en-US" sz="1400" b="1" dirty="0">
                <a:solidFill>
                  <a:srgbClr val="153A40"/>
                </a:solidFill>
                <a:latin typeface="Cambria" pitchFamily="34" charset="0"/>
                <a:ea typeface="Cambria" pitchFamily="34" charset="-122"/>
                <a:cs typeface="Cambria" pitchFamily="34" charset="-120"/>
              </a:rPr>
              <a:t>Two kinds of testing</a:t>
            </a:r>
            <a:endParaRPr lang="en-US" sz="1400" dirty="0"/>
          </a:p>
        </p:txBody>
      </p:sp>
      <p:sp>
        <p:nvSpPr>
          <p:cNvPr id="21" name="Shape 16"/>
          <p:cNvSpPr/>
          <p:nvPr/>
        </p:nvSpPr>
        <p:spPr>
          <a:xfrm>
            <a:off x="6629400" y="2423160"/>
            <a:ext cx="548640" cy="548640"/>
          </a:xfrm>
          <a:prstGeom prst="ellipse">
            <a:avLst/>
          </a:prstGeom>
          <a:solidFill>
            <a:srgbClr val="028090"/>
          </a:solidFill>
          <a:ln/>
          <a:effectLst>
            <a:outerShdw sx="100000" sy="100000" kx="0" ky="0" algn="bl" rotWithShape="0" blurRad="127000" dist="50800" dir="5400000">
              <a:srgbClr val="8A93A6">
                <a:alpha val="13000"/>
              </a:srgbClr>
            </a:outerShdw>
          </a:effectLst>
        </p:spPr>
      </p:sp>
      <p:pic>
        <p:nvPicPr>
          <p:cNvPr id="22" name="Image 3" descr="preencoded.png">    </p:cNvPr>
          <p:cNvPicPr>
            <a:picLocks noChangeAspect="1"/>
          </p:cNvPicPr>
          <p:nvPr/>
        </p:nvPicPr>
        <p:blipFill>
          <a:blip r:embed="rId4"/>
          <a:stretch>
            <a:fillRect/>
          </a:stretch>
        </p:blipFill>
        <p:spPr>
          <a:xfrm>
            <a:off x="6777533" y="2571293"/>
            <a:ext cx="252374" cy="252374"/>
          </a:xfrm>
          <a:prstGeom prst="rect">
            <a:avLst/>
          </a:prstGeom>
        </p:spPr>
      </p:pic>
      <p:sp>
        <p:nvSpPr>
          <p:cNvPr id="23" name="Text 17"/>
          <p:cNvSpPr/>
          <p:nvPr/>
        </p:nvSpPr>
        <p:spPr>
          <a:xfrm>
            <a:off x="7315200" y="2404872"/>
            <a:ext cx="4023360" cy="320040"/>
          </a:xfrm>
          <a:prstGeom prst="rect">
            <a:avLst/>
          </a:prstGeom>
          <a:noFill/>
          <a:ln/>
        </p:spPr>
        <p:txBody>
          <a:bodyPr wrap="square" lIns="0" tIns="0" rIns="0" bIns="0" rtlCol="0" anchor="ctr"/>
          <a:lstStyle/>
          <a:p>
            <a:pPr indent="0" marL="0">
              <a:buNone/>
            </a:pPr>
            <a:r>
              <a:rPr lang="en-US" sz="1450" b="1" dirty="0">
                <a:solidFill>
                  <a:srgbClr val="153A40"/>
                </a:solidFill>
                <a:latin typeface="Cambria" pitchFamily="34" charset="0"/>
                <a:ea typeface="Cambria" pitchFamily="34" charset="-122"/>
                <a:cs typeface="Cambria" pitchFamily="34" charset="-120"/>
              </a:rPr>
              <a:t>Offline (lab)</a:t>
            </a:r>
            <a:endParaRPr lang="en-US" sz="1450" dirty="0"/>
          </a:p>
        </p:txBody>
      </p:sp>
      <p:sp>
        <p:nvSpPr>
          <p:cNvPr id="24" name="Text 18"/>
          <p:cNvSpPr/>
          <p:nvPr/>
        </p:nvSpPr>
        <p:spPr>
          <a:xfrm>
            <a:off x="7315200" y="2752344"/>
            <a:ext cx="4023360" cy="731520"/>
          </a:xfrm>
          <a:prstGeom prst="rect">
            <a:avLst/>
          </a:prstGeom>
          <a:noFill/>
          <a:ln/>
        </p:spPr>
        <p:txBody>
          <a:bodyPr wrap="square" lIns="0" tIns="0" rIns="0" bIns="0" rtlCol="0" anchor="ctr"/>
          <a:lstStyle/>
          <a:p>
            <a:pPr indent="0" marL="0">
              <a:buNone/>
            </a:pPr>
            <a:r>
              <a:rPr lang="en-US" sz="1200" dirty="0">
                <a:solidFill>
                  <a:srgbClr val="5E7A80"/>
                </a:solidFill>
                <a:latin typeface="Calibri" pitchFamily="34" charset="0"/>
                <a:ea typeface="Calibri" pitchFamily="34" charset="-122"/>
                <a:cs typeface="Calibri" pitchFamily="34" charset="-120"/>
              </a:rPr>
              <a:t>Test on past data. Cheap and fast. Metrics: precision@k, recall, NDCG.</a:t>
            </a:r>
            <a:endParaRPr lang="en-US" sz="1200" dirty="0"/>
          </a:p>
        </p:txBody>
      </p:sp>
      <p:sp>
        <p:nvSpPr>
          <p:cNvPr id="25" name="Shape 19"/>
          <p:cNvSpPr/>
          <p:nvPr/>
        </p:nvSpPr>
        <p:spPr>
          <a:xfrm>
            <a:off x="6629400" y="3794760"/>
            <a:ext cx="548640" cy="548640"/>
          </a:xfrm>
          <a:prstGeom prst="ellipse">
            <a:avLst/>
          </a:prstGeom>
          <a:solidFill>
            <a:srgbClr val="00A896"/>
          </a:solidFill>
          <a:ln/>
          <a:effectLst>
            <a:outerShdw sx="100000" sy="100000" kx="0" ky="0" algn="bl" rotWithShape="0" blurRad="127000" dist="50800" dir="5400000">
              <a:srgbClr val="8A93A6">
                <a:alpha val="13000"/>
              </a:srgbClr>
            </a:outerShdw>
          </a:effectLst>
        </p:spPr>
      </p:sp>
      <p:pic>
        <p:nvPicPr>
          <p:cNvPr id="26" name="Image 4" descr="preencoded.png">    </p:cNvPr>
          <p:cNvPicPr>
            <a:picLocks noChangeAspect="1"/>
          </p:cNvPicPr>
          <p:nvPr/>
        </p:nvPicPr>
        <p:blipFill>
          <a:blip r:embed="rId5"/>
          <a:stretch>
            <a:fillRect/>
          </a:stretch>
        </p:blipFill>
        <p:spPr>
          <a:xfrm>
            <a:off x="6777533" y="3942893"/>
            <a:ext cx="252374" cy="252374"/>
          </a:xfrm>
          <a:prstGeom prst="rect">
            <a:avLst/>
          </a:prstGeom>
        </p:spPr>
      </p:pic>
      <p:sp>
        <p:nvSpPr>
          <p:cNvPr id="27" name="Text 20"/>
          <p:cNvSpPr/>
          <p:nvPr/>
        </p:nvSpPr>
        <p:spPr>
          <a:xfrm>
            <a:off x="7315200" y="3776472"/>
            <a:ext cx="4023360" cy="320040"/>
          </a:xfrm>
          <a:prstGeom prst="rect">
            <a:avLst/>
          </a:prstGeom>
          <a:noFill/>
          <a:ln/>
        </p:spPr>
        <p:txBody>
          <a:bodyPr wrap="square" lIns="0" tIns="0" rIns="0" bIns="0" rtlCol="0" anchor="ctr"/>
          <a:lstStyle/>
          <a:p>
            <a:pPr indent="0" marL="0">
              <a:buNone/>
            </a:pPr>
            <a:r>
              <a:rPr lang="en-US" sz="1450" b="1" dirty="0">
                <a:solidFill>
                  <a:srgbClr val="153A40"/>
                </a:solidFill>
                <a:latin typeface="Cambria" pitchFamily="34" charset="0"/>
                <a:ea typeface="Cambria" pitchFamily="34" charset="-122"/>
                <a:cs typeface="Cambria" pitchFamily="34" charset="-120"/>
              </a:rPr>
              <a:t>Online (real users)</a:t>
            </a:r>
            <a:endParaRPr lang="en-US" sz="1450" dirty="0"/>
          </a:p>
        </p:txBody>
      </p:sp>
      <p:sp>
        <p:nvSpPr>
          <p:cNvPr id="28" name="Text 21"/>
          <p:cNvSpPr/>
          <p:nvPr/>
        </p:nvSpPr>
        <p:spPr>
          <a:xfrm>
            <a:off x="7315200" y="4123944"/>
            <a:ext cx="4023360" cy="731520"/>
          </a:xfrm>
          <a:prstGeom prst="rect">
            <a:avLst/>
          </a:prstGeom>
          <a:noFill/>
          <a:ln/>
        </p:spPr>
        <p:txBody>
          <a:bodyPr wrap="square" lIns="0" tIns="0" rIns="0" bIns="0" rtlCol="0" anchor="ctr"/>
          <a:lstStyle/>
          <a:p>
            <a:pPr indent="0" marL="0">
              <a:buNone/>
            </a:pPr>
            <a:r>
              <a:rPr lang="en-US" sz="1200" dirty="0">
                <a:solidFill>
                  <a:srgbClr val="5E7A80"/>
                </a:solidFill>
                <a:latin typeface="Calibri" pitchFamily="34" charset="0"/>
                <a:ea typeface="Calibri" pitchFamily="34" charset="-122"/>
                <a:cs typeface="Calibri" pitchFamily="34" charset="-120"/>
              </a:rPr>
              <a:t>Run an A/B test on live traffic. Metrics: click-through, conversion.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FF6B6B"/>
                </a:solidFill>
                <a:latin typeface="Calibri" pitchFamily="34" charset="0"/>
                <a:ea typeface="Calibri" pitchFamily="34" charset="-122"/>
                <a:cs typeface="Calibri" pitchFamily="34" charset="-120"/>
              </a:rPr>
              <a:t>REAL SYSTEMS IN THE WILD</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53A40"/>
                </a:solidFill>
                <a:latin typeface="Cambria" pitchFamily="34" charset="0"/>
                <a:ea typeface="Cambria" pitchFamily="34" charset="-122"/>
                <a:cs typeface="Cambria" pitchFamily="34" charset="-120"/>
              </a:rPr>
              <a:t>The same ideas, at enormous scale</a:t>
            </a:r>
            <a:endParaRPr lang="en-US" sz="2700" dirty="0"/>
          </a:p>
        </p:txBody>
      </p:sp>
      <p:sp>
        <p:nvSpPr>
          <p:cNvPr id="4" name="Shape 2"/>
          <p:cNvSpPr/>
          <p:nvPr/>
        </p:nvSpPr>
        <p:spPr>
          <a:xfrm>
            <a:off x="640080" y="1691640"/>
            <a:ext cx="3566160" cy="3566160"/>
          </a:xfrm>
          <a:prstGeom prst="roundRect">
            <a:avLst>
              <a:gd name="adj" fmla="val 3590"/>
            </a:avLst>
          </a:prstGeom>
          <a:solidFill>
            <a:srgbClr val="EAF7F5"/>
          </a:solidFill>
          <a:ln/>
          <a:effectLst>
            <a:outerShdw sx="100000" sy="100000" kx="0" ky="0" algn="bl" rotWithShape="0" blurRad="127000" dist="50800" dir="5400000">
              <a:srgbClr val="8A93A6">
                <a:alpha val="13000"/>
              </a:srgbClr>
            </a:outerShdw>
          </a:effectLst>
        </p:spPr>
      </p:sp>
      <p:sp>
        <p:nvSpPr>
          <p:cNvPr id="5" name="Shape 3"/>
          <p:cNvSpPr/>
          <p:nvPr/>
        </p:nvSpPr>
        <p:spPr>
          <a:xfrm>
            <a:off x="2011680" y="2002536"/>
            <a:ext cx="822960" cy="822960"/>
          </a:xfrm>
          <a:prstGeom prst="ellipse">
            <a:avLst/>
          </a:prstGeom>
          <a:solidFill>
            <a:srgbClr val="028090"/>
          </a:solidFill>
          <a:ln/>
          <a:effectLst>
            <a:outerShdw sx="100000" sy="100000" kx="0" ky="0" algn="bl" rotWithShape="0" blurRad="127000" dist="50800" dir="5400000">
              <a:srgbClr val="8A93A6">
                <a:alpha val="13000"/>
              </a:srgbClr>
            </a:outerShdw>
          </a:effectLst>
        </p:spPr>
      </p:sp>
      <p:pic>
        <p:nvPicPr>
          <p:cNvPr id="6" name="Image 0" descr="preencoded.png">    </p:cNvPr>
          <p:cNvPicPr>
            <a:picLocks noChangeAspect="1"/>
          </p:cNvPicPr>
          <p:nvPr/>
        </p:nvPicPr>
        <p:blipFill>
          <a:blip r:embed="rId1"/>
          <a:stretch>
            <a:fillRect/>
          </a:stretch>
        </p:blipFill>
        <p:spPr>
          <a:xfrm>
            <a:off x="2233879" y="2224735"/>
            <a:ext cx="378562" cy="378562"/>
          </a:xfrm>
          <a:prstGeom prst="rect">
            <a:avLst/>
          </a:prstGeom>
        </p:spPr>
      </p:pic>
      <p:sp>
        <p:nvSpPr>
          <p:cNvPr id="7" name="Text 4"/>
          <p:cNvSpPr/>
          <p:nvPr/>
        </p:nvSpPr>
        <p:spPr>
          <a:xfrm>
            <a:off x="822960" y="3017520"/>
            <a:ext cx="3200400" cy="365760"/>
          </a:xfrm>
          <a:prstGeom prst="rect">
            <a:avLst/>
          </a:prstGeom>
          <a:noFill/>
          <a:ln/>
        </p:spPr>
        <p:txBody>
          <a:bodyPr wrap="square" lIns="0" tIns="0" rIns="0" bIns="0" rtlCol="0" anchor="ctr"/>
          <a:lstStyle/>
          <a:p>
            <a:pPr algn="ctr" indent="0" marL="0">
              <a:buNone/>
            </a:pPr>
            <a:r>
              <a:rPr lang="en-US" sz="1700" b="1" dirty="0">
                <a:solidFill>
                  <a:srgbClr val="153A40"/>
                </a:solidFill>
                <a:latin typeface="Cambria" pitchFamily="34" charset="0"/>
                <a:ea typeface="Cambria" pitchFamily="34" charset="-122"/>
                <a:cs typeface="Cambria" pitchFamily="34" charset="-120"/>
              </a:rPr>
              <a:t>Amazon</a:t>
            </a:r>
            <a:endParaRPr lang="en-US" sz="1700" dirty="0"/>
          </a:p>
        </p:txBody>
      </p:sp>
      <p:sp>
        <p:nvSpPr>
          <p:cNvPr id="8" name="Text 5"/>
          <p:cNvSpPr/>
          <p:nvPr/>
        </p:nvSpPr>
        <p:spPr>
          <a:xfrm>
            <a:off x="932688" y="3520440"/>
            <a:ext cx="2980944" cy="1463040"/>
          </a:xfrm>
          <a:prstGeom prst="rect">
            <a:avLst/>
          </a:prstGeom>
          <a:noFill/>
          <a:ln/>
        </p:spPr>
        <p:txBody>
          <a:bodyPr wrap="square" lIns="0" tIns="0" rIns="0" bIns="0" rtlCol="0" anchor="ctr"/>
          <a:lstStyle/>
          <a:p>
            <a:pPr algn="ctr" indent="0" marL="0">
              <a:buNone/>
            </a:pPr>
            <a:r>
              <a:rPr lang="en-US" sz="1250" dirty="0">
                <a:solidFill>
                  <a:srgbClr val="5E7A80"/>
                </a:solidFill>
                <a:latin typeface="Calibri" pitchFamily="34" charset="0"/>
                <a:ea typeface="Calibri" pitchFamily="34" charset="-122"/>
                <a:cs typeface="Calibri" pitchFamily="34" charset="-120"/>
              </a:rPr>
              <a:t>Item-based collaborative filtering — the “bought this also bought” idea you just learned.</a:t>
            </a:r>
            <a:endParaRPr lang="en-US" sz="1250" dirty="0"/>
          </a:p>
        </p:txBody>
      </p:sp>
      <p:sp>
        <p:nvSpPr>
          <p:cNvPr id="9" name="Shape 6"/>
          <p:cNvSpPr/>
          <p:nvPr/>
        </p:nvSpPr>
        <p:spPr>
          <a:xfrm>
            <a:off x="4370832" y="1691640"/>
            <a:ext cx="3566160" cy="3566160"/>
          </a:xfrm>
          <a:prstGeom prst="roundRect">
            <a:avLst>
              <a:gd name="adj" fmla="val 3590"/>
            </a:avLst>
          </a:prstGeom>
          <a:solidFill>
            <a:srgbClr val="FFEDED"/>
          </a:solidFill>
          <a:ln/>
          <a:effectLst>
            <a:outerShdw sx="100000" sy="100000" kx="0" ky="0" algn="bl" rotWithShape="0" blurRad="127000" dist="50800" dir="5400000">
              <a:srgbClr val="8A93A6">
                <a:alpha val="13000"/>
              </a:srgbClr>
            </a:outerShdw>
          </a:effectLst>
        </p:spPr>
      </p:sp>
      <p:sp>
        <p:nvSpPr>
          <p:cNvPr id="10" name="Shape 7"/>
          <p:cNvSpPr/>
          <p:nvPr/>
        </p:nvSpPr>
        <p:spPr>
          <a:xfrm>
            <a:off x="5742432" y="2002536"/>
            <a:ext cx="822960" cy="822960"/>
          </a:xfrm>
          <a:prstGeom prst="ellipse">
            <a:avLst/>
          </a:prstGeom>
          <a:solidFill>
            <a:srgbClr val="00A896"/>
          </a:solidFill>
          <a:ln/>
          <a:effectLst>
            <a:outerShdw sx="100000" sy="100000" kx="0" ky="0" algn="bl" rotWithShape="0" blurRad="127000" dist="50800" dir="5400000">
              <a:srgbClr val="8A93A6">
                <a:alpha val="13000"/>
              </a:srgbClr>
            </a:outerShdw>
          </a:effectLst>
        </p:spPr>
      </p:sp>
      <p:pic>
        <p:nvPicPr>
          <p:cNvPr id="11" name="Image 1" descr="preencoded.png">    </p:cNvPr>
          <p:cNvPicPr>
            <a:picLocks noChangeAspect="1"/>
          </p:cNvPicPr>
          <p:nvPr/>
        </p:nvPicPr>
        <p:blipFill>
          <a:blip r:embed="rId2"/>
          <a:stretch>
            <a:fillRect/>
          </a:stretch>
        </p:blipFill>
        <p:spPr>
          <a:xfrm>
            <a:off x="5964631" y="2224735"/>
            <a:ext cx="378562" cy="378562"/>
          </a:xfrm>
          <a:prstGeom prst="rect">
            <a:avLst/>
          </a:prstGeom>
        </p:spPr>
      </p:pic>
      <p:sp>
        <p:nvSpPr>
          <p:cNvPr id="12" name="Text 8"/>
          <p:cNvSpPr/>
          <p:nvPr/>
        </p:nvSpPr>
        <p:spPr>
          <a:xfrm>
            <a:off x="4553712" y="3017520"/>
            <a:ext cx="3200400" cy="365760"/>
          </a:xfrm>
          <a:prstGeom prst="rect">
            <a:avLst/>
          </a:prstGeom>
          <a:noFill/>
          <a:ln/>
        </p:spPr>
        <p:txBody>
          <a:bodyPr wrap="square" lIns="0" tIns="0" rIns="0" bIns="0" rtlCol="0" anchor="ctr"/>
          <a:lstStyle/>
          <a:p>
            <a:pPr algn="ctr" indent="0" marL="0">
              <a:buNone/>
            </a:pPr>
            <a:r>
              <a:rPr lang="en-US" sz="1700" b="1" dirty="0">
                <a:solidFill>
                  <a:srgbClr val="153A40"/>
                </a:solidFill>
                <a:latin typeface="Cambria" pitchFamily="34" charset="0"/>
                <a:ea typeface="Cambria" pitchFamily="34" charset="-122"/>
                <a:cs typeface="Cambria" pitchFamily="34" charset="-120"/>
              </a:rPr>
              <a:t>Taobao / Alibaba</a:t>
            </a:r>
            <a:endParaRPr lang="en-US" sz="1700" dirty="0"/>
          </a:p>
        </p:txBody>
      </p:sp>
      <p:sp>
        <p:nvSpPr>
          <p:cNvPr id="13" name="Text 9"/>
          <p:cNvSpPr/>
          <p:nvPr/>
        </p:nvSpPr>
        <p:spPr>
          <a:xfrm>
            <a:off x="4663440" y="3520440"/>
            <a:ext cx="2980944" cy="1463040"/>
          </a:xfrm>
          <a:prstGeom prst="rect">
            <a:avLst/>
          </a:prstGeom>
          <a:noFill/>
          <a:ln/>
        </p:spPr>
        <p:txBody>
          <a:bodyPr wrap="square" lIns="0" tIns="0" rIns="0" bIns="0" rtlCol="0" anchor="ctr"/>
          <a:lstStyle/>
          <a:p>
            <a:pPr algn="ctr" indent="0" marL="0">
              <a:buNone/>
            </a:pPr>
            <a:r>
              <a:rPr lang="en-US" sz="1250" dirty="0">
                <a:solidFill>
                  <a:srgbClr val="5E7A80"/>
                </a:solidFill>
                <a:latin typeface="Calibri" pitchFamily="34" charset="0"/>
                <a:ea typeface="Calibri" pitchFamily="34" charset="-122"/>
                <a:cs typeface="Calibri" pitchFamily="34" charset="-120"/>
              </a:rPr>
              <a:t>Graph embeddings place a billion items in “taste space” to power the “Guess What You Like” feed.</a:t>
            </a:r>
            <a:endParaRPr lang="en-US" sz="1250" dirty="0"/>
          </a:p>
        </p:txBody>
      </p:sp>
      <p:sp>
        <p:nvSpPr>
          <p:cNvPr id="14" name="Shape 10"/>
          <p:cNvSpPr/>
          <p:nvPr/>
        </p:nvSpPr>
        <p:spPr>
          <a:xfrm>
            <a:off x="8101584" y="1691640"/>
            <a:ext cx="3566160" cy="3566160"/>
          </a:xfrm>
          <a:prstGeom prst="roundRect">
            <a:avLst>
              <a:gd name="adj" fmla="val 3590"/>
            </a:avLst>
          </a:prstGeom>
          <a:solidFill>
            <a:srgbClr val="EAF7F5"/>
          </a:solidFill>
          <a:ln/>
          <a:effectLst>
            <a:outerShdw sx="100000" sy="100000" kx="0" ky="0" algn="bl" rotWithShape="0" blurRad="127000" dist="50800" dir="5400000">
              <a:srgbClr val="8A93A6">
                <a:alpha val="13000"/>
              </a:srgbClr>
            </a:outerShdw>
          </a:effectLst>
        </p:spPr>
      </p:sp>
      <p:sp>
        <p:nvSpPr>
          <p:cNvPr id="15" name="Shape 11"/>
          <p:cNvSpPr/>
          <p:nvPr/>
        </p:nvSpPr>
        <p:spPr>
          <a:xfrm>
            <a:off x="9473184" y="2002536"/>
            <a:ext cx="822960" cy="822960"/>
          </a:xfrm>
          <a:prstGeom prst="ellipse">
            <a:avLst/>
          </a:prstGeom>
          <a:solidFill>
            <a:srgbClr val="028090"/>
          </a:solidFill>
          <a:ln/>
          <a:effectLst>
            <a:outerShdw sx="100000" sy="100000" kx="0" ky="0" algn="bl" rotWithShape="0" blurRad="127000" dist="50800" dir="5400000">
              <a:srgbClr val="8A93A6">
                <a:alpha val="13000"/>
              </a:srgbClr>
            </a:outerShdw>
          </a:effectLst>
        </p:spPr>
      </p:sp>
      <p:pic>
        <p:nvPicPr>
          <p:cNvPr id="16" name="Image 2" descr="preencoded.png">    </p:cNvPr>
          <p:cNvPicPr>
            <a:picLocks noChangeAspect="1"/>
          </p:cNvPicPr>
          <p:nvPr/>
        </p:nvPicPr>
        <p:blipFill>
          <a:blip r:embed="rId3"/>
          <a:stretch>
            <a:fillRect/>
          </a:stretch>
        </p:blipFill>
        <p:spPr>
          <a:xfrm>
            <a:off x="9695383" y="2224735"/>
            <a:ext cx="378562" cy="378562"/>
          </a:xfrm>
          <a:prstGeom prst="rect">
            <a:avLst/>
          </a:prstGeom>
        </p:spPr>
      </p:pic>
      <p:sp>
        <p:nvSpPr>
          <p:cNvPr id="17" name="Text 12"/>
          <p:cNvSpPr/>
          <p:nvPr/>
        </p:nvSpPr>
        <p:spPr>
          <a:xfrm>
            <a:off x="8284464" y="3017520"/>
            <a:ext cx="3200400" cy="365760"/>
          </a:xfrm>
          <a:prstGeom prst="rect">
            <a:avLst/>
          </a:prstGeom>
          <a:noFill/>
          <a:ln/>
        </p:spPr>
        <p:txBody>
          <a:bodyPr wrap="square" lIns="0" tIns="0" rIns="0" bIns="0" rtlCol="0" anchor="ctr"/>
          <a:lstStyle/>
          <a:p>
            <a:pPr algn="ctr" indent="0" marL="0">
              <a:buNone/>
            </a:pPr>
            <a:r>
              <a:rPr lang="en-US" sz="1700" b="1" dirty="0">
                <a:solidFill>
                  <a:srgbClr val="153A40"/>
                </a:solidFill>
                <a:latin typeface="Cambria" pitchFamily="34" charset="0"/>
                <a:ea typeface="Cambria" pitchFamily="34" charset="-122"/>
                <a:cs typeface="Cambria" pitchFamily="34" charset="-120"/>
              </a:rPr>
              <a:t>JD.com (Jingdong)</a:t>
            </a:r>
            <a:endParaRPr lang="en-US" sz="1700" dirty="0"/>
          </a:p>
        </p:txBody>
      </p:sp>
      <p:sp>
        <p:nvSpPr>
          <p:cNvPr id="18" name="Text 13"/>
          <p:cNvSpPr/>
          <p:nvPr/>
        </p:nvSpPr>
        <p:spPr>
          <a:xfrm>
            <a:off x="8394192" y="3520440"/>
            <a:ext cx="2980944" cy="1463040"/>
          </a:xfrm>
          <a:prstGeom prst="rect">
            <a:avLst/>
          </a:prstGeom>
          <a:noFill/>
          <a:ln/>
        </p:spPr>
        <p:txBody>
          <a:bodyPr wrap="square" lIns="0" tIns="0" rIns="0" bIns="0" rtlCol="0" anchor="ctr"/>
          <a:lstStyle/>
          <a:p>
            <a:pPr algn="ctr" indent="0" marL="0">
              <a:buNone/>
            </a:pPr>
            <a:r>
              <a:rPr lang="en-US" sz="1250" dirty="0">
                <a:solidFill>
                  <a:srgbClr val="5E7A80"/>
                </a:solidFill>
                <a:latin typeface="Calibri" pitchFamily="34" charset="0"/>
                <a:ea typeface="Calibri" pitchFamily="34" charset="-122"/>
                <a:cs typeface="Calibri" pitchFamily="34" charset="-120"/>
              </a:rPr>
              <a:t>Deep-learning models match shoppers to products across a massive catalog in milliseconds.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FF6B6B"/>
                </a:solidFill>
                <a:latin typeface="Calibri" pitchFamily="34" charset="0"/>
                <a:ea typeface="Calibri" pitchFamily="34" charset="-122"/>
                <a:cs typeface="Calibri" pitchFamily="34" charset="-120"/>
              </a:rPr>
              <a:t>BEGINNER PITFALLS &amp; GLOSSARY</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53A40"/>
                </a:solidFill>
                <a:latin typeface="Cambria" pitchFamily="34" charset="0"/>
                <a:ea typeface="Cambria" pitchFamily="34" charset="-122"/>
                <a:cs typeface="Cambria" pitchFamily="34" charset="-120"/>
              </a:rPr>
              <a:t>Mistakes to dodge, terms to know</a:t>
            </a:r>
            <a:endParaRPr lang="en-US" sz="2700" dirty="0"/>
          </a:p>
        </p:txBody>
      </p:sp>
      <p:sp>
        <p:nvSpPr>
          <p:cNvPr id="4" name="Shape 2"/>
          <p:cNvSpPr/>
          <p:nvPr/>
        </p:nvSpPr>
        <p:spPr>
          <a:xfrm>
            <a:off x="640080" y="1737360"/>
            <a:ext cx="5486400" cy="3657600"/>
          </a:xfrm>
          <a:prstGeom prst="roundRect">
            <a:avLst>
              <a:gd name="adj" fmla="val 3500"/>
            </a:avLst>
          </a:prstGeom>
          <a:solidFill>
            <a:srgbClr val="FFEDED"/>
          </a:solidFill>
          <a:ln/>
          <a:effectLst>
            <a:outerShdw sx="100000" sy="100000" kx="0" ky="0" algn="bl" rotWithShape="0" blurRad="127000" dist="50800" dir="5400000">
              <a:srgbClr val="8A93A6">
                <a:alpha val="13000"/>
              </a:srgbClr>
            </a:outerShdw>
          </a:effectLst>
        </p:spPr>
      </p:sp>
      <p:sp>
        <p:nvSpPr>
          <p:cNvPr id="5" name="Text 3"/>
          <p:cNvSpPr/>
          <p:nvPr/>
        </p:nvSpPr>
        <p:spPr>
          <a:xfrm>
            <a:off x="914400" y="1920240"/>
            <a:ext cx="4937760" cy="320040"/>
          </a:xfrm>
          <a:prstGeom prst="rect">
            <a:avLst/>
          </a:prstGeom>
          <a:noFill/>
          <a:ln/>
        </p:spPr>
        <p:txBody>
          <a:bodyPr wrap="square" lIns="0" tIns="0" rIns="0" bIns="0" rtlCol="0" anchor="ctr"/>
          <a:lstStyle/>
          <a:p>
            <a:pPr indent="0" marL="0">
              <a:buNone/>
            </a:pPr>
            <a:r>
              <a:rPr lang="en-US" sz="1400" b="1" dirty="0">
                <a:solidFill>
                  <a:srgbClr val="153A40"/>
                </a:solidFill>
                <a:latin typeface="Cambria" pitchFamily="34" charset="0"/>
                <a:ea typeface="Cambria" pitchFamily="34" charset="-122"/>
                <a:cs typeface="Cambria" pitchFamily="34" charset="-120"/>
              </a:rPr>
              <a:t>Common pitfalls</a:t>
            </a:r>
            <a:endParaRPr lang="en-US" sz="1400" dirty="0"/>
          </a:p>
        </p:txBody>
      </p:sp>
      <p:pic>
        <p:nvPicPr>
          <p:cNvPr id="6" name="Image 0" descr="preencoded.png">    </p:cNvPr>
          <p:cNvPicPr>
            <a:picLocks noChangeAspect="1"/>
          </p:cNvPicPr>
          <p:nvPr/>
        </p:nvPicPr>
        <p:blipFill>
          <a:blip r:embed="rId1"/>
          <a:stretch>
            <a:fillRect/>
          </a:stretch>
        </p:blipFill>
        <p:spPr>
          <a:xfrm>
            <a:off x="960120" y="2450592"/>
            <a:ext cx="237744" cy="237744"/>
          </a:xfrm>
          <a:prstGeom prst="rect">
            <a:avLst/>
          </a:prstGeom>
        </p:spPr>
      </p:pic>
      <p:sp>
        <p:nvSpPr>
          <p:cNvPr id="7" name="Text 4"/>
          <p:cNvSpPr/>
          <p:nvPr/>
        </p:nvSpPr>
        <p:spPr>
          <a:xfrm>
            <a:off x="1325880" y="2377440"/>
            <a:ext cx="4572000" cy="548640"/>
          </a:xfrm>
          <a:prstGeom prst="rect">
            <a:avLst/>
          </a:prstGeom>
          <a:noFill/>
          <a:ln/>
        </p:spPr>
        <p:txBody>
          <a:bodyPr wrap="square" lIns="0" tIns="0" rIns="0" bIns="0" rtlCol="0" anchor="t"/>
          <a:lstStyle/>
          <a:p>
            <a:pPr indent="0" marL="0">
              <a:buNone/>
            </a:pPr>
            <a:r>
              <a:rPr lang="en-US" sz="1250" dirty="0">
                <a:solidFill>
                  <a:srgbClr val="153A40"/>
                </a:solidFill>
                <a:latin typeface="Calibri" pitchFamily="34" charset="0"/>
                <a:ea typeface="Calibri" pitchFamily="34" charset="-122"/>
                <a:cs typeface="Calibri" pitchFamily="34" charset="-120"/>
              </a:rPr>
              <a:t>Trusting offline metrics only — always A/B test</a:t>
            </a:r>
            <a:endParaRPr lang="en-US" sz="1250" dirty="0"/>
          </a:p>
        </p:txBody>
      </p:sp>
      <p:pic>
        <p:nvPicPr>
          <p:cNvPr id="8" name="Image 1" descr="preencoded.png">    </p:cNvPr>
          <p:cNvPicPr>
            <a:picLocks noChangeAspect="1"/>
          </p:cNvPicPr>
          <p:nvPr/>
        </p:nvPicPr>
        <p:blipFill>
          <a:blip r:embed="rId2"/>
          <a:stretch>
            <a:fillRect/>
          </a:stretch>
        </p:blipFill>
        <p:spPr>
          <a:xfrm>
            <a:off x="960120" y="3163824"/>
            <a:ext cx="237744" cy="237744"/>
          </a:xfrm>
          <a:prstGeom prst="rect">
            <a:avLst/>
          </a:prstGeom>
        </p:spPr>
      </p:pic>
      <p:sp>
        <p:nvSpPr>
          <p:cNvPr id="9" name="Text 5"/>
          <p:cNvSpPr/>
          <p:nvPr/>
        </p:nvSpPr>
        <p:spPr>
          <a:xfrm>
            <a:off x="1325880" y="3090672"/>
            <a:ext cx="4572000" cy="548640"/>
          </a:xfrm>
          <a:prstGeom prst="rect">
            <a:avLst/>
          </a:prstGeom>
          <a:noFill/>
          <a:ln/>
        </p:spPr>
        <p:txBody>
          <a:bodyPr wrap="square" lIns="0" tIns="0" rIns="0" bIns="0" rtlCol="0" anchor="t"/>
          <a:lstStyle/>
          <a:p>
            <a:pPr indent="0" marL="0">
              <a:buNone/>
            </a:pPr>
            <a:r>
              <a:rPr lang="en-US" sz="1250" dirty="0">
                <a:solidFill>
                  <a:srgbClr val="153A40"/>
                </a:solidFill>
                <a:latin typeface="Calibri" pitchFamily="34" charset="0"/>
                <a:ea typeface="Calibri" pitchFamily="34" charset="-122"/>
                <a:cs typeface="Calibri" pitchFamily="34" charset="-120"/>
              </a:rPr>
              <a:t>Data leakage: testing on data the model already saw</a:t>
            </a:r>
            <a:endParaRPr lang="en-US" sz="1250" dirty="0"/>
          </a:p>
        </p:txBody>
      </p:sp>
      <p:pic>
        <p:nvPicPr>
          <p:cNvPr id="10" name="Image 2" descr="preencoded.png">    </p:cNvPr>
          <p:cNvPicPr>
            <a:picLocks noChangeAspect="1"/>
          </p:cNvPicPr>
          <p:nvPr/>
        </p:nvPicPr>
        <p:blipFill>
          <a:blip r:embed="rId3"/>
          <a:stretch>
            <a:fillRect/>
          </a:stretch>
        </p:blipFill>
        <p:spPr>
          <a:xfrm>
            <a:off x="960120" y="3877056"/>
            <a:ext cx="237744" cy="237744"/>
          </a:xfrm>
          <a:prstGeom prst="rect">
            <a:avLst/>
          </a:prstGeom>
        </p:spPr>
      </p:pic>
      <p:sp>
        <p:nvSpPr>
          <p:cNvPr id="11" name="Text 6"/>
          <p:cNvSpPr/>
          <p:nvPr/>
        </p:nvSpPr>
        <p:spPr>
          <a:xfrm>
            <a:off x="1325880" y="3803904"/>
            <a:ext cx="4572000" cy="548640"/>
          </a:xfrm>
          <a:prstGeom prst="rect">
            <a:avLst/>
          </a:prstGeom>
          <a:noFill/>
          <a:ln/>
        </p:spPr>
        <p:txBody>
          <a:bodyPr wrap="square" lIns="0" tIns="0" rIns="0" bIns="0" rtlCol="0" anchor="t"/>
          <a:lstStyle/>
          <a:p>
            <a:pPr indent="0" marL="0">
              <a:buNone/>
            </a:pPr>
            <a:r>
              <a:rPr lang="en-US" sz="1250" dirty="0">
                <a:solidFill>
                  <a:srgbClr val="153A40"/>
                </a:solidFill>
                <a:latin typeface="Calibri" pitchFamily="34" charset="0"/>
                <a:ea typeface="Calibri" pitchFamily="34" charset="-122"/>
                <a:cs typeface="Calibri" pitchFamily="34" charset="-120"/>
              </a:rPr>
              <a:t>Recommending only popular items (popularity bias)</a:t>
            </a:r>
            <a:endParaRPr lang="en-US" sz="1250" dirty="0"/>
          </a:p>
        </p:txBody>
      </p:sp>
      <p:pic>
        <p:nvPicPr>
          <p:cNvPr id="12" name="Image 3" descr="preencoded.png">    </p:cNvPr>
          <p:cNvPicPr>
            <a:picLocks noChangeAspect="1"/>
          </p:cNvPicPr>
          <p:nvPr/>
        </p:nvPicPr>
        <p:blipFill>
          <a:blip r:embed="rId4"/>
          <a:stretch>
            <a:fillRect/>
          </a:stretch>
        </p:blipFill>
        <p:spPr>
          <a:xfrm>
            <a:off x="960120" y="4590288"/>
            <a:ext cx="237744" cy="237744"/>
          </a:xfrm>
          <a:prstGeom prst="rect">
            <a:avLst/>
          </a:prstGeom>
        </p:spPr>
      </p:pic>
      <p:sp>
        <p:nvSpPr>
          <p:cNvPr id="13" name="Text 7"/>
          <p:cNvSpPr/>
          <p:nvPr/>
        </p:nvSpPr>
        <p:spPr>
          <a:xfrm>
            <a:off x="1325880" y="4517136"/>
            <a:ext cx="4572000" cy="548640"/>
          </a:xfrm>
          <a:prstGeom prst="rect">
            <a:avLst/>
          </a:prstGeom>
          <a:noFill/>
          <a:ln/>
        </p:spPr>
        <p:txBody>
          <a:bodyPr wrap="square" lIns="0" tIns="0" rIns="0" bIns="0" rtlCol="0" anchor="t"/>
          <a:lstStyle/>
          <a:p>
            <a:pPr indent="0" marL="0">
              <a:buNone/>
            </a:pPr>
            <a:r>
              <a:rPr lang="en-US" sz="1250" dirty="0">
                <a:solidFill>
                  <a:srgbClr val="153A40"/>
                </a:solidFill>
                <a:latin typeface="Calibri" pitchFamily="34" charset="0"/>
                <a:ea typeface="Calibri" pitchFamily="34" charset="-122"/>
                <a:cs typeface="Calibri" pitchFamily="34" charset="-120"/>
              </a:rPr>
              <a:t>Ignoring cold start for new users and items</a:t>
            </a:r>
            <a:endParaRPr lang="en-US" sz="1250" dirty="0"/>
          </a:p>
        </p:txBody>
      </p:sp>
      <p:sp>
        <p:nvSpPr>
          <p:cNvPr id="14" name="Shape 8"/>
          <p:cNvSpPr/>
          <p:nvPr/>
        </p:nvSpPr>
        <p:spPr>
          <a:xfrm>
            <a:off x="6355080" y="1737360"/>
            <a:ext cx="5212080" cy="3657600"/>
          </a:xfrm>
          <a:prstGeom prst="roundRect">
            <a:avLst>
              <a:gd name="adj" fmla="val 3500"/>
            </a:avLst>
          </a:prstGeom>
          <a:solidFill>
            <a:srgbClr val="FFFFFF"/>
          </a:solidFill>
          <a:ln/>
          <a:effectLst>
            <a:outerShdw sx="100000" sy="100000" kx="0" ky="0" algn="bl" rotWithShape="0" blurRad="127000" dist="50800" dir="5400000">
              <a:srgbClr val="8A93A6">
                <a:alpha val="13000"/>
              </a:srgbClr>
            </a:outerShdw>
          </a:effectLst>
        </p:spPr>
      </p:sp>
      <p:sp>
        <p:nvSpPr>
          <p:cNvPr id="15" name="Shape 9"/>
          <p:cNvSpPr/>
          <p:nvPr/>
        </p:nvSpPr>
        <p:spPr>
          <a:xfrm>
            <a:off x="6355080" y="1737360"/>
            <a:ext cx="5212080" cy="3657600"/>
          </a:xfrm>
          <a:prstGeom prst="roundRect">
            <a:avLst>
              <a:gd name="adj" fmla="val 3500"/>
            </a:avLst>
          </a:prstGeom>
          <a:solidFill>
            <a:srgbClr val="FFFFFF">
              <a:alpha val="0"/>
            </a:srgbClr>
          </a:solidFill>
          <a:ln w="12700">
            <a:solidFill>
              <a:srgbClr val="CDE8E3"/>
            </a:solidFill>
            <a:prstDash val="solid"/>
          </a:ln>
        </p:spPr>
      </p:sp>
      <p:sp>
        <p:nvSpPr>
          <p:cNvPr id="16" name="Text 10"/>
          <p:cNvSpPr/>
          <p:nvPr/>
        </p:nvSpPr>
        <p:spPr>
          <a:xfrm>
            <a:off x="6629400" y="1920240"/>
            <a:ext cx="4663440" cy="320040"/>
          </a:xfrm>
          <a:prstGeom prst="rect">
            <a:avLst/>
          </a:prstGeom>
          <a:noFill/>
          <a:ln/>
        </p:spPr>
        <p:txBody>
          <a:bodyPr wrap="square" lIns="0" tIns="0" rIns="0" bIns="0" rtlCol="0" anchor="ctr"/>
          <a:lstStyle/>
          <a:p>
            <a:pPr indent="0" marL="0">
              <a:buNone/>
            </a:pPr>
            <a:r>
              <a:rPr lang="en-US" sz="1400" b="1" dirty="0">
                <a:solidFill>
                  <a:srgbClr val="153A40"/>
                </a:solidFill>
                <a:latin typeface="Cambria" pitchFamily="34" charset="0"/>
                <a:ea typeface="Cambria" pitchFamily="34" charset="-122"/>
                <a:cs typeface="Cambria" pitchFamily="34" charset="-120"/>
              </a:rPr>
              <a:t>Quick glossary</a:t>
            </a:r>
            <a:endParaRPr lang="en-US" sz="1400" dirty="0"/>
          </a:p>
        </p:txBody>
      </p:sp>
      <p:sp>
        <p:nvSpPr>
          <p:cNvPr id="17" name="Text 11"/>
          <p:cNvSpPr/>
          <p:nvPr/>
        </p:nvSpPr>
        <p:spPr>
          <a:xfrm>
            <a:off x="6629400" y="2395728"/>
            <a:ext cx="4663440" cy="36576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CF  —  </a:t>
            </a:r>
            <a:pPr indent="0" marL="0">
              <a:buNone/>
            </a:pPr>
            <a:r>
              <a:rPr lang="en-US" sz="1300" dirty="0">
                <a:solidFill>
                  <a:srgbClr val="5E7A80"/>
                </a:solidFill>
                <a:latin typeface="Calibri" pitchFamily="34" charset="0"/>
                <a:ea typeface="Calibri" pitchFamily="34" charset="-122"/>
                <a:cs typeface="Calibri" pitchFamily="34" charset="-120"/>
              </a:rPr>
              <a:t>Collaborative Filtering</a:t>
            </a:r>
            <a:endParaRPr lang="en-US" sz="1300" dirty="0"/>
          </a:p>
        </p:txBody>
      </p:sp>
      <p:sp>
        <p:nvSpPr>
          <p:cNvPr id="18" name="Text 12"/>
          <p:cNvSpPr/>
          <p:nvPr/>
        </p:nvSpPr>
        <p:spPr>
          <a:xfrm>
            <a:off x="6629400" y="2962656"/>
            <a:ext cx="4663440" cy="36576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AOV  —  </a:t>
            </a:r>
            <a:pPr indent="0" marL="0">
              <a:buNone/>
            </a:pPr>
            <a:r>
              <a:rPr lang="en-US" sz="1300" dirty="0">
                <a:solidFill>
                  <a:srgbClr val="5E7A80"/>
                </a:solidFill>
                <a:latin typeface="Calibri" pitchFamily="34" charset="0"/>
                <a:ea typeface="Calibri" pitchFamily="34" charset="-122"/>
                <a:cs typeface="Calibri" pitchFamily="34" charset="-120"/>
              </a:rPr>
              <a:t>Average Order Value</a:t>
            </a:r>
            <a:endParaRPr lang="en-US" sz="1300" dirty="0"/>
          </a:p>
        </p:txBody>
      </p:sp>
      <p:sp>
        <p:nvSpPr>
          <p:cNvPr id="19" name="Text 13"/>
          <p:cNvSpPr/>
          <p:nvPr/>
        </p:nvSpPr>
        <p:spPr>
          <a:xfrm>
            <a:off x="6629400" y="3529584"/>
            <a:ext cx="4663440" cy="36576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CTR  —  </a:t>
            </a:r>
            <a:pPr indent="0" marL="0">
              <a:buNone/>
            </a:pPr>
            <a:r>
              <a:rPr lang="en-US" sz="1300" dirty="0">
                <a:solidFill>
                  <a:srgbClr val="5E7A80"/>
                </a:solidFill>
                <a:latin typeface="Calibri" pitchFamily="34" charset="0"/>
                <a:ea typeface="Calibri" pitchFamily="34" charset="-122"/>
                <a:cs typeface="Calibri" pitchFamily="34" charset="-120"/>
              </a:rPr>
              <a:t>Click-Through Rate</a:t>
            </a:r>
            <a:endParaRPr lang="en-US" sz="1300" dirty="0"/>
          </a:p>
        </p:txBody>
      </p:sp>
      <p:sp>
        <p:nvSpPr>
          <p:cNvPr id="20" name="Text 14"/>
          <p:cNvSpPr/>
          <p:nvPr/>
        </p:nvSpPr>
        <p:spPr>
          <a:xfrm>
            <a:off x="6629400" y="4096512"/>
            <a:ext cx="4663440" cy="36576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NDCG  —  </a:t>
            </a:r>
            <a:pPr indent="0" marL="0">
              <a:buNone/>
            </a:pPr>
            <a:r>
              <a:rPr lang="en-US" sz="1300" dirty="0">
                <a:solidFill>
                  <a:srgbClr val="5E7A80"/>
                </a:solidFill>
                <a:latin typeface="Calibri" pitchFamily="34" charset="0"/>
                <a:ea typeface="Calibri" pitchFamily="34" charset="-122"/>
                <a:cs typeface="Calibri" pitchFamily="34" charset="-120"/>
              </a:rPr>
              <a:t>ranking quality, top-weighted</a:t>
            </a:r>
            <a:endParaRPr lang="en-US" sz="1300" dirty="0"/>
          </a:p>
        </p:txBody>
      </p:sp>
      <p:sp>
        <p:nvSpPr>
          <p:cNvPr id="21" name="Text 15"/>
          <p:cNvSpPr/>
          <p:nvPr/>
        </p:nvSpPr>
        <p:spPr>
          <a:xfrm>
            <a:off x="6629400" y="4663440"/>
            <a:ext cx="4663440" cy="36576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Embedding  —  </a:t>
            </a:r>
            <a:pPr indent="0" marL="0">
              <a:buNone/>
            </a:pPr>
            <a:r>
              <a:rPr lang="en-US" sz="1300" dirty="0">
                <a:solidFill>
                  <a:srgbClr val="5E7A80"/>
                </a:solidFill>
                <a:latin typeface="Calibri" pitchFamily="34" charset="0"/>
                <a:ea typeface="Calibri" pitchFamily="34" charset="-122"/>
                <a:cs typeface="Calibri" pitchFamily="34" charset="-120"/>
              </a:rPr>
              <a:t>item/user as a vector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FF6B6B"/>
                </a:solidFill>
                <a:latin typeface="Calibri" pitchFamily="34" charset="0"/>
                <a:ea typeface="Calibri" pitchFamily="34" charset="-122"/>
                <a:cs typeface="Calibri" pitchFamily="34" charset="-120"/>
              </a:rPr>
              <a:t>YOUR NEXT STEPS</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53A40"/>
                </a:solidFill>
                <a:latin typeface="Cambria" pitchFamily="34" charset="0"/>
                <a:ea typeface="Cambria" pitchFamily="34" charset="-122"/>
                <a:cs typeface="Cambria" pitchFamily="34" charset="-120"/>
              </a:rPr>
              <a:t>Build your first recommender this week</a:t>
            </a:r>
            <a:endParaRPr lang="en-US" sz="2700" dirty="0"/>
          </a:p>
        </p:txBody>
      </p:sp>
      <p:sp>
        <p:nvSpPr>
          <p:cNvPr id="4" name="Shape 2"/>
          <p:cNvSpPr/>
          <p:nvPr/>
        </p:nvSpPr>
        <p:spPr>
          <a:xfrm>
            <a:off x="640080" y="1691640"/>
            <a:ext cx="5349240" cy="1554480"/>
          </a:xfrm>
          <a:prstGeom prst="roundRect">
            <a:avLst>
              <a:gd name="adj" fmla="val 7059"/>
            </a:avLst>
          </a:prstGeom>
          <a:solidFill>
            <a:srgbClr val="EAF7F5"/>
          </a:solidFill>
          <a:ln/>
          <a:effectLst>
            <a:outerShdw sx="100000" sy="100000" kx="0" ky="0" algn="bl" rotWithShape="0" blurRad="127000" dist="50800" dir="5400000">
              <a:srgbClr val="8A93A6">
                <a:alpha val="13000"/>
              </a:srgbClr>
            </a:outerShdw>
          </a:effectLst>
        </p:spPr>
      </p:sp>
      <p:sp>
        <p:nvSpPr>
          <p:cNvPr id="5" name="Shape 3"/>
          <p:cNvSpPr/>
          <p:nvPr/>
        </p:nvSpPr>
        <p:spPr>
          <a:xfrm>
            <a:off x="914400" y="1965960"/>
            <a:ext cx="713232" cy="713232"/>
          </a:xfrm>
          <a:prstGeom prst="ellipse">
            <a:avLst/>
          </a:prstGeom>
          <a:solidFill>
            <a:srgbClr val="028090"/>
          </a:solidFill>
          <a:ln/>
          <a:effectLst>
            <a:outerShdw sx="100000" sy="100000" kx="0" ky="0" algn="bl" rotWithShape="0" blurRad="127000" dist="50800" dir="5400000">
              <a:srgbClr val="8A93A6">
                <a:alpha val="13000"/>
              </a:srgbClr>
            </a:outerShdw>
          </a:effectLst>
        </p:spPr>
      </p:sp>
      <p:pic>
        <p:nvPicPr>
          <p:cNvPr id="6" name="Image 0" descr="preencoded.png">    </p:cNvPr>
          <p:cNvPicPr>
            <a:picLocks noChangeAspect="1"/>
          </p:cNvPicPr>
          <p:nvPr/>
        </p:nvPicPr>
        <p:blipFill>
          <a:blip r:embed="rId1"/>
          <a:stretch>
            <a:fillRect/>
          </a:stretch>
        </p:blipFill>
        <p:spPr>
          <a:xfrm>
            <a:off x="1106973" y="2158533"/>
            <a:ext cx="328087" cy="328087"/>
          </a:xfrm>
          <a:prstGeom prst="rect">
            <a:avLst/>
          </a:prstGeom>
        </p:spPr>
      </p:pic>
      <p:sp>
        <p:nvSpPr>
          <p:cNvPr id="7" name="Text 4"/>
          <p:cNvSpPr/>
          <p:nvPr/>
        </p:nvSpPr>
        <p:spPr>
          <a:xfrm>
            <a:off x="1810512" y="1929384"/>
            <a:ext cx="3977640" cy="365760"/>
          </a:xfrm>
          <a:prstGeom prst="rect">
            <a:avLst/>
          </a:prstGeom>
          <a:noFill/>
          <a:ln/>
        </p:spPr>
        <p:txBody>
          <a:bodyPr wrap="square" lIns="0" tIns="0" rIns="0" bIns="0" rtlCol="0" anchor="ctr"/>
          <a:lstStyle/>
          <a:p>
            <a:pPr indent="0" marL="0">
              <a:buNone/>
            </a:pPr>
            <a:r>
              <a:rPr lang="en-US" sz="1600" b="1" dirty="0">
                <a:solidFill>
                  <a:srgbClr val="153A40"/>
                </a:solidFill>
                <a:latin typeface="Cambria" pitchFamily="34" charset="0"/>
                <a:ea typeface="Cambria" pitchFamily="34" charset="-122"/>
                <a:cs typeface="Cambria" pitchFamily="34" charset="-120"/>
              </a:rPr>
              <a:t>Get a dataset</a:t>
            </a:r>
            <a:endParaRPr lang="en-US" sz="1600" dirty="0"/>
          </a:p>
        </p:txBody>
      </p:sp>
      <p:sp>
        <p:nvSpPr>
          <p:cNvPr id="8" name="Text 5"/>
          <p:cNvSpPr/>
          <p:nvPr/>
        </p:nvSpPr>
        <p:spPr>
          <a:xfrm>
            <a:off x="1810512" y="2331720"/>
            <a:ext cx="3977640" cy="777240"/>
          </a:xfrm>
          <a:prstGeom prst="rect">
            <a:avLst/>
          </a:prstGeom>
          <a:noFill/>
          <a:ln/>
        </p:spPr>
        <p:txBody>
          <a:bodyPr wrap="square" lIns="0" tIns="0" rIns="0" bIns="0" rtlCol="0" anchor="ctr"/>
          <a:lstStyle/>
          <a:p>
            <a:pPr indent="0" marL="0">
              <a:buNone/>
            </a:pPr>
            <a:r>
              <a:rPr lang="en-US" sz="1250" dirty="0">
                <a:solidFill>
                  <a:srgbClr val="5E7A80"/>
                </a:solidFill>
                <a:latin typeface="Calibri" pitchFamily="34" charset="0"/>
                <a:ea typeface="Calibri" pitchFamily="34" charset="-122"/>
                <a:cs typeface="Calibri" pitchFamily="34" charset="-120"/>
              </a:rPr>
              <a:t>Start with MovieLens — small, clean, and classic for learning.</a:t>
            </a:r>
            <a:endParaRPr lang="en-US" sz="1250" dirty="0"/>
          </a:p>
        </p:txBody>
      </p:sp>
      <p:sp>
        <p:nvSpPr>
          <p:cNvPr id="9" name="Shape 6"/>
          <p:cNvSpPr/>
          <p:nvPr/>
        </p:nvSpPr>
        <p:spPr>
          <a:xfrm>
            <a:off x="6217920" y="1691640"/>
            <a:ext cx="5349240" cy="1554480"/>
          </a:xfrm>
          <a:prstGeom prst="roundRect">
            <a:avLst>
              <a:gd name="adj" fmla="val 7059"/>
            </a:avLst>
          </a:prstGeom>
          <a:solidFill>
            <a:srgbClr val="EAF7F5"/>
          </a:solidFill>
          <a:ln/>
          <a:effectLst>
            <a:outerShdw sx="100000" sy="100000" kx="0" ky="0" algn="bl" rotWithShape="0" blurRad="127000" dist="50800" dir="5400000">
              <a:srgbClr val="8A93A6">
                <a:alpha val="13000"/>
              </a:srgbClr>
            </a:outerShdw>
          </a:effectLst>
        </p:spPr>
      </p:sp>
      <p:sp>
        <p:nvSpPr>
          <p:cNvPr id="10" name="Shape 7"/>
          <p:cNvSpPr/>
          <p:nvPr/>
        </p:nvSpPr>
        <p:spPr>
          <a:xfrm>
            <a:off x="6492240" y="1965960"/>
            <a:ext cx="713232" cy="713232"/>
          </a:xfrm>
          <a:prstGeom prst="ellipse">
            <a:avLst/>
          </a:prstGeom>
          <a:solidFill>
            <a:srgbClr val="00A896"/>
          </a:solidFill>
          <a:ln/>
          <a:effectLst>
            <a:outerShdw sx="100000" sy="100000" kx="0" ky="0" algn="bl" rotWithShape="0" blurRad="127000" dist="50800" dir="5400000">
              <a:srgbClr val="8A93A6">
                <a:alpha val="13000"/>
              </a:srgbClr>
            </a:outerShdw>
          </a:effectLst>
        </p:spPr>
      </p:sp>
      <p:pic>
        <p:nvPicPr>
          <p:cNvPr id="11" name="Image 1" descr="preencoded.png">    </p:cNvPr>
          <p:cNvPicPr>
            <a:picLocks noChangeAspect="1"/>
          </p:cNvPicPr>
          <p:nvPr/>
        </p:nvPicPr>
        <p:blipFill>
          <a:blip r:embed="rId2"/>
          <a:stretch>
            <a:fillRect/>
          </a:stretch>
        </p:blipFill>
        <p:spPr>
          <a:xfrm>
            <a:off x="6684813" y="2158533"/>
            <a:ext cx="328087" cy="328087"/>
          </a:xfrm>
          <a:prstGeom prst="rect">
            <a:avLst/>
          </a:prstGeom>
        </p:spPr>
      </p:pic>
      <p:sp>
        <p:nvSpPr>
          <p:cNvPr id="12" name="Text 8"/>
          <p:cNvSpPr/>
          <p:nvPr/>
        </p:nvSpPr>
        <p:spPr>
          <a:xfrm>
            <a:off x="7388352" y="1929384"/>
            <a:ext cx="3977640" cy="365760"/>
          </a:xfrm>
          <a:prstGeom prst="rect">
            <a:avLst/>
          </a:prstGeom>
          <a:noFill/>
          <a:ln/>
        </p:spPr>
        <p:txBody>
          <a:bodyPr wrap="square" lIns="0" tIns="0" rIns="0" bIns="0" rtlCol="0" anchor="ctr"/>
          <a:lstStyle/>
          <a:p>
            <a:pPr indent="0" marL="0">
              <a:buNone/>
            </a:pPr>
            <a:r>
              <a:rPr lang="en-US" sz="1600" b="1" dirty="0">
                <a:solidFill>
                  <a:srgbClr val="153A40"/>
                </a:solidFill>
                <a:latin typeface="Cambria" pitchFamily="34" charset="0"/>
                <a:ea typeface="Cambria" pitchFamily="34" charset="-122"/>
                <a:cs typeface="Cambria" pitchFamily="34" charset="-120"/>
              </a:rPr>
              <a:t>Pick a library</a:t>
            </a:r>
            <a:endParaRPr lang="en-US" sz="1600" dirty="0"/>
          </a:p>
        </p:txBody>
      </p:sp>
      <p:sp>
        <p:nvSpPr>
          <p:cNvPr id="13" name="Text 9"/>
          <p:cNvSpPr/>
          <p:nvPr/>
        </p:nvSpPr>
        <p:spPr>
          <a:xfrm>
            <a:off x="7388352" y="2331720"/>
            <a:ext cx="3977640" cy="777240"/>
          </a:xfrm>
          <a:prstGeom prst="rect">
            <a:avLst/>
          </a:prstGeom>
          <a:noFill/>
          <a:ln/>
        </p:spPr>
        <p:txBody>
          <a:bodyPr wrap="square" lIns="0" tIns="0" rIns="0" bIns="0" rtlCol="0" anchor="ctr"/>
          <a:lstStyle/>
          <a:p>
            <a:pPr indent="0" marL="0">
              <a:buNone/>
            </a:pPr>
            <a:r>
              <a:rPr lang="en-US" sz="1250" dirty="0">
                <a:solidFill>
                  <a:srgbClr val="5E7A80"/>
                </a:solidFill>
                <a:latin typeface="Calibri" pitchFamily="34" charset="0"/>
                <a:ea typeface="Calibri" pitchFamily="34" charset="-122"/>
                <a:cs typeface="Calibri" pitchFamily="34" charset="-120"/>
              </a:rPr>
              <a:t>Try Surprise, LightFM, or implicit for ready-made models.</a:t>
            </a:r>
            <a:endParaRPr lang="en-US" sz="1250" dirty="0"/>
          </a:p>
        </p:txBody>
      </p:sp>
      <p:sp>
        <p:nvSpPr>
          <p:cNvPr id="14" name="Shape 10"/>
          <p:cNvSpPr/>
          <p:nvPr/>
        </p:nvSpPr>
        <p:spPr>
          <a:xfrm>
            <a:off x="640080" y="3502152"/>
            <a:ext cx="5349240" cy="1554480"/>
          </a:xfrm>
          <a:prstGeom prst="roundRect">
            <a:avLst>
              <a:gd name="adj" fmla="val 7059"/>
            </a:avLst>
          </a:prstGeom>
          <a:solidFill>
            <a:srgbClr val="EAF7F5"/>
          </a:solidFill>
          <a:ln/>
          <a:effectLst>
            <a:outerShdw sx="100000" sy="100000" kx="0" ky="0" algn="bl" rotWithShape="0" blurRad="127000" dist="50800" dir="5400000">
              <a:srgbClr val="8A93A6">
                <a:alpha val="13000"/>
              </a:srgbClr>
            </a:outerShdw>
          </a:effectLst>
        </p:spPr>
      </p:sp>
      <p:sp>
        <p:nvSpPr>
          <p:cNvPr id="15" name="Shape 11"/>
          <p:cNvSpPr/>
          <p:nvPr/>
        </p:nvSpPr>
        <p:spPr>
          <a:xfrm>
            <a:off x="914400" y="3776472"/>
            <a:ext cx="713232" cy="713232"/>
          </a:xfrm>
          <a:prstGeom prst="ellipse">
            <a:avLst/>
          </a:prstGeom>
          <a:solidFill>
            <a:srgbClr val="028090"/>
          </a:solidFill>
          <a:ln/>
          <a:effectLst>
            <a:outerShdw sx="100000" sy="100000" kx="0" ky="0" algn="bl" rotWithShape="0" blurRad="127000" dist="50800" dir="5400000">
              <a:srgbClr val="8A93A6">
                <a:alpha val="13000"/>
              </a:srgbClr>
            </a:outerShdw>
          </a:effectLst>
        </p:spPr>
      </p:sp>
      <p:pic>
        <p:nvPicPr>
          <p:cNvPr id="16" name="Image 2" descr="preencoded.png">    </p:cNvPr>
          <p:cNvPicPr>
            <a:picLocks noChangeAspect="1"/>
          </p:cNvPicPr>
          <p:nvPr/>
        </p:nvPicPr>
        <p:blipFill>
          <a:blip r:embed="rId3"/>
          <a:stretch>
            <a:fillRect/>
          </a:stretch>
        </p:blipFill>
        <p:spPr>
          <a:xfrm>
            <a:off x="1106973" y="3969045"/>
            <a:ext cx="328087" cy="328087"/>
          </a:xfrm>
          <a:prstGeom prst="rect">
            <a:avLst/>
          </a:prstGeom>
        </p:spPr>
      </p:pic>
      <p:sp>
        <p:nvSpPr>
          <p:cNvPr id="17" name="Text 12"/>
          <p:cNvSpPr/>
          <p:nvPr/>
        </p:nvSpPr>
        <p:spPr>
          <a:xfrm>
            <a:off x="1810512" y="3739896"/>
            <a:ext cx="3977640" cy="365760"/>
          </a:xfrm>
          <a:prstGeom prst="rect">
            <a:avLst/>
          </a:prstGeom>
          <a:noFill/>
          <a:ln/>
        </p:spPr>
        <p:txBody>
          <a:bodyPr wrap="square" lIns="0" tIns="0" rIns="0" bIns="0" rtlCol="0" anchor="ctr"/>
          <a:lstStyle/>
          <a:p>
            <a:pPr indent="0" marL="0">
              <a:buNone/>
            </a:pPr>
            <a:r>
              <a:rPr lang="en-US" sz="1600" b="1" dirty="0">
                <a:solidFill>
                  <a:srgbClr val="153A40"/>
                </a:solidFill>
                <a:latin typeface="Cambria" pitchFamily="34" charset="0"/>
                <a:ea typeface="Cambria" pitchFamily="34" charset="-122"/>
                <a:cs typeface="Cambria" pitchFamily="34" charset="-120"/>
              </a:rPr>
              <a:t>Build a baseline</a:t>
            </a:r>
            <a:endParaRPr lang="en-US" sz="1600" dirty="0"/>
          </a:p>
        </p:txBody>
      </p:sp>
      <p:sp>
        <p:nvSpPr>
          <p:cNvPr id="18" name="Text 13"/>
          <p:cNvSpPr/>
          <p:nvPr/>
        </p:nvSpPr>
        <p:spPr>
          <a:xfrm>
            <a:off x="1810512" y="4142232"/>
            <a:ext cx="3977640" cy="777240"/>
          </a:xfrm>
          <a:prstGeom prst="rect">
            <a:avLst/>
          </a:prstGeom>
          <a:noFill/>
          <a:ln/>
        </p:spPr>
        <p:txBody>
          <a:bodyPr wrap="square" lIns="0" tIns="0" rIns="0" bIns="0" rtlCol="0" anchor="ctr"/>
          <a:lstStyle/>
          <a:p>
            <a:pPr indent="0" marL="0">
              <a:buNone/>
            </a:pPr>
            <a:r>
              <a:rPr lang="en-US" sz="1250" dirty="0">
                <a:solidFill>
                  <a:srgbClr val="5E7A80"/>
                </a:solidFill>
                <a:latin typeface="Calibri" pitchFamily="34" charset="0"/>
                <a:ea typeface="Calibri" pitchFamily="34" charset="-122"/>
                <a:cs typeface="Calibri" pitchFamily="34" charset="-120"/>
              </a:rPr>
              <a:t>Start with popularity, then item-based collaborative filtering.</a:t>
            </a:r>
            <a:endParaRPr lang="en-US" sz="1250" dirty="0"/>
          </a:p>
        </p:txBody>
      </p:sp>
      <p:sp>
        <p:nvSpPr>
          <p:cNvPr id="19" name="Shape 14"/>
          <p:cNvSpPr/>
          <p:nvPr/>
        </p:nvSpPr>
        <p:spPr>
          <a:xfrm>
            <a:off x="6217920" y="3502152"/>
            <a:ext cx="5349240" cy="1554480"/>
          </a:xfrm>
          <a:prstGeom prst="roundRect">
            <a:avLst>
              <a:gd name="adj" fmla="val 7059"/>
            </a:avLst>
          </a:prstGeom>
          <a:solidFill>
            <a:srgbClr val="EAF7F5"/>
          </a:solidFill>
          <a:ln/>
          <a:effectLst>
            <a:outerShdw sx="100000" sy="100000" kx="0" ky="0" algn="bl" rotWithShape="0" blurRad="127000" dist="50800" dir="5400000">
              <a:srgbClr val="8A93A6">
                <a:alpha val="13000"/>
              </a:srgbClr>
            </a:outerShdw>
          </a:effectLst>
        </p:spPr>
      </p:sp>
      <p:sp>
        <p:nvSpPr>
          <p:cNvPr id="20" name="Shape 15"/>
          <p:cNvSpPr/>
          <p:nvPr/>
        </p:nvSpPr>
        <p:spPr>
          <a:xfrm>
            <a:off x="6492240" y="3776472"/>
            <a:ext cx="713232" cy="713232"/>
          </a:xfrm>
          <a:prstGeom prst="ellipse">
            <a:avLst/>
          </a:prstGeom>
          <a:solidFill>
            <a:srgbClr val="00A896"/>
          </a:solidFill>
          <a:ln/>
          <a:effectLst>
            <a:outerShdw sx="100000" sy="100000" kx="0" ky="0" algn="bl" rotWithShape="0" blurRad="127000" dist="50800" dir="5400000">
              <a:srgbClr val="8A93A6">
                <a:alpha val="13000"/>
              </a:srgbClr>
            </a:outerShdw>
          </a:effectLst>
        </p:spPr>
      </p:sp>
      <p:pic>
        <p:nvPicPr>
          <p:cNvPr id="21" name="Image 3" descr="preencoded.png">    </p:cNvPr>
          <p:cNvPicPr>
            <a:picLocks noChangeAspect="1"/>
          </p:cNvPicPr>
          <p:nvPr/>
        </p:nvPicPr>
        <p:blipFill>
          <a:blip r:embed="rId4"/>
          <a:stretch>
            <a:fillRect/>
          </a:stretch>
        </p:blipFill>
        <p:spPr>
          <a:xfrm>
            <a:off x="6684813" y="3969045"/>
            <a:ext cx="328087" cy="328087"/>
          </a:xfrm>
          <a:prstGeom prst="rect">
            <a:avLst/>
          </a:prstGeom>
        </p:spPr>
      </p:pic>
      <p:sp>
        <p:nvSpPr>
          <p:cNvPr id="22" name="Text 16"/>
          <p:cNvSpPr/>
          <p:nvPr/>
        </p:nvSpPr>
        <p:spPr>
          <a:xfrm>
            <a:off x="7388352" y="3739896"/>
            <a:ext cx="3977640" cy="365760"/>
          </a:xfrm>
          <a:prstGeom prst="rect">
            <a:avLst/>
          </a:prstGeom>
          <a:noFill/>
          <a:ln/>
        </p:spPr>
        <p:txBody>
          <a:bodyPr wrap="square" lIns="0" tIns="0" rIns="0" bIns="0" rtlCol="0" anchor="ctr"/>
          <a:lstStyle/>
          <a:p>
            <a:pPr indent="0" marL="0">
              <a:buNone/>
            </a:pPr>
            <a:r>
              <a:rPr lang="en-US" sz="1600" b="1" dirty="0">
                <a:solidFill>
                  <a:srgbClr val="153A40"/>
                </a:solidFill>
                <a:latin typeface="Cambria" pitchFamily="34" charset="0"/>
                <a:ea typeface="Cambria" pitchFamily="34" charset="-122"/>
                <a:cs typeface="Cambria" pitchFamily="34" charset="-120"/>
              </a:rPr>
              <a:t>Evaluate it</a:t>
            </a:r>
            <a:endParaRPr lang="en-US" sz="1600" dirty="0"/>
          </a:p>
        </p:txBody>
      </p:sp>
      <p:sp>
        <p:nvSpPr>
          <p:cNvPr id="23" name="Text 17"/>
          <p:cNvSpPr/>
          <p:nvPr/>
        </p:nvSpPr>
        <p:spPr>
          <a:xfrm>
            <a:off x="7388352" y="4142232"/>
            <a:ext cx="3977640" cy="777240"/>
          </a:xfrm>
          <a:prstGeom prst="rect">
            <a:avLst/>
          </a:prstGeom>
          <a:noFill/>
          <a:ln/>
        </p:spPr>
        <p:txBody>
          <a:bodyPr wrap="square" lIns="0" tIns="0" rIns="0" bIns="0" rtlCol="0" anchor="ctr"/>
          <a:lstStyle/>
          <a:p>
            <a:pPr indent="0" marL="0">
              <a:buNone/>
            </a:pPr>
            <a:r>
              <a:rPr lang="en-US" sz="1250" dirty="0">
                <a:solidFill>
                  <a:srgbClr val="5E7A80"/>
                </a:solidFill>
                <a:latin typeface="Calibri" pitchFamily="34" charset="0"/>
                <a:ea typeface="Calibri" pitchFamily="34" charset="-122"/>
                <a:cs typeface="Calibri" pitchFamily="34" charset="-120"/>
              </a:rPr>
              <a:t>Split train/test, measure precision@k, then iterate.</a:t>
            </a:r>
            <a:endParaRPr lang="en-US" sz="1250" dirty="0"/>
          </a:p>
        </p:txBody>
      </p:sp>
      <p:sp>
        <p:nvSpPr>
          <p:cNvPr id="24" name="Text 18"/>
          <p:cNvSpPr/>
          <p:nvPr/>
        </p:nvSpPr>
        <p:spPr>
          <a:xfrm>
            <a:off x="640080" y="5221224"/>
            <a:ext cx="10927080" cy="548640"/>
          </a:xfrm>
          <a:prstGeom prst="rect">
            <a:avLst/>
          </a:prstGeom>
          <a:noFill/>
          <a:ln/>
        </p:spPr>
        <p:txBody>
          <a:bodyPr wrap="square" lIns="0" tIns="0" rIns="0" bIns="0" rtlCol="0" anchor="ctr"/>
          <a:lstStyle/>
          <a:p>
            <a:pPr indent="0" marL="0">
              <a:buNone/>
            </a:pPr>
            <a:r>
              <a:rPr lang="en-US" sz="1300" i="1" dirty="0">
                <a:solidFill>
                  <a:srgbClr val="028090"/>
                </a:solidFill>
                <a:latin typeface="Calibri" pitchFamily="34" charset="0"/>
                <a:ea typeface="Calibri" pitchFamily="34" charset="-122"/>
                <a:cs typeface="Calibri" pitchFamily="34" charset="-120"/>
              </a:rPr>
              <a:t>Tip: get a simple baseline working end-to-end first — then improve one piece at a time.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6363E"/>
        </a:solidFill>
      </p:bgPr>
    </p:bg>
    <p:spTree>
      <p:nvGrpSpPr>
        <p:cNvPr id="1" name=""/>
        <p:cNvGrpSpPr/>
        <p:nvPr/>
      </p:nvGrpSpPr>
      <p:grpSpPr>
        <a:xfrm>
          <a:off x="0" y="0"/>
          <a:ext cx="0" cy="0"/>
          <a:chOff x="0" y="0"/>
          <a:chExt cx="0" cy="0"/>
        </a:xfrm>
      </p:grpSpPr>
      <p:sp>
        <p:nvSpPr>
          <p:cNvPr id="2" name="Text 0"/>
          <p:cNvSpPr/>
          <p:nvPr/>
        </p:nvSpPr>
        <p:spPr>
          <a:xfrm>
            <a:off x="777240" y="640080"/>
            <a:ext cx="10607040" cy="365760"/>
          </a:xfrm>
          <a:prstGeom prst="rect">
            <a:avLst/>
          </a:prstGeom>
          <a:noFill/>
          <a:ln/>
        </p:spPr>
        <p:txBody>
          <a:bodyPr wrap="square" lIns="0" tIns="0" rIns="0" bIns="0" rtlCol="0" anchor="ctr"/>
          <a:lstStyle/>
          <a:p>
            <a:pPr indent="0" marL="0">
              <a:buNone/>
            </a:pPr>
            <a:r>
              <a:rPr lang="en-US" sz="1400" b="1" spc="300" kern="0" dirty="0">
                <a:solidFill>
                  <a:srgbClr val="FF6B6B"/>
                </a:solidFill>
                <a:latin typeface="Calibri" pitchFamily="34" charset="0"/>
                <a:ea typeface="Calibri" pitchFamily="34" charset="-122"/>
                <a:cs typeface="Calibri" pitchFamily="34" charset="-120"/>
              </a:rPr>
              <a:t>KEY TAKEAWAYS</a:t>
            </a:r>
            <a:endParaRPr lang="en-US" sz="1400" dirty="0"/>
          </a:p>
        </p:txBody>
      </p:sp>
      <p:sp>
        <p:nvSpPr>
          <p:cNvPr id="3" name="Text 1"/>
          <p:cNvSpPr/>
          <p:nvPr/>
        </p:nvSpPr>
        <p:spPr>
          <a:xfrm>
            <a:off x="749808" y="960120"/>
            <a:ext cx="10607040" cy="594360"/>
          </a:xfrm>
          <a:prstGeom prst="rect">
            <a:avLst/>
          </a:prstGeom>
          <a:noFill/>
          <a:ln/>
        </p:spPr>
        <p:txBody>
          <a:bodyPr wrap="square" lIns="0" tIns="0" rIns="0" bIns="0" rtlCol="0" anchor="ctr"/>
          <a:lstStyle/>
          <a:p>
            <a:pPr indent="0" marL="0">
              <a:buNone/>
            </a:pPr>
            <a:r>
              <a:rPr lang="en-US" sz="2700" b="1" dirty="0">
                <a:solidFill>
                  <a:srgbClr val="E8F6F4"/>
                </a:solidFill>
                <a:latin typeface="Cambria" pitchFamily="34" charset="0"/>
                <a:ea typeface="Cambria" pitchFamily="34" charset="-122"/>
                <a:cs typeface="Cambria" pitchFamily="34" charset="-120"/>
              </a:rPr>
              <a:t>What you can now explain</a:t>
            </a:r>
            <a:endParaRPr lang="en-US" sz="2700" dirty="0"/>
          </a:p>
        </p:txBody>
      </p:sp>
      <p:sp>
        <p:nvSpPr>
          <p:cNvPr id="4" name="Shape 2"/>
          <p:cNvSpPr/>
          <p:nvPr/>
        </p:nvSpPr>
        <p:spPr>
          <a:xfrm>
            <a:off x="777240" y="1874520"/>
            <a:ext cx="438912" cy="438912"/>
          </a:xfrm>
          <a:prstGeom prst="ellipse">
            <a:avLst/>
          </a:prstGeom>
          <a:solidFill>
            <a:srgbClr val="FF6B6B"/>
          </a:solidFill>
          <a:ln/>
        </p:spPr>
      </p:sp>
      <p:sp>
        <p:nvSpPr>
          <p:cNvPr id="5" name="Text 3"/>
          <p:cNvSpPr/>
          <p:nvPr/>
        </p:nvSpPr>
        <p:spPr>
          <a:xfrm>
            <a:off x="777240" y="1874520"/>
            <a:ext cx="438912" cy="438912"/>
          </a:xfrm>
          <a:prstGeom prst="rect">
            <a:avLst/>
          </a:prstGeom>
          <a:noFill/>
          <a:ln/>
        </p:spPr>
        <p:txBody>
          <a:bodyPr wrap="square" lIns="0" tIns="0" rIns="0" bIns="0" rtlCol="0" anchor="ctr"/>
          <a:lstStyle/>
          <a:p>
            <a:pPr algn="ctr" indent="0" marL="0">
              <a:buNone/>
            </a:pPr>
            <a:r>
              <a:rPr lang="en-US" sz="1500" b="1" dirty="0">
                <a:solidFill>
                  <a:srgbClr val="06363E"/>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417320" y="1828800"/>
            <a:ext cx="10058400" cy="548640"/>
          </a:xfrm>
          <a:prstGeom prst="rect">
            <a:avLst/>
          </a:prstGeom>
          <a:noFill/>
          <a:ln/>
        </p:spPr>
        <p:txBody>
          <a:bodyPr wrap="square" lIns="0" tIns="0" rIns="0" bIns="0" rtlCol="0" anchor="ctr"/>
          <a:lstStyle/>
          <a:p>
            <a:pPr indent="0" marL="0">
              <a:buNone/>
            </a:pPr>
            <a:r>
              <a:rPr lang="en-US" sz="1550" dirty="0">
                <a:solidFill>
                  <a:srgbClr val="E8F6F4"/>
                </a:solidFill>
                <a:latin typeface="Calibri" pitchFamily="34" charset="0"/>
                <a:ea typeface="Calibri" pitchFamily="34" charset="-122"/>
                <a:cs typeface="Calibri" pitchFamily="34" charset="-120"/>
              </a:rPr>
              <a:t>Recommenders score every item, then show the highest-scoring ones</a:t>
            </a:r>
            <a:endParaRPr lang="en-US" sz="1550" dirty="0"/>
          </a:p>
        </p:txBody>
      </p:sp>
      <p:sp>
        <p:nvSpPr>
          <p:cNvPr id="7" name="Shape 5"/>
          <p:cNvSpPr/>
          <p:nvPr/>
        </p:nvSpPr>
        <p:spPr>
          <a:xfrm>
            <a:off x="777240" y="2532888"/>
            <a:ext cx="438912" cy="438912"/>
          </a:xfrm>
          <a:prstGeom prst="ellipse">
            <a:avLst/>
          </a:prstGeom>
          <a:solidFill>
            <a:srgbClr val="FF6B6B"/>
          </a:solidFill>
          <a:ln/>
        </p:spPr>
      </p:sp>
      <p:sp>
        <p:nvSpPr>
          <p:cNvPr id="8" name="Text 6"/>
          <p:cNvSpPr/>
          <p:nvPr/>
        </p:nvSpPr>
        <p:spPr>
          <a:xfrm>
            <a:off x="777240" y="2532888"/>
            <a:ext cx="438912" cy="438912"/>
          </a:xfrm>
          <a:prstGeom prst="rect">
            <a:avLst/>
          </a:prstGeom>
          <a:noFill/>
          <a:ln/>
        </p:spPr>
        <p:txBody>
          <a:bodyPr wrap="square" lIns="0" tIns="0" rIns="0" bIns="0" rtlCol="0" anchor="ctr"/>
          <a:lstStyle/>
          <a:p>
            <a:pPr algn="ctr" indent="0" marL="0">
              <a:buNone/>
            </a:pPr>
            <a:r>
              <a:rPr lang="en-US" sz="1500" b="1" dirty="0">
                <a:solidFill>
                  <a:srgbClr val="06363E"/>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417320" y="2487168"/>
            <a:ext cx="10058400" cy="548640"/>
          </a:xfrm>
          <a:prstGeom prst="rect">
            <a:avLst/>
          </a:prstGeom>
          <a:noFill/>
          <a:ln/>
        </p:spPr>
        <p:txBody>
          <a:bodyPr wrap="square" lIns="0" tIns="0" rIns="0" bIns="0" rtlCol="0" anchor="ctr"/>
          <a:lstStyle/>
          <a:p>
            <a:pPr indent="0" marL="0">
              <a:buNone/>
            </a:pPr>
            <a:r>
              <a:rPr lang="en-US" sz="1550" dirty="0">
                <a:solidFill>
                  <a:srgbClr val="E8F6F4"/>
                </a:solidFill>
                <a:latin typeface="Calibri" pitchFamily="34" charset="0"/>
                <a:ea typeface="Calibri" pitchFamily="34" charset="-122"/>
                <a:cs typeface="Calibri" pitchFamily="34" charset="-120"/>
              </a:rPr>
              <a:t>Content-based = match item features; collaborative = learn from behavior</a:t>
            </a:r>
            <a:endParaRPr lang="en-US" sz="1550" dirty="0"/>
          </a:p>
        </p:txBody>
      </p:sp>
      <p:sp>
        <p:nvSpPr>
          <p:cNvPr id="10" name="Shape 8"/>
          <p:cNvSpPr/>
          <p:nvPr/>
        </p:nvSpPr>
        <p:spPr>
          <a:xfrm>
            <a:off x="777240" y="3191256"/>
            <a:ext cx="438912" cy="438912"/>
          </a:xfrm>
          <a:prstGeom prst="ellipse">
            <a:avLst/>
          </a:prstGeom>
          <a:solidFill>
            <a:srgbClr val="FF6B6B"/>
          </a:solidFill>
          <a:ln/>
        </p:spPr>
      </p:sp>
      <p:sp>
        <p:nvSpPr>
          <p:cNvPr id="11" name="Text 9"/>
          <p:cNvSpPr/>
          <p:nvPr/>
        </p:nvSpPr>
        <p:spPr>
          <a:xfrm>
            <a:off x="777240" y="3191256"/>
            <a:ext cx="438912" cy="438912"/>
          </a:xfrm>
          <a:prstGeom prst="rect">
            <a:avLst/>
          </a:prstGeom>
          <a:noFill/>
          <a:ln/>
        </p:spPr>
        <p:txBody>
          <a:bodyPr wrap="square" lIns="0" tIns="0" rIns="0" bIns="0" rtlCol="0" anchor="ctr"/>
          <a:lstStyle/>
          <a:p>
            <a:pPr algn="ctr" indent="0" marL="0">
              <a:buNone/>
            </a:pPr>
            <a:r>
              <a:rPr lang="en-US" sz="1500" b="1" dirty="0">
                <a:solidFill>
                  <a:srgbClr val="06363E"/>
                </a:solidFill>
                <a:latin typeface="Calibri" pitchFamily="34" charset="0"/>
                <a:ea typeface="Calibri" pitchFamily="34" charset="-122"/>
                <a:cs typeface="Calibri" pitchFamily="34" charset="-120"/>
              </a:rPr>
              <a:t>3</a:t>
            </a:r>
            <a:endParaRPr lang="en-US" sz="1500" dirty="0"/>
          </a:p>
        </p:txBody>
      </p:sp>
      <p:sp>
        <p:nvSpPr>
          <p:cNvPr id="12" name="Text 10"/>
          <p:cNvSpPr/>
          <p:nvPr/>
        </p:nvSpPr>
        <p:spPr>
          <a:xfrm>
            <a:off x="1417320" y="3145536"/>
            <a:ext cx="10058400" cy="548640"/>
          </a:xfrm>
          <a:prstGeom prst="rect">
            <a:avLst/>
          </a:prstGeom>
          <a:noFill/>
          <a:ln/>
        </p:spPr>
        <p:txBody>
          <a:bodyPr wrap="square" lIns="0" tIns="0" rIns="0" bIns="0" rtlCol="0" anchor="ctr"/>
          <a:lstStyle/>
          <a:p>
            <a:pPr indent="0" marL="0">
              <a:buNone/>
            </a:pPr>
            <a:r>
              <a:rPr lang="en-US" sz="1550" dirty="0">
                <a:solidFill>
                  <a:srgbClr val="E8F6F4"/>
                </a:solidFill>
                <a:latin typeface="Calibri" pitchFamily="34" charset="0"/>
                <a:ea typeface="Calibri" pitchFamily="34" charset="-122"/>
                <a:cs typeface="Calibri" pitchFamily="34" charset="-120"/>
              </a:rPr>
              <a:t>Embeddings turn taste into coordinates; nearby items are similar</a:t>
            </a:r>
            <a:endParaRPr lang="en-US" sz="1550" dirty="0"/>
          </a:p>
        </p:txBody>
      </p:sp>
      <p:sp>
        <p:nvSpPr>
          <p:cNvPr id="13" name="Shape 11"/>
          <p:cNvSpPr/>
          <p:nvPr/>
        </p:nvSpPr>
        <p:spPr>
          <a:xfrm>
            <a:off x="777240" y="3849624"/>
            <a:ext cx="438912" cy="438912"/>
          </a:xfrm>
          <a:prstGeom prst="ellipse">
            <a:avLst/>
          </a:prstGeom>
          <a:solidFill>
            <a:srgbClr val="FF6B6B"/>
          </a:solidFill>
          <a:ln/>
        </p:spPr>
      </p:sp>
      <p:sp>
        <p:nvSpPr>
          <p:cNvPr id="14" name="Text 12"/>
          <p:cNvSpPr/>
          <p:nvPr/>
        </p:nvSpPr>
        <p:spPr>
          <a:xfrm>
            <a:off x="777240" y="3849624"/>
            <a:ext cx="438912" cy="438912"/>
          </a:xfrm>
          <a:prstGeom prst="rect">
            <a:avLst/>
          </a:prstGeom>
          <a:noFill/>
          <a:ln/>
        </p:spPr>
        <p:txBody>
          <a:bodyPr wrap="square" lIns="0" tIns="0" rIns="0" bIns="0" rtlCol="0" anchor="ctr"/>
          <a:lstStyle/>
          <a:p>
            <a:pPr algn="ctr" indent="0" marL="0">
              <a:buNone/>
            </a:pPr>
            <a:r>
              <a:rPr lang="en-US" sz="1500" b="1" dirty="0">
                <a:solidFill>
                  <a:srgbClr val="06363E"/>
                </a:solidFill>
                <a:latin typeface="Calibri" pitchFamily="34" charset="0"/>
                <a:ea typeface="Calibri" pitchFamily="34" charset="-122"/>
                <a:cs typeface="Calibri" pitchFamily="34" charset="-120"/>
              </a:rPr>
              <a:t>4</a:t>
            </a:r>
            <a:endParaRPr lang="en-US" sz="1500" dirty="0"/>
          </a:p>
        </p:txBody>
      </p:sp>
      <p:sp>
        <p:nvSpPr>
          <p:cNvPr id="15" name="Text 13"/>
          <p:cNvSpPr/>
          <p:nvPr/>
        </p:nvSpPr>
        <p:spPr>
          <a:xfrm>
            <a:off x="1417320" y="3803904"/>
            <a:ext cx="10058400" cy="548640"/>
          </a:xfrm>
          <a:prstGeom prst="rect">
            <a:avLst/>
          </a:prstGeom>
          <a:noFill/>
          <a:ln/>
        </p:spPr>
        <p:txBody>
          <a:bodyPr wrap="square" lIns="0" tIns="0" rIns="0" bIns="0" rtlCol="0" anchor="ctr"/>
          <a:lstStyle/>
          <a:p>
            <a:pPr indent="0" marL="0">
              <a:buNone/>
            </a:pPr>
            <a:r>
              <a:rPr lang="en-US" sz="1550" dirty="0">
                <a:solidFill>
                  <a:srgbClr val="E8F6F4"/>
                </a:solidFill>
                <a:latin typeface="Calibri" pitchFamily="34" charset="0"/>
                <a:ea typeface="Calibri" pitchFamily="34" charset="-122"/>
                <a:cs typeface="Calibri" pitchFamily="34" charset="-120"/>
              </a:rPr>
              <a:t>Implicit data is plentiful but noisy; watch out for cold start</a:t>
            </a:r>
            <a:endParaRPr lang="en-US" sz="1550" dirty="0"/>
          </a:p>
        </p:txBody>
      </p:sp>
      <p:sp>
        <p:nvSpPr>
          <p:cNvPr id="16" name="Shape 14"/>
          <p:cNvSpPr/>
          <p:nvPr/>
        </p:nvSpPr>
        <p:spPr>
          <a:xfrm>
            <a:off x="777240" y="4507992"/>
            <a:ext cx="438912" cy="438912"/>
          </a:xfrm>
          <a:prstGeom prst="ellipse">
            <a:avLst/>
          </a:prstGeom>
          <a:solidFill>
            <a:srgbClr val="FF6B6B"/>
          </a:solidFill>
          <a:ln/>
        </p:spPr>
      </p:sp>
      <p:sp>
        <p:nvSpPr>
          <p:cNvPr id="17" name="Text 15"/>
          <p:cNvSpPr/>
          <p:nvPr/>
        </p:nvSpPr>
        <p:spPr>
          <a:xfrm>
            <a:off x="777240" y="4507992"/>
            <a:ext cx="438912" cy="438912"/>
          </a:xfrm>
          <a:prstGeom prst="rect">
            <a:avLst/>
          </a:prstGeom>
          <a:noFill/>
          <a:ln/>
        </p:spPr>
        <p:txBody>
          <a:bodyPr wrap="square" lIns="0" tIns="0" rIns="0" bIns="0" rtlCol="0" anchor="ctr"/>
          <a:lstStyle/>
          <a:p>
            <a:pPr algn="ctr" indent="0" marL="0">
              <a:buNone/>
            </a:pPr>
            <a:r>
              <a:rPr lang="en-US" sz="1500" b="1" dirty="0">
                <a:solidFill>
                  <a:srgbClr val="06363E"/>
                </a:solidFill>
                <a:latin typeface="Calibri" pitchFamily="34" charset="0"/>
                <a:ea typeface="Calibri" pitchFamily="34" charset="-122"/>
                <a:cs typeface="Calibri" pitchFamily="34" charset="-120"/>
              </a:rPr>
              <a:t>5</a:t>
            </a:r>
            <a:endParaRPr lang="en-US" sz="1500" dirty="0"/>
          </a:p>
        </p:txBody>
      </p:sp>
      <p:sp>
        <p:nvSpPr>
          <p:cNvPr id="18" name="Text 16"/>
          <p:cNvSpPr/>
          <p:nvPr/>
        </p:nvSpPr>
        <p:spPr>
          <a:xfrm>
            <a:off x="1417320" y="4462272"/>
            <a:ext cx="10058400" cy="548640"/>
          </a:xfrm>
          <a:prstGeom prst="rect">
            <a:avLst/>
          </a:prstGeom>
          <a:noFill/>
          <a:ln/>
        </p:spPr>
        <p:txBody>
          <a:bodyPr wrap="square" lIns="0" tIns="0" rIns="0" bIns="0" rtlCol="0" anchor="ctr"/>
          <a:lstStyle/>
          <a:p>
            <a:pPr indent="0" marL="0">
              <a:buNone/>
            </a:pPr>
            <a:r>
              <a:rPr lang="en-US" sz="1550" dirty="0">
                <a:solidFill>
                  <a:srgbClr val="E8F6F4"/>
                </a:solidFill>
                <a:latin typeface="Calibri" pitchFamily="34" charset="0"/>
                <a:ea typeface="Calibri" pitchFamily="34" charset="-122"/>
                <a:cs typeface="Calibri" pitchFamily="34" charset="-120"/>
              </a:rPr>
              <a:t>Measure offline (precision@k, NDCG) but decide with online A/B tests</a:t>
            </a:r>
            <a:endParaRPr lang="en-US" sz="1550" dirty="0"/>
          </a:p>
        </p:txBody>
      </p:sp>
      <p:sp>
        <p:nvSpPr>
          <p:cNvPr id="19" name="Shape 17"/>
          <p:cNvSpPr/>
          <p:nvPr/>
        </p:nvSpPr>
        <p:spPr>
          <a:xfrm>
            <a:off x="795528" y="5239512"/>
            <a:ext cx="3657600" cy="0"/>
          </a:xfrm>
          <a:prstGeom prst="line">
            <a:avLst/>
          </a:prstGeom>
          <a:noFill/>
          <a:ln w="9525">
            <a:solidFill>
              <a:srgbClr val="E8F6F4">
                <a:alpha val="45000"/>
              </a:srgbClr>
            </a:solidFill>
            <a:prstDash val="solid"/>
          </a:ln>
        </p:spPr>
      </p:sp>
      <p:sp>
        <p:nvSpPr>
          <p:cNvPr id="20" name="Text 18"/>
          <p:cNvSpPr/>
          <p:nvPr/>
        </p:nvSpPr>
        <p:spPr>
          <a:xfrm>
            <a:off x="749808" y="5367528"/>
            <a:ext cx="10607040" cy="548640"/>
          </a:xfrm>
          <a:prstGeom prst="rect">
            <a:avLst/>
          </a:prstGeom>
          <a:noFill/>
          <a:ln/>
        </p:spPr>
        <p:txBody>
          <a:bodyPr wrap="square" lIns="0" tIns="0" rIns="0" bIns="0" rtlCol="0" anchor="ctr"/>
          <a:lstStyle/>
          <a:p>
            <a:pPr indent="0" marL="0">
              <a:buNone/>
            </a:pPr>
            <a:r>
              <a:rPr lang="en-US" sz="1800" b="1" i="1" dirty="0">
                <a:solidFill>
                  <a:srgbClr val="FF6B6B"/>
                </a:solidFill>
                <a:latin typeface="Cambria" pitchFamily="34" charset="0"/>
                <a:ea typeface="Cambria" pitchFamily="34" charset="-122"/>
                <a:cs typeface="Cambria" pitchFamily="34" charset="-120"/>
              </a:rPr>
              <a:t>Now you have the map — go build your first recommender!</a:t>
            </a:r>
            <a:endParaRPr lang="en-US" sz="1800" dirty="0"/>
          </a:p>
        </p:txBody>
      </p:sp>
      <p:sp>
        <p:nvSpPr>
          <p:cNvPr id="21" name="Text 19"/>
          <p:cNvSpPr/>
          <p:nvPr/>
        </p:nvSpPr>
        <p:spPr>
          <a:xfrm>
            <a:off x="749808" y="5952744"/>
            <a:ext cx="5486400" cy="365760"/>
          </a:xfrm>
          <a:prstGeom prst="rect">
            <a:avLst/>
          </a:prstGeom>
          <a:noFill/>
          <a:ln/>
        </p:spPr>
        <p:txBody>
          <a:bodyPr wrap="square" lIns="0" tIns="0" rIns="0" bIns="0" rtlCol="0" anchor="ctr"/>
          <a:lstStyle/>
          <a:p>
            <a:pPr indent="0" marL="0">
              <a:buNone/>
            </a:pPr>
            <a:r>
              <a:rPr lang="en-US" sz="1300" dirty="0">
                <a:solidFill>
                  <a:srgbClr val="E8F6F4"/>
                </a:solidFill>
                <a:latin typeface="Calibri" pitchFamily="34" charset="0"/>
                <a:ea typeface="Calibri" pitchFamily="34" charset="-122"/>
                <a:cs typeface="Calibri" pitchFamily="34" charset="-120"/>
              </a:rPr>
              <a:t>Thank you</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363E"/>
        </a:solidFill>
      </p:bgPr>
    </p:bg>
    <p:spTree>
      <p:nvGrpSpPr>
        <p:cNvPr id="1" name=""/>
        <p:cNvGrpSpPr/>
        <p:nvPr/>
      </p:nvGrpSpPr>
      <p:grpSpPr>
        <a:xfrm>
          <a:off x="0" y="0"/>
          <a:ext cx="0" cy="0"/>
          <a:chOff x="0" y="0"/>
          <a:chExt cx="0" cy="0"/>
        </a:xfrm>
      </p:grpSpPr>
      <p:sp>
        <p:nvSpPr>
          <p:cNvPr id="2" name="Text 0"/>
          <p:cNvSpPr/>
          <p:nvPr/>
        </p:nvSpPr>
        <p:spPr>
          <a:xfrm>
            <a:off x="777240" y="2651760"/>
            <a:ext cx="10607040" cy="457200"/>
          </a:xfrm>
          <a:prstGeom prst="rect">
            <a:avLst/>
          </a:prstGeom>
          <a:noFill/>
          <a:ln/>
        </p:spPr>
        <p:txBody>
          <a:bodyPr wrap="square" lIns="0" tIns="0" rIns="0" bIns="0" rtlCol="0" anchor="ctr"/>
          <a:lstStyle/>
          <a:p>
            <a:pPr indent="0" marL="0">
              <a:buNone/>
            </a:pPr>
            <a:r>
              <a:rPr lang="en-US" sz="1500" b="1" spc="400" kern="0" dirty="0">
                <a:solidFill>
                  <a:srgbClr val="FF6B6B"/>
                </a:solidFill>
                <a:latin typeface="Calibri" pitchFamily="34" charset="0"/>
                <a:ea typeface="Calibri" pitchFamily="34" charset="-122"/>
                <a:cs typeface="Calibri" pitchFamily="34" charset="-120"/>
              </a:rPr>
              <a:t>BONUS SECTION</a:t>
            </a:r>
            <a:endParaRPr lang="en-US" sz="1500" dirty="0"/>
          </a:p>
        </p:txBody>
      </p:sp>
      <p:sp>
        <p:nvSpPr>
          <p:cNvPr id="3" name="Text 1"/>
          <p:cNvSpPr/>
          <p:nvPr/>
        </p:nvSpPr>
        <p:spPr>
          <a:xfrm>
            <a:off x="749808" y="3063240"/>
            <a:ext cx="10607040" cy="731520"/>
          </a:xfrm>
          <a:prstGeom prst="rect">
            <a:avLst/>
          </a:prstGeom>
          <a:noFill/>
          <a:ln/>
        </p:spPr>
        <p:txBody>
          <a:bodyPr wrap="square" lIns="0" tIns="0" rIns="0" bIns="0" rtlCol="0" anchor="ctr"/>
          <a:lstStyle/>
          <a:p>
            <a:pPr indent="0" marL="0">
              <a:buNone/>
            </a:pPr>
            <a:r>
              <a:rPr lang="en-US" sz="3400" b="1" dirty="0">
                <a:solidFill>
                  <a:srgbClr val="E8F6F4"/>
                </a:solidFill>
                <a:latin typeface="Cambria" pitchFamily="34" charset="0"/>
                <a:ea typeface="Cambria" pitchFamily="34" charset="-122"/>
                <a:cs typeface="Cambria" pitchFamily="34" charset="-120"/>
              </a:rPr>
              <a:t>How real systems grew up</a:t>
            </a:r>
            <a:endParaRPr lang="en-US" sz="3400" dirty="0"/>
          </a:p>
        </p:txBody>
      </p:sp>
      <p:sp>
        <p:nvSpPr>
          <p:cNvPr id="4" name="Text 2"/>
          <p:cNvSpPr/>
          <p:nvPr/>
        </p:nvSpPr>
        <p:spPr>
          <a:xfrm>
            <a:off x="777240" y="3886200"/>
            <a:ext cx="10058400" cy="914400"/>
          </a:xfrm>
          <a:prstGeom prst="rect">
            <a:avLst/>
          </a:prstGeom>
          <a:noFill/>
          <a:ln/>
        </p:spPr>
        <p:txBody>
          <a:bodyPr wrap="square" lIns="0" tIns="0" rIns="0" bIns="0" rtlCol="0" anchor="ctr"/>
          <a:lstStyle/>
          <a:p>
            <a:pPr indent="0" marL="0">
              <a:buNone/>
            </a:pPr>
            <a:r>
              <a:rPr lang="en-US" sz="1400" i="1" dirty="0">
                <a:solidFill>
                  <a:srgbClr val="E8F6F4"/>
                </a:solidFill>
                <a:latin typeface="Calibri" pitchFamily="34" charset="0"/>
                <a:ea typeface="Calibri" pitchFamily="34" charset="-122"/>
                <a:cs typeface="Calibri" pitchFamily="34" charset="-120"/>
              </a:rPr>
              <a:t>A friendly tour of how Amazon, Taobao, and JD.com built their recommenders — from the classics to today's AI — and who benefits most. Every number comes from 2024–2026 sources.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FF6B6B"/>
                </a:solidFill>
                <a:latin typeface="Calibri" pitchFamily="34" charset="0"/>
                <a:ea typeface="Calibri" pitchFamily="34" charset="-122"/>
                <a:cs typeface="Calibri" pitchFamily="34" charset="-120"/>
              </a:rPr>
              <a:t>BONUS · HOW REAL SYSTEMS GREW UP</a:t>
            </a:r>
            <a:endParaRPr lang="en-US" sz="1200" dirty="0"/>
          </a:p>
        </p:txBody>
      </p:sp>
      <p:sp>
        <p:nvSpPr>
          <p:cNvPr id="3" name="Text 1"/>
          <p:cNvSpPr/>
          <p:nvPr/>
        </p:nvSpPr>
        <p:spPr>
          <a:xfrm>
            <a:off x="640080" y="630936"/>
            <a:ext cx="8778240" cy="548640"/>
          </a:xfrm>
          <a:prstGeom prst="rect">
            <a:avLst/>
          </a:prstGeom>
          <a:noFill/>
          <a:ln/>
        </p:spPr>
        <p:txBody>
          <a:bodyPr wrap="square" lIns="0" tIns="0" rIns="0" bIns="0" rtlCol="0" anchor="ctr"/>
          <a:lstStyle/>
          <a:p>
            <a:pPr indent="0" marL="0">
              <a:buNone/>
            </a:pPr>
            <a:r>
              <a:rPr lang="en-US" sz="2500" b="1" dirty="0">
                <a:solidFill>
                  <a:srgbClr val="153A40"/>
                </a:solidFill>
                <a:latin typeface="Cambria" pitchFamily="34" charset="0"/>
                <a:ea typeface="Cambria" pitchFamily="34" charset="-122"/>
                <a:cs typeface="Cambria" pitchFamily="34" charset="-120"/>
              </a:rPr>
              <a:t>Amazon — recommendation system history</a:t>
            </a:r>
            <a:endParaRPr lang="en-US" sz="2500" dirty="0"/>
          </a:p>
        </p:txBody>
      </p:sp>
      <p:sp>
        <p:nvSpPr>
          <p:cNvPr id="4" name="Shape 2"/>
          <p:cNvSpPr/>
          <p:nvPr/>
        </p:nvSpPr>
        <p:spPr>
          <a:xfrm>
            <a:off x="10698480" y="566928"/>
            <a:ext cx="777240" cy="777240"/>
          </a:xfrm>
          <a:prstGeom prst="ellipse">
            <a:avLst/>
          </a:prstGeom>
          <a:solidFill>
            <a:srgbClr val="028090"/>
          </a:solidFill>
          <a:ln/>
          <a:effectLst>
            <a:outerShdw sx="100000" sy="100000" kx="0" ky="0" algn="bl" rotWithShape="0" blurRad="127000" dist="50800" dir="5400000">
              <a:srgbClr val="8A93A6">
                <a:alpha val="13000"/>
              </a:srgbClr>
            </a:outerShdw>
          </a:effectLst>
        </p:spPr>
      </p:sp>
      <p:pic>
        <p:nvPicPr>
          <p:cNvPr id="5" name="Image 0" descr="preencoded.png">    </p:cNvPr>
          <p:cNvPicPr>
            <a:picLocks noChangeAspect="1"/>
          </p:cNvPicPr>
          <p:nvPr/>
        </p:nvPicPr>
        <p:blipFill>
          <a:blip r:embed="rId1"/>
          <a:stretch>
            <a:fillRect/>
          </a:stretch>
        </p:blipFill>
        <p:spPr>
          <a:xfrm>
            <a:off x="10908335" y="776783"/>
            <a:ext cx="357530" cy="357530"/>
          </a:xfrm>
          <a:prstGeom prst="rect">
            <a:avLst/>
          </a:prstGeom>
        </p:spPr>
      </p:pic>
      <p:sp>
        <p:nvSpPr>
          <p:cNvPr id="6" name="Text 3"/>
          <p:cNvSpPr/>
          <p:nvPr/>
        </p:nvSpPr>
        <p:spPr>
          <a:xfrm>
            <a:off x="640080" y="1298448"/>
            <a:ext cx="10927080" cy="292608"/>
          </a:xfrm>
          <a:prstGeom prst="rect">
            <a:avLst/>
          </a:prstGeom>
          <a:noFill/>
          <a:ln/>
        </p:spPr>
        <p:txBody>
          <a:bodyPr wrap="square" lIns="0" tIns="0" rIns="0" bIns="0" rtlCol="0" anchor="ctr"/>
          <a:lstStyle/>
          <a:p>
            <a:pPr indent="0" marL="0">
              <a:buNone/>
            </a:pPr>
            <a:r>
              <a:rPr lang="en-US" sz="1300" i="1" dirty="0">
                <a:solidFill>
                  <a:srgbClr val="5E7A80"/>
                </a:solidFill>
                <a:latin typeface="Calibri" pitchFamily="34" charset="0"/>
                <a:ea typeface="Calibri" pitchFamily="34" charset="-122"/>
                <a:cs typeface="Calibri" pitchFamily="34" charset="-120"/>
              </a:rPr>
              <a:t>How Amazon's recommendations grew from “also bought” lists into a chat assistant.</a:t>
            </a:r>
            <a:endParaRPr lang="en-US" sz="1300" dirty="0"/>
          </a:p>
        </p:txBody>
      </p:sp>
      <p:sp>
        <p:nvSpPr>
          <p:cNvPr id="7" name="Text 4"/>
          <p:cNvSpPr/>
          <p:nvPr/>
        </p:nvSpPr>
        <p:spPr>
          <a:xfrm>
            <a:off x="640080" y="1947672"/>
            <a:ext cx="6490411" cy="274320"/>
          </a:xfrm>
          <a:prstGeom prst="rect">
            <a:avLst/>
          </a:prstGeom>
          <a:noFill/>
          <a:ln/>
        </p:spPr>
        <p:txBody>
          <a:bodyPr wrap="square" lIns="0" tIns="0" rIns="0" bIns="0" rtlCol="0" anchor="ctr"/>
          <a:lstStyle/>
          <a:p>
            <a:pPr algn="ctr" indent="0" marL="0">
              <a:buNone/>
            </a:pPr>
            <a:r>
              <a:rPr lang="en-US" sz="1100" b="1" spc="100" kern="0" dirty="0">
                <a:solidFill>
                  <a:srgbClr val="5E7A80"/>
                </a:solidFill>
                <a:latin typeface="Calibri" pitchFamily="34" charset="0"/>
                <a:ea typeface="Calibri" pitchFamily="34" charset="-122"/>
                <a:cs typeface="Calibri" pitchFamily="34" charset="-120"/>
              </a:rPr>
              <a:t>PRE-GPT ERA</a:t>
            </a:r>
            <a:endParaRPr lang="en-US" sz="1100" dirty="0"/>
          </a:p>
        </p:txBody>
      </p:sp>
      <p:sp>
        <p:nvSpPr>
          <p:cNvPr id="8" name="Text 5"/>
          <p:cNvSpPr/>
          <p:nvPr/>
        </p:nvSpPr>
        <p:spPr>
          <a:xfrm>
            <a:off x="7295083" y="1947672"/>
            <a:ext cx="4272077" cy="274320"/>
          </a:xfrm>
          <a:prstGeom prst="rect">
            <a:avLst/>
          </a:prstGeom>
          <a:noFill/>
          <a:ln/>
        </p:spPr>
        <p:txBody>
          <a:bodyPr wrap="square" lIns="0" tIns="0" rIns="0" bIns="0" rtlCol="0" anchor="ctr"/>
          <a:lstStyle/>
          <a:p>
            <a:pPr algn="ctr" indent="0" marL="0">
              <a:buNone/>
            </a:pPr>
            <a:r>
              <a:rPr lang="en-US" sz="1100" b="1" spc="100" kern="0" dirty="0">
                <a:solidFill>
                  <a:srgbClr val="E23E57"/>
                </a:solidFill>
                <a:latin typeface="Calibri" pitchFamily="34" charset="0"/>
                <a:ea typeface="Calibri" pitchFamily="34" charset="-122"/>
                <a:cs typeface="Calibri" pitchFamily="34" charset="-120"/>
              </a:rPr>
              <a:t>GPT / LLM ERA</a:t>
            </a:r>
            <a:endParaRPr lang="en-US" sz="1100" dirty="0"/>
          </a:p>
        </p:txBody>
      </p:sp>
      <p:sp>
        <p:nvSpPr>
          <p:cNvPr id="9" name="Shape 6"/>
          <p:cNvSpPr/>
          <p:nvPr/>
        </p:nvSpPr>
        <p:spPr>
          <a:xfrm>
            <a:off x="7212787" y="1874520"/>
            <a:ext cx="0" cy="2606040"/>
          </a:xfrm>
          <a:prstGeom prst="line">
            <a:avLst/>
          </a:prstGeom>
          <a:noFill/>
          <a:ln w="15875">
            <a:solidFill>
              <a:srgbClr val="E23E57"/>
            </a:solidFill>
            <a:prstDash val="dash"/>
          </a:ln>
        </p:spPr>
      </p:sp>
      <p:sp>
        <p:nvSpPr>
          <p:cNvPr id="10" name="Shape 7"/>
          <p:cNvSpPr/>
          <p:nvPr/>
        </p:nvSpPr>
        <p:spPr>
          <a:xfrm>
            <a:off x="640080" y="2331720"/>
            <a:ext cx="2053742" cy="1965960"/>
          </a:xfrm>
          <a:prstGeom prst="roundRect">
            <a:avLst>
              <a:gd name="adj" fmla="val 5581"/>
            </a:avLst>
          </a:prstGeom>
          <a:solidFill>
            <a:srgbClr val="EAF7F5"/>
          </a:solidFill>
          <a:ln/>
          <a:effectLst>
            <a:outerShdw sx="100000" sy="100000" kx="0" ky="0" algn="bl" rotWithShape="0" blurRad="127000" dist="50800" dir="5400000">
              <a:srgbClr val="8A93A6">
                <a:alpha val="13000"/>
              </a:srgbClr>
            </a:outerShdw>
          </a:effectLst>
        </p:spPr>
      </p:sp>
      <p:sp>
        <p:nvSpPr>
          <p:cNvPr id="11" name="Shape 8"/>
          <p:cNvSpPr/>
          <p:nvPr/>
        </p:nvSpPr>
        <p:spPr>
          <a:xfrm>
            <a:off x="804672" y="2496312"/>
            <a:ext cx="1724558" cy="365760"/>
          </a:xfrm>
          <a:prstGeom prst="roundRect">
            <a:avLst>
              <a:gd name="adj" fmla="val 50000"/>
            </a:avLst>
          </a:prstGeom>
          <a:solidFill>
            <a:srgbClr val="028090"/>
          </a:solidFill>
          <a:ln/>
        </p:spPr>
      </p:sp>
      <p:sp>
        <p:nvSpPr>
          <p:cNvPr id="12" name="Text 9"/>
          <p:cNvSpPr/>
          <p:nvPr/>
        </p:nvSpPr>
        <p:spPr>
          <a:xfrm>
            <a:off x="804672"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1998</a:t>
            </a:r>
            <a:endParaRPr lang="en-US" sz="1200" dirty="0"/>
          </a:p>
        </p:txBody>
      </p:sp>
      <p:sp>
        <p:nvSpPr>
          <p:cNvPr id="13" name="Text 10"/>
          <p:cNvSpPr/>
          <p:nvPr/>
        </p:nvSpPr>
        <p:spPr>
          <a:xfrm>
            <a:off x="777240" y="2971800"/>
            <a:ext cx="1779422" cy="566928"/>
          </a:xfrm>
          <a:prstGeom prst="rect">
            <a:avLst/>
          </a:prstGeom>
          <a:noFill/>
          <a:ln/>
        </p:spPr>
        <p:txBody>
          <a:bodyPr wrap="square" lIns="0" tIns="0" rIns="0" bIns="0" rtlCol="0" anchor="ctr"/>
          <a:lstStyle/>
          <a:p>
            <a:pPr algn="ctr" indent="0" marL="0">
              <a:buNone/>
            </a:pPr>
            <a:r>
              <a:rPr lang="en-US" sz="1200" b="1" dirty="0">
                <a:solidFill>
                  <a:srgbClr val="153A40"/>
                </a:solidFill>
                <a:latin typeface="Cambria" pitchFamily="34" charset="0"/>
                <a:ea typeface="Cambria" pitchFamily="34" charset="-122"/>
                <a:cs typeface="Cambria" pitchFamily="34" charset="-120"/>
              </a:rPr>
              <a:t>Item-to-item CF</a:t>
            </a:r>
            <a:endParaRPr lang="en-US" sz="1200" dirty="0"/>
          </a:p>
        </p:txBody>
      </p:sp>
      <p:sp>
        <p:nvSpPr>
          <p:cNvPr id="14" name="Text 11"/>
          <p:cNvSpPr/>
          <p:nvPr/>
        </p:nvSpPr>
        <p:spPr>
          <a:xfrm>
            <a:off x="786384" y="3520440"/>
            <a:ext cx="1761134" cy="749808"/>
          </a:xfrm>
          <a:prstGeom prst="rect">
            <a:avLst/>
          </a:prstGeom>
          <a:noFill/>
          <a:ln/>
        </p:spPr>
        <p:txBody>
          <a:bodyPr wrap="square" lIns="0" tIns="0" rIns="0" bIns="0" rtlCol="0" anchor="ctr"/>
          <a:lstStyle/>
          <a:p>
            <a:pPr algn="ctr" indent="0" marL="0">
              <a:buNone/>
            </a:pPr>
            <a:r>
              <a:rPr lang="en-US" sz="960" dirty="0">
                <a:solidFill>
                  <a:srgbClr val="5E7A80"/>
                </a:solidFill>
                <a:latin typeface="Calibri" pitchFamily="34" charset="0"/>
                <a:ea typeface="Calibri" pitchFamily="34" charset="-122"/>
                <a:cs typeface="Calibri" pitchFamily="34" charset="-120"/>
              </a:rPr>
              <a:t>The classic “people who bought this also bought.”</a:t>
            </a:r>
            <a:endParaRPr lang="en-US" sz="960" dirty="0"/>
          </a:p>
        </p:txBody>
      </p:sp>
      <p:sp>
        <p:nvSpPr>
          <p:cNvPr id="15" name="Shape 12"/>
          <p:cNvSpPr/>
          <p:nvPr/>
        </p:nvSpPr>
        <p:spPr>
          <a:xfrm>
            <a:off x="2858414" y="2331720"/>
            <a:ext cx="2053742" cy="1965960"/>
          </a:xfrm>
          <a:prstGeom prst="roundRect">
            <a:avLst>
              <a:gd name="adj" fmla="val 5581"/>
            </a:avLst>
          </a:prstGeom>
          <a:solidFill>
            <a:srgbClr val="EAF7F5"/>
          </a:solidFill>
          <a:ln/>
          <a:effectLst>
            <a:outerShdw sx="100000" sy="100000" kx="0" ky="0" algn="bl" rotWithShape="0" blurRad="127000" dist="50800" dir="5400000">
              <a:srgbClr val="8A93A6">
                <a:alpha val="13000"/>
              </a:srgbClr>
            </a:outerShdw>
          </a:effectLst>
        </p:spPr>
      </p:sp>
      <p:sp>
        <p:nvSpPr>
          <p:cNvPr id="16" name="Shape 13"/>
          <p:cNvSpPr/>
          <p:nvPr/>
        </p:nvSpPr>
        <p:spPr>
          <a:xfrm>
            <a:off x="3023006" y="2496312"/>
            <a:ext cx="1724558" cy="365760"/>
          </a:xfrm>
          <a:prstGeom prst="roundRect">
            <a:avLst>
              <a:gd name="adj" fmla="val 50000"/>
            </a:avLst>
          </a:prstGeom>
          <a:solidFill>
            <a:srgbClr val="028090"/>
          </a:solidFill>
          <a:ln/>
        </p:spPr>
      </p:sp>
      <p:sp>
        <p:nvSpPr>
          <p:cNvPr id="17" name="Text 14"/>
          <p:cNvSpPr/>
          <p:nvPr/>
        </p:nvSpPr>
        <p:spPr>
          <a:xfrm>
            <a:off x="3023006"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2003</a:t>
            </a:r>
            <a:endParaRPr lang="en-US" sz="1200" dirty="0"/>
          </a:p>
        </p:txBody>
      </p:sp>
      <p:sp>
        <p:nvSpPr>
          <p:cNvPr id="18" name="Text 15"/>
          <p:cNvSpPr/>
          <p:nvPr/>
        </p:nvSpPr>
        <p:spPr>
          <a:xfrm>
            <a:off x="2995574" y="2971800"/>
            <a:ext cx="1779422" cy="566928"/>
          </a:xfrm>
          <a:prstGeom prst="rect">
            <a:avLst/>
          </a:prstGeom>
          <a:noFill/>
          <a:ln/>
        </p:spPr>
        <p:txBody>
          <a:bodyPr wrap="square" lIns="0" tIns="0" rIns="0" bIns="0" rtlCol="0" anchor="ctr"/>
          <a:lstStyle/>
          <a:p>
            <a:pPr algn="ctr" indent="0" marL="0">
              <a:buNone/>
            </a:pPr>
            <a:r>
              <a:rPr lang="en-US" sz="1200" b="1" dirty="0">
                <a:solidFill>
                  <a:srgbClr val="153A40"/>
                </a:solidFill>
                <a:latin typeface="Cambria" pitchFamily="34" charset="0"/>
                <a:ea typeface="Cambria" pitchFamily="34" charset="-122"/>
                <a:cs typeface="Cambria" pitchFamily="34" charset="-120"/>
              </a:rPr>
              <a:t>Published (IEEE)</a:t>
            </a:r>
            <a:endParaRPr lang="en-US" sz="1200" dirty="0"/>
          </a:p>
        </p:txBody>
      </p:sp>
      <p:sp>
        <p:nvSpPr>
          <p:cNvPr id="19" name="Text 16"/>
          <p:cNvSpPr/>
          <p:nvPr/>
        </p:nvSpPr>
        <p:spPr>
          <a:xfrm>
            <a:off x="3004718" y="3520440"/>
            <a:ext cx="1761134" cy="749808"/>
          </a:xfrm>
          <a:prstGeom prst="rect">
            <a:avLst/>
          </a:prstGeom>
          <a:noFill/>
          <a:ln/>
        </p:spPr>
        <p:txBody>
          <a:bodyPr wrap="square" lIns="0" tIns="0" rIns="0" bIns="0" rtlCol="0" anchor="ctr"/>
          <a:lstStyle/>
          <a:p>
            <a:pPr algn="ctr" indent="0" marL="0">
              <a:buNone/>
            </a:pPr>
            <a:r>
              <a:rPr lang="en-US" sz="960" dirty="0">
                <a:solidFill>
                  <a:srgbClr val="5E7A80"/>
                </a:solidFill>
                <a:latin typeface="Calibri" pitchFamily="34" charset="0"/>
                <a:ea typeface="Calibri" pitchFamily="34" charset="-122"/>
                <a:cs typeface="Calibri" pitchFamily="34" charset="-120"/>
              </a:rPr>
              <a:t>Amazon explained the method in a research paper.</a:t>
            </a:r>
            <a:endParaRPr lang="en-US" sz="960" dirty="0"/>
          </a:p>
        </p:txBody>
      </p:sp>
      <p:sp>
        <p:nvSpPr>
          <p:cNvPr id="20" name="Shape 17"/>
          <p:cNvSpPr/>
          <p:nvPr/>
        </p:nvSpPr>
        <p:spPr>
          <a:xfrm>
            <a:off x="5076749" y="2331720"/>
            <a:ext cx="2053742" cy="1965960"/>
          </a:xfrm>
          <a:prstGeom prst="roundRect">
            <a:avLst>
              <a:gd name="adj" fmla="val 5581"/>
            </a:avLst>
          </a:prstGeom>
          <a:solidFill>
            <a:srgbClr val="EAF7F5"/>
          </a:solidFill>
          <a:ln/>
          <a:effectLst>
            <a:outerShdw sx="100000" sy="100000" kx="0" ky="0" algn="bl" rotWithShape="0" blurRad="127000" dist="50800" dir="5400000">
              <a:srgbClr val="8A93A6">
                <a:alpha val="13000"/>
              </a:srgbClr>
            </a:outerShdw>
          </a:effectLst>
        </p:spPr>
      </p:sp>
      <p:sp>
        <p:nvSpPr>
          <p:cNvPr id="21" name="Shape 18"/>
          <p:cNvSpPr/>
          <p:nvPr/>
        </p:nvSpPr>
        <p:spPr>
          <a:xfrm>
            <a:off x="5241341" y="2496312"/>
            <a:ext cx="1724558" cy="365760"/>
          </a:xfrm>
          <a:prstGeom prst="roundRect">
            <a:avLst>
              <a:gd name="adj" fmla="val 50000"/>
            </a:avLst>
          </a:prstGeom>
          <a:solidFill>
            <a:srgbClr val="028090"/>
          </a:solidFill>
          <a:ln/>
        </p:spPr>
      </p:sp>
      <p:sp>
        <p:nvSpPr>
          <p:cNvPr id="22" name="Text 19"/>
          <p:cNvSpPr/>
          <p:nvPr/>
        </p:nvSpPr>
        <p:spPr>
          <a:xfrm>
            <a:off x="5241341"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2017</a:t>
            </a:r>
            <a:endParaRPr lang="en-US" sz="1200" dirty="0"/>
          </a:p>
        </p:txBody>
      </p:sp>
      <p:sp>
        <p:nvSpPr>
          <p:cNvPr id="23" name="Text 20"/>
          <p:cNvSpPr/>
          <p:nvPr/>
        </p:nvSpPr>
        <p:spPr>
          <a:xfrm>
            <a:off x="5213909" y="2971800"/>
            <a:ext cx="1779422" cy="566928"/>
          </a:xfrm>
          <a:prstGeom prst="rect">
            <a:avLst/>
          </a:prstGeom>
          <a:noFill/>
          <a:ln/>
        </p:spPr>
        <p:txBody>
          <a:bodyPr wrap="square" lIns="0" tIns="0" rIns="0" bIns="0" rtlCol="0" anchor="ctr"/>
          <a:lstStyle/>
          <a:p>
            <a:pPr algn="ctr" indent="0" marL="0">
              <a:buNone/>
            </a:pPr>
            <a:r>
              <a:rPr lang="en-US" sz="1200" b="1" dirty="0">
                <a:solidFill>
                  <a:srgbClr val="153A40"/>
                </a:solidFill>
                <a:latin typeface="Cambria" pitchFamily="34" charset="0"/>
                <a:ea typeface="Cambria" pitchFamily="34" charset="-122"/>
                <a:cs typeface="Cambria" pitchFamily="34" charset="-120"/>
              </a:rPr>
              <a:t>Whole-store personalization</a:t>
            </a:r>
            <a:endParaRPr lang="en-US" sz="1200" dirty="0"/>
          </a:p>
        </p:txBody>
      </p:sp>
      <p:sp>
        <p:nvSpPr>
          <p:cNvPr id="24" name="Text 21"/>
          <p:cNvSpPr/>
          <p:nvPr/>
        </p:nvSpPr>
        <p:spPr>
          <a:xfrm>
            <a:off x="5223053" y="3520440"/>
            <a:ext cx="1761134" cy="749808"/>
          </a:xfrm>
          <a:prstGeom prst="rect">
            <a:avLst/>
          </a:prstGeom>
          <a:noFill/>
          <a:ln/>
        </p:spPr>
        <p:txBody>
          <a:bodyPr wrap="square" lIns="0" tIns="0" rIns="0" bIns="0" rtlCol="0" anchor="ctr"/>
          <a:lstStyle/>
          <a:p>
            <a:pPr algn="ctr" indent="0" marL="0">
              <a:buNone/>
            </a:pPr>
            <a:r>
              <a:rPr lang="en-US" sz="960" dirty="0">
                <a:solidFill>
                  <a:srgbClr val="5E7A80"/>
                </a:solidFill>
                <a:latin typeface="Calibri" pitchFamily="34" charset="0"/>
                <a:ea typeface="Calibri" pitchFamily="34" charset="-122"/>
                <a:cs typeface="Calibri" pitchFamily="34" charset="-120"/>
              </a:rPr>
              <a:t>Whole pages start to get personalized.</a:t>
            </a:r>
            <a:endParaRPr lang="en-US" sz="960" dirty="0"/>
          </a:p>
        </p:txBody>
      </p:sp>
      <p:sp>
        <p:nvSpPr>
          <p:cNvPr id="25" name="Shape 22"/>
          <p:cNvSpPr/>
          <p:nvPr/>
        </p:nvSpPr>
        <p:spPr>
          <a:xfrm>
            <a:off x="7295083" y="2331720"/>
            <a:ext cx="2053742" cy="1965960"/>
          </a:xfrm>
          <a:prstGeom prst="roundRect">
            <a:avLst>
              <a:gd name="adj" fmla="val 5581"/>
            </a:avLst>
          </a:prstGeom>
          <a:solidFill>
            <a:srgbClr val="FDEBEE"/>
          </a:solidFill>
          <a:ln/>
          <a:effectLst>
            <a:outerShdw sx="100000" sy="100000" kx="0" ky="0" algn="bl" rotWithShape="0" blurRad="127000" dist="50800" dir="5400000">
              <a:srgbClr val="8A93A6">
                <a:alpha val="13000"/>
              </a:srgbClr>
            </a:outerShdw>
          </a:effectLst>
        </p:spPr>
      </p:sp>
      <p:sp>
        <p:nvSpPr>
          <p:cNvPr id="26" name="Shape 23"/>
          <p:cNvSpPr/>
          <p:nvPr/>
        </p:nvSpPr>
        <p:spPr>
          <a:xfrm>
            <a:off x="7459675" y="2496312"/>
            <a:ext cx="1724558" cy="365760"/>
          </a:xfrm>
          <a:prstGeom prst="roundRect">
            <a:avLst>
              <a:gd name="adj" fmla="val 50000"/>
            </a:avLst>
          </a:prstGeom>
          <a:solidFill>
            <a:srgbClr val="E23E57"/>
          </a:solidFill>
          <a:ln/>
        </p:spPr>
      </p:sp>
      <p:sp>
        <p:nvSpPr>
          <p:cNvPr id="27" name="Text 24"/>
          <p:cNvSpPr/>
          <p:nvPr/>
        </p:nvSpPr>
        <p:spPr>
          <a:xfrm>
            <a:off x="7459675"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2024</a:t>
            </a:r>
            <a:endParaRPr lang="en-US" sz="1200" dirty="0"/>
          </a:p>
        </p:txBody>
      </p:sp>
      <p:sp>
        <p:nvSpPr>
          <p:cNvPr id="28" name="Text 25"/>
          <p:cNvSpPr/>
          <p:nvPr/>
        </p:nvSpPr>
        <p:spPr>
          <a:xfrm>
            <a:off x="7432243" y="2971800"/>
            <a:ext cx="1779422" cy="566928"/>
          </a:xfrm>
          <a:prstGeom prst="rect">
            <a:avLst/>
          </a:prstGeom>
          <a:noFill/>
          <a:ln/>
        </p:spPr>
        <p:txBody>
          <a:bodyPr wrap="square" lIns="0" tIns="0" rIns="0" bIns="0" rtlCol="0" anchor="ctr"/>
          <a:lstStyle/>
          <a:p>
            <a:pPr algn="ctr" indent="0" marL="0">
              <a:buNone/>
            </a:pPr>
            <a:r>
              <a:rPr lang="en-US" sz="1200" b="1" dirty="0">
                <a:solidFill>
                  <a:srgbClr val="153A40"/>
                </a:solidFill>
                <a:latin typeface="Cambria" pitchFamily="34" charset="0"/>
                <a:ea typeface="Cambria" pitchFamily="34" charset="-122"/>
                <a:cs typeface="Cambria" pitchFamily="34" charset="-120"/>
              </a:rPr>
              <a:t>Rufus + COSMO</a:t>
            </a:r>
            <a:endParaRPr lang="en-US" sz="1200" dirty="0"/>
          </a:p>
        </p:txBody>
      </p:sp>
      <p:sp>
        <p:nvSpPr>
          <p:cNvPr id="29" name="Text 26"/>
          <p:cNvSpPr/>
          <p:nvPr/>
        </p:nvSpPr>
        <p:spPr>
          <a:xfrm>
            <a:off x="7441387" y="3520440"/>
            <a:ext cx="1761134" cy="749808"/>
          </a:xfrm>
          <a:prstGeom prst="rect">
            <a:avLst/>
          </a:prstGeom>
          <a:noFill/>
          <a:ln/>
        </p:spPr>
        <p:txBody>
          <a:bodyPr wrap="square" lIns="0" tIns="0" rIns="0" bIns="0" rtlCol="0" anchor="ctr"/>
          <a:lstStyle/>
          <a:p>
            <a:pPr algn="ctr" indent="0" marL="0">
              <a:buNone/>
            </a:pPr>
            <a:r>
              <a:rPr lang="en-US" sz="960" dirty="0">
                <a:solidFill>
                  <a:srgbClr val="5E7A80"/>
                </a:solidFill>
                <a:latin typeface="Calibri" pitchFamily="34" charset="0"/>
                <a:ea typeface="Calibri" pitchFamily="34" charset="-122"/>
                <a:cs typeface="Calibri" pitchFamily="34" charset="-120"/>
              </a:rPr>
              <a:t>Rufus: a chat assistant that answers shopping questions.</a:t>
            </a:r>
            <a:endParaRPr lang="en-US" sz="960" dirty="0"/>
          </a:p>
        </p:txBody>
      </p:sp>
      <p:sp>
        <p:nvSpPr>
          <p:cNvPr id="30" name="Shape 27"/>
          <p:cNvSpPr/>
          <p:nvPr/>
        </p:nvSpPr>
        <p:spPr>
          <a:xfrm>
            <a:off x="9513418" y="2331720"/>
            <a:ext cx="2053742" cy="1965960"/>
          </a:xfrm>
          <a:prstGeom prst="roundRect">
            <a:avLst>
              <a:gd name="adj" fmla="val 5581"/>
            </a:avLst>
          </a:prstGeom>
          <a:solidFill>
            <a:srgbClr val="FDEBEE"/>
          </a:solidFill>
          <a:ln/>
          <a:effectLst>
            <a:outerShdw sx="100000" sy="100000" kx="0" ky="0" algn="bl" rotWithShape="0" blurRad="127000" dist="50800" dir="5400000">
              <a:srgbClr val="8A93A6">
                <a:alpha val="13000"/>
              </a:srgbClr>
            </a:outerShdw>
          </a:effectLst>
        </p:spPr>
      </p:sp>
      <p:sp>
        <p:nvSpPr>
          <p:cNvPr id="31" name="Shape 28"/>
          <p:cNvSpPr/>
          <p:nvPr/>
        </p:nvSpPr>
        <p:spPr>
          <a:xfrm>
            <a:off x="9678010" y="2496312"/>
            <a:ext cx="1724558" cy="365760"/>
          </a:xfrm>
          <a:prstGeom prst="roundRect">
            <a:avLst>
              <a:gd name="adj" fmla="val 50000"/>
            </a:avLst>
          </a:prstGeom>
          <a:solidFill>
            <a:srgbClr val="E23E57"/>
          </a:solidFill>
          <a:ln/>
        </p:spPr>
      </p:sp>
      <p:sp>
        <p:nvSpPr>
          <p:cNvPr id="32" name="Text 29"/>
          <p:cNvSpPr/>
          <p:nvPr/>
        </p:nvSpPr>
        <p:spPr>
          <a:xfrm>
            <a:off x="9678010"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2025</a:t>
            </a:r>
            <a:endParaRPr lang="en-US" sz="1200" dirty="0"/>
          </a:p>
        </p:txBody>
      </p:sp>
      <p:sp>
        <p:nvSpPr>
          <p:cNvPr id="33" name="Text 30"/>
          <p:cNvSpPr/>
          <p:nvPr/>
        </p:nvSpPr>
        <p:spPr>
          <a:xfrm>
            <a:off x="9650578" y="2971800"/>
            <a:ext cx="1779422" cy="566928"/>
          </a:xfrm>
          <a:prstGeom prst="rect">
            <a:avLst/>
          </a:prstGeom>
          <a:noFill/>
          <a:ln/>
        </p:spPr>
        <p:txBody>
          <a:bodyPr wrap="square" lIns="0" tIns="0" rIns="0" bIns="0" rtlCol="0" anchor="ctr"/>
          <a:lstStyle/>
          <a:p>
            <a:pPr algn="ctr" indent="0" marL="0">
              <a:buNone/>
            </a:pPr>
            <a:r>
              <a:rPr lang="en-US" sz="1200" b="1" dirty="0">
                <a:solidFill>
                  <a:srgbClr val="153A40"/>
                </a:solidFill>
                <a:latin typeface="Cambria" pitchFamily="34" charset="0"/>
                <a:ea typeface="Cambria" pitchFamily="34" charset="-122"/>
                <a:cs typeface="Cambria" pitchFamily="34" charset="-120"/>
              </a:rPr>
              <a:t>Rufus at scale</a:t>
            </a:r>
            <a:endParaRPr lang="en-US" sz="1200" dirty="0"/>
          </a:p>
        </p:txBody>
      </p:sp>
      <p:sp>
        <p:nvSpPr>
          <p:cNvPr id="34" name="Text 31"/>
          <p:cNvSpPr/>
          <p:nvPr/>
        </p:nvSpPr>
        <p:spPr>
          <a:xfrm>
            <a:off x="9659722" y="3520440"/>
            <a:ext cx="1761134" cy="749808"/>
          </a:xfrm>
          <a:prstGeom prst="rect">
            <a:avLst/>
          </a:prstGeom>
          <a:noFill/>
          <a:ln/>
        </p:spPr>
        <p:txBody>
          <a:bodyPr wrap="square" lIns="0" tIns="0" rIns="0" bIns="0" rtlCol="0" anchor="ctr"/>
          <a:lstStyle/>
          <a:p>
            <a:pPr algn="ctr" indent="0" marL="0">
              <a:buNone/>
            </a:pPr>
            <a:r>
              <a:rPr lang="en-US" sz="960" dirty="0">
                <a:solidFill>
                  <a:srgbClr val="5E7A80"/>
                </a:solidFill>
                <a:latin typeface="Calibri" pitchFamily="34" charset="0"/>
                <a:ea typeface="Calibri" pitchFamily="34" charset="-122"/>
                <a:cs typeface="Calibri" pitchFamily="34" charset="-120"/>
              </a:rPr>
              <a:t>Rufus remembers you and tailors its replies.</a:t>
            </a:r>
            <a:endParaRPr lang="en-US" sz="960" dirty="0"/>
          </a:p>
        </p:txBody>
      </p:sp>
      <p:sp>
        <p:nvSpPr>
          <p:cNvPr id="35" name="Text 32"/>
          <p:cNvSpPr/>
          <p:nvPr/>
        </p:nvSpPr>
        <p:spPr>
          <a:xfrm>
            <a:off x="640080" y="4599432"/>
            <a:ext cx="2103120" cy="822960"/>
          </a:xfrm>
          <a:prstGeom prst="rect">
            <a:avLst/>
          </a:prstGeom>
          <a:noFill/>
          <a:ln/>
        </p:spPr>
        <p:txBody>
          <a:bodyPr wrap="square" lIns="0" tIns="0" rIns="0" bIns="0" rtlCol="0" anchor="ctr"/>
          <a:lstStyle/>
          <a:p>
            <a:pPr indent="0" marL="0">
              <a:buNone/>
            </a:pPr>
            <a:r>
              <a:rPr lang="en-US" sz="1300" b="1" dirty="0">
                <a:solidFill>
                  <a:srgbClr val="E23E57"/>
                </a:solidFill>
                <a:latin typeface="Cambria" pitchFamily="34" charset="0"/>
                <a:ea typeface="Cambria" pitchFamily="34" charset="-122"/>
                <a:cs typeface="Cambria" pitchFamily="34" charset="-120"/>
              </a:rPr>
              <a:t>GPT-era impact</a:t>
            </a:r>
            <a:endParaRPr lang="en-US" sz="1300" dirty="0"/>
          </a:p>
        </p:txBody>
      </p:sp>
      <p:sp>
        <p:nvSpPr>
          <p:cNvPr id="36" name="Shape 33"/>
          <p:cNvSpPr/>
          <p:nvPr/>
        </p:nvSpPr>
        <p:spPr>
          <a:xfrm>
            <a:off x="2743200" y="4617720"/>
            <a:ext cx="2819400" cy="822960"/>
          </a:xfrm>
          <a:prstGeom prst="roundRect">
            <a:avLst>
              <a:gd name="adj" fmla="val 11111"/>
            </a:avLst>
          </a:prstGeom>
          <a:solidFill>
            <a:srgbClr val="FFFFFF"/>
          </a:solidFill>
          <a:ln/>
          <a:effectLst>
            <a:outerShdw sx="100000" sy="100000" kx="0" ky="0" algn="bl" rotWithShape="0" blurRad="127000" dist="50800" dir="5400000">
              <a:srgbClr val="8A93A6">
                <a:alpha val="13000"/>
              </a:srgbClr>
            </a:outerShdw>
          </a:effectLst>
        </p:spPr>
      </p:sp>
      <p:sp>
        <p:nvSpPr>
          <p:cNvPr id="37" name="Shape 34"/>
          <p:cNvSpPr/>
          <p:nvPr/>
        </p:nvSpPr>
        <p:spPr>
          <a:xfrm>
            <a:off x="2743200" y="4617720"/>
            <a:ext cx="2819400" cy="822960"/>
          </a:xfrm>
          <a:prstGeom prst="roundRect">
            <a:avLst>
              <a:gd name="adj" fmla="val 11111"/>
            </a:avLst>
          </a:prstGeom>
          <a:solidFill>
            <a:srgbClr val="FFFFFF">
              <a:alpha val="0"/>
            </a:srgbClr>
          </a:solidFill>
          <a:ln w="12700">
            <a:solidFill>
              <a:srgbClr val="CDE8E3"/>
            </a:solidFill>
            <a:prstDash val="solid"/>
          </a:ln>
        </p:spPr>
      </p:sp>
      <p:sp>
        <p:nvSpPr>
          <p:cNvPr id="38" name="Text 35"/>
          <p:cNvSpPr/>
          <p:nvPr/>
        </p:nvSpPr>
        <p:spPr>
          <a:xfrm>
            <a:off x="2852928" y="4709160"/>
            <a:ext cx="2599944" cy="365760"/>
          </a:xfrm>
          <a:prstGeom prst="rect">
            <a:avLst/>
          </a:prstGeom>
          <a:noFill/>
          <a:ln/>
        </p:spPr>
        <p:txBody>
          <a:bodyPr wrap="square" lIns="0" tIns="0" rIns="0" bIns="0" rtlCol="0" anchor="ctr"/>
          <a:lstStyle/>
          <a:p>
            <a:pPr algn="ctr" indent="0" marL="0">
              <a:buNone/>
            </a:pPr>
            <a:r>
              <a:rPr lang="en-US" sz="1600" b="1" dirty="0">
                <a:solidFill>
                  <a:srgbClr val="E23E57"/>
                </a:solidFill>
                <a:latin typeface="Cambria" pitchFamily="34" charset="0"/>
                <a:ea typeface="Cambria" pitchFamily="34" charset="-122"/>
                <a:cs typeface="Cambria" pitchFamily="34" charset="-120"/>
              </a:rPr>
              <a:t>~$12B</a:t>
            </a:r>
            <a:endParaRPr lang="en-US" sz="1600" dirty="0"/>
          </a:p>
        </p:txBody>
      </p:sp>
      <p:sp>
        <p:nvSpPr>
          <p:cNvPr id="39" name="Text 36"/>
          <p:cNvSpPr/>
          <p:nvPr/>
        </p:nvSpPr>
        <p:spPr>
          <a:xfrm>
            <a:off x="2852928" y="5074920"/>
            <a:ext cx="2599944" cy="329184"/>
          </a:xfrm>
          <a:prstGeom prst="rect">
            <a:avLst/>
          </a:prstGeom>
          <a:noFill/>
          <a:ln/>
        </p:spPr>
        <p:txBody>
          <a:bodyPr wrap="square" lIns="0" tIns="0" rIns="0" bIns="0" rtlCol="0" anchor="ctr"/>
          <a:lstStyle/>
          <a:p>
            <a:pPr algn="ctr" indent="0" marL="0">
              <a:buNone/>
            </a:pPr>
            <a:r>
              <a:rPr lang="en-US" sz="880" dirty="0">
                <a:solidFill>
                  <a:srgbClr val="5E7A80"/>
                </a:solidFill>
                <a:latin typeface="Calibri" pitchFamily="34" charset="0"/>
                <a:ea typeface="Calibri" pitchFamily="34" charset="-122"/>
                <a:cs typeface="Calibri" pitchFamily="34" charset="-120"/>
              </a:rPr>
              <a:t>extra sales in 2025 (Amazon)</a:t>
            </a:r>
            <a:endParaRPr lang="en-US" sz="880" dirty="0"/>
          </a:p>
        </p:txBody>
      </p:sp>
      <p:sp>
        <p:nvSpPr>
          <p:cNvPr id="40" name="Shape 37"/>
          <p:cNvSpPr/>
          <p:nvPr/>
        </p:nvSpPr>
        <p:spPr>
          <a:xfrm>
            <a:off x="5745480" y="4617720"/>
            <a:ext cx="2819400" cy="822960"/>
          </a:xfrm>
          <a:prstGeom prst="roundRect">
            <a:avLst>
              <a:gd name="adj" fmla="val 11111"/>
            </a:avLst>
          </a:prstGeom>
          <a:solidFill>
            <a:srgbClr val="FFFFFF"/>
          </a:solidFill>
          <a:ln/>
          <a:effectLst>
            <a:outerShdw sx="100000" sy="100000" kx="0" ky="0" algn="bl" rotWithShape="0" blurRad="127000" dist="50800" dir="5400000">
              <a:srgbClr val="8A93A6">
                <a:alpha val="13000"/>
              </a:srgbClr>
            </a:outerShdw>
          </a:effectLst>
        </p:spPr>
      </p:sp>
      <p:sp>
        <p:nvSpPr>
          <p:cNvPr id="41" name="Shape 38"/>
          <p:cNvSpPr/>
          <p:nvPr/>
        </p:nvSpPr>
        <p:spPr>
          <a:xfrm>
            <a:off x="5745480" y="4617720"/>
            <a:ext cx="2819400" cy="822960"/>
          </a:xfrm>
          <a:prstGeom prst="roundRect">
            <a:avLst>
              <a:gd name="adj" fmla="val 11111"/>
            </a:avLst>
          </a:prstGeom>
          <a:solidFill>
            <a:srgbClr val="FFFFFF">
              <a:alpha val="0"/>
            </a:srgbClr>
          </a:solidFill>
          <a:ln w="12700">
            <a:solidFill>
              <a:srgbClr val="CDE8E3"/>
            </a:solidFill>
            <a:prstDash val="solid"/>
          </a:ln>
        </p:spPr>
      </p:sp>
      <p:sp>
        <p:nvSpPr>
          <p:cNvPr id="42" name="Text 39"/>
          <p:cNvSpPr/>
          <p:nvPr/>
        </p:nvSpPr>
        <p:spPr>
          <a:xfrm>
            <a:off x="5855208" y="4709160"/>
            <a:ext cx="2599944" cy="365760"/>
          </a:xfrm>
          <a:prstGeom prst="rect">
            <a:avLst/>
          </a:prstGeom>
          <a:noFill/>
          <a:ln/>
        </p:spPr>
        <p:txBody>
          <a:bodyPr wrap="square" lIns="0" tIns="0" rIns="0" bIns="0" rtlCol="0" anchor="ctr"/>
          <a:lstStyle/>
          <a:p>
            <a:pPr algn="ctr" indent="0" marL="0">
              <a:buNone/>
            </a:pPr>
            <a:r>
              <a:rPr lang="en-US" sz="1600" b="1" dirty="0">
                <a:solidFill>
                  <a:srgbClr val="E23E57"/>
                </a:solidFill>
                <a:latin typeface="Cambria" pitchFamily="34" charset="0"/>
                <a:ea typeface="Cambria" pitchFamily="34" charset="-122"/>
                <a:cs typeface="Cambria" pitchFamily="34" charset="-120"/>
              </a:rPr>
              <a:t>300M+</a:t>
            </a:r>
            <a:endParaRPr lang="en-US" sz="1600" dirty="0"/>
          </a:p>
        </p:txBody>
      </p:sp>
      <p:sp>
        <p:nvSpPr>
          <p:cNvPr id="43" name="Text 40"/>
          <p:cNvSpPr/>
          <p:nvPr/>
        </p:nvSpPr>
        <p:spPr>
          <a:xfrm>
            <a:off x="5855208" y="5074920"/>
            <a:ext cx="2599944" cy="329184"/>
          </a:xfrm>
          <a:prstGeom prst="rect">
            <a:avLst/>
          </a:prstGeom>
          <a:noFill/>
          <a:ln/>
        </p:spPr>
        <p:txBody>
          <a:bodyPr wrap="square" lIns="0" tIns="0" rIns="0" bIns="0" rtlCol="0" anchor="ctr"/>
          <a:lstStyle/>
          <a:p>
            <a:pPr algn="ctr" indent="0" marL="0">
              <a:buNone/>
            </a:pPr>
            <a:r>
              <a:rPr lang="en-US" sz="880" dirty="0">
                <a:solidFill>
                  <a:srgbClr val="5E7A80"/>
                </a:solidFill>
                <a:latin typeface="Calibri" pitchFamily="34" charset="0"/>
                <a:ea typeface="Calibri" pitchFamily="34" charset="-122"/>
                <a:cs typeface="Calibri" pitchFamily="34" charset="-120"/>
              </a:rPr>
              <a:t>people use Rufus</a:t>
            </a:r>
            <a:endParaRPr lang="en-US" sz="880" dirty="0"/>
          </a:p>
        </p:txBody>
      </p:sp>
      <p:sp>
        <p:nvSpPr>
          <p:cNvPr id="44" name="Shape 41"/>
          <p:cNvSpPr/>
          <p:nvPr/>
        </p:nvSpPr>
        <p:spPr>
          <a:xfrm>
            <a:off x="8747760" y="4617720"/>
            <a:ext cx="2819400" cy="822960"/>
          </a:xfrm>
          <a:prstGeom prst="roundRect">
            <a:avLst>
              <a:gd name="adj" fmla="val 11111"/>
            </a:avLst>
          </a:prstGeom>
          <a:solidFill>
            <a:srgbClr val="FFFFFF"/>
          </a:solidFill>
          <a:ln/>
          <a:effectLst>
            <a:outerShdw sx="100000" sy="100000" kx="0" ky="0" algn="bl" rotWithShape="0" blurRad="127000" dist="50800" dir="5400000">
              <a:srgbClr val="8A93A6">
                <a:alpha val="13000"/>
              </a:srgbClr>
            </a:outerShdw>
          </a:effectLst>
        </p:spPr>
      </p:sp>
      <p:sp>
        <p:nvSpPr>
          <p:cNvPr id="45" name="Shape 42"/>
          <p:cNvSpPr/>
          <p:nvPr/>
        </p:nvSpPr>
        <p:spPr>
          <a:xfrm>
            <a:off x="8747760" y="4617720"/>
            <a:ext cx="2819400" cy="822960"/>
          </a:xfrm>
          <a:prstGeom prst="roundRect">
            <a:avLst>
              <a:gd name="adj" fmla="val 11111"/>
            </a:avLst>
          </a:prstGeom>
          <a:solidFill>
            <a:srgbClr val="FFFFFF">
              <a:alpha val="0"/>
            </a:srgbClr>
          </a:solidFill>
          <a:ln w="12700">
            <a:solidFill>
              <a:srgbClr val="CDE8E3"/>
            </a:solidFill>
            <a:prstDash val="solid"/>
          </a:ln>
        </p:spPr>
      </p:sp>
      <p:sp>
        <p:nvSpPr>
          <p:cNvPr id="46" name="Text 43"/>
          <p:cNvSpPr/>
          <p:nvPr/>
        </p:nvSpPr>
        <p:spPr>
          <a:xfrm>
            <a:off x="8857488" y="4709160"/>
            <a:ext cx="2599944" cy="365760"/>
          </a:xfrm>
          <a:prstGeom prst="rect">
            <a:avLst/>
          </a:prstGeom>
          <a:noFill/>
          <a:ln/>
        </p:spPr>
        <p:txBody>
          <a:bodyPr wrap="square" lIns="0" tIns="0" rIns="0" bIns="0" rtlCol="0" anchor="ctr"/>
          <a:lstStyle/>
          <a:p>
            <a:pPr algn="ctr" indent="0" marL="0">
              <a:buNone/>
            </a:pPr>
            <a:r>
              <a:rPr lang="en-US" sz="1600" b="1" dirty="0">
                <a:solidFill>
                  <a:srgbClr val="E23E57"/>
                </a:solidFill>
                <a:latin typeface="Cambria" pitchFamily="34" charset="0"/>
                <a:ea typeface="Cambria" pitchFamily="34" charset="-122"/>
                <a:cs typeface="Cambria" pitchFamily="34" charset="-120"/>
              </a:rPr>
              <a:t>+60%</a:t>
            </a:r>
            <a:endParaRPr lang="en-US" sz="1600" dirty="0"/>
          </a:p>
        </p:txBody>
      </p:sp>
      <p:sp>
        <p:nvSpPr>
          <p:cNvPr id="47" name="Text 44"/>
          <p:cNvSpPr/>
          <p:nvPr/>
        </p:nvSpPr>
        <p:spPr>
          <a:xfrm>
            <a:off x="8857488" y="5074920"/>
            <a:ext cx="2599944" cy="329184"/>
          </a:xfrm>
          <a:prstGeom prst="rect">
            <a:avLst/>
          </a:prstGeom>
          <a:noFill/>
          <a:ln/>
        </p:spPr>
        <p:txBody>
          <a:bodyPr wrap="square" lIns="0" tIns="0" rIns="0" bIns="0" rtlCol="0" anchor="ctr"/>
          <a:lstStyle/>
          <a:p>
            <a:pPr algn="ctr" indent="0" marL="0">
              <a:buNone/>
            </a:pPr>
            <a:r>
              <a:rPr lang="en-US" sz="880" dirty="0">
                <a:solidFill>
                  <a:srgbClr val="5E7A80"/>
                </a:solidFill>
                <a:latin typeface="Calibri" pitchFamily="34" charset="0"/>
                <a:ea typeface="Calibri" pitchFamily="34" charset="-122"/>
                <a:cs typeface="Calibri" pitchFamily="34" charset="-120"/>
              </a:rPr>
              <a:t>more likely to buy (engaged users)</a:t>
            </a:r>
            <a:endParaRPr lang="en-US" sz="880" dirty="0"/>
          </a:p>
        </p:txBody>
      </p:sp>
      <p:sp>
        <p:nvSpPr>
          <p:cNvPr id="48" name="Text 45"/>
          <p:cNvSpPr/>
          <p:nvPr/>
        </p:nvSpPr>
        <p:spPr>
          <a:xfrm>
            <a:off x="640080" y="6437376"/>
            <a:ext cx="10927080" cy="274320"/>
          </a:xfrm>
          <a:prstGeom prst="rect">
            <a:avLst/>
          </a:prstGeom>
          <a:noFill/>
          <a:ln/>
        </p:spPr>
        <p:txBody>
          <a:bodyPr wrap="square" lIns="0" tIns="0" rIns="0" bIns="0" rtlCol="0" anchor="ctr"/>
          <a:lstStyle/>
          <a:p>
            <a:pPr indent="0" marL="0">
              <a:buNone/>
            </a:pPr>
            <a:r>
              <a:rPr lang="en-US" sz="850" i="1" dirty="0">
                <a:solidFill>
                  <a:srgbClr val="5E7A80"/>
                </a:solidFill>
                <a:latin typeface="Calibri" pitchFamily="34" charset="0"/>
                <a:ea typeface="Calibri" pitchFamily="34" charset="-122"/>
                <a:cs typeface="Calibri" pitchFamily="34" charset="-120"/>
              </a:rPr>
              <a:t>Sources: Amazon Science (2024); Amazon Q4 2025 earnings; COSMO — ACM SIGMOD 2024; Linden et al., IEEE Internet Computing (2003, historical).</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FF6B6B"/>
                </a:solidFill>
                <a:latin typeface="Calibri" pitchFamily="34" charset="0"/>
                <a:ea typeface="Calibri" pitchFamily="34" charset="-122"/>
                <a:cs typeface="Calibri" pitchFamily="34" charset="-120"/>
              </a:rPr>
              <a:t>BONUS · HOW REAL SYSTEMS GREW UP</a:t>
            </a:r>
            <a:endParaRPr lang="en-US" sz="1200" dirty="0"/>
          </a:p>
        </p:txBody>
      </p:sp>
      <p:sp>
        <p:nvSpPr>
          <p:cNvPr id="3" name="Text 1"/>
          <p:cNvSpPr/>
          <p:nvPr/>
        </p:nvSpPr>
        <p:spPr>
          <a:xfrm>
            <a:off x="640080" y="630936"/>
            <a:ext cx="8778240" cy="548640"/>
          </a:xfrm>
          <a:prstGeom prst="rect">
            <a:avLst/>
          </a:prstGeom>
          <a:noFill/>
          <a:ln/>
        </p:spPr>
        <p:txBody>
          <a:bodyPr wrap="square" lIns="0" tIns="0" rIns="0" bIns="0" rtlCol="0" anchor="ctr"/>
          <a:lstStyle/>
          <a:p>
            <a:pPr indent="0" marL="0">
              <a:buNone/>
            </a:pPr>
            <a:r>
              <a:rPr lang="en-US" sz="2500" b="1" dirty="0">
                <a:solidFill>
                  <a:srgbClr val="153A40"/>
                </a:solidFill>
                <a:latin typeface="Cambria" pitchFamily="34" charset="0"/>
                <a:ea typeface="Cambria" pitchFamily="34" charset="-122"/>
                <a:cs typeface="Cambria" pitchFamily="34" charset="-120"/>
              </a:rPr>
              <a:t>Taobao / Alibaba — recommendation system history</a:t>
            </a:r>
            <a:endParaRPr lang="en-US" sz="2500" dirty="0"/>
          </a:p>
        </p:txBody>
      </p:sp>
      <p:sp>
        <p:nvSpPr>
          <p:cNvPr id="4" name="Shape 2"/>
          <p:cNvSpPr/>
          <p:nvPr/>
        </p:nvSpPr>
        <p:spPr>
          <a:xfrm>
            <a:off x="10698480" y="566928"/>
            <a:ext cx="777240" cy="777240"/>
          </a:xfrm>
          <a:prstGeom prst="ellipse">
            <a:avLst/>
          </a:prstGeom>
          <a:solidFill>
            <a:srgbClr val="028090"/>
          </a:solidFill>
          <a:ln/>
          <a:effectLst>
            <a:outerShdw sx="100000" sy="100000" kx="0" ky="0" algn="bl" rotWithShape="0" blurRad="127000" dist="50800" dir="5400000">
              <a:srgbClr val="8A93A6">
                <a:alpha val="13000"/>
              </a:srgbClr>
            </a:outerShdw>
          </a:effectLst>
        </p:spPr>
      </p:sp>
      <p:pic>
        <p:nvPicPr>
          <p:cNvPr id="5" name="Image 0" descr="preencoded.png">    </p:cNvPr>
          <p:cNvPicPr>
            <a:picLocks noChangeAspect="1"/>
          </p:cNvPicPr>
          <p:nvPr/>
        </p:nvPicPr>
        <p:blipFill>
          <a:blip r:embed="rId1"/>
          <a:stretch>
            <a:fillRect/>
          </a:stretch>
        </p:blipFill>
        <p:spPr>
          <a:xfrm>
            <a:off x="10908335" y="776783"/>
            <a:ext cx="357530" cy="357530"/>
          </a:xfrm>
          <a:prstGeom prst="rect">
            <a:avLst/>
          </a:prstGeom>
        </p:spPr>
      </p:pic>
      <p:sp>
        <p:nvSpPr>
          <p:cNvPr id="6" name="Text 3"/>
          <p:cNvSpPr/>
          <p:nvPr/>
        </p:nvSpPr>
        <p:spPr>
          <a:xfrm>
            <a:off x="640080" y="1298448"/>
            <a:ext cx="10927080" cy="292608"/>
          </a:xfrm>
          <a:prstGeom prst="rect">
            <a:avLst/>
          </a:prstGeom>
          <a:noFill/>
          <a:ln/>
        </p:spPr>
        <p:txBody>
          <a:bodyPr wrap="square" lIns="0" tIns="0" rIns="0" bIns="0" rtlCol="0" anchor="ctr"/>
          <a:lstStyle/>
          <a:p>
            <a:pPr indent="0" marL="0">
              <a:buNone/>
            </a:pPr>
            <a:r>
              <a:rPr lang="en-US" sz="1300" i="1" dirty="0">
                <a:solidFill>
                  <a:srgbClr val="5E7A80"/>
                </a:solidFill>
                <a:latin typeface="Calibri" pitchFamily="34" charset="0"/>
                <a:ea typeface="Calibri" pitchFamily="34" charset="-122"/>
                <a:cs typeface="Calibri" pitchFamily="34" charset="-120"/>
              </a:rPr>
              <a:t>How Taobao went from “taste vectors” to AI that reasons about what you want.</a:t>
            </a:r>
            <a:endParaRPr lang="en-US" sz="1300" dirty="0"/>
          </a:p>
        </p:txBody>
      </p:sp>
      <p:sp>
        <p:nvSpPr>
          <p:cNvPr id="7" name="Text 4"/>
          <p:cNvSpPr/>
          <p:nvPr/>
        </p:nvSpPr>
        <p:spPr>
          <a:xfrm>
            <a:off x="640080" y="1947672"/>
            <a:ext cx="4272077" cy="274320"/>
          </a:xfrm>
          <a:prstGeom prst="rect">
            <a:avLst/>
          </a:prstGeom>
          <a:noFill/>
          <a:ln/>
        </p:spPr>
        <p:txBody>
          <a:bodyPr wrap="square" lIns="0" tIns="0" rIns="0" bIns="0" rtlCol="0" anchor="ctr"/>
          <a:lstStyle/>
          <a:p>
            <a:pPr algn="ctr" indent="0" marL="0">
              <a:buNone/>
            </a:pPr>
            <a:r>
              <a:rPr lang="en-US" sz="1100" b="1" spc="100" kern="0" dirty="0">
                <a:solidFill>
                  <a:srgbClr val="5E7A80"/>
                </a:solidFill>
                <a:latin typeface="Calibri" pitchFamily="34" charset="0"/>
                <a:ea typeface="Calibri" pitchFamily="34" charset="-122"/>
                <a:cs typeface="Calibri" pitchFamily="34" charset="-120"/>
              </a:rPr>
              <a:t>PRE-GPT ERA</a:t>
            </a:r>
            <a:endParaRPr lang="en-US" sz="1100" dirty="0"/>
          </a:p>
        </p:txBody>
      </p:sp>
      <p:sp>
        <p:nvSpPr>
          <p:cNvPr id="8" name="Text 5"/>
          <p:cNvSpPr/>
          <p:nvPr/>
        </p:nvSpPr>
        <p:spPr>
          <a:xfrm>
            <a:off x="5076749" y="1947672"/>
            <a:ext cx="6490411" cy="274320"/>
          </a:xfrm>
          <a:prstGeom prst="rect">
            <a:avLst/>
          </a:prstGeom>
          <a:noFill/>
          <a:ln/>
        </p:spPr>
        <p:txBody>
          <a:bodyPr wrap="square" lIns="0" tIns="0" rIns="0" bIns="0" rtlCol="0" anchor="ctr"/>
          <a:lstStyle/>
          <a:p>
            <a:pPr algn="ctr" indent="0" marL="0">
              <a:buNone/>
            </a:pPr>
            <a:r>
              <a:rPr lang="en-US" sz="1100" b="1" spc="100" kern="0" dirty="0">
                <a:solidFill>
                  <a:srgbClr val="E23E57"/>
                </a:solidFill>
                <a:latin typeface="Calibri" pitchFamily="34" charset="0"/>
                <a:ea typeface="Calibri" pitchFamily="34" charset="-122"/>
                <a:cs typeface="Calibri" pitchFamily="34" charset="-120"/>
              </a:rPr>
              <a:t>GPT / LLM ERA</a:t>
            </a:r>
            <a:endParaRPr lang="en-US" sz="1100" dirty="0"/>
          </a:p>
        </p:txBody>
      </p:sp>
      <p:sp>
        <p:nvSpPr>
          <p:cNvPr id="9" name="Shape 6"/>
          <p:cNvSpPr/>
          <p:nvPr/>
        </p:nvSpPr>
        <p:spPr>
          <a:xfrm>
            <a:off x="4994453" y="1874520"/>
            <a:ext cx="0" cy="2606040"/>
          </a:xfrm>
          <a:prstGeom prst="line">
            <a:avLst/>
          </a:prstGeom>
          <a:noFill/>
          <a:ln w="15875">
            <a:solidFill>
              <a:srgbClr val="E23E57"/>
            </a:solidFill>
            <a:prstDash val="dash"/>
          </a:ln>
        </p:spPr>
      </p:sp>
      <p:sp>
        <p:nvSpPr>
          <p:cNvPr id="10" name="Shape 7"/>
          <p:cNvSpPr/>
          <p:nvPr/>
        </p:nvSpPr>
        <p:spPr>
          <a:xfrm>
            <a:off x="640080" y="2331720"/>
            <a:ext cx="2053742" cy="1965960"/>
          </a:xfrm>
          <a:prstGeom prst="roundRect">
            <a:avLst>
              <a:gd name="adj" fmla="val 5581"/>
            </a:avLst>
          </a:prstGeom>
          <a:solidFill>
            <a:srgbClr val="EAF7F5"/>
          </a:solidFill>
          <a:ln/>
          <a:effectLst>
            <a:outerShdw sx="100000" sy="100000" kx="0" ky="0" algn="bl" rotWithShape="0" blurRad="127000" dist="50800" dir="5400000">
              <a:srgbClr val="8A93A6">
                <a:alpha val="13000"/>
              </a:srgbClr>
            </a:outerShdw>
          </a:effectLst>
        </p:spPr>
      </p:sp>
      <p:sp>
        <p:nvSpPr>
          <p:cNvPr id="11" name="Shape 8"/>
          <p:cNvSpPr/>
          <p:nvPr/>
        </p:nvSpPr>
        <p:spPr>
          <a:xfrm>
            <a:off x="804672" y="2496312"/>
            <a:ext cx="1724558" cy="365760"/>
          </a:xfrm>
          <a:prstGeom prst="roundRect">
            <a:avLst>
              <a:gd name="adj" fmla="val 50000"/>
            </a:avLst>
          </a:prstGeom>
          <a:solidFill>
            <a:srgbClr val="028090"/>
          </a:solidFill>
          <a:ln/>
        </p:spPr>
      </p:sp>
      <p:sp>
        <p:nvSpPr>
          <p:cNvPr id="12" name="Text 9"/>
          <p:cNvSpPr/>
          <p:nvPr/>
        </p:nvSpPr>
        <p:spPr>
          <a:xfrm>
            <a:off x="804672"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2018</a:t>
            </a:r>
            <a:endParaRPr lang="en-US" sz="1200" dirty="0"/>
          </a:p>
        </p:txBody>
      </p:sp>
      <p:sp>
        <p:nvSpPr>
          <p:cNvPr id="13" name="Text 10"/>
          <p:cNvSpPr/>
          <p:nvPr/>
        </p:nvSpPr>
        <p:spPr>
          <a:xfrm>
            <a:off x="777240" y="2971800"/>
            <a:ext cx="1779422" cy="566928"/>
          </a:xfrm>
          <a:prstGeom prst="rect">
            <a:avLst/>
          </a:prstGeom>
          <a:noFill/>
          <a:ln/>
        </p:spPr>
        <p:txBody>
          <a:bodyPr wrap="square" lIns="0" tIns="0" rIns="0" bIns="0" rtlCol="0" anchor="ctr"/>
          <a:lstStyle/>
          <a:p>
            <a:pPr algn="ctr" indent="0" marL="0">
              <a:buNone/>
            </a:pPr>
            <a:r>
              <a:rPr lang="en-US" sz="1200" b="1" dirty="0">
                <a:solidFill>
                  <a:srgbClr val="153A40"/>
                </a:solidFill>
                <a:latin typeface="Cambria" pitchFamily="34" charset="0"/>
                <a:ea typeface="Cambria" pitchFamily="34" charset="-122"/>
                <a:cs typeface="Cambria" pitchFamily="34" charset="-120"/>
              </a:rPr>
              <a:t>EGES graph embeddings</a:t>
            </a:r>
            <a:endParaRPr lang="en-US" sz="1200" dirty="0"/>
          </a:p>
        </p:txBody>
      </p:sp>
      <p:sp>
        <p:nvSpPr>
          <p:cNvPr id="14" name="Text 11"/>
          <p:cNvSpPr/>
          <p:nvPr/>
        </p:nvSpPr>
        <p:spPr>
          <a:xfrm>
            <a:off x="786384" y="3520440"/>
            <a:ext cx="1761134" cy="749808"/>
          </a:xfrm>
          <a:prstGeom prst="rect">
            <a:avLst/>
          </a:prstGeom>
          <a:noFill/>
          <a:ln/>
        </p:spPr>
        <p:txBody>
          <a:bodyPr wrap="square" lIns="0" tIns="0" rIns="0" bIns="0" rtlCol="0" anchor="ctr"/>
          <a:lstStyle/>
          <a:p>
            <a:pPr algn="ctr" indent="0" marL="0">
              <a:buNone/>
            </a:pPr>
            <a:r>
              <a:rPr lang="en-US" sz="960" dirty="0">
                <a:solidFill>
                  <a:srgbClr val="5E7A80"/>
                </a:solidFill>
                <a:latin typeface="Calibri" pitchFamily="34" charset="0"/>
                <a:ea typeface="Calibri" pitchFamily="34" charset="-122"/>
                <a:cs typeface="Calibri" pitchFamily="34" charset="-120"/>
              </a:rPr>
              <a:t>Turns browsing into “taste” vectors for the feed.</a:t>
            </a:r>
            <a:endParaRPr lang="en-US" sz="960" dirty="0"/>
          </a:p>
        </p:txBody>
      </p:sp>
      <p:sp>
        <p:nvSpPr>
          <p:cNvPr id="15" name="Shape 12"/>
          <p:cNvSpPr/>
          <p:nvPr/>
        </p:nvSpPr>
        <p:spPr>
          <a:xfrm>
            <a:off x="2858414" y="2331720"/>
            <a:ext cx="2053742" cy="1965960"/>
          </a:xfrm>
          <a:prstGeom prst="roundRect">
            <a:avLst>
              <a:gd name="adj" fmla="val 5581"/>
            </a:avLst>
          </a:prstGeom>
          <a:solidFill>
            <a:srgbClr val="EAF7F5"/>
          </a:solidFill>
          <a:ln/>
          <a:effectLst>
            <a:outerShdw sx="100000" sy="100000" kx="0" ky="0" algn="bl" rotWithShape="0" blurRad="127000" dist="50800" dir="5400000">
              <a:srgbClr val="8A93A6">
                <a:alpha val="13000"/>
              </a:srgbClr>
            </a:outerShdw>
          </a:effectLst>
        </p:spPr>
      </p:sp>
      <p:sp>
        <p:nvSpPr>
          <p:cNvPr id="16" name="Shape 13"/>
          <p:cNvSpPr/>
          <p:nvPr/>
        </p:nvSpPr>
        <p:spPr>
          <a:xfrm>
            <a:off x="3023006" y="2496312"/>
            <a:ext cx="1724558" cy="365760"/>
          </a:xfrm>
          <a:prstGeom prst="roundRect">
            <a:avLst>
              <a:gd name="adj" fmla="val 50000"/>
            </a:avLst>
          </a:prstGeom>
          <a:solidFill>
            <a:srgbClr val="028090"/>
          </a:solidFill>
          <a:ln/>
        </p:spPr>
      </p:sp>
      <p:sp>
        <p:nvSpPr>
          <p:cNvPr id="17" name="Text 14"/>
          <p:cNvSpPr/>
          <p:nvPr/>
        </p:nvSpPr>
        <p:spPr>
          <a:xfrm>
            <a:off x="3023006"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2018</a:t>
            </a:r>
            <a:endParaRPr lang="en-US" sz="1200" dirty="0"/>
          </a:p>
        </p:txBody>
      </p:sp>
      <p:sp>
        <p:nvSpPr>
          <p:cNvPr id="18" name="Text 15"/>
          <p:cNvSpPr/>
          <p:nvPr/>
        </p:nvSpPr>
        <p:spPr>
          <a:xfrm>
            <a:off x="2995574" y="2971800"/>
            <a:ext cx="1779422" cy="566928"/>
          </a:xfrm>
          <a:prstGeom prst="rect">
            <a:avLst/>
          </a:prstGeom>
          <a:noFill/>
          <a:ln/>
        </p:spPr>
        <p:txBody>
          <a:bodyPr wrap="square" lIns="0" tIns="0" rIns="0" bIns="0" rtlCol="0" anchor="ctr"/>
          <a:lstStyle/>
          <a:p>
            <a:pPr algn="ctr" indent="0" marL="0">
              <a:buNone/>
            </a:pPr>
            <a:r>
              <a:rPr lang="en-US" sz="1200" b="1" dirty="0">
                <a:solidFill>
                  <a:srgbClr val="153A40"/>
                </a:solidFill>
                <a:latin typeface="Cambria" pitchFamily="34" charset="0"/>
                <a:ea typeface="Cambria" pitchFamily="34" charset="-122"/>
                <a:cs typeface="Cambria" pitchFamily="34" charset="-120"/>
              </a:rPr>
              <a:t>Deep Interest Network</a:t>
            </a:r>
            <a:endParaRPr lang="en-US" sz="1200" dirty="0"/>
          </a:p>
        </p:txBody>
      </p:sp>
      <p:sp>
        <p:nvSpPr>
          <p:cNvPr id="19" name="Text 16"/>
          <p:cNvSpPr/>
          <p:nvPr/>
        </p:nvSpPr>
        <p:spPr>
          <a:xfrm>
            <a:off x="3004718" y="3520440"/>
            <a:ext cx="1761134" cy="749808"/>
          </a:xfrm>
          <a:prstGeom prst="rect">
            <a:avLst/>
          </a:prstGeom>
          <a:noFill/>
          <a:ln/>
        </p:spPr>
        <p:txBody>
          <a:bodyPr wrap="square" lIns="0" tIns="0" rIns="0" bIns="0" rtlCol="0" anchor="ctr"/>
          <a:lstStyle/>
          <a:p>
            <a:pPr algn="ctr" indent="0" marL="0">
              <a:buNone/>
            </a:pPr>
            <a:r>
              <a:rPr lang="en-US" sz="960" dirty="0">
                <a:solidFill>
                  <a:srgbClr val="5E7A80"/>
                </a:solidFill>
                <a:latin typeface="Calibri" pitchFamily="34" charset="0"/>
                <a:ea typeface="Calibri" pitchFamily="34" charset="-122"/>
                <a:cs typeface="Calibri" pitchFamily="34" charset="-120"/>
              </a:rPr>
              <a:t>Learns what you're interested in right now.</a:t>
            </a:r>
            <a:endParaRPr lang="en-US" sz="960" dirty="0"/>
          </a:p>
        </p:txBody>
      </p:sp>
      <p:sp>
        <p:nvSpPr>
          <p:cNvPr id="20" name="Shape 17"/>
          <p:cNvSpPr/>
          <p:nvPr/>
        </p:nvSpPr>
        <p:spPr>
          <a:xfrm>
            <a:off x="5076749" y="2331720"/>
            <a:ext cx="2053742" cy="1965960"/>
          </a:xfrm>
          <a:prstGeom prst="roundRect">
            <a:avLst>
              <a:gd name="adj" fmla="val 5581"/>
            </a:avLst>
          </a:prstGeom>
          <a:solidFill>
            <a:srgbClr val="FDEBEE"/>
          </a:solidFill>
          <a:ln/>
          <a:effectLst>
            <a:outerShdw sx="100000" sy="100000" kx="0" ky="0" algn="bl" rotWithShape="0" blurRad="127000" dist="50800" dir="5400000">
              <a:srgbClr val="8A93A6">
                <a:alpha val="13000"/>
              </a:srgbClr>
            </a:outerShdw>
          </a:effectLst>
        </p:spPr>
      </p:sp>
      <p:sp>
        <p:nvSpPr>
          <p:cNvPr id="21" name="Shape 18"/>
          <p:cNvSpPr/>
          <p:nvPr/>
        </p:nvSpPr>
        <p:spPr>
          <a:xfrm>
            <a:off x="5241341" y="2496312"/>
            <a:ext cx="1724558" cy="365760"/>
          </a:xfrm>
          <a:prstGeom prst="roundRect">
            <a:avLst>
              <a:gd name="adj" fmla="val 50000"/>
            </a:avLst>
          </a:prstGeom>
          <a:solidFill>
            <a:srgbClr val="E23E57"/>
          </a:solidFill>
          <a:ln/>
        </p:spPr>
      </p:sp>
      <p:sp>
        <p:nvSpPr>
          <p:cNvPr id="22" name="Text 19"/>
          <p:cNvSpPr/>
          <p:nvPr/>
        </p:nvSpPr>
        <p:spPr>
          <a:xfrm>
            <a:off x="5241341"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2025</a:t>
            </a:r>
            <a:endParaRPr lang="en-US" sz="1200" dirty="0"/>
          </a:p>
        </p:txBody>
      </p:sp>
      <p:sp>
        <p:nvSpPr>
          <p:cNvPr id="23" name="Text 20"/>
          <p:cNvSpPr/>
          <p:nvPr/>
        </p:nvSpPr>
        <p:spPr>
          <a:xfrm>
            <a:off x="5213909" y="2971800"/>
            <a:ext cx="1779422" cy="566928"/>
          </a:xfrm>
          <a:prstGeom prst="rect">
            <a:avLst/>
          </a:prstGeom>
          <a:noFill/>
          <a:ln/>
        </p:spPr>
        <p:txBody>
          <a:bodyPr wrap="square" lIns="0" tIns="0" rIns="0" bIns="0" rtlCol="0" anchor="ctr"/>
          <a:lstStyle/>
          <a:p>
            <a:pPr algn="ctr" indent="0" marL="0">
              <a:buNone/>
            </a:pPr>
            <a:r>
              <a:rPr lang="en-US" sz="1200" b="1" dirty="0">
                <a:solidFill>
                  <a:srgbClr val="153A40"/>
                </a:solidFill>
                <a:latin typeface="Cambria" pitchFamily="34" charset="0"/>
                <a:ea typeface="Cambria" pitchFamily="34" charset="-122"/>
                <a:cs typeface="Cambria" pitchFamily="34" charset="-120"/>
              </a:rPr>
              <a:t>LUM — Large User Model</a:t>
            </a:r>
            <a:endParaRPr lang="en-US" sz="1200" dirty="0"/>
          </a:p>
        </p:txBody>
      </p:sp>
      <p:sp>
        <p:nvSpPr>
          <p:cNvPr id="24" name="Text 21"/>
          <p:cNvSpPr/>
          <p:nvPr/>
        </p:nvSpPr>
        <p:spPr>
          <a:xfrm>
            <a:off x="5223053" y="3520440"/>
            <a:ext cx="1761134" cy="749808"/>
          </a:xfrm>
          <a:prstGeom prst="rect">
            <a:avLst/>
          </a:prstGeom>
          <a:noFill/>
          <a:ln/>
        </p:spPr>
        <p:txBody>
          <a:bodyPr wrap="square" lIns="0" tIns="0" rIns="0" bIns="0" rtlCol="0" anchor="ctr"/>
          <a:lstStyle/>
          <a:p>
            <a:pPr algn="ctr" indent="0" marL="0">
              <a:buNone/>
            </a:pPr>
            <a:r>
              <a:rPr lang="en-US" sz="960" dirty="0">
                <a:solidFill>
                  <a:srgbClr val="5E7A80"/>
                </a:solidFill>
                <a:latin typeface="Calibri" pitchFamily="34" charset="0"/>
                <a:ea typeface="Calibri" pitchFamily="34" charset="-122"/>
                <a:cs typeface="Calibri" pitchFamily="34" charset="-120"/>
              </a:rPr>
              <a:t>A giant “user model” that scales like an LLM.</a:t>
            </a:r>
            <a:endParaRPr lang="en-US" sz="960" dirty="0"/>
          </a:p>
        </p:txBody>
      </p:sp>
      <p:sp>
        <p:nvSpPr>
          <p:cNvPr id="25" name="Shape 22"/>
          <p:cNvSpPr/>
          <p:nvPr/>
        </p:nvSpPr>
        <p:spPr>
          <a:xfrm>
            <a:off x="7295083" y="2331720"/>
            <a:ext cx="2053742" cy="1965960"/>
          </a:xfrm>
          <a:prstGeom prst="roundRect">
            <a:avLst>
              <a:gd name="adj" fmla="val 5581"/>
            </a:avLst>
          </a:prstGeom>
          <a:solidFill>
            <a:srgbClr val="FDEBEE"/>
          </a:solidFill>
          <a:ln/>
          <a:effectLst>
            <a:outerShdw sx="100000" sy="100000" kx="0" ky="0" algn="bl" rotWithShape="0" blurRad="127000" dist="50800" dir="5400000">
              <a:srgbClr val="8A93A6">
                <a:alpha val="13000"/>
              </a:srgbClr>
            </a:outerShdw>
          </a:effectLst>
        </p:spPr>
      </p:sp>
      <p:sp>
        <p:nvSpPr>
          <p:cNvPr id="26" name="Shape 23"/>
          <p:cNvSpPr/>
          <p:nvPr/>
        </p:nvSpPr>
        <p:spPr>
          <a:xfrm>
            <a:off x="7459675" y="2496312"/>
            <a:ext cx="1724558" cy="365760"/>
          </a:xfrm>
          <a:prstGeom prst="roundRect">
            <a:avLst>
              <a:gd name="adj" fmla="val 50000"/>
            </a:avLst>
          </a:prstGeom>
          <a:solidFill>
            <a:srgbClr val="E23E57"/>
          </a:solidFill>
          <a:ln/>
        </p:spPr>
      </p:sp>
      <p:sp>
        <p:nvSpPr>
          <p:cNvPr id="27" name="Text 24"/>
          <p:cNvSpPr/>
          <p:nvPr/>
        </p:nvSpPr>
        <p:spPr>
          <a:xfrm>
            <a:off x="7459675"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2025</a:t>
            </a:r>
            <a:endParaRPr lang="en-US" sz="1200" dirty="0"/>
          </a:p>
        </p:txBody>
      </p:sp>
      <p:sp>
        <p:nvSpPr>
          <p:cNvPr id="28" name="Text 25"/>
          <p:cNvSpPr/>
          <p:nvPr/>
        </p:nvSpPr>
        <p:spPr>
          <a:xfrm>
            <a:off x="7432243" y="2971800"/>
            <a:ext cx="1779422" cy="566928"/>
          </a:xfrm>
          <a:prstGeom prst="rect">
            <a:avLst/>
          </a:prstGeom>
          <a:noFill/>
          <a:ln/>
        </p:spPr>
        <p:txBody>
          <a:bodyPr wrap="square" lIns="0" tIns="0" rIns="0" bIns="0" rtlCol="0" anchor="ctr"/>
          <a:lstStyle/>
          <a:p>
            <a:pPr algn="ctr" indent="0" marL="0">
              <a:buNone/>
            </a:pPr>
            <a:r>
              <a:rPr lang="en-US" sz="1200" b="1" dirty="0">
                <a:solidFill>
                  <a:srgbClr val="153A40"/>
                </a:solidFill>
                <a:latin typeface="Cambria" pitchFamily="34" charset="0"/>
                <a:ea typeface="Cambria" pitchFamily="34" charset="-122"/>
                <a:cs typeface="Cambria" pitchFamily="34" charset="-120"/>
              </a:rPr>
              <a:t>URM universal retriever</a:t>
            </a:r>
            <a:endParaRPr lang="en-US" sz="1200" dirty="0"/>
          </a:p>
        </p:txBody>
      </p:sp>
      <p:sp>
        <p:nvSpPr>
          <p:cNvPr id="29" name="Text 26"/>
          <p:cNvSpPr/>
          <p:nvPr/>
        </p:nvSpPr>
        <p:spPr>
          <a:xfrm>
            <a:off x="7441387" y="3520440"/>
            <a:ext cx="1761134" cy="749808"/>
          </a:xfrm>
          <a:prstGeom prst="rect">
            <a:avLst/>
          </a:prstGeom>
          <a:noFill/>
          <a:ln/>
        </p:spPr>
        <p:txBody>
          <a:bodyPr wrap="square" lIns="0" tIns="0" rIns="0" bIns="0" rtlCol="0" anchor="ctr"/>
          <a:lstStyle/>
          <a:p>
            <a:pPr algn="ctr" indent="0" marL="0">
              <a:buNone/>
            </a:pPr>
            <a:r>
              <a:rPr lang="en-US" sz="960" dirty="0">
                <a:solidFill>
                  <a:srgbClr val="5E7A80"/>
                </a:solidFill>
                <a:latin typeface="Calibri" pitchFamily="34" charset="0"/>
                <a:ea typeface="Calibri" pitchFamily="34" charset="-122"/>
                <a:cs typeface="Calibri" pitchFamily="34" charset="-120"/>
              </a:rPr>
              <a:t>One AI model that fetches items for any goal.</a:t>
            </a:r>
            <a:endParaRPr lang="en-US" sz="960" dirty="0"/>
          </a:p>
        </p:txBody>
      </p:sp>
      <p:sp>
        <p:nvSpPr>
          <p:cNvPr id="30" name="Shape 27"/>
          <p:cNvSpPr/>
          <p:nvPr/>
        </p:nvSpPr>
        <p:spPr>
          <a:xfrm>
            <a:off x="9513418" y="2331720"/>
            <a:ext cx="2053742" cy="1965960"/>
          </a:xfrm>
          <a:prstGeom prst="roundRect">
            <a:avLst>
              <a:gd name="adj" fmla="val 5581"/>
            </a:avLst>
          </a:prstGeom>
          <a:solidFill>
            <a:srgbClr val="FDEBEE"/>
          </a:solidFill>
          <a:ln/>
          <a:effectLst>
            <a:outerShdw sx="100000" sy="100000" kx="0" ky="0" algn="bl" rotWithShape="0" blurRad="127000" dist="50800" dir="5400000">
              <a:srgbClr val="8A93A6">
                <a:alpha val="13000"/>
              </a:srgbClr>
            </a:outerShdw>
          </a:effectLst>
        </p:spPr>
      </p:sp>
      <p:sp>
        <p:nvSpPr>
          <p:cNvPr id="31" name="Shape 28"/>
          <p:cNvSpPr/>
          <p:nvPr/>
        </p:nvSpPr>
        <p:spPr>
          <a:xfrm>
            <a:off x="9678010" y="2496312"/>
            <a:ext cx="1724558" cy="365760"/>
          </a:xfrm>
          <a:prstGeom prst="roundRect">
            <a:avLst>
              <a:gd name="adj" fmla="val 50000"/>
            </a:avLst>
          </a:prstGeom>
          <a:solidFill>
            <a:srgbClr val="E23E57"/>
          </a:solidFill>
          <a:ln/>
        </p:spPr>
      </p:sp>
      <p:sp>
        <p:nvSpPr>
          <p:cNvPr id="32" name="Text 29"/>
          <p:cNvSpPr/>
          <p:nvPr/>
        </p:nvSpPr>
        <p:spPr>
          <a:xfrm>
            <a:off x="9678010"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2025</a:t>
            </a:r>
            <a:endParaRPr lang="en-US" sz="1200" dirty="0"/>
          </a:p>
        </p:txBody>
      </p:sp>
      <p:sp>
        <p:nvSpPr>
          <p:cNvPr id="33" name="Text 30"/>
          <p:cNvSpPr/>
          <p:nvPr/>
        </p:nvSpPr>
        <p:spPr>
          <a:xfrm>
            <a:off x="9650578" y="2971800"/>
            <a:ext cx="1779422" cy="566928"/>
          </a:xfrm>
          <a:prstGeom prst="rect">
            <a:avLst/>
          </a:prstGeom>
          <a:noFill/>
          <a:ln/>
        </p:spPr>
        <p:txBody>
          <a:bodyPr wrap="square" lIns="0" tIns="0" rIns="0" bIns="0" rtlCol="0" anchor="ctr"/>
          <a:lstStyle/>
          <a:p>
            <a:pPr algn="ctr" indent="0" marL="0">
              <a:buNone/>
            </a:pPr>
            <a:r>
              <a:rPr lang="en-US" sz="1200" b="1" dirty="0">
                <a:solidFill>
                  <a:srgbClr val="153A40"/>
                </a:solidFill>
                <a:latin typeface="Cambria" pitchFamily="34" charset="0"/>
                <a:ea typeface="Cambria" pitchFamily="34" charset="-122"/>
                <a:cs typeface="Cambria" pitchFamily="34" charset="-120"/>
              </a:rPr>
              <a:t>RecGPT</a:t>
            </a:r>
            <a:endParaRPr lang="en-US" sz="1200" dirty="0"/>
          </a:p>
        </p:txBody>
      </p:sp>
      <p:sp>
        <p:nvSpPr>
          <p:cNvPr id="34" name="Text 31"/>
          <p:cNvSpPr/>
          <p:nvPr/>
        </p:nvSpPr>
        <p:spPr>
          <a:xfrm>
            <a:off x="9659722" y="3520440"/>
            <a:ext cx="1761134" cy="749808"/>
          </a:xfrm>
          <a:prstGeom prst="rect">
            <a:avLst/>
          </a:prstGeom>
          <a:noFill/>
          <a:ln/>
        </p:spPr>
        <p:txBody>
          <a:bodyPr wrap="square" lIns="0" tIns="0" rIns="0" bIns="0" rtlCol="0" anchor="ctr"/>
          <a:lstStyle/>
          <a:p>
            <a:pPr algn="ctr" indent="0" marL="0">
              <a:buNone/>
            </a:pPr>
            <a:r>
              <a:rPr lang="en-US" sz="960" dirty="0">
                <a:solidFill>
                  <a:srgbClr val="5E7A80"/>
                </a:solidFill>
                <a:latin typeface="Calibri" pitchFamily="34" charset="0"/>
                <a:ea typeface="Calibri" pitchFamily="34" charset="-122"/>
                <a:cs typeface="Calibri" pitchFamily="34" charset="-120"/>
              </a:rPr>
              <a:t>An assistant that reasons about what you want.</a:t>
            </a:r>
            <a:endParaRPr lang="en-US" sz="960" dirty="0"/>
          </a:p>
        </p:txBody>
      </p:sp>
      <p:sp>
        <p:nvSpPr>
          <p:cNvPr id="35" name="Text 32"/>
          <p:cNvSpPr/>
          <p:nvPr/>
        </p:nvSpPr>
        <p:spPr>
          <a:xfrm>
            <a:off x="640080" y="4599432"/>
            <a:ext cx="2103120" cy="822960"/>
          </a:xfrm>
          <a:prstGeom prst="rect">
            <a:avLst/>
          </a:prstGeom>
          <a:noFill/>
          <a:ln/>
        </p:spPr>
        <p:txBody>
          <a:bodyPr wrap="square" lIns="0" tIns="0" rIns="0" bIns="0" rtlCol="0" anchor="ctr"/>
          <a:lstStyle/>
          <a:p>
            <a:pPr indent="0" marL="0">
              <a:buNone/>
            </a:pPr>
            <a:r>
              <a:rPr lang="en-US" sz="1300" b="1" dirty="0">
                <a:solidFill>
                  <a:srgbClr val="E23E57"/>
                </a:solidFill>
                <a:latin typeface="Cambria" pitchFamily="34" charset="0"/>
                <a:ea typeface="Cambria" pitchFamily="34" charset="-122"/>
                <a:cs typeface="Cambria" pitchFamily="34" charset="-120"/>
              </a:rPr>
              <a:t>GPT-era impact</a:t>
            </a:r>
            <a:endParaRPr lang="en-US" sz="1300" dirty="0"/>
          </a:p>
        </p:txBody>
      </p:sp>
      <p:sp>
        <p:nvSpPr>
          <p:cNvPr id="36" name="Shape 33"/>
          <p:cNvSpPr/>
          <p:nvPr/>
        </p:nvSpPr>
        <p:spPr>
          <a:xfrm>
            <a:off x="2743200" y="4617720"/>
            <a:ext cx="4320540" cy="822960"/>
          </a:xfrm>
          <a:prstGeom prst="roundRect">
            <a:avLst>
              <a:gd name="adj" fmla="val 11111"/>
            </a:avLst>
          </a:prstGeom>
          <a:solidFill>
            <a:srgbClr val="FFFFFF"/>
          </a:solidFill>
          <a:ln/>
          <a:effectLst>
            <a:outerShdw sx="100000" sy="100000" kx="0" ky="0" algn="bl" rotWithShape="0" blurRad="127000" dist="50800" dir="5400000">
              <a:srgbClr val="8A93A6">
                <a:alpha val="13000"/>
              </a:srgbClr>
            </a:outerShdw>
          </a:effectLst>
        </p:spPr>
      </p:sp>
      <p:sp>
        <p:nvSpPr>
          <p:cNvPr id="37" name="Shape 34"/>
          <p:cNvSpPr/>
          <p:nvPr/>
        </p:nvSpPr>
        <p:spPr>
          <a:xfrm>
            <a:off x="2743200" y="4617720"/>
            <a:ext cx="4320540" cy="822960"/>
          </a:xfrm>
          <a:prstGeom prst="roundRect">
            <a:avLst>
              <a:gd name="adj" fmla="val 11111"/>
            </a:avLst>
          </a:prstGeom>
          <a:solidFill>
            <a:srgbClr val="FFFFFF">
              <a:alpha val="0"/>
            </a:srgbClr>
          </a:solidFill>
          <a:ln w="12700">
            <a:solidFill>
              <a:srgbClr val="CDE8E3"/>
            </a:solidFill>
            <a:prstDash val="solid"/>
          </a:ln>
        </p:spPr>
      </p:sp>
      <p:sp>
        <p:nvSpPr>
          <p:cNvPr id="38" name="Text 35"/>
          <p:cNvSpPr/>
          <p:nvPr/>
        </p:nvSpPr>
        <p:spPr>
          <a:xfrm>
            <a:off x="2852928" y="4709160"/>
            <a:ext cx="4101084" cy="365760"/>
          </a:xfrm>
          <a:prstGeom prst="rect">
            <a:avLst/>
          </a:prstGeom>
          <a:noFill/>
          <a:ln/>
        </p:spPr>
        <p:txBody>
          <a:bodyPr wrap="square" lIns="0" tIns="0" rIns="0" bIns="0" rtlCol="0" anchor="ctr"/>
          <a:lstStyle/>
          <a:p>
            <a:pPr algn="ctr" indent="0" marL="0">
              <a:buNone/>
            </a:pPr>
            <a:r>
              <a:rPr lang="en-US" sz="1600" b="1" dirty="0">
                <a:solidFill>
                  <a:srgbClr val="E23E57"/>
                </a:solidFill>
                <a:latin typeface="Cambria" pitchFamily="34" charset="0"/>
                <a:ea typeface="Cambria" pitchFamily="34" charset="-122"/>
                <a:cs typeface="Cambria" pitchFamily="34" charset="-120"/>
              </a:rPr>
              <a:t>+2.9%</a:t>
            </a:r>
            <a:endParaRPr lang="en-US" sz="1600" dirty="0"/>
          </a:p>
        </p:txBody>
      </p:sp>
      <p:sp>
        <p:nvSpPr>
          <p:cNvPr id="39" name="Text 36"/>
          <p:cNvSpPr/>
          <p:nvPr/>
        </p:nvSpPr>
        <p:spPr>
          <a:xfrm>
            <a:off x="2852928" y="5074920"/>
            <a:ext cx="4101084" cy="329184"/>
          </a:xfrm>
          <a:prstGeom prst="rect">
            <a:avLst/>
          </a:prstGeom>
          <a:noFill/>
          <a:ln/>
        </p:spPr>
        <p:txBody>
          <a:bodyPr wrap="square" lIns="0" tIns="0" rIns="0" bIns="0" rtlCol="0" anchor="ctr"/>
          <a:lstStyle/>
          <a:p>
            <a:pPr algn="ctr" indent="0" marL="0">
              <a:buNone/>
            </a:pPr>
            <a:r>
              <a:rPr lang="en-US" sz="880" dirty="0">
                <a:solidFill>
                  <a:srgbClr val="5E7A80"/>
                </a:solidFill>
                <a:latin typeface="Calibri" pitchFamily="34" charset="0"/>
                <a:ea typeface="Calibri" pitchFamily="34" charset="-122"/>
                <a:cs typeface="Calibri" pitchFamily="34" charset="-120"/>
              </a:rPr>
              <a:t>more clicks in Taobao search test (2025)</a:t>
            </a:r>
            <a:endParaRPr lang="en-US" sz="880" dirty="0"/>
          </a:p>
        </p:txBody>
      </p:sp>
      <p:sp>
        <p:nvSpPr>
          <p:cNvPr id="40" name="Shape 37"/>
          <p:cNvSpPr/>
          <p:nvPr/>
        </p:nvSpPr>
        <p:spPr>
          <a:xfrm>
            <a:off x="7246620" y="4617720"/>
            <a:ext cx="4320540" cy="822960"/>
          </a:xfrm>
          <a:prstGeom prst="roundRect">
            <a:avLst>
              <a:gd name="adj" fmla="val 11111"/>
            </a:avLst>
          </a:prstGeom>
          <a:solidFill>
            <a:srgbClr val="FFFFFF"/>
          </a:solidFill>
          <a:ln/>
          <a:effectLst>
            <a:outerShdw sx="100000" sy="100000" kx="0" ky="0" algn="bl" rotWithShape="0" blurRad="127000" dist="50800" dir="5400000">
              <a:srgbClr val="8A93A6">
                <a:alpha val="13000"/>
              </a:srgbClr>
            </a:outerShdw>
          </a:effectLst>
        </p:spPr>
      </p:sp>
      <p:sp>
        <p:nvSpPr>
          <p:cNvPr id="41" name="Shape 38"/>
          <p:cNvSpPr/>
          <p:nvPr/>
        </p:nvSpPr>
        <p:spPr>
          <a:xfrm>
            <a:off x="7246620" y="4617720"/>
            <a:ext cx="4320540" cy="822960"/>
          </a:xfrm>
          <a:prstGeom prst="roundRect">
            <a:avLst>
              <a:gd name="adj" fmla="val 11111"/>
            </a:avLst>
          </a:prstGeom>
          <a:solidFill>
            <a:srgbClr val="FFFFFF">
              <a:alpha val="0"/>
            </a:srgbClr>
          </a:solidFill>
          <a:ln w="12700">
            <a:solidFill>
              <a:srgbClr val="CDE8E3"/>
            </a:solidFill>
            <a:prstDash val="solid"/>
          </a:ln>
        </p:spPr>
      </p:sp>
      <p:sp>
        <p:nvSpPr>
          <p:cNvPr id="42" name="Text 39"/>
          <p:cNvSpPr/>
          <p:nvPr/>
        </p:nvSpPr>
        <p:spPr>
          <a:xfrm>
            <a:off x="7356348" y="4709160"/>
            <a:ext cx="4101084" cy="365760"/>
          </a:xfrm>
          <a:prstGeom prst="rect">
            <a:avLst/>
          </a:prstGeom>
          <a:noFill/>
          <a:ln/>
        </p:spPr>
        <p:txBody>
          <a:bodyPr wrap="square" lIns="0" tIns="0" rIns="0" bIns="0" rtlCol="0" anchor="ctr"/>
          <a:lstStyle/>
          <a:p>
            <a:pPr algn="ctr" indent="0" marL="0">
              <a:buNone/>
            </a:pPr>
            <a:r>
              <a:rPr lang="en-US" sz="1600" b="1" dirty="0">
                <a:solidFill>
                  <a:srgbClr val="E23E57"/>
                </a:solidFill>
                <a:latin typeface="Cambria" pitchFamily="34" charset="0"/>
                <a:ea typeface="Cambria" pitchFamily="34" charset="-122"/>
                <a:cs typeface="Cambria" pitchFamily="34" charset="-120"/>
              </a:rPr>
              <a:t>18.8% → 46.2%</a:t>
            </a:r>
            <a:endParaRPr lang="en-US" sz="1600" dirty="0"/>
          </a:p>
        </p:txBody>
      </p:sp>
      <p:sp>
        <p:nvSpPr>
          <p:cNvPr id="43" name="Text 40"/>
          <p:cNvSpPr/>
          <p:nvPr/>
        </p:nvSpPr>
        <p:spPr>
          <a:xfrm>
            <a:off x="7356348" y="5074920"/>
            <a:ext cx="4101084" cy="329184"/>
          </a:xfrm>
          <a:prstGeom prst="rect">
            <a:avLst/>
          </a:prstGeom>
          <a:noFill/>
          <a:ln/>
        </p:spPr>
        <p:txBody>
          <a:bodyPr wrap="square" lIns="0" tIns="0" rIns="0" bIns="0" rtlCol="0" anchor="ctr"/>
          <a:lstStyle/>
          <a:p>
            <a:pPr algn="ctr" indent="0" marL="0">
              <a:buNone/>
            </a:pPr>
            <a:r>
              <a:rPr lang="en-US" sz="880" dirty="0">
                <a:solidFill>
                  <a:srgbClr val="5E7A80"/>
                </a:solidFill>
                <a:latin typeface="Calibri" pitchFamily="34" charset="0"/>
                <a:ea typeface="Calibri" pitchFamily="34" charset="-122"/>
                <a:cs typeface="Calibri" pitchFamily="34" charset="-120"/>
              </a:rPr>
              <a:t>more new-category discovery (2025)</a:t>
            </a:r>
            <a:endParaRPr lang="en-US" sz="880" dirty="0"/>
          </a:p>
        </p:txBody>
      </p:sp>
      <p:sp>
        <p:nvSpPr>
          <p:cNvPr id="44" name="Text 41"/>
          <p:cNvSpPr/>
          <p:nvPr/>
        </p:nvSpPr>
        <p:spPr>
          <a:xfrm>
            <a:off x="640080" y="6437376"/>
            <a:ext cx="10927080" cy="274320"/>
          </a:xfrm>
          <a:prstGeom prst="rect">
            <a:avLst/>
          </a:prstGeom>
          <a:noFill/>
          <a:ln/>
        </p:spPr>
        <p:txBody>
          <a:bodyPr wrap="square" lIns="0" tIns="0" rIns="0" bIns="0" rtlCol="0" anchor="ctr"/>
          <a:lstStyle/>
          <a:p>
            <a:pPr indent="0" marL="0">
              <a:buNone/>
            </a:pPr>
            <a:r>
              <a:rPr lang="en-US" sz="850" i="1" dirty="0">
                <a:solidFill>
                  <a:srgbClr val="5E7A80"/>
                </a:solidFill>
                <a:latin typeface="Calibri" pitchFamily="34" charset="0"/>
                <a:ea typeface="Calibri" pitchFamily="34" charset="-122"/>
                <a:cs typeface="Calibri" pitchFamily="34" charset="-120"/>
              </a:rPr>
              <a:t>Sources: Wang et al., KDD 2018 (EGES); Zhou et al., KDD 2018 (DIN); Yan et al., 2025 (LUM); Jiang et al., 2025 (URM, arXiv:2502.03041); Yi et al., 2025 (RecGPT).</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FF6B6B"/>
                </a:solidFill>
                <a:latin typeface="Calibri" pitchFamily="34" charset="0"/>
                <a:ea typeface="Calibri" pitchFamily="34" charset="-122"/>
                <a:cs typeface="Calibri" pitchFamily="34" charset="-120"/>
              </a:rPr>
              <a:t>BONUS · HOW REAL SYSTEMS GREW UP</a:t>
            </a:r>
            <a:endParaRPr lang="en-US" sz="1200" dirty="0"/>
          </a:p>
        </p:txBody>
      </p:sp>
      <p:sp>
        <p:nvSpPr>
          <p:cNvPr id="3" name="Text 1"/>
          <p:cNvSpPr/>
          <p:nvPr/>
        </p:nvSpPr>
        <p:spPr>
          <a:xfrm>
            <a:off x="640080" y="630936"/>
            <a:ext cx="8778240" cy="548640"/>
          </a:xfrm>
          <a:prstGeom prst="rect">
            <a:avLst/>
          </a:prstGeom>
          <a:noFill/>
          <a:ln/>
        </p:spPr>
        <p:txBody>
          <a:bodyPr wrap="square" lIns="0" tIns="0" rIns="0" bIns="0" rtlCol="0" anchor="ctr"/>
          <a:lstStyle/>
          <a:p>
            <a:pPr indent="0" marL="0">
              <a:buNone/>
            </a:pPr>
            <a:r>
              <a:rPr lang="en-US" sz="2500" b="1" dirty="0">
                <a:solidFill>
                  <a:srgbClr val="153A40"/>
                </a:solidFill>
                <a:latin typeface="Cambria" pitchFamily="34" charset="0"/>
                <a:ea typeface="Cambria" pitchFamily="34" charset="-122"/>
                <a:cs typeface="Cambria" pitchFamily="34" charset="-120"/>
              </a:rPr>
              <a:t>JD.com (Jingdong) — recommendation system history</a:t>
            </a:r>
            <a:endParaRPr lang="en-US" sz="2500" dirty="0"/>
          </a:p>
        </p:txBody>
      </p:sp>
      <p:sp>
        <p:nvSpPr>
          <p:cNvPr id="4" name="Shape 2"/>
          <p:cNvSpPr/>
          <p:nvPr/>
        </p:nvSpPr>
        <p:spPr>
          <a:xfrm>
            <a:off x="10698480" y="566928"/>
            <a:ext cx="777240" cy="777240"/>
          </a:xfrm>
          <a:prstGeom prst="ellipse">
            <a:avLst/>
          </a:prstGeom>
          <a:solidFill>
            <a:srgbClr val="028090"/>
          </a:solidFill>
          <a:ln/>
          <a:effectLst>
            <a:outerShdw sx="100000" sy="100000" kx="0" ky="0" algn="bl" rotWithShape="0" blurRad="127000" dist="50800" dir="5400000">
              <a:srgbClr val="8A93A6">
                <a:alpha val="13000"/>
              </a:srgbClr>
            </a:outerShdw>
          </a:effectLst>
        </p:spPr>
      </p:sp>
      <p:pic>
        <p:nvPicPr>
          <p:cNvPr id="5" name="Image 0" descr="preencoded.png">    </p:cNvPr>
          <p:cNvPicPr>
            <a:picLocks noChangeAspect="1"/>
          </p:cNvPicPr>
          <p:nvPr/>
        </p:nvPicPr>
        <p:blipFill>
          <a:blip r:embed="rId1"/>
          <a:stretch>
            <a:fillRect/>
          </a:stretch>
        </p:blipFill>
        <p:spPr>
          <a:xfrm>
            <a:off x="10908335" y="776783"/>
            <a:ext cx="357530" cy="357530"/>
          </a:xfrm>
          <a:prstGeom prst="rect">
            <a:avLst/>
          </a:prstGeom>
        </p:spPr>
      </p:pic>
      <p:sp>
        <p:nvSpPr>
          <p:cNvPr id="6" name="Text 3"/>
          <p:cNvSpPr/>
          <p:nvPr/>
        </p:nvSpPr>
        <p:spPr>
          <a:xfrm>
            <a:off x="640080" y="1298448"/>
            <a:ext cx="10927080" cy="292608"/>
          </a:xfrm>
          <a:prstGeom prst="rect">
            <a:avLst/>
          </a:prstGeom>
          <a:noFill/>
          <a:ln/>
        </p:spPr>
        <p:txBody>
          <a:bodyPr wrap="square" lIns="0" tIns="0" rIns="0" bIns="0" rtlCol="0" anchor="ctr"/>
          <a:lstStyle/>
          <a:p>
            <a:pPr indent="0" marL="0">
              <a:buNone/>
            </a:pPr>
            <a:r>
              <a:rPr lang="en-US" sz="1300" i="1" dirty="0">
                <a:solidFill>
                  <a:srgbClr val="5E7A80"/>
                </a:solidFill>
                <a:latin typeface="Calibri" pitchFamily="34" charset="0"/>
                <a:ea typeface="Calibri" pitchFamily="34" charset="-122"/>
                <a:cs typeface="Calibri" pitchFamily="34" charset="-120"/>
              </a:rPr>
              <a:t>How JD.com moved from early AI recommenders to generative AI in production.</a:t>
            </a:r>
            <a:endParaRPr lang="en-US" sz="1300" dirty="0"/>
          </a:p>
        </p:txBody>
      </p:sp>
      <p:sp>
        <p:nvSpPr>
          <p:cNvPr id="7" name="Text 4"/>
          <p:cNvSpPr/>
          <p:nvPr/>
        </p:nvSpPr>
        <p:spPr>
          <a:xfrm>
            <a:off x="640080" y="1947672"/>
            <a:ext cx="4272077" cy="274320"/>
          </a:xfrm>
          <a:prstGeom prst="rect">
            <a:avLst/>
          </a:prstGeom>
          <a:noFill/>
          <a:ln/>
        </p:spPr>
        <p:txBody>
          <a:bodyPr wrap="square" lIns="0" tIns="0" rIns="0" bIns="0" rtlCol="0" anchor="ctr"/>
          <a:lstStyle/>
          <a:p>
            <a:pPr algn="ctr" indent="0" marL="0">
              <a:buNone/>
            </a:pPr>
            <a:r>
              <a:rPr lang="en-US" sz="1100" b="1" spc="100" kern="0" dirty="0">
                <a:solidFill>
                  <a:srgbClr val="5E7A80"/>
                </a:solidFill>
                <a:latin typeface="Calibri" pitchFamily="34" charset="0"/>
                <a:ea typeface="Calibri" pitchFamily="34" charset="-122"/>
                <a:cs typeface="Calibri" pitchFamily="34" charset="-120"/>
              </a:rPr>
              <a:t>PRE-GPT ERA</a:t>
            </a:r>
            <a:endParaRPr lang="en-US" sz="1100" dirty="0"/>
          </a:p>
        </p:txBody>
      </p:sp>
      <p:sp>
        <p:nvSpPr>
          <p:cNvPr id="8" name="Text 5"/>
          <p:cNvSpPr/>
          <p:nvPr/>
        </p:nvSpPr>
        <p:spPr>
          <a:xfrm>
            <a:off x="5076749" y="1947672"/>
            <a:ext cx="6490411" cy="274320"/>
          </a:xfrm>
          <a:prstGeom prst="rect">
            <a:avLst/>
          </a:prstGeom>
          <a:noFill/>
          <a:ln/>
        </p:spPr>
        <p:txBody>
          <a:bodyPr wrap="square" lIns="0" tIns="0" rIns="0" bIns="0" rtlCol="0" anchor="ctr"/>
          <a:lstStyle/>
          <a:p>
            <a:pPr algn="ctr" indent="0" marL="0">
              <a:buNone/>
            </a:pPr>
            <a:r>
              <a:rPr lang="en-US" sz="1100" b="1" spc="100" kern="0" dirty="0">
                <a:solidFill>
                  <a:srgbClr val="E23E57"/>
                </a:solidFill>
                <a:latin typeface="Calibri" pitchFamily="34" charset="0"/>
                <a:ea typeface="Calibri" pitchFamily="34" charset="-122"/>
                <a:cs typeface="Calibri" pitchFamily="34" charset="-120"/>
              </a:rPr>
              <a:t>GPT / LLM ERA</a:t>
            </a:r>
            <a:endParaRPr lang="en-US" sz="1100" dirty="0"/>
          </a:p>
        </p:txBody>
      </p:sp>
      <p:sp>
        <p:nvSpPr>
          <p:cNvPr id="9" name="Shape 6"/>
          <p:cNvSpPr/>
          <p:nvPr/>
        </p:nvSpPr>
        <p:spPr>
          <a:xfrm>
            <a:off x="4994453" y="1874520"/>
            <a:ext cx="0" cy="2606040"/>
          </a:xfrm>
          <a:prstGeom prst="line">
            <a:avLst/>
          </a:prstGeom>
          <a:noFill/>
          <a:ln w="15875">
            <a:solidFill>
              <a:srgbClr val="E23E57"/>
            </a:solidFill>
            <a:prstDash val="dash"/>
          </a:ln>
        </p:spPr>
      </p:sp>
      <p:sp>
        <p:nvSpPr>
          <p:cNvPr id="10" name="Shape 7"/>
          <p:cNvSpPr/>
          <p:nvPr/>
        </p:nvSpPr>
        <p:spPr>
          <a:xfrm>
            <a:off x="640080" y="2331720"/>
            <a:ext cx="2053742" cy="1965960"/>
          </a:xfrm>
          <a:prstGeom prst="roundRect">
            <a:avLst>
              <a:gd name="adj" fmla="val 5581"/>
            </a:avLst>
          </a:prstGeom>
          <a:solidFill>
            <a:srgbClr val="EAF7F5"/>
          </a:solidFill>
          <a:ln/>
          <a:effectLst>
            <a:outerShdw sx="100000" sy="100000" kx="0" ky="0" algn="bl" rotWithShape="0" blurRad="127000" dist="50800" dir="5400000">
              <a:srgbClr val="8A93A6">
                <a:alpha val="13000"/>
              </a:srgbClr>
            </a:outerShdw>
          </a:effectLst>
        </p:spPr>
      </p:sp>
      <p:sp>
        <p:nvSpPr>
          <p:cNvPr id="11" name="Shape 8"/>
          <p:cNvSpPr/>
          <p:nvPr/>
        </p:nvSpPr>
        <p:spPr>
          <a:xfrm>
            <a:off x="804672" y="2496312"/>
            <a:ext cx="1724558" cy="365760"/>
          </a:xfrm>
          <a:prstGeom prst="roundRect">
            <a:avLst>
              <a:gd name="adj" fmla="val 50000"/>
            </a:avLst>
          </a:prstGeom>
          <a:solidFill>
            <a:srgbClr val="028090"/>
          </a:solidFill>
          <a:ln/>
        </p:spPr>
      </p:sp>
      <p:sp>
        <p:nvSpPr>
          <p:cNvPr id="12" name="Text 9"/>
          <p:cNvSpPr/>
          <p:nvPr/>
        </p:nvSpPr>
        <p:spPr>
          <a:xfrm>
            <a:off x="804672"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2017</a:t>
            </a:r>
            <a:endParaRPr lang="en-US" sz="1200" dirty="0"/>
          </a:p>
        </p:txBody>
      </p:sp>
      <p:sp>
        <p:nvSpPr>
          <p:cNvPr id="13" name="Text 10"/>
          <p:cNvSpPr/>
          <p:nvPr/>
        </p:nvSpPr>
        <p:spPr>
          <a:xfrm>
            <a:off x="777240" y="2971800"/>
            <a:ext cx="1779422" cy="566928"/>
          </a:xfrm>
          <a:prstGeom prst="rect">
            <a:avLst/>
          </a:prstGeom>
          <a:noFill/>
          <a:ln/>
        </p:spPr>
        <p:txBody>
          <a:bodyPr wrap="square" lIns="0" tIns="0" rIns="0" bIns="0" rtlCol="0" anchor="ctr"/>
          <a:lstStyle/>
          <a:p>
            <a:pPr algn="ctr" indent="0" marL="0">
              <a:buNone/>
            </a:pPr>
            <a:r>
              <a:rPr lang="en-US" sz="1200" b="1" dirty="0">
                <a:solidFill>
                  <a:srgbClr val="153A40"/>
                </a:solidFill>
                <a:latin typeface="Cambria" pitchFamily="34" charset="0"/>
                <a:ea typeface="Cambria" pitchFamily="34" charset="-122"/>
                <a:cs typeface="Cambria" pitchFamily="34" charset="-120"/>
              </a:rPr>
              <a:t>Telepath</a:t>
            </a:r>
            <a:endParaRPr lang="en-US" sz="1200" dirty="0"/>
          </a:p>
        </p:txBody>
      </p:sp>
      <p:sp>
        <p:nvSpPr>
          <p:cNvPr id="14" name="Text 11"/>
          <p:cNvSpPr/>
          <p:nvPr/>
        </p:nvSpPr>
        <p:spPr>
          <a:xfrm>
            <a:off x="786384" y="3520440"/>
            <a:ext cx="1761134" cy="749808"/>
          </a:xfrm>
          <a:prstGeom prst="rect">
            <a:avLst/>
          </a:prstGeom>
          <a:noFill/>
          <a:ln/>
        </p:spPr>
        <p:txBody>
          <a:bodyPr wrap="square" lIns="0" tIns="0" rIns="0" bIns="0" rtlCol="0" anchor="ctr"/>
          <a:lstStyle/>
          <a:p>
            <a:pPr algn="ctr" indent="0" marL="0">
              <a:buNone/>
            </a:pPr>
            <a:r>
              <a:rPr lang="en-US" sz="960" dirty="0">
                <a:solidFill>
                  <a:srgbClr val="5E7A80"/>
                </a:solidFill>
                <a:latin typeface="Calibri" pitchFamily="34" charset="0"/>
                <a:ea typeface="Calibri" pitchFamily="34" charset="-122"/>
                <a:cs typeface="Calibri" pitchFamily="34" charset="-120"/>
              </a:rPr>
              <a:t>An early AI recommender that also “sees” images.</a:t>
            </a:r>
            <a:endParaRPr lang="en-US" sz="960" dirty="0"/>
          </a:p>
        </p:txBody>
      </p:sp>
      <p:sp>
        <p:nvSpPr>
          <p:cNvPr id="15" name="Shape 12"/>
          <p:cNvSpPr/>
          <p:nvPr/>
        </p:nvSpPr>
        <p:spPr>
          <a:xfrm>
            <a:off x="2858414" y="2331720"/>
            <a:ext cx="2053742" cy="1965960"/>
          </a:xfrm>
          <a:prstGeom prst="roundRect">
            <a:avLst>
              <a:gd name="adj" fmla="val 5581"/>
            </a:avLst>
          </a:prstGeom>
          <a:solidFill>
            <a:srgbClr val="EAF7F5"/>
          </a:solidFill>
          <a:ln/>
          <a:effectLst>
            <a:outerShdw sx="100000" sy="100000" kx="0" ky="0" algn="bl" rotWithShape="0" blurRad="127000" dist="50800" dir="5400000">
              <a:srgbClr val="8A93A6">
                <a:alpha val="13000"/>
              </a:srgbClr>
            </a:outerShdw>
          </a:effectLst>
        </p:spPr>
      </p:sp>
      <p:sp>
        <p:nvSpPr>
          <p:cNvPr id="16" name="Shape 13"/>
          <p:cNvSpPr/>
          <p:nvPr/>
        </p:nvSpPr>
        <p:spPr>
          <a:xfrm>
            <a:off x="3023006" y="2496312"/>
            <a:ext cx="1724558" cy="365760"/>
          </a:xfrm>
          <a:prstGeom prst="roundRect">
            <a:avLst>
              <a:gd name="adj" fmla="val 50000"/>
            </a:avLst>
          </a:prstGeom>
          <a:solidFill>
            <a:srgbClr val="028090"/>
          </a:solidFill>
          <a:ln/>
        </p:spPr>
      </p:sp>
      <p:sp>
        <p:nvSpPr>
          <p:cNvPr id="17" name="Text 14"/>
          <p:cNvSpPr/>
          <p:nvPr/>
        </p:nvSpPr>
        <p:spPr>
          <a:xfrm>
            <a:off x="3023006"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2021</a:t>
            </a:r>
            <a:endParaRPr lang="en-US" sz="1200" dirty="0"/>
          </a:p>
        </p:txBody>
      </p:sp>
      <p:sp>
        <p:nvSpPr>
          <p:cNvPr id="18" name="Text 15"/>
          <p:cNvSpPr/>
          <p:nvPr/>
        </p:nvSpPr>
        <p:spPr>
          <a:xfrm>
            <a:off x="2995574" y="2971800"/>
            <a:ext cx="1779422" cy="566928"/>
          </a:xfrm>
          <a:prstGeom prst="rect">
            <a:avLst/>
          </a:prstGeom>
          <a:noFill/>
          <a:ln/>
        </p:spPr>
        <p:txBody>
          <a:bodyPr wrap="square" lIns="0" tIns="0" rIns="0" bIns="0" rtlCol="0" anchor="ctr"/>
          <a:lstStyle/>
          <a:p>
            <a:pPr algn="ctr" indent="0" marL="0">
              <a:buNone/>
            </a:pPr>
            <a:r>
              <a:rPr lang="en-US" sz="1200" b="1" dirty="0">
                <a:solidFill>
                  <a:srgbClr val="153A40"/>
                </a:solidFill>
                <a:latin typeface="Cambria" pitchFamily="34" charset="0"/>
                <a:ea typeface="Cambria" pitchFamily="34" charset="-122"/>
                <a:cs typeface="Cambria" pitchFamily="34" charset="-120"/>
              </a:rPr>
              <a:t>Semantic retrieval + re-rank</a:t>
            </a:r>
            <a:endParaRPr lang="en-US" sz="1200" dirty="0"/>
          </a:p>
        </p:txBody>
      </p:sp>
      <p:sp>
        <p:nvSpPr>
          <p:cNvPr id="19" name="Text 16"/>
          <p:cNvSpPr/>
          <p:nvPr/>
        </p:nvSpPr>
        <p:spPr>
          <a:xfrm>
            <a:off x="3004718" y="3520440"/>
            <a:ext cx="1761134" cy="749808"/>
          </a:xfrm>
          <a:prstGeom prst="rect">
            <a:avLst/>
          </a:prstGeom>
          <a:noFill/>
          <a:ln/>
        </p:spPr>
        <p:txBody>
          <a:bodyPr wrap="square" lIns="0" tIns="0" rIns="0" bIns="0" rtlCol="0" anchor="ctr"/>
          <a:lstStyle/>
          <a:p>
            <a:pPr algn="ctr" indent="0" marL="0">
              <a:buNone/>
            </a:pPr>
            <a:r>
              <a:rPr lang="en-US" sz="960" dirty="0">
                <a:solidFill>
                  <a:srgbClr val="5E7A80"/>
                </a:solidFill>
                <a:latin typeface="Calibri" pitchFamily="34" charset="0"/>
                <a:ea typeface="Calibri" pitchFamily="34" charset="-122"/>
                <a:cs typeface="Calibri" pitchFamily="34" charset="-120"/>
              </a:rPr>
              <a:t>Smarter search that understands meaning, not just words.</a:t>
            </a:r>
            <a:endParaRPr lang="en-US" sz="960" dirty="0"/>
          </a:p>
        </p:txBody>
      </p:sp>
      <p:sp>
        <p:nvSpPr>
          <p:cNvPr id="20" name="Shape 17"/>
          <p:cNvSpPr/>
          <p:nvPr/>
        </p:nvSpPr>
        <p:spPr>
          <a:xfrm>
            <a:off x="5076749" y="2331720"/>
            <a:ext cx="2053742" cy="1965960"/>
          </a:xfrm>
          <a:prstGeom prst="roundRect">
            <a:avLst>
              <a:gd name="adj" fmla="val 5581"/>
            </a:avLst>
          </a:prstGeom>
          <a:solidFill>
            <a:srgbClr val="FDEBEE"/>
          </a:solidFill>
          <a:ln/>
          <a:effectLst>
            <a:outerShdw sx="100000" sy="100000" kx="0" ky="0" algn="bl" rotWithShape="0" blurRad="127000" dist="50800" dir="5400000">
              <a:srgbClr val="8A93A6">
                <a:alpha val="13000"/>
              </a:srgbClr>
            </a:outerShdw>
          </a:effectLst>
        </p:spPr>
      </p:sp>
      <p:sp>
        <p:nvSpPr>
          <p:cNvPr id="21" name="Shape 18"/>
          <p:cNvSpPr/>
          <p:nvPr/>
        </p:nvSpPr>
        <p:spPr>
          <a:xfrm>
            <a:off x="5241341" y="2496312"/>
            <a:ext cx="1724558" cy="365760"/>
          </a:xfrm>
          <a:prstGeom prst="roundRect">
            <a:avLst>
              <a:gd name="adj" fmla="val 50000"/>
            </a:avLst>
          </a:prstGeom>
          <a:solidFill>
            <a:srgbClr val="E23E57"/>
          </a:solidFill>
          <a:ln/>
        </p:spPr>
      </p:sp>
      <p:sp>
        <p:nvSpPr>
          <p:cNvPr id="22" name="Text 19"/>
          <p:cNvSpPr/>
          <p:nvPr/>
        </p:nvSpPr>
        <p:spPr>
          <a:xfrm>
            <a:off x="5241341"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2025</a:t>
            </a:r>
            <a:endParaRPr lang="en-US" sz="1200" dirty="0"/>
          </a:p>
        </p:txBody>
      </p:sp>
      <p:sp>
        <p:nvSpPr>
          <p:cNvPr id="23" name="Text 20"/>
          <p:cNvSpPr/>
          <p:nvPr/>
        </p:nvSpPr>
        <p:spPr>
          <a:xfrm>
            <a:off x="5213909" y="2971800"/>
            <a:ext cx="1779422" cy="566928"/>
          </a:xfrm>
          <a:prstGeom prst="rect">
            <a:avLst/>
          </a:prstGeom>
          <a:noFill/>
          <a:ln/>
        </p:spPr>
        <p:txBody>
          <a:bodyPr wrap="square" lIns="0" tIns="0" rIns="0" bIns="0" rtlCol="0" anchor="ctr"/>
          <a:lstStyle/>
          <a:p>
            <a:pPr algn="ctr" indent="0" marL="0">
              <a:buNone/>
            </a:pPr>
            <a:r>
              <a:rPr lang="en-US" sz="1200" b="1" dirty="0">
                <a:solidFill>
                  <a:srgbClr val="153A40"/>
                </a:solidFill>
                <a:latin typeface="Cambria" pitchFamily="34" charset="0"/>
                <a:ea typeface="Cambria" pitchFamily="34" charset="-122"/>
                <a:cs typeface="Cambria" pitchFamily="34" charset="-120"/>
              </a:rPr>
              <a:t>GenCTR</a:t>
            </a:r>
            <a:endParaRPr lang="en-US" sz="1200" dirty="0"/>
          </a:p>
        </p:txBody>
      </p:sp>
      <p:sp>
        <p:nvSpPr>
          <p:cNvPr id="24" name="Text 21"/>
          <p:cNvSpPr/>
          <p:nvPr/>
        </p:nvSpPr>
        <p:spPr>
          <a:xfrm>
            <a:off x="5223053" y="3520440"/>
            <a:ext cx="1761134" cy="749808"/>
          </a:xfrm>
          <a:prstGeom prst="rect">
            <a:avLst/>
          </a:prstGeom>
          <a:noFill/>
          <a:ln/>
        </p:spPr>
        <p:txBody>
          <a:bodyPr wrap="square" lIns="0" tIns="0" rIns="0" bIns="0" rtlCol="0" anchor="ctr"/>
          <a:lstStyle/>
          <a:p>
            <a:pPr algn="ctr" indent="0" marL="0">
              <a:buNone/>
            </a:pPr>
            <a:r>
              <a:rPr lang="en-US" sz="960" dirty="0">
                <a:solidFill>
                  <a:srgbClr val="5E7A80"/>
                </a:solidFill>
                <a:latin typeface="Calibri" pitchFamily="34" charset="0"/>
                <a:ea typeface="Calibri" pitchFamily="34" charset="-122"/>
                <a:cs typeface="Calibri" pitchFamily="34" charset="-120"/>
              </a:rPr>
              <a:t>AI that predicts clicks for search ads.</a:t>
            </a:r>
            <a:endParaRPr lang="en-US" sz="960" dirty="0"/>
          </a:p>
        </p:txBody>
      </p:sp>
      <p:sp>
        <p:nvSpPr>
          <p:cNvPr id="25" name="Shape 22"/>
          <p:cNvSpPr/>
          <p:nvPr/>
        </p:nvSpPr>
        <p:spPr>
          <a:xfrm>
            <a:off x="7295083" y="2331720"/>
            <a:ext cx="2053742" cy="1965960"/>
          </a:xfrm>
          <a:prstGeom prst="roundRect">
            <a:avLst>
              <a:gd name="adj" fmla="val 5581"/>
            </a:avLst>
          </a:prstGeom>
          <a:solidFill>
            <a:srgbClr val="FDEBEE"/>
          </a:solidFill>
          <a:ln/>
          <a:effectLst>
            <a:outerShdw sx="100000" sy="100000" kx="0" ky="0" algn="bl" rotWithShape="0" blurRad="127000" dist="50800" dir="5400000">
              <a:srgbClr val="8A93A6">
                <a:alpha val="13000"/>
              </a:srgbClr>
            </a:outerShdw>
          </a:effectLst>
        </p:spPr>
      </p:sp>
      <p:sp>
        <p:nvSpPr>
          <p:cNvPr id="26" name="Shape 23"/>
          <p:cNvSpPr/>
          <p:nvPr/>
        </p:nvSpPr>
        <p:spPr>
          <a:xfrm>
            <a:off x="7459675" y="2496312"/>
            <a:ext cx="1724558" cy="365760"/>
          </a:xfrm>
          <a:prstGeom prst="roundRect">
            <a:avLst>
              <a:gd name="adj" fmla="val 50000"/>
            </a:avLst>
          </a:prstGeom>
          <a:solidFill>
            <a:srgbClr val="E23E57"/>
          </a:solidFill>
          <a:ln/>
        </p:spPr>
      </p:sp>
      <p:sp>
        <p:nvSpPr>
          <p:cNvPr id="27" name="Text 24"/>
          <p:cNvSpPr/>
          <p:nvPr/>
        </p:nvSpPr>
        <p:spPr>
          <a:xfrm>
            <a:off x="7459675"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2025</a:t>
            </a:r>
            <a:endParaRPr lang="en-US" sz="1200" dirty="0"/>
          </a:p>
        </p:txBody>
      </p:sp>
      <p:sp>
        <p:nvSpPr>
          <p:cNvPr id="28" name="Text 25"/>
          <p:cNvSpPr/>
          <p:nvPr/>
        </p:nvSpPr>
        <p:spPr>
          <a:xfrm>
            <a:off x="7432243" y="2971800"/>
            <a:ext cx="1779422" cy="566928"/>
          </a:xfrm>
          <a:prstGeom prst="rect">
            <a:avLst/>
          </a:prstGeom>
          <a:noFill/>
          <a:ln/>
        </p:spPr>
        <p:txBody>
          <a:bodyPr wrap="square" lIns="0" tIns="0" rIns="0" bIns="0" rtlCol="0" anchor="ctr"/>
          <a:lstStyle/>
          <a:p>
            <a:pPr algn="ctr" indent="0" marL="0">
              <a:buNone/>
            </a:pPr>
            <a:r>
              <a:rPr lang="en-US" sz="1200" b="1" dirty="0">
                <a:solidFill>
                  <a:srgbClr val="153A40"/>
                </a:solidFill>
                <a:latin typeface="Cambria" pitchFamily="34" charset="0"/>
                <a:ea typeface="Cambria" pitchFamily="34" charset="-122"/>
                <a:cs typeface="Cambria" pitchFamily="34" charset="-120"/>
              </a:rPr>
              <a:t>GRAM</a:t>
            </a:r>
            <a:endParaRPr lang="en-US" sz="1200" dirty="0"/>
          </a:p>
        </p:txBody>
      </p:sp>
      <p:sp>
        <p:nvSpPr>
          <p:cNvPr id="29" name="Text 26"/>
          <p:cNvSpPr/>
          <p:nvPr/>
        </p:nvSpPr>
        <p:spPr>
          <a:xfrm>
            <a:off x="7441387" y="3520440"/>
            <a:ext cx="1761134" cy="749808"/>
          </a:xfrm>
          <a:prstGeom prst="rect">
            <a:avLst/>
          </a:prstGeom>
          <a:noFill/>
          <a:ln/>
        </p:spPr>
        <p:txBody>
          <a:bodyPr wrap="square" lIns="0" tIns="0" rIns="0" bIns="0" rtlCol="0" anchor="ctr"/>
          <a:lstStyle/>
          <a:p>
            <a:pPr algn="ctr" indent="0" marL="0">
              <a:buNone/>
            </a:pPr>
            <a:r>
              <a:rPr lang="en-US" sz="960" dirty="0">
                <a:solidFill>
                  <a:srgbClr val="5E7A80"/>
                </a:solidFill>
                <a:latin typeface="Calibri" pitchFamily="34" charset="0"/>
                <a:ea typeface="Calibri" pitchFamily="34" charset="-122"/>
                <a:cs typeface="Calibri" pitchFamily="34" charset="-120"/>
              </a:rPr>
              <a:t>AI that fetches the right products (generative retrieval).</a:t>
            </a:r>
            <a:endParaRPr lang="en-US" sz="960" dirty="0"/>
          </a:p>
        </p:txBody>
      </p:sp>
      <p:sp>
        <p:nvSpPr>
          <p:cNvPr id="30" name="Shape 27"/>
          <p:cNvSpPr/>
          <p:nvPr/>
        </p:nvSpPr>
        <p:spPr>
          <a:xfrm>
            <a:off x="9513418" y="2331720"/>
            <a:ext cx="2053742" cy="1965960"/>
          </a:xfrm>
          <a:prstGeom prst="roundRect">
            <a:avLst>
              <a:gd name="adj" fmla="val 5581"/>
            </a:avLst>
          </a:prstGeom>
          <a:solidFill>
            <a:srgbClr val="FDEBEE"/>
          </a:solidFill>
          <a:ln/>
          <a:effectLst>
            <a:outerShdw sx="100000" sy="100000" kx="0" ky="0" algn="bl" rotWithShape="0" blurRad="127000" dist="50800" dir="5400000">
              <a:srgbClr val="8A93A6">
                <a:alpha val="13000"/>
              </a:srgbClr>
            </a:outerShdw>
          </a:effectLst>
        </p:spPr>
      </p:sp>
      <p:sp>
        <p:nvSpPr>
          <p:cNvPr id="31" name="Shape 28"/>
          <p:cNvSpPr/>
          <p:nvPr/>
        </p:nvSpPr>
        <p:spPr>
          <a:xfrm>
            <a:off x="9678010" y="2496312"/>
            <a:ext cx="1724558" cy="365760"/>
          </a:xfrm>
          <a:prstGeom prst="roundRect">
            <a:avLst>
              <a:gd name="adj" fmla="val 50000"/>
            </a:avLst>
          </a:prstGeom>
          <a:solidFill>
            <a:srgbClr val="E23E57"/>
          </a:solidFill>
          <a:ln/>
        </p:spPr>
      </p:sp>
      <p:sp>
        <p:nvSpPr>
          <p:cNvPr id="32" name="Text 29"/>
          <p:cNvSpPr/>
          <p:nvPr/>
        </p:nvSpPr>
        <p:spPr>
          <a:xfrm>
            <a:off x="9678010"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2025</a:t>
            </a:r>
            <a:endParaRPr lang="en-US" sz="1200" dirty="0"/>
          </a:p>
        </p:txBody>
      </p:sp>
      <p:sp>
        <p:nvSpPr>
          <p:cNvPr id="33" name="Text 30"/>
          <p:cNvSpPr/>
          <p:nvPr/>
        </p:nvSpPr>
        <p:spPr>
          <a:xfrm>
            <a:off x="9650578" y="2971800"/>
            <a:ext cx="1779422" cy="566928"/>
          </a:xfrm>
          <a:prstGeom prst="rect">
            <a:avLst/>
          </a:prstGeom>
          <a:noFill/>
          <a:ln/>
        </p:spPr>
        <p:txBody>
          <a:bodyPr wrap="square" lIns="0" tIns="0" rIns="0" bIns="0" rtlCol="0" anchor="ctr"/>
          <a:lstStyle/>
          <a:p>
            <a:pPr algn="ctr" indent="0" marL="0">
              <a:buNone/>
            </a:pPr>
            <a:r>
              <a:rPr lang="en-US" sz="1200" b="1" dirty="0">
                <a:solidFill>
                  <a:srgbClr val="153A40"/>
                </a:solidFill>
                <a:latin typeface="Cambria" pitchFamily="34" charset="0"/>
                <a:ea typeface="Cambria" pitchFamily="34" charset="-122"/>
                <a:cs typeface="Cambria" pitchFamily="34" charset="-120"/>
              </a:rPr>
              <a:t>CFRAG</a:t>
            </a:r>
            <a:endParaRPr lang="en-US" sz="1200" dirty="0"/>
          </a:p>
        </p:txBody>
      </p:sp>
      <p:sp>
        <p:nvSpPr>
          <p:cNvPr id="34" name="Text 31"/>
          <p:cNvSpPr/>
          <p:nvPr/>
        </p:nvSpPr>
        <p:spPr>
          <a:xfrm>
            <a:off x="9659722" y="3520440"/>
            <a:ext cx="1761134" cy="749808"/>
          </a:xfrm>
          <a:prstGeom prst="rect">
            <a:avLst/>
          </a:prstGeom>
          <a:noFill/>
          <a:ln/>
        </p:spPr>
        <p:txBody>
          <a:bodyPr wrap="square" lIns="0" tIns="0" rIns="0" bIns="0" rtlCol="0" anchor="ctr"/>
          <a:lstStyle/>
          <a:p>
            <a:pPr algn="ctr" indent="0" marL="0">
              <a:buNone/>
            </a:pPr>
            <a:r>
              <a:rPr lang="en-US" sz="960" dirty="0">
                <a:solidFill>
                  <a:srgbClr val="5E7A80"/>
                </a:solidFill>
                <a:latin typeface="Calibri" pitchFamily="34" charset="0"/>
                <a:ea typeface="Calibri" pitchFamily="34" charset="-122"/>
                <a:cs typeface="Calibri" pitchFamily="34" charset="-120"/>
              </a:rPr>
              <a:t>Blends AI understanding into the results it recalls.</a:t>
            </a:r>
            <a:endParaRPr lang="en-US" sz="960" dirty="0"/>
          </a:p>
        </p:txBody>
      </p:sp>
      <p:sp>
        <p:nvSpPr>
          <p:cNvPr id="35" name="Text 32"/>
          <p:cNvSpPr/>
          <p:nvPr/>
        </p:nvSpPr>
        <p:spPr>
          <a:xfrm>
            <a:off x="640080" y="4599432"/>
            <a:ext cx="2103120" cy="822960"/>
          </a:xfrm>
          <a:prstGeom prst="rect">
            <a:avLst/>
          </a:prstGeom>
          <a:noFill/>
          <a:ln/>
        </p:spPr>
        <p:txBody>
          <a:bodyPr wrap="square" lIns="0" tIns="0" rIns="0" bIns="0" rtlCol="0" anchor="ctr"/>
          <a:lstStyle/>
          <a:p>
            <a:pPr indent="0" marL="0">
              <a:buNone/>
            </a:pPr>
            <a:r>
              <a:rPr lang="en-US" sz="1300" b="1" dirty="0">
                <a:solidFill>
                  <a:srgbClr val="E23E57"/>
                </a:solidFill>
                <a:latin typeface="Cambria" pitchFamily="34" charset="0"/>
                <a:ea typeface="Cambria" pitchFamily="34" charset="-122"/>
                <a:cs typeface="Cambria" pitchFamily="34" charset="-120"/>
              </a:rPr>
              <a:t>GPT-era impact</a:t>
            </a:r>
            <a:endParaRPr lang="en-US" sz="1300" dirty="0"/>
          </a:p>
        </p:txBody>
      </p:sp>
      <p:sp>
        <p:nvSpPr>
          <p:cNvPr id="36" name="Shape 33"/>
          <p:cNvSpPr/>
          <p:nvPr/>
        </p:nvSpPr>
        <p:spPr>
          <a:xfrm>
            <a:off x="2743200" y="4617720"/>
            <a:ext cx="4320540" cy="822960"/>
          </a:xfrm>
          <a:prstGeom prst="roundRect">
            <a:avLst>
              <a:gd name="adj" fmla="val 11111"/>
            </a:avLst>
          </a:prstGeom>
          <a:solidFill>
            <a:srgbClr val="FFFFFF"/>
          </a:solidFill>
          <a:ln/>
          <a:effectLst>
            <a:outerShdw sx="100000" sy="100000" kx="0" ky="0" algn="bl" rotWithShape="0" blurRad="127000" dist="50800" dir="5400000">
              <a:srgbClr val="8A93A6">
                <a:alpha val="13000"/>
              </a:srgbClr>
            </a:outerShdw>
          </a:effectLst>
        </p:spPr>
      </p:sp>
      <p:sp>
        <p:nvSpPr>
          <p:cNvPr id="37" name="Shape 34"/>
          <p:cNvSpPr/>
          <p:nvPr/>
        </p:nvSpPr>
        <p:spPr>
          <a:xfrm>
            <a:off x="2743200" y="4617720"/>
            <a:ext cx="4320540" cy="822960"/>
          </a:xfrm>
          <a:prstGeom prst="roundRect">
            <a:avLst>
              <a:gd name="adj" fmla="val 11111"/>
            </a:avLst>
          </a:prstGeom>
          <a:solidFill>
            <a:srgbClr val="FFFFFF">
              <a:alpha val="0"/>
            </a:srgbClr>
          </a:solidFill>
          <a:ln w="12700">
            <a:solidFill>
              <a:srgbClr val="CDE8E3"/>
            </a:solidFill>
            <a:prstDash val="solid"/>
          </a:ln>
        </p:spPr>
      </p:sp>
      <p:sp>
        <p:nvSpPr>
          <p:cNvPr id="38" name="Text 35"/>
          <p:cNvSpPr/>
          <p:nvPr/>
        </p:nvSpPr>
        <p:spPr>
          <a:xfrm>
            <a:off x="2852928" y="4709160"/>
            <a:ext cx="4101084" cy="365760"/>
          </a:xfrm>
          <a:prstGeom prst="rect">
            <a:avLst/>
          </a:prstGeom>
          <a:noFill/>
          <a:ln/>
        </p:spPr>
        <p:txBody>
          <a:bodyPr wrap="square" lIns="0" tIns="0" rIns="0" bIns="0" rtlCol="0" anchor="ctr"/>
          <a:lstStyle/>
          <a:p>
            <a:pPr algn="ctr" indent="0" marL="0">
              <a:buNone/>
            </a:pPr>
            <a:r>
              <a:rPr lang="en-US" sz="1600" b="1" dirty="0">
                <a:solidFill>
                  <a:srgbClr val="E23E57"/>
                </a:solidFill>
                <a:latin typeface="Cambria" pitchFamily="34" charset="0"/>
                <a:ea typeface="Cambria" pitchFamily="34" charset="-122"/>
                <a:cs typeface="Cambria" pitchFamily="34" charset="-120"/>
              </a:rPr>
              <a:t>Generative</a:t>
            </a:r>
            <a:endParaRPr lang="en-US" sz="1600" dirty="0"/>
          </a:p>
        </p:txBody>
      </p:sp>
      <p:sp>
        <p:nvSpPr>
          <p:cNvPr id="39" name="Text 36"/>
          <p:cNvSpPr/>
          <p:nvPr/>
        </p:nvSpPr>
        <p:spPr>
          <a:xfrm>
            <a:off x="2852928" y="5074920"/>
            <a:ext cx="4101084" cy="329184"/>
          </a:xfrm>
          <a:prstGeom prst="rect">
            <a:avLst/>
          </a:prstGeom>
          <a:noFill/>
          <a:ln/>
        </p:spPr>
        <p:txBody>
          <a:bodyPr wrap="square" lIns="0" tIns="0" rIns="0" bIns="0" rtlCol="0" anchor="ctr"/>
          <a:lstStyle/>
          <a:p>
            <a:pPr algn="ctr" indent="0" marL="0">
              <a:buNone/>
            </a:pPr>
            <a:r>
              <a:rPr lang="en-US" sz="880" dirty="0">
                <a:solidFill>
                  <a:srgbClr val="5E7A80"/>
                </a:solidFill>
                <a:latin typeface="Calibri" pitchFamily="34" charset="0"/>
                <a:ea typeface="Calibri" pitchFamily="34" charset="-122"/>
                <a:cs typeface="Calibri" pitchFamily="34" charset="-120"/>
              </a:rPr>
              <a:t>AI now predicts clicks in production (2025)</a:t>
            </a:r>
            <a:endParaRPr lang="en-US" sz="880" dirty="0"/>
          </a:p>
        </p:txBody>
      </p:sp>
      <p:sp>
        <p:nvSpPr>
          <p:cNvPr id="40" name="Shape 37"/>
          <p:cNvSpPr/>
          <p:nvPr/>
        </p:nvSpPr>
        <p:spPr>
          <a:xfrm>
            <a:off x="7246620" y="4617720"/>
            <a:ext cx="4320540" cy="822960"/>
          </a:xfrm>
          <a:prstGeom prst="roundRect">
            <a:avLst>
              <a:gd name="adj" fmla="val 11111"/>
            </a:avLst>
          </a:prstGeom>
          <a:solidFill>
            <a:srgbClr val="FFFFFF"/>
          </a:solidFill>
          <a:ln/>
          <a:effectLst>
            <a:outerShdw sx="100000" sy="100000" kx="0" ky="0" algn="bl" rotWithShape="0" blurRad="127000" dist="50800" dir="5400000">
              <a:srgbClr val="8A93A6">
                <a:alpha val="13000"/>
              </a:srgbClr>
            </a:outerShdw>
          </a:effectLst>
        </p:spPr>
      </p:sp>
      <p:sp>
        <p:nvSpPr>
          <p:cNvPr id="41" name="Shape 38"/>
          <p:cNvSpPr/>
          <p:nvPr/>
        </p:nvSpPr>
        <p:spPr>
          <a:xfrm>
            <a:off x="7246620" y="4617720"/>
            <a:ext cx="4320540" cy="822960"/>
          </a:xfrm>
          <a:prstGeom prst="roundRect">
            <a:avLst>
              <a:gd name="adj" fmla="val 11111"/>
            </a:avLst>
          </a:prstGeom>
          <a:solidFill>
            <a:srgbClr val="FFFFFF">
              <a:alpha val="0"/>
            </a:srgbClr>
          </a:solidFill>
          <a:ln w="12700">
            <a:solidFill>
              <a:srgbClr val="CDE8E3"/>
            </a:solidFill>
            <a:prstDash val="solid"/>
          </a:ln>
        </p:spPr>
      </p:sp>
      <p:sp>
        <p:nvSpPr>
          <p:cNvPr id="42" name="Text 39"/>
          <p:cNvSpPr/>
          <p:nvPr/>
        </p:nvSpPr>
        <p:spPr>
          <a:xfrm>
            <a:off x="7356348" y="4709160"/>
            <a:ext cx="4101084" cy="365760"/>
          </a:xfrm>
          <a:prstGeom prst="rect">
            <a:avLst/>
          </a:prstGeom>
          <a:noFill/>
          <a:ln/>
        </p:spPr>
        <p:txBody>
          <a:bodyPr wrap="square" lIns="0" tIns="0" rIns="0" bIns="0" rtlCol="0" anchor="ctr"/>
          <a:lstStyle/>
          <a:p>
            <a:pPr algn="ctr" indent="0" marL="0">
              <a:buNone/>
            </a:pPr>
            <a:r>
              <a:rPr lang="en-US" sz="1600" b="1" dirty="0">
                <a:solidFill>
                  <a:srgbClr val="E23E57"/>
                </a:solidFill>
                <a:latin typeface="Cambria" pitchFamily="34" charset="0"/>
                <a:ea typeface="Cambria" pitchFamily="34" charset="-122"/>
                <a:cs typeface="Cambria" pitchFamily="34" charset="-120"/>
              </a:rPr>
              <a:t>Generative</a:t>
            </a:r>
            <a:endParaRPr lang="en-US" sz="1600" dirty="0"/>
          </a:p>
        </p:txBody>
      </p:sp>
      <p:sp>
        <p:nvSpPr>
          <p:cNvPr id="43" name="Text 40"/>
          <p:cNvSpPr/>
          <p:nvPr/>
        </p:nvSpPr>
        <p:spPr>
          <a:xfrm>
            <a:off x="7356348" y="5074920"/>
            <a:ext cx="4101084" cy="329184"/>
          </a:xfrm>
          <a:prstGeom prst="rect">
            <a:avLst/>
          </a:prstGeom>
          <a:noFill/>
          <a:ln/>
        </p:spPr>
        <p:txBody>
          <a:bodyPr wrap="square" lIns="0" tIns="0" rIns="0" bIns="0" rtlCol="0" anchor="ctr"/>
          <a:lstStyle/>
          <a:p>
            <a:pPr algn="ctr" indent="0" marL="0">
              <a:buNone/>
            </a:pPr>
            <a:r>
              <a:rPr lang="en-US" sz="880" dirty="0">
                <a:solidFill>
                  <a:srgbClr val="5E7A80"/>
                </a:solidFill>
                <a:latin typeface="Calibri" pitchFamily="34" charset="0"/>
                <a:ea typeface="Calibri" pitchFamily="34" charset="-122"/>
                <a:cs typeface="Calibri" pitchFamily="34" charset="-120"/>
              </a:rPr>
              <a:t>AI now fetches products for search (2025)</a:t>
            </a:r>
            <a:endParaRPr lang="en-US" sz="880" dirty="0"/>
          </a:p>
        </p:txBody>
      </p:sp>
      <p:sp>
        <p:nvSpPr>
          <p:cNvPr id="44" name="Text 41"/>
          <p:cNvSpPr/>
          <p:nvPr/>
        </p:nvSpPr>
        <p:spPr>
          <a:xfrm>
            <a:off x="640080" y="6437376"/>
            <a:ext cx="10927080" cy="274320"/>
          </a:xfrm>
          <a:prstGeom prst="rect">
            <a:avLst/>
          </a:prstGeom>
          <a:noFill/>
          <a:ln/>
        </p:spPr>
        <p:txBody>
          <a:bodyPr wrap="square" lIns="0" tIns="0" rIns="0" bIns="0" rtlCol="0" anchor="ctr"/>
          <a:lstStyle/>
          <a:p>
            <a:pPr indent="0" marL="0">
              <a:buNone/>
            </a:pPr>
            <a:r>
              <a:rPr lang="en-US" sz="850" i="1" dirty="0">
                <a:solidFill>
                  <a:srgbClr val="5E7A80"/>
                </a:solidFill>
                <a:latin typeface="Calibri" pitchFamily="34" charset="0"/>
                <a:ea typeface="Calibri" pitchFamily="34" charset="-122"/>
                <a:cs typeface="Calibri" pitchFamily="34" charset="-120"/>
              </a:rPr>
              <a:t>Sources: Zhao et al. (Telepath), 2017; Li et al., 2021; Kong et al., 2025 (GenCTR, arXiv:2507.11246); JD GRAM &amp; CFRAG, 2025.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FF6B6B"/>
                </a:solidFill>
                <a:latin typeface="Calibri" pitchFamily="34" charset="0"/>
                <a:ea typeface="Calibri" pitchFamily="34" charset="-122"/>
                <a:cs typeface="Calibri" pitchFamily="34" charset="-120"/>
              </a:rPr>
              <a:t>BONUS · HOW REAL SYSTEMS GREW UP</a:t>
            </a:r>
            <a:endParaRPr lang="en-US" sz="1200" dirty="0"/>
          </a:p>
        </p:txBody>
      </p:sp>
      <p:sp>
        <p:nvSpPr>
          <p:cNvPr id="3" name="Text 1"/>
          <p:cNvSpPr/>
          <p:nvPr/>
        </p:nvSpPr>
        <p:spPr>
          <a:xfrm>
            <a:off x="640080" y="630936"/>
            <a:ext cx="10927080" cy="548640"/>
          </a:xfrm>
          <a:prstGeom prst="rect">
            <a:avLst/>
          </a:prstGeom>
          <a:noFill/>
          <a:ln/>
        </p:spPr>
        <p:txBody>
          <a:bodyPr wrap="square" lIns="0" tIns="0" rIns="0" bIns="0" rtlCol="0" anchor="ctr"/>
          <a:lstStyle/>
          <a:p>
            <a:pPr indent="0" marL="0">
              <a:buNone/>
            </a:pPr>
            <a:r>
              <a:rPr lang="en-US" sz="2500" b="1" dirty="0">
                <a:solidFill>
                  <a:srgbClr val="153A40"/>
                </a:solidFill>
                <a:latin typeface="Cambria" pitchFamily="34" charset="0"/>
                <a:ea typeface="Cambria" pitchFamily="34" charset="-122"/>
                <a:cs typeface="Cambria" pitchFamily="34" charset="-120"/>
              </a:rPr>
              <a:t>Who does AI help most? (by shopper type)</a:t>
            </a:r>
            <a:endParaRPr lang="en-US" sz="2500" dirty="0"/>
          </a:p>
        </p:txBody>
      </p:sp>
      <p:sp>
        <p:nvSpPr>
          <p:cNvPr id="4" name="Text 2"/>
          <p:cNvSpPr/>
          <p:nvPr/>
        </p:nvSpPr>
        <p:spPr>
          <a:xfrm>
            <a:off x="640080" y="1298448"/>
            <a:ext cx="10927080" cy="292608"/>
          </a:xfrm>
          <a:prstGeom prst="rect">
            <a:avLst/>
          </a:prstGeom>
          <a:noFill/>
          <a:ln/>
        </p:spPr>
        <p:txBody>
          <a:bodyPr wrap="square" lIns="0" tIns="0" rIns="0" bIns="0" rtlCol="0" anchor="ctr"/>
          <a:lstStyle/>
          <a:p>
            <a:pPr indent="0" marL="0">
              <a:buNone/>
            </a:pPr>
            <a:r>
              <a:rPr lang="en-US" sz="1300" i="1" dirty="0">
                <a:solidFill>
                  <a:srgbClr val="5E7A80"/>
                </a:solidFill>
                <a:latin typeface="Calibri" pitchFamily="34" charset="0"/>
                <a:ea typeface="Calibri" pitchFamily="34" charset="-122"/>
                <a:cs typeface="Calibri" pitchFamily="34" charset="-120"/>
              </a:rPr>
              <a:t>Different shoppers get different benefits. The big idea: AI helps new users most, because it can read words — not just past clicks.</a:t>
            </a:r>
            <a:endParaRPr lang="en-US" sz="1300" dirty="0"/>
          </a:p>
        </p:txBody>
      </p:sp>
      <p:sp>
        <p:nvSpPr>
          <p:cNvPr id="5" name="Shape 3"/>
          <p:cNvSpPr/>
          <p:nvPr/>
        </p:nvSpPr>
        <p:spPr>
          <a:xfrm>
            <a:off x="640080" y="1783080"/>
            <a:ext cx="3566160" cy="3703320"/>
          </a:xfrm>
          <a:prstGeom prst="roundRect">
            <a:avLst>
              <a:gd name="adj" fmla="val 3590"/>
            </a:avLst>
          </a:prstGeom>
          <a:solidFill>
            <a:srgbClr val="EAF7F5"/>
          </a:solidFill>
          <a:ln/>
          <a:effectLst>
            <a:outerShdw sx="100000" sy="100000" kx="0" ky="0" algn="bl" rotWithShape="0" blurRad="127000" dist="50800" dir="5400000">
              <a:srgbClr val="8A93A6">
                <a:alpha val="13000"/>
              </a:srgbClr>
            </a:outerShdw>
          </a:effectLst>
        </p:spPr>
      </p:sp>
      <p:sp>
        <p:nvSpPr>
          <p:cNvPr id="6" name="Shape 4"/>
          <p:cNvSpPr/>
          <p:nvPr/>
        </p:nvSpPr>
        <p:spPr>
          <a:xfrm>
            <a:off x="640080" y="1783080"/>
            <a:ext cx="3566160" cy="109728"/>
          </a:xfrm>
          <a:prstGeom prst="roundRect">
            <a:avLst>
              <a:gd name="adj" fmla="val 50000"/>
            </a:avLst>
          </a:prstGeom>
          <a:solidFill>
            <a:srgbClr val="E23E57"/>
          </a:solidFill>
          <a:ln/>
        </p:spPr>
      </p:sp>
      <p:sp>
        <p:nvSpPr>
          <p:cNvPr id="7" name="Shape 5"/>
          <p:cNvSpPr/>
          <p:nvPr/>
        </p:nvSpPr>
        <p:spPr>
          <a:xfrm>
            <a:off x="914400" y="2075688"/>
            <a:ext cx="658368" cy="658368"/>
          </a:xfrm>
          <a:prstGeom prst="ellipse">
            <a:avLst/>
          </a:prstGeom>
          <a:solidFill>
            <a:srgbClr val="E23E57"/>
          </a:solidFill>
          <a:ln/>
          <a:effectLst>
            <a:outerShdw sx="100000" sy="100000" kx="0" ky="0" algn="bl" rotWithShape="0" blurRad="127000" dist="50800" dir="5400000">
              <a:srgbClr val="8A93A6">
                <a:alpha val="13000"/>
              </a:srgbClr>
            </a:outerShdw>
          </a:effectLst>
        </p:spPr>
      </p:sp>
      <p:pic>
        <p:nvPicPr>
          <p:cNvPr id="8" name="Image 0" descr="preencoded.png">    </p:cNvPr>
          <p:cNvPicPr>
            <a:picLocks noChangeAspect="1"/>
          </p:cNvPicPr>
          <p:nvPr/>
        </p:nvPicPr>
        <p:blipFill>
          <a:blip r:embed="rId1"/>
          <a:stretch>
            <a:fillRect/>
          </a:stretch>
        </p:blipFill>
        <p:spPr>
          <a:xfrm>
            <a:off x="1092159" y="2253447"/>
            <a:ext cx="302849" cy="302849"/>
          </a:xfrm>
          <a:prstGeom prst="rect">
            <a:avLst/>
          </a:prstGeom>
        </p:spPr>
      </p:pic>
      <p:sp>
        <p:nvSpPr>
          <p:cNvPr id="9" name="Text 6"/>
          <p:cNvSpPr/>
          <p:nvPr/>
        </p:nvSpPr>
        <p:spPr>
          <a:xfrm>
            <a:off x="1737360" y="2093976"/>
            <a:ext cx="2286000" cy="365760"/>
          </a:xfrm>
          <a:prstGeom prst="rect">
            <a:avLst/>
          </a:prstGeom>
          <a:noFill/>
          <a:ln/>
        </p:spPr>
        <p:txBody>
          <a:bodyPr wrap="square" lIns="0" tIns="0" rIns="0" bIns="0" rtlCol="0" anchor="ctr"/>
          <a:lstStyle/>
          <a:p>
            <a:pPr indent="0" marL="0">
              <a:buNone/>
            </a:pPr>
            <a:r>
              <a:rPr lang="en-US" sz="1550" b="1" dirty="0">
                <a:solidFill>
                  <a:srgbClr val="153A40"/>
                </a:solidFill>
                <a:latin typeface="Cambria" pitchFamily="34" charset="0"/>
                <a:ea typeface="Cambria" pitchFamily="34" charset="-122"/>
                <a:cs typeface="Cambria" pitchFamily="34" charset="-120"/>
              </a:rPr>
              <a:t>New shoppers</a:t>
            </a:r>
            <a:endParaRPr lang="en-US" sz="1550" dirty="0"/>
          </a:p>
        </p:txBody>
      </p:sp>
      <p:sp>
        <p:nvSpPr>
          <p:cNvPr id="10" name="Text 7"/>
          <p:cNvSpPr/>
          <p:nvPr/>
        </p:nvSpPr>
        <p:spPr>
          <a:xfrm>
            <a:off x="1737360" y="2459736"/>
            <a:ext cx="2286000" cy="274320"/>
          </a:xfrm>
          <a:prstGeom prst="rect">
            <a:avLst/>
          </a:prstGeom>
          <a:noFill/>
          <a:ln/>
        </p:spPr>
        <p:txBody>
          <a:bodyPr wrap="square" lIns="0" tIns="0" rIns="0" bIns="0" rtlCol="0" anchor="ctr"/>
          <a:lstStyle/>
          <a:p>
            <a:pPr indent="0" marL="0">
              <a:buNone/>
            </a:pPr>
            <a:r>
              <a:rPr lang="en-US" sz="1050" i="1" dirty="0">
                <a:solidFill>
                  <a:srgbClr val="5E7A80"/>
                </a:solidFill>
                <a:latin typeface="Calibri" pitchFamily="34" charset="0"/>
                <a:ea typeface="Calibri" pitchFamily="34" charset="-122"/>
                <a:cs typeface="Calibri" pitchFamily="34" charset="-120"/>
              </a:rPr>
              <a:t>We barely know them yet</a:t>
            </a:r>
            <a:endParaRPr lang="en-US" sz="1050" dirty="0"/>
          </a:p>
        </p:txBody>
      </p:sp>
      <p:sp>
        <p:nvSpPr>
          <p:cNvPr id="11" name="Shape 8"/>
          <p:cNvSpPr/>
          <p:nvPr/>
        </p:nvSpPr>
        <p:spPr>
          <a:xfrm>
            <a:off x="932688" y="3072384"/>
            <a:ext cx="109728" cy="109728"/>
          </a:xfrm>
          <a:prstGeom prst="ellipse">
            <a:avLst/>
          </a:prstGeom>
          <a:solidFill>
            <a:srgbClr val="E23E57"/>
          </a:solidFill>
          <a:ln/>
        </p:spPr>
      </p:sp>
      <p:sp>
        <p:nvSpPr>
          <p:cNvPr id="12" name="Text 9"/>
          <p:cNvSpPr/>
          <p:nvPr/>
        </p:nvSpPr>
        <p:spPr>
          <a:xfrm>
            <a:off x="1152144" y="2980944"/>
            <a:ext cx="2816352" cy="777240"/>
          </a:xfrm>
          <a:prstGeom prst="rect">
            <a:avLst/>
          </a:prstGeom>
          <a:noFill/>
          <a:ln/>
        </p:spPr>
        <p:txBody>
          <a:bodyPr wrap="square" lIns="0" tIns="0" rIns="0" bIns="0" rtlCol="0" anchor="t"/>
          <a:lstStyle/>
          <a:p>
            <a:pPr indent="0" marL="0">
              <a:buNone/>
            </a:pPr>
            <a:r>
              <a:rPr lang="en-US" sz="1030" b="1" dirty="0">
                <a:solidFill>
                  <a:srgbClr val="153A40"/>
                </a:solidFill>
                <a:latin typeface="Calibri" pitchFamily="34" charset="0"/>
                <a:ea typeface="Calibri" pitchFamily="34" charset="-122"/>
                <a:cs typeface="Calibri" pitchFamily="34" charset="-120"/>
              </a:rPr>
              <a:t>Why it helps: </a:t>
            </a:r>
            <a:pPr indent="0" marL="0">
              <a:buNone/>
            </a:pPr>
            <a:r>
              <a:rPr lang="en-US" sz="1030" dirty="0">
                <a:solidFill>
                  <a:srgbClr val="5E7A80"/>
                </a:solidFill>
                <a:latin typeface="Calibri" pitchFamily="34" charset="0"/>
                <a:ea typeface="Calibri" pitchFamily="34" charset="-122"/>
                <a:cs typeface="Calibri" pitchFamily="34" charset="-120"/>
              </a:rPr>
              <a:t>AI reads product text, so it can suggest even with no history</a:t>
            </a:r>
            <a:endParaRPr lang="en-US" sz="1030" dirty="0"/>
          </a:p>
        </p:txBody>
      </p:sp>
      <p:sp>
        <p:nvSpPr>
          <p:cNvPr id="13" name="Shape 10"/>
          <p:cNvSpPr/>
          <p:nvPr/>
        </p:nvSpPr>
        <p:spPr>
          <a:xfrm>
            <a:off x="932688" y="3913632"/>
            <a:ext cx="109728" cy="109728"/>
          </a:xfrm>
          <a:prstGeom prst="ellipse">
            <a:avLst/>
          </a:prstGeom>
          <a:solidFill>
            <a:srgbClr val="E23E57"/>
          </a:solidFill>
          <a:ln/>
        </p:spPr>
      </p:sp>
      <p:sp>
        <p:nvSpPr>
          <p:cNvPr id="14" name="Text 11"/>
          <p:cNvSpPr/>
          <p:nvPr/>
        </p:nvSpPr>
        <p:spPr>
          <a:xfrm>
            <a:off x="1152144" y="3822192"/>
            <a:ext cx="2816352" cy="777240"/>
          </a:xfrm>
          <a:prstGeom prst="rect">
            <a:avLst/>
          </a:prstGeom>
          <a:noFill/>
          <a:ln/>
        </p:spPr>
        <p:txBody>
          <a:bodyPr wrap="square" lIns="0" tIns="0" rIns="0" bIns="0" rtlCol="0" anchor="t"/>
          <a:lstStyle/>
          <a:p>
            <a:pPr indent="0" marL="0">
              <a:buNone/>
            </a:pPr>
            <a:r>
              <a:rPr lang="en-US" sz="1030" b="1" dirty="0">
                <a:solidFill>
                  <a:srgbClr val="153A40"/>
                </a:solidFill>
                <a:latin typeface="Calibri" pitchFamily="34" charset="0"/>
                <a:ea typeface="Calibri" pitchFamily="34" charset="-122"/>
                <a:cs typeface="Calibri" pitchFamily="34" charset="-120"/>
              </a:rPr>
              <a:t>Alibaba: </a:t>
            </a:r>
            <a:pPr indent="0" marL="0">
              <a:buNone/>
            </a:pPr>
            <a:r>
              <a:rPr lang="en-US" sz="1030" dirty="0">
                <a:solidFill>
                  <a:srgbClr val="5E7A80"/>
                </a:solidFill>
                <a:latin typeface="Calibri" pitchFamily="34" charset="0"/>
                <a:ea typeface="Calibri" pitchFamily="34" charset="-122"/>
                <a:cs typeface="Calibri" pitchFamily="34" charset="-120"/>
              </a:rPr>
              <a:t>shows far more new categories: 18.8% → 46.2% (2025)</a:t>
            </a:r>
            <a:endParaRPr lang="en-US" sz="1030" dirty="0"/>
          </a:p>
        </p:txBody>
      </p:sp>
      <p:sp>
        <p:nvSpPr>
          <p:cNvPr id="15" name="Shape 12"/>
          <p:cNvSpPr/>
          <p:nvPr/>
        </p:nvSpPr>
        <p:spPr>
          <a:xfrm>
            <a:off x="932688" y="4754880"/>
            <a:ext cx="109728" cy="109728"/>
          </a:xfrm>
          <a:prstGeom prst="ellipse">
            <a:avLst/>
          </a:prstGeom>
          <a:solidFill>
            <a:srgbClr val="E23E57"/>
          </a:solidFill>
          <a:ln/>
        </p:spPr>
      </p:sp>
      <p:sp>
        <p:nvSpPr>
          <p:cNvPr id="16" name="Text 13"/>
          <p:cNvSpPr/>
          <p:nvPr/>
        </p:nvSpPr>
        <p:spPr>
          <a:xfrm>
            <a:off x="1152144" y="4663440"/>
            <a:ext cx="2816352" cy="777240"/>
          </a:xfrm>
          <a:prstGeom prst="rect">
            <a:avLst/>
          </a:prstGeom>
          <a:noFill/>
          <a:ln/>
        </p:spPr>
        <p:txBody>
          <a:bodyPr wrap="square" lIns="0" tIns="0" rIns="0" bIns="0" rtlCol="0" anchor="t"/>
          <a:lstStyle/>
          <a:p>
            <a:pPr indent="0" marL="0">
              <a:buNone/>
            </a:pPr>
            <a:r>
              <a:rPr lang="en-US" sz="1030" b="1" dirty="0">
                <a:solidFill>
                  <a:srgbClr val="153A40"/>
                </a:solidFill>
                <a:latin typeface="Calibri" pitchFamily="34" charset="0"/>
                <a:ea typeface="Calibri" pitchFamily="34" charset="-122"/>
                <a:cs typeface="Calibri" pitchFamily="34" charset="-120"/>
              </a:rPr>
              <a:t>Netflix: </a:t>
            </a:r>
            <a:pPr indent="0" marL="0">
              <a:buNone/>
            </a:pPr>
            <a:r>
              <a:rPr lang="en-US" sz="1030" dirty="0">
                <a:solidFill>
                  <a:srgbClr val="5E7A80"/>
                </a:solidFill>
                <a:latin typeface="Calibri" pitchFamily="34" charset="0"/>
                <a:ea typeface="Calibri" pitchFamily="34" charset="-122"/>
                <a:cs typeface="Calibri" pitchFamily="34" charset="-120"/>
              </a:rPr>
              <a:t>+8% better at surfacing brand-new titles (2025)</a:t>
            </a:r>
            <a:endParaRPr lang="en-US" sz="1030" dirty="0"/>
          </a:p>
        </p:txBody>
      </p:sp>
      <p:sp>
        <p:nvSpPr>
          <p:cNvPr id="17" name="Shape 14"/>
          <p:cNvSpPr/>
          <p:nvPr/>
        </p:nvSpPr>
        <p:spPr>
          <a:xfrm>
            <a:off x="4370832" y="1783080"/>
            <a:ext cx="3566160" cy="3703320"/>
          </a:xfrm>
          <a:prstGeom prst="roundRect">
            <a:avLst>
              <a:gd name="adj" fmla="val 3590"/>
            </a:avLst>
          </a:prstGeom>
          <a:solidFill>
            <a:srgbClr val="EAF7F5"/>
          </a:solidFill>
          <a:ln/>
          <a:effectLst>
            <a:outerShdw sx="100000" sy="100000" kx="0" ky="0" algn="bl" rotWithShape="0" blurRad="127000" dist="50800" dir="5400000">
              <a:srgbClr val="8A93A6">
                <a:alpha val="13000"/>
              </a:srgbClr>
            </a:outerShdw>
          </a:effectLst>
        </p:spPr>
      </p:sp>
      <p:sp>
        <p:nvSpPr>
          <p:cNvPr id="18" name="Shape 15"/>
          <p:cNvSpPr/>
          <p:nvPr/>
        </p:nvSpPr>
        <p:spPr>
          <a:xfrm>
            <a:off x="4370832" y="1783080"/>
            <a:ext cx="3566160" cy="109728"/>
          </a:xfrm>
          <a:prstGeom prst="roundRect">
            <a:avLst>
              <a:gd name="adj" fmla="val 50000"/>
            </a:avLst>
          </a:prstGeom>
          <a:solidFill>
            <a:srgbClr val="00A896"/>
          </a:solidFill>
          <a:ln/>
        </p:spPr>
      </p:sp>
      <p:sp>
        <p:nvSpPr>
          <p:cNvPr id="19" name="Shape 16"/>
          <p:cNvSpPr/>
          <p:nvPr/>
        </p:nvSpPr>
        <p:spPr>
          <a:xfrm>
            <a:off x="4645152" y="2075688"/>
            <a:ext cx="658368" cy="658368"/>
          </a:xfrm>
          <a:prstGeom prst="ellipse">
            <a:avLst/>
          </a:prstGeom>
          <a:solidFill>
            <a:srgbClr val="00A896"/>
          </a:solidFill>
          <a:ln/>
          <a:effectLst>
            <a:outerShdw sx="100000" sy="100000" kx="0" ky="0" algn="bl" rotWithShape="0" blurRad="127000" dist="50800" dir="5400000">
              <a:srgbClr val="8A93A6">
                <a:alpha val="13000"/>
              </a:srgbClr>
            </a:outerShdw>
          </a:effectLst>
        </p:spPr>
      </p:sp>
      <p:pic>
        <p:nvPicPr>
          <p:cNvPr id="20" name="Image 1" descr="preencoded.png">    </p:cNvPr>
          <p:cNvPicPr>
            <a:picLocks noChangeAspect="1"/>
          </p:cNvPicPr>
          <p:nvPr/>
        </p:nvPicPr>
        <p:blipFill>
          <a:blip r:embed="rId2"/>
          <a:stretch>
            <a:fillRect/>
          </a:stretch>
        </p:blipFill>
        <p:spPr>
          <a:xfrm>
            <a:off x="4822911" y="2253447"/>
            <a:ext cx="302849" cy="302849"/>
          </a:xfrm>
          <a:prstGeom prst="rect">
            <a:avLst/>
          </a:prstGeom>
        </p:spPr>
      </p:pic>
      <p:sp>
        <p:nvSpPr>
          <p:cNvPr id="21" name="Text 17"/>
          <p:cNvSpPr/>
          <p:nvPr/>
        </p:nvSpPr>
        <p:spPr>
          <a:xfrm>
            <a:off x="5468112" y="2093976"/>
            <a:ext cx="2286000" cy="365760"/>
          </a:xfrm>
          <a:prstGeom prst="rect">
            <a:avLst/>
          </a:prstGeom>
          <a:noFill/>
          <a:ln/>
        </p:spPr>
        <p:txBody>
          <a:bodyPr wrap="square" lIns="0" tIns="0" rIns="0" bIns="0" rtlCol="0" anchor="ctr"/>
          <a:lstStyle/>
          <a:p>
            <a:pPr indent="0" marL="0">
              <a:buNone/>
            </a:pPr>
            <a:r>
              <a:rPr lang="en-US" sz="1550" b="1" dirty="0">
                <a:solidFill>
                  <a:srgbClr val="153A40"/>
                </a:solidFill>
                <a:latin typeface="Cambria" pitchFamily="34" charset="0"/>
                <a:ea typeface="Cambria" pitchFamily="34" charset="-122"/>
                <a:cs typeface="Cambria" pitchFamily="34" charset="-120"/>
              </a:rPr>
              <a:t>Occasional shoppers</a:t>
            </a:r>
            <a:endParaRPr lang="en-US" sz="1550" dirty="0"/>
          </a:p>
        </p:txBody>
      </p:sp>
      <p:sp>
        <p:nvSpPr>
          <p:cNvPr id="22" name="Text 18"/>
          <p:cNvSpPr/>
          <p:nvPr/>
        </p:nvSpPr>
        <p:spPr>
          <a:xfrm>
            <a:off x="5468112" y="2459736"/>
            <a:ext cx="2286000" cy="274320"/>
          </a:xfrm>
          <a:prstGeom prst="rect">
            <a:avLst/>
          </a:prstGeom>
          <a:noFill/>
          <a:ln/>
        </p:spPr>
        <p:txBody>
          <a:bodyPr wrap="square" lIns="0" tIns="0" rIns="0" bIns="0" rtlCol="0" anchor="ctr"/>
          <a:lstStyle/>
          <a:p>
            <a:pPr indent="0" marL="0">
              <a:buNone/>
            </a:pPr>
            <a:r>
              <a:rPr lang="en-US" sz="1050" i="1" dirty="0">
                <a:solidFill>
                  <a:srgbClr val="5E7A80"/>
                </a:solidFill>
                <a:latin typeface="Calibri" pitchFamily="34" charset="0"/>
                <a:ea typeface="Calibri" pitchFamily="34" charset="-122"/>
                <a:cs typeface="Calibri" pitchFamily="34" charset="-120"/>
              </a:rPr>
              <a:t>They drop in now and then</a:t>
            </a:r>
            <a:endParaRPr lang="en-US" sz="1050" dirty="0"/>
          </a:p>
        </p:txBody>
      </p:sp>
      <p:sp>
        <p:nvSpPr>
          <p:cNvPr id="23" name="Shape 19"/>
          <p:cNvSpPr/>
          <p:nvPr/>
        </p:nvSpPr>
        <p:spPr>
          <a:xfrm>
            <a:off x="4663440" y="3072384"/>
            <a:ext cx="109728" cy="109728"/>
          </a:xfrm>
          <a:prstGeom prst="ellipse">
            <a:avLst/>
          </a:prstGeom>
          <a:solidFill>
            <a:srgbClr val="00A896"/>
          </a:solidFill>
          <a:ln/>
        </p:spPr>
      </p:sp>
      <p:sp>
        <p:nvSpPr>
          <p:cNvPr id="24" name="Text 20"/>
          <p:cNvSpPr/>
          <p:nvPr/>
        </p:nvSpPr>
        <p:spPr>
          <a:xfrm>
            <a:off x="4882896" y="2980944"/>
            <a:ext cx="2816352" cy="777240"/>
          </a:xfrm>
          <a:prstGeom prst="rect">
            <a:avLst/>
          </a:prstGeom>
          <a:noFill/>
          <a:ln/>
        </p:spPr>
        <p:txBody>
          <a:bodyPr wrap="square" lIns="0" tIns="0" rIns="0" bIns="0" rtlCol="0" anchor="t"/>
          <a:lstStyle/>
          <a:p>
            <a:pPr indent="0" marL="0">
              <a:buNone/>
            </a:pPr>
            <a:r>
              <a:rPr lang="en-US" sz="1030" b="1" dirty="0">
                <a:solidFill>
                  <a:srgbClr val="153A40"/>
                </a:solidFill>
                <a:latin typeface="Calibri" pitchFamily="34" charset="0"/>
                <a:ea typeface="Calibri" pitchFamily="34" charset="-122"/>
                <a:cs typeface="Calibri" pitchFamily="34" charset="-120"/>
              </a:rPr>
              <a:t>Amazon Rufus: </a:t>
            </a:r>
            <a:pPr indent="0" marL="0">
              <a:buNone/>
            </a:pPr>
            <a:r>
              <a:rPr lang="en-US" sz="1030" dirty="0">
                <a:solidFill>
                  <a:srgbClr val="5E7A80"/>
                </a:solidFill>
                <a:latin typeface="Calibri" pitchFamily="34" charset="0"/>
                <a:ea typeface="Calibri" pitchFamily="34" charset="-122"/>
                <a:cs typeface="Calibri" pitchFamily="34" charset="-120"/>
              </a:rPr>
              <a:t>answers their questions in plain language (2025)</a:t>
            </a:r>
            <a:endParaRPr lang="en-US" sz="1030" dirty="0"/>
          </a:p>
        </p:txBody>
      </p:sp>
      <p:sp>
        <p:nvSpPr>
          <p:cNvPr id="25" name="Shape 21"/>
          <p:cNvSpPr/>
          <p:nvPr/>
        </p:nvSpPr>
        <p:spPr>
          <a:xfrm>
            <a:off x="4663440" y="3913632"/>
            <a:ext cx="109728" cy="109728"/>
          </a:xfrm>
          <a:prstGeom prst="ellipse">
            <a:avLst/>
          </a:prstGeom>
          <a:solidFill>
            <a:srgbClr val="00A896"/>
          </a:solidFill>
          <a:ln/>
        </p:spPr>
      </p:sp>
      <p:sp>
        <p:nvSpPr>
          <p:cNvPr id="26" name="Text 22"/>
          <p:cNvSpPr/>
          <p:nvPr/>
        </p:nvSpPr>
        <p:spPr>
          <a:xfrm>
            <a:off x="4882896" y="3822192"/>
            <a:ext cx="2816352" cy="777240"/>
          </a:xfrm>
          <a:prstGeom prst="rect">
            <a:avLst/>
          </a:prstGeom>
          <a:noFill/>
          <a:ln/>
        </p:spPr>
        <p:txBody>
          <a:bodyPr wrap="square" lIns="0" tIns="0" rIns="0" bIns="0" rtlCol="0" anchor="t"/>
          <a:lstStyle/>
          <a:p>
            <a:pPr indent="0" marL="0">
              <a:buNone/>
            </a:pPr>
            <a:r>
              <a:rPr lang="en-US" sz="1030" b="1" dirty="0">
                <a:solidFill>
                  <a:srgbClr val="153A40"/>
                </a:solidFill>
                <a:latin typeface="Calibri" pitchFamily="34" charset="0"/>
                <a:ea typeface="Calibri" pitchFamily="34" charset="-122"/>
                <a:cs typeface="Calibri" pitchFamily="34" charset="-120"/>
              </a:rPr>
              <a:t>Taobao RecGPT: </a:t>
            </a:r>
            <a:pPr indent="0" marL="0">
              <a:buNone/>
            </a:pPr>
            <a:r>
              <a:rPr lang="en-US" sz="1030" dirty="0">
                <a:solidFill>
                  <a:srgbClr val="5E7A80"/>
                </a:solidFill>
                <a:latin typeface="Calibri" pitchFamily="34" charset="0"/>
                <a:ea typeface="Calibri" pitchFamily="34" charset="-122"/>
                <a:cs typeface="Calibri" pitchFamily="34" charset="-120"/>
              </a:rPr>
              <a:t>guesses intent instead of just past clicks (2025)</a:t>
            </a:r>
            <a:endParaRPr lang="en-US" sz="1030" dirty="0"/>
          </a:p>
        </p:txBody>
      </p:sp>
      <p:sp>
        <p:nvSpPr>
          <p:cNvPr id="27" name="Shape 23"/>
          <p:cNvSpPr/>
          <p:nvPr/>
        </p:nvSpPr>
        <p:spPr>
          <a:xfrm>
            <a:off x="4663440" y="4754880"/>
            <a:ext cx="109728" cy="109728"/>
          </a:xfrm>
          <a:prstGeom prst="ellipse">
            <a:avLst/>
          </a:prstGeom>
          <a:solidFill>
            <a:srgbClr val="00A896"/>
          </a:solidFill>
          <a:ln/>
        </p:spPr>
      </p:sp>
      <p:sp>
        <p:nvSpPr>
          <p:cNvPr id="28" name="Text 24"/>
          <p:cNvSpPr/>
          <p:nvPr/>
        </p:nvSpPr>
        <p:spPr>
          <a:xfrm>
            <a:off x="4882896" y="4663440"/>
            <a:ext cx="2816352" cy="777240"/>
          </a:xfrm>
          <a:prstGeom prst="rect">
            <a:avLst/>
          </a:prstGeom>
          <a:noFill/>
          <a:ln/>
        </p:spPr>
        <p:txBody>
          <a:bodyPr wrap="square" lIns="0" tIns="0" rIns="0" bIns="0" rtlCol="0" anchor="t"/>
          <a:lstStyle/>
          <a:p>
            <a:pPr indent="0" marL="0">
              <a:buNone/>
            </a:pPr>
            <a:r>
              <a:rPr lang="en-US" sz="1030" b="1" dirty="0">
                <a:solidFill>
                  <a:srgbClr val="153A40"/>
                </a:solidFill>
                <a:latin typeface="Calibri" pitchFamily="34" charset="0"/>
                <a:ea typeface="Calibri" pitchFamily="34" charset="-122"/>
                <a:cs typeface="Calibri" pitchFamily="34" charset="-120"/>
              </a:rPr>
              <a:t>Plain-language search: </a:t>
            </a:r>
            <a:pPr indent="0" marL="0">
              <a:buNone/>
            </a:pPr>
            <a:r>
              <a:rPr lang="en-US" sz="1030" dirty="0">
                <a:solidFill>
                  <a:srgbClr val="5E7A80"/>
                </a:solidFill>
                <a:latin typeface="Calibri" pitchFamily="34" charset="0"/>
                <a:ea typeface="Calibri" pitchFamily="34" charset="-122"/>
                <a:cs typeface="Calibri" pitchFamily="34" charset="-120"/>
              </a:rPr>
              <a:t>type what you mean, not exact keywords</a:t>
            </a:r>
            <a:endParaRPr lang="en-US" sz="1030" dirty="0"/>
          </a:p>
        </p:txBody>
      </p:sp>
      <p:sp>
        <p:nvSpPr>
          <p:cNvPr id="29" name="Shape 25"/>
          <p:cNvSpPr/>
          <p:nvPr/>
        </p:nvSpPr>
        <p:spPr>
          <a:xfrm>
            <a:off x="8101584" y="1783080"/>
            <a:ext cx="3566160" cy="3703320"/>
          </a:xfrm>
          <a:prstGeom prst="roundRect">
            <a:avLst>
              <a:gd name="adj" fmla="val 3590"/>
            </a:avLst>
          </a:prstGeom>
          <a:solidFill>
            <a:srgbClr val="EAF7F5"/>
          </a:solidFill>
          <a:ln/>
          <a:effectLst>
            <a:outerShdw sx="100000" sy="100000" kx="0" ky="0" algn="bl" rotWithShape="0" blurRad="127000" dist="50800" dir="5400000">
              <a:srgbClr val="8A93A6">
                <a:alpha val="13000"/>
              </a:srgbClr>
            </a:outerShdw>
          </a:effectLst>
        </p:spPr>
      </p:sp>
      <p:sp>
        <p:nvSpPr>
          <p:cNvPr id="30" name="Shape 26"/>
          <p:cNvSpPr/>
          <p:nvPr/>
        </p:nvSpPr>
        <p:spPr>
          <a:xfrm>
            <a:off x="8101584" y="1783080"/>
            <a:ext cx="3566160" cy="109728"/>
          </a:xfrm>
          <a:prstGeom prst="roundRect">
            <a:avLst>
              <a:gd name="adj" fmla="val 50000"/>
            </a:avLst>
          </a:prstGeom>
          <a:solidFill>
            <a:srgbClr val="028090"/>
          </a:solidFill>
          <a:ln/>
        </p:spPr>
      </p:sp>
      <p:sp>
        <p:nvSpPr>
          <p:cNvPr id="31" name="Shape 27"/>
          <p:cNvSpPr/>
          <p:nvPr/>
        </p:nvSpPr>
        <p:spPr>
          <a:xfrm>
            <a:off x="8375904" y="2075688"/>
            <a:ext cx="658368" cy="658368"/>
          </a:xfrm>
          <a:prstGeom prst="ellipse">
            <a:avLst/>
          </a:prstGeom>
          <a:solidFill>
            <a:srgbClr val="028090"/>
          </a:solidFill>
          <a:ln/>
          <a:effectLst>
            <a:outerShdw sx="100000" sy="100000" kx="0" ky="0" algn="bl" rotWithShape="0" blurRad="127000" dist="50800" dir="5400000">
              <a:srgbClr val="8A93A6">
                <a:alpha val="13000"/>
              </a:srgbClr>
            </a:outerShdw>
          </a:effectLst>
        </p:spPr>
      </p:sp>
      <p:pic>
        <p:nvPicPr>
          <p:cNvPr id="32" name="Image 2" descr="preencoded.png">    </p:cNvPr>
          <p:cNvPicPr>
            <a:picLocks noChangeAspect="1"/>
          </p:cNvPicPr>
          <p:nvPr/>
        </p:nvPicPr>
        <p:blipFill>
          <a:blip r:embed="rId3"/>
          <a:stretch>
            <a:fillRect/>
          </a:stretch>
        </p:blipFill>
        <p:spPr>
          <a:xfrm>
            <a:off x="8553663" y="2253447"/>
            <a:ext cx="302849" cy="302849"/>
          </a:xfrm>
          <a:prstGeom prst="rect">
            <a:avLst/>
          </a:prstGeom>
        </p:spPr>
      </p:pic>
      <p:sp>
        <p:nvSpPr>
          <p:cNvPr id="33" name="Text 28"/>
          <p:cNvSpPr/>
          <p:nvPr/>
        </p:nvSpPr>
        <p:spPr>
          <a:xfrm>
            <a:off x="9198864" y="2093976"/>
            <a:ext cx="2286000" cy="365760"/>
          </a:xfrm>
          <a:prstGeom prst="rect">
            <a:avLst/>
          </a:prstGeom>
          <a:noFill/>
          <a:ln/>
        </p:spPr>
        <p:txBody>
          <a:bodyPr wrap="square" lIns="0" tIns="0" rIns="0" bIns="0" rtlCol="0" anchor="ctr"/>
          <a:lstStyle/>
          <a:p>
            <a:pPr indent="0" marL="0">
              <a:buNone/>
            </a:pPr>
            <a:r>
              <a:rPr lang="en-US" sz="1550" b="1" dirty="0">
                <a:solidFill>
                  <a:srgbClr val="153A40"/>
                </a:solidFill>
                <a:latin typeface="Cambria" pitchFamily="34" charset="0"/>
                <a:ea typeface="Cambria" pitchFamily="34" charset="-122"/>
                <a:cs typeface="Cambria" pitchFamily="34" charset="-120"/>
              </a:rPr>
              <a:t>Loyal shoppers</a:t>
            </a:r>
            <a:endParaRPr lang="en-US" sz="1550" dirty="0"/>
          </a:p>
        </p:txBody>
      </p:sp>
      <p:sp>
        <p:nvSpPr>
          <p:cNvPr id="34" name="Text 29"/>
          <p:cNvSpPr/>
          <p:nvPr/>
        </p:nvSpPr>
        <p:spPr>
          <a:xfrm>
            <a:off x="9198864" y="2459736"/>
            <a:ext cx="2286000" cy="274320"/>
          </a:xfrm>
          <a:prstGeom prst="rect">
            <a:avLst/>
          </a:prstGeom>
          <a:noFill/>
          <a:ln/>
        </p:spPr>
        <p:txBody>
          <a:bodyPr wrap="square" lIns="0" tIns="0" rIns="0" bIns="0" rtlCol="0" anchor="ctr"/>
          <a:lstStyle/>
          <a:p>
            <a:pPr indent="0" marL="0">
              <a:buNone/>
            </a:pPr>
            <a:r>
              <a:rPr lang="en-US" sz="1050" i="1" dirty="0">
                <a:solidFill>
                  <a:srgbClr val="5E7A80"/>
                </a:solidFill>
                <a:latin typeface="Calibri" pitchFamily="34" charset="0"/>
                <a:ea typeface="Calibri" pitchFamily="34" charset="-122"/>
                <a:cs typeface="Calibri" pitchFamily="34" charset="-120"/>
              </a:rPr>
              <a:t>Lots of history to learn from</a:t>
            </a:r>
            <a:endParaRPr lang="en-US" sz="1050" dirty="0"/>
          </a:p>
        </p:txBody>
      </p:sp>
      <p:sp>
        <p:nvSpPr>
          <p:cNvPr id="35" name="Shape 30"/>
          <p:cNvSpPr/>
          <p:nvPr/>
        </p:nvSpPr>
        <p:spPr>
          <a:xfrm>
            <a:off x="8394192" y="3072384"/>
            <a:ext cx="109728" cy="109728"/>
          </a:xfrm>
          <a:prstGeom prst="ellipse">
            <a:avLst/>
          </a:prstGeom>
          <a:solidFill>
            <a:srgbClr val="028090"/>
          </a:solidFill>
          <a:ln/>
        </p:spPr>
      </p:sp>
      <p:sp>
        <p:nvSpPr>
          <p:cNvPr id="36" name="Text 31"/>
          <p:cNvSpPr/>
          <p:nvPr/>
        </p:nvSpPr>
        <p:spPr>
          <a:xfrm>
            <a:off x="8613648" y="2980944"/>
            <a:ext cx="2816352" cy="777240"/>
          </a:xfrm>
          <a:prstGeom prst="rect">
            <a:avLst/>
          </a:prstGeom>
          <a:noFill/>
          <a:ln/>
        </p:spPr>
        <p:txBody>
          <a:bodyPr wrap="square" lIns="0" tIns="0" rIns="0" bIns="0" rtlCol="0" anchor="t"/>
          <a:lstStyle/>
          <a:p>
            <a:pPr indent="0" marL="0">
              <a:buNone/>
            </a:pPr>
            <a:r>
              <a:rPr lang="en-US" sz="1030" b="1" dirty="0">
                <a:solidFill>
                  <a:srgbClr val="153A40"/>
                </a:solidFill>
                <a:latin typeface="Calibri" pitchFamily="34" charset="0"/>
                <a:ea typeface="Calibri" pitchFamily="34" charset="-122"/>
                <a:cs typeface="Calibri" pitchFamily="34" charset="-120"/>
              </a:rPr>
              <a:t>Amazon: </a:t>
            </a:r>
            <a:pPr indent="0" marL="0">
              <a:buNone/>
            </a:pPr>
            <a:r>
              <a:rPr lang="en-US" sz="1030" dirty="0">
                <a:solidFill>
                  <a:srgbClr val="5E7A80"/>
                </a:solidFill>
                <a:latin typeface="Calibri" pitchFamily="34" charset="0"/>
                <a:ea typeface="Calibri" pitchFamily="34" charset="-122"/>
                <a:cs typeface="Calibri" pitchFamily="34" charset="-120"/>
              </a:rPr>
              <a:t>engaged shoppers buy 60% more often (2025)</a:t>
            </a:r>
            <a:endParaRPr lang="en-US" sz="1030" dirty="0"/>
          </a:p>
        </p:txBody>
      </p:sp>
      <p:sp>
        <p:nvSpPr>
          <p:cNvPr id="37" name="Shape 32"/>
          <p:cNvSpPr/>
          <p:nvPr/>
        </p:nvSpPr>
        <p:spPr>
          <a:xfrm>
            <a:off x="8394192" y="3913632"/>
            <a:ext cx="109728" cy="109728"/>
          </a:xfrm>
          <a:prstGeom prst="ellipse">
            <a:avLst/>
          </a:prstGeom>
          <a:solidFill>
            <a:srgbClr val="028090"/>
          </a:solidFill>
          <a:ln/>
        </p:spPr>
      </p:sp>
      <p:sp>
        <p:nvSpPr>
          <p:cNvPr id="38" name="Text 33"/>
          <p:cNvSpPr/>
          <p:nvPr/>
        </p:nvSpPr>
        <p:spPr>
          <a:xfrm>
            <a:off x="8613648" y="3822192"/>
            <a:ext cx="2816352" cy="777240"/>
          </a:xfrm>
          <a:prstGeom prst="rect">
            <a:avLst/>
          </a:prstGeom>
          <a:noFill/>
          <a:ln/>
        </p:spPr>
        <p:txBody>
          <a:bodyPr wrap="square" lIns="0" tIns="0" rIns="0" bIns="0" rtlCol="0" anchor="t"/>
          <a:lstStyle/>
          <a:p>
            <a:pPr indent="0" marL="0">
              <a:buNone/>
            </a:pPr>
            <a:r>
              <a:rPr lang="en-US" sz="1030" b="1" dirty="0">
                <a:solidFill>
                  <a:srgbClr val="153A40"/>
                </a:solidFill>
                <a:latin typeface="Calibri" pitchFamily="34" charset="0"/>
                <a:ea typeface="Calibri" pitchFamily="34" charset="-122"/>
                <a:cs typeface="Calibri" pitchFamily="34" charset="-120"/>
              </a:rPr>
              <a:t>Alibaba: </a:t>
            </a:r>
            <a:pPr indent="0" marL="0">
              <a:buNone/>
            </a:pPr>
            <a:r>
              <a:rPr lang="en-US" sz="1030" dirty="0">
                <a:solidFill>
                  <a:srgbClr val="5E7A80"/>
                </a:solidFill>
                <a:latin typeface="Calibri" pitchFamily="34" charset="0"/>
                <a:ea typeface="Calibri" pitchFamily="34" charset="-122"/>
                <a:cs typeface="Calibri" pitchFamily="34" charset="-120"/>
              </a:rPr>
              <a:t>big “user models” turn long history into +2.9% clicks (2025)</a:t>
            </a:r>
            <a:endParaRPr lang="en-US" sz="1030" dirty="0"/>
          </a:p>
        </p:txBody>
      </p:sp>
      <p:sp>
        <p:nvSpPr>
          <p:cNvPr id="39" name="Shape 34"/>
          <p:cNvSpPr/>
          <p:nvPr/>
        </p:nvSpPr>
        <p:spPr>
          <a:xfrm>
            <a:off x="8394192" y="4754880"/>
            <a:ext cx="109728" cy="109728"/>
          </a:xfrm>
          <a:prstGeom prst="ellipse">
            <a:avLst/>
          </a:prstGeom>
          <a:solidFill>
            <a:srgbClr val="028090"/>
          </a:solidFill>
          <a:ln/>
        </p:spPr>
      </p:sp>
      <p:sp>
        <p:nvSpPr>
          <p:cNvPr id="40" name="Text 35"/>
          <p:cNvSpPr/>
          <p:nvPr/>
        </p:nvSpPr>
        <p:spPr>
          <a:xfrm>
            <a:off x="8613648" y="4663440"/>
            <a:ext cx="2816352" cy="777240"/>
          </a:xfrm>
          <a:prstGeom prst="rect">
            <a:avLst/>
          </a:prstGeom>
          <a:noFill/>
          <a:ln/>
        </p:spPr>
        <p:txBody>
          <a:bodyPr wrap="square" lIns="0" tIns="0" rIns="0" bIns="0" rtlCol="0" anchor="t"/>
          <a:lstStyle/>
          <a:p>
            <a:pPr indent="0" marL="0">
              <a:buNone/>
            </a:pPr>
            <a:r>
              <a:rPr lang="en-US" sz="1030" b="1" dirty="0">
                <a:solidFill>
                  <a:srgbClr val="153A40"/>
                </a:solidFill>
                <a:latin typeface="Calibri" pitchFamily="34" charset="0"/>
                <a:ea typeface="Calibri" pitchFamily="34" charset="-122"/>
                <a:cs typeface="Calibri" pitchFamily="34" charset="-120"/>
              </a:rPr>
              <a:t>Takeaway: </a:t>
            </a:r>
            <a:pPr indent="0" marL="0">
              <a:buNone/>
            </a:pPr>
            <a:r>
              <a:rPr lang="en-US" sz="1030" dirty="0">
                <a:solidFill>
                  <a:srgbClr val="5E7A80"/>
                </a:solidFill>
                <a:latin typeface="Calibri" pitchFamily="34" charset="0"/>
                <a:ea typeface="Calibri" pitchFamily="34" charset="-122"/>
                <a:cs typeface="Calibri" pitchFamily="34" charset="-120"/>
              </a:rPr>
              <a:t>more history = sharper personalization</a:t>
            </a:r>
            <a:endParaRPr lang="en-US" sz="1030" dirty="0"/>
          </a:p>
        </p:txBody>
      </p:sp>
      <p:sp>
        <p:nvSpPr>
          <p:cNvPr id="41" name="Text 36"/>
          <p:cNvSpPr/>
          <p:nvPr/>
        </p:nvSpPr>
        <p:spPr>
          <a:xfrm>
            <a:off x="640080" y="6437376"/>
            <a:ext cx="10927080" cy="274320"/>
          </a:xfrm>
          <a:prstGeom prst="rect">
            <a:avLst/>
          </a:prstGeom>
          <a:noFill/>
          <a:ln/>
        </p:spPr>
        <p:txBody>
          <a:bodyPr wrap="square" lIns="0" tIns="0" rIns="0" bIns="0" rtlCol="0" anchor="ctr"/>
          <a:lstStyle/>
          <a:p>
            <a:pPr indent="0" marL="0">
              <a:buNone/>
            </a:pPr>
            <a:r>
              <a:rPr lang="en-US" sz="850" i="1" dirty="0">
                <a:solidFill>
                  <a:srgbClr val="5E7A80"/>
                </a:solidFill>
                <a:latin typeface="Calibri" pitchFamily="34" charset="0"/>
                <a:ea typeface="Calibri" pitchFamily="34" charset="-122"/>
                <a:cs typeface="Calibri" pitchFamily="34" charset="-120"/>
              </a:rPr>
              <a:t>Sources (2025): Jiang et al. (URM); Yan et al. (LUM); Amazon Q4 2025; Li et al., Nov 2025 (Netflix); cold-start video study, Aug 2025. Platform-level per-segment figures are rarely disclosed; cross-industry studies used as directional evidence.</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FF6B6B"/>
                </a:solidFill>
                <a:latin typeface="Calibri" pitchFamily="34" charset="0"/>
                <a:ea typeface="Calibri" pitchFamily="34" charset="-122"/>
                <a:cs typeface="Calibri" pitchFamily="34" charset="-120"/>
              </a:rPr>
              <a:t>APPENDIX · SOURCES</a:t>
            </a:r>
            <a:endParaRPr lang="en-US" sz="1200" dirty="0"/>
          </a:p>
        </p:txBody>
      </p:sp>
      <p:sp>
        <p:nvSpPr>
          <p:cNvPr id="3" name="Text 1"/>
          <p:cNvSpPr/>
          <p:nvPr/>
        </p:nvSpPr>
        <p:spPr>
          <a:xfrm>
            <a:off x="640080" y="630936"/>
            <a:ext cx="10927080" cy="548640"/>
          </a:xfrm>
          <a:prstGeom prst="rect">
            <a:avLst/>
          </a:prstGeom>
          <a:noFill/>
          <a:ln/>
        </p:spPr>
        <p:txBody>
          <a:bodyPr wrap="square" lIns="0" tIns="0" rIns="0" bIns="0" rtlCol="0" anchor="ctr"/>
          <a:lstStyle/>
          <a:p>
            <a:pPr indent="0" marL="0">
              <a:buNone/>
            </a:pPr>
            <a:r>
              <a:rPr lang="en-US" sz="2500" b="1" dirty="0">
                <a:solidFill>
                  <a:srgbClr val="153A40"/>
                </a:solidFill>
                <a:latin typeface="Cambria" pitchFamily="34" charset="0"/>
                <a:ea typeface="Cambria" pitchFamily="34" charset="-122"/>
                <a:cs typeface="Cambria" pitchFamily="34" charset="-120"/>
              </a:rPr>
              <a:t>Where these facts come from (2024–2026)</a:t>
            </a:r>
            <a:endParaRPr lang="en-US" sz="2500" dirty="0"/>
          </a:p>
        </p:txBody>
      </p:sp>
      <p:sp>
        <p:nvSpPr>
          <p:cNvPr id="4" name="Shape 2"/>
          <p:cNvSpPr/>
          <p:nvPr/>
        </p:nvSpPr>
        <p:spPr>
          <a:xfrm>
            <a:off x="640080" y="1554480"/>
            <a:ext cx="10927080" cy="749808"/>
          </a:xfrm>
          <a:prstGeom prst="roundRect">
            <a:avLst>
              <a:gd name="adj" fmla="val 9756"/>
            </a:avLst>
          </a:prstGeom>
          <a:solidFill>
            <a:srgbClr val="EAF7F5"/>
          </a:solidFill>
          <a:ln/>
          <a:effectLst>
            <a:outerShdw sx="100000" sy="100000" kx="0" ky="0" algn="bl" rotWithShape="0" blurRad="127000" dist="50800" dir="5400000">
              <a:srgbClr val="8A93A6">
                <a:alpha val="13000"/>
              </a:srgbClr>
            </a:outerShdw>
          </a:effectLst>
        </p:spPr>
      </p:sp>
      <p:sp>
        <p:nvSpPr>
          <p:cNvPr id="5" name="Text 3"/>
          <p:cNvSpPr/>
          <p:nvPr/>
        </p:nvSpPr>
        <p:spPr>
          <a:xfrm>
            <a:off x="868680" y="1645920"/>
            <a:ext cx="2743200" cy="566928"/>
          </a:xfrm>
          <a:prstGeom prst="rect">
            <a:avLst/>
          </a:prstGeom>
          <a:noFill/>
          <a:ln/>
        </p:spPr>
        <p:txBody>
          <a:bodyPr wrap="square" lIns="0" tIns="0" rIns="0" bIns="0" rtlCol="0" anchor="ctr"/>
          <a:lstStyle/>
          <a:p>
            <a:pPr indent="0" marL="0">
              <a:buNone/>
            </a:pPr>
            <a:r>
              <a:rPr lang="en-US" sz="1100" b="1" dirty="0">
                <a:solidFill>
                  <a:srgbClr val="028090"/>
                </a:solidFill>
                <a:latin typeface="Cambria" pitchFamily="34" charset="0"/>
                <a:ea typeface="Cambria" pitchFamily="34" charset="-122"/>
                <a:cs typeface="Cambria" pitchFamily="34" charset="-120"/>
              </a:rPr>
              <a:t>Amazon — Rufus</a:t>
            </a:r>
            <a:endParaRPr lang="en-US" sz="1100" dirty="0"/>
          </a:p>
        </p:txBody>
      </p:sp>
      <p:sp>
        <p:nvSpPr>
          <p:cNvPr id="6" name="Text 4"/>
          <p:cNvSpPr/>
          <p:nvPr/>
        </p:nvSpPr>
        <p:spPr>
          <a:xfrm>
            <a:off x="3703320" y="1627632"/>
            <a:ext cx="7680960" cy="402336"/>
          </a:xfrm>
          <a:prstGeom prst="rect">
            <a:avLst/>
          </a:prstGeom>
          <a:noFill/>
          <a:ln/>
        </p:spPr>
        <p:txBody>
          <a:bodyPr wrap="square" lIns="0" tIns="0" rIns="0" bIns="0" rtlCol="0" anchor="t"/>
          <a:lstStyle/>
          <a:p>
            <a:pPr indent="0" marL="0">
              <a:buNone/>
            </a:pPr>
            <a:r>
              <a:rPr lang="en-US" sz="1000" dirty="0">
                <a:solidFill>
                  <a:srgbClr val="153A40"/>
                </a:solidFill>
                <a:latin typeface="Calibri" pitchFamily="34" charset="0"/>
                <a:ea typeface="Calibri" pitchFamily="34" charset="-122"/>
                <a:cs typeface="Calibri" pitchFamily="34" charset="-120"/>
              </a:rPr>
              <a:t>Amazon Science, “The technology behind Amazon's GenAI shopping assistant, Rufus” (2024); scale &amp; sales via Amazon Q4 2025 earnings.</a:t>
            </a:r>
            <a:endParaRPr lang="en-US" sz="1000" dirty="0"/>
          </a:p>
        </p:txBody>
      </p:sp>
      <p:sp>
        <p:nvSpPr>
          <p:cNvPr id="7" name="Text 5"/>
          <p:cNvSpPr/>
          <p:nvPr/>
        </p:nvSpPr>
        <p:spPr>
          <a:xfrm>
            <a:off x="3703320" y="2029968"/>
            <a:ext cx="7680960" cy="237744"/>
          </a:xfrm>
          <a:prstGeom prst="rect">
            <a:avLst/>
          </a:prstGeom>
          <a:noFill/>
          <a:ln/>
        </p:spPr>
        <p:txBody>
          <a:bodyPr wrap="square" lIns="0" tIns="0" rIns="0" bIns="0" rtlCol="0" anchor="ctr"/>
          <a:lstStyle/>
          <a:p>
            <a:pPr indent="0" marL="0">
              <a:buNone/>
            </a:pPr>
            <a:r>
              <a:rPr lang="en-US" sz="850" i="1" dirty="0">
                <a:solidFill>
                  <a:srgbClr val="5E7A80"/>
                </a:solidFill>
                <a:latin typeface="Calibri" pitchFamily="34" charset="0"/>
                <a:ea typeface="Calibri" pitchFamily="34" charset="-122"/>
                <a:cs typeface="Calibri" pitchFamily="34" charset="-120"/>
              </a:rPr>
              <a:t>amazon.science/blog/…-rufus</a:t>
            </a:r>
            <a:endParaRPr lang="en-US" sz="850" dirty="0"/>
          </a:p>
        </p:txBody>
      </p:sp>
      <p:sp>
        <p:nvSpPr>
          <p:cNvPr id="8" name="Shape 6"/>
          <p:cNvSpPr/>
          <p:nvPr/>
        </p:nvSpPr>
        <p:spPr>
          <a:xfrm>
            <a:off x="640080" y="2377440"/>
            <a:ext cx="10927080" cy="749808"/>
          </a:xfrm>
          <a:prstGeom prst="roundRect">
            <a:avLst>
              <a:gd name="adj" fmla="val 9756"/>
            </a:avLst>
          </a:prstGeom>
          <a:solidFill>
            <a:srgbClr val="FFFFFF"/>
          </a:solidFill>
          <a:ln/>
        </p:spPr>
      </p:sp>
      <p:sp>
        <p:nvSpPr>
          <p:cNvPr id="9" name="Shape 7"/>
          <p:cNvSpPr/>
          <p:nvPr/>
        </p:nvSpPr>
        <p:spPr>
          <a:xfrm>
            <a:off x="640080" y="2377440"/>
            <a:ext cx="10927080" cy="749808"/>
          </a:xfrm>
          <a:prstGeom prst="roundRect">
            <a:avLst>
              <a:gd name="adj" fmla="val 9756"/>
            </a:avLst>
          </a:prstGeom>
          <a:solidFill>
            <a:srgbClr val="FFFFFF">
              <a:alpha val="0"/>
            </a:srgbClr>
          </a:solidFill>
          <a:ln w="12700">
            <a:solidFill>
              <a:srgbClr val="CDE8E3"/>
            </a:solidFill>
            <a:prstDash val="solid"/>
          </a:ln>
        </p:spPr>
      </p:sp>
      <p:sp>
        <p:nvSpPr>
          <p:cNvPr id="10" name="Text 8"/>
          <p:cNvSpPr/>
          <p:nvPr/>
        </p:nvSpPr>
        <p:spPr>
          <a:xfrm>
            <a:off x="868680" y="2468880"/>
            <a:ext cx="2743200" cy="566928"/>
          </a:xfrm>
          <a:prstGeom prst="rect">
            <a:avLst/>
          </a:prstGeom>
          <a:noFill/>
          <a:ln/>
        </p:spPr>
        <p:txBody>
          <a:bodyPr wrap="square" lIns="0" tIns="0" rIns="0" bIns="0" rtlCol="0" anchor="ctr"/>
          <a:lstStyle/>
          <a:p>
            <a:pPr indent="0" marL="0">
              <a:buNone/>
            </a:pPr>
            <a:r>
              <a:rPr lang="en-US" sz="1100" b="1" dirty="0">
                <a:solidFill>
                  <a:srgbClr val="028090"/>
                </a:solidFill>
                <a:latin typeface="Cambria" pitchFamily="34" charset="0"/>
                <a:ea typeface="Cambria" pitchFamily="34" charset="-122"/>
                <a:cs typeface="Cambria" pitchFamily="34" charset="-120"/>
              </a:rPr>
              <a:t>Amazon — COSMO</a:t>
            </a:r>
            <a:endParaRPr lang="en-US" sz="1100" dirty="0"/>
          </a:p>
        </p:txBody>
      </p:sp>
      <p:sp>
        <p:nvSpPr>
          <p:cNvPr id="11" name="Text 9"/>
          <p:cNvSpPr/>
          <p:nvPr/>
        </p:nvSpPr>
        <p:spPr>
          <a:xfrm>
            <a:off x="3703320" y="2450592"/>
            <a:ext cx="7680960" cy="402336"/>
          </a:xfrm>
          <a:prstGeom prst="rect">
            <a:avLst/>
          </a:prstGeom>
          <a:noFill/>
          <a:ln/>
        </p:spPr>
        <p:txBody>
          <a:bodyPr wrap="square" lIns="0" tIns="0" rIns="0" bIns="0" rtlCol="0" anchor="t"/>
          <a:lstStyle/>
          <a:p>
            <a:pPr indent="0" marL="0">
              <a:buNone/>
            </a:pPr>
            <a:r>
              <a:rPr lang="en-US" sz="1000" dirty="0">
                <a:solidFill>
                  <a:srgbClr val="153A40"/>
                </a:solidFill>
                <a:latin typeface="Calibri" pitchFamily="34" charset="0"/>
                <a:ea typeface="Calibri" pitchFamily="34" charset="-122"/>
                <a:cs typeface="Calibri" pitchFamily="34" charset="-120"/>
              </a:rPr>
              <a:t>Commonsense knowledge graph built with LLMs, ACM SIGMOD 2024.</a:t>
            </a:r>
            <a:endParaRPr lang="en-US" sz="1000" dirty="0"/>
          </a:p>
        </p:txBody>
      </p:sp>
      <p:sp>
        <p:nvSpPr>
          <p:cNvPr id="12" name="Text 10"/>
          <p:cNvSpPr/>
          <p:nvPr/>
        </p:nvSpPr>
        <p:spPr>
          <a:xfrm>
            <a:off x="3703320" y="2852928"/>
            <a:ext cx="7680960" cy="237744"/>
          </a:xfrm>
          <a:prstGeom prst="rect">
            <a:avLst/>
          </a:prstGeom>
          <a:noFill/>
          <a:ln/>
        </p:spPr>
        <p:txBody>
          <a:bodyPr wrap="square" lIns="0" tIns="0" rIns="0" bIns="0" rtlCol="0" anchor="ctr"/>
          <a:lstStyle/>
          <a:p>
            <a:pPr indent="0" marL="0">
              <a:buNone/>
            </a:pPr>
            <a:r>
              <a:rPr lang="en-US" sz="850" i="1" dirty="0">
                <a:solidFill>
                  <a:srgbClr val="5E7A80"/>
                </a:solidFill>
                <a:latin typeface="Calibri" pitchFamily="34" charset="0"/>
                <a:ea typeface="Calibri" pitchFamily="34" charset="-122"/>
                <a:cs typeface="Calibri" pitchFamily="34" charset="-120"/>
              </a:rPr>
              <a:t>amazon.science (COSMO, SIGMOD 2024)</a:t>
            </a:r>
            <a:endParaRPr lang="en-US" sz="850" dirty="0"/>
          </a:p>
        </p:txBody>
      </p:sp>
      <p:sp>
        <p:nvSpPr>
          <p:cNvPr id="13" name="Shape 11"/>
          <p:cNvSpPr/>
          <p:nvPr/>
        </p:nvSpPr>
        <p:spPr>
          <a:xfrm>
            <a:off x="640080" y="3200400"/>
            <a:ext cx="10927080" cy="749808"/>
          </a:xfrm>
          <a:prstGeom prst="roundRect">
            <a:avLst>
              <a:gd name="adj" fmla="val 9756"/>
            </a:avLst>
          </a:prstGeom>
          <a:solidFill>
            <a:srgbClr val="EAF7F5"/>
          </a:solidFill>
          <a:ln/>
          <a:effectLst>
            <a:outerShdw sx="100000" sy="100000" kx="0" ky="0" algn="bl" rotWithShape="0" blurRad="127000" dist="50800" dir="5400000">
              <a:srgbClr val="8A93A6">
                <a:alpha val="13000"/>
              </a:srgbClr>
            </a:outerShdw>
          </a:effectLst>
        </p:spPr>
      </p:sp>
      <p:sp>
        <p:nvSpPr>
          <p:cNvPr id="14" name="Text 12"/>
          <p:cNvSpPr/>
          <p:nvPr/>
        </p:nvSpPr>
        <p:spPr>
          <a:xfrm>
            <a:off x="868680" y="3291840"/>
            <a:ext cx="2743200" cy="566928"/>
          </a:xfrm>
          <a:prstGeom prst="rect">
            <a:avLst/>
          </a:prstGeom>
          <a:noFill/>
          <a:ln/>
        </p:spPr>
        <p:txBody>
          <a:bodyPr wrap="square" lIns="0" tIns="0" rIns="0" bIns="0" rtlCol="0" anchor="ctr"/>
          <a:lstStyle/>
          <a:p>
            <a:pPr indent="0" marL="0">
              <a:buNone/>
            </a:pPr>
            <a:r>
              <a:rPr lang="en-US" sz="1100" b="1" dirty="0">
                <a:solidFill>
                  <a:srgbClr val="028090"/>
                </a:solidFill>
                <a:latin typeface="Cambria" pitchFamily="34" charset="0"/>
                <a:ea typeface="Cambria" pitchFamily="34" charset="-122"/>
                <a:cs typeface="Cambria" pitchFamily="34" charset="-120"/>
              </a:rPr>
              <a:t>Alibaba — URM</a:t>
            </a:r>
            <a:endParaRPr lang="en-US" sz="1100" dirty="0"/>
          </a:p>
        </p:txBody>
      </p:sp>
      <p:sp>
        <p:nvSpPr>
          <p:cNvPr id="15" name="Text 13"/>
          <p:cNvSpPr/>
          <p:nvPr/>
        </p:nvSpPr>
        <p:spPr>
          <a:xfrm>
            <a:off x="3703320" y="3273552"/>
            <a:ext cx="7680960" cy="402336"/>
          </a:xfrm>
          <a:prstGeom prst="rect">
            <a:avLst/>
          </a:prstGeom>
          <a:noFill/>
          <a:ln/>
        </p:spPr>
        <p:txBody>
          <a:bodyPr wrap="square" lIns="0" tIns="0" rIns="0" bIns="0" rtlCol="0" anchor="t"/>
          <a:lstStyle/>
          <a:p>
            <a:pPr indent="0" marL="0">
              <a:buNone/>
            </a:pPr>
            <a:r>
              <a:rPr lang="en-US" sz="1000" dirty="0">
                <a:solidFill>
                  <a:srgbClr val="153A40"/>
                </a:solidFill>
                <a:latin typeface="Calibri" pitchFamily="34" charset="0"/>
                <a:ea typeface="Calibri" pitchFamily="34" charset="-122"/>
                <a:cs typeface="Calibri" pitchFamily="34" charset="-120"/>
              </a:rPr>
              <a:t>Jiang et al., “LLM as Universal Retriever in Industrial-Scale Recommender System” (2025).</a:t>
            </a:r>
            <a:endParaRPr lang="en-US" sz="1000" dirty="0"/>
          </a:p>
        </p:txBody>
      </p:sp>
      <p:sp>
        <p:nvSpPr>
          <p:cNvPr id="16" name="Text 14"/>
          <p:cNvSpPr/>
          <p:nvPr/>
        </p:nvSpPr>
        <p:spPr>
          <a:xfrm>
            <a:off x="3703320" y="3675888"/>
            <a:ext cx="7680960" cy="237744"/>
          </a:xfrm>
          <a:prstGeom prst="rect">
            <a:avLst/>
          </a:prstGeom>
          <a:noFill/>
          <a:ln/>
        </p:spPr>
        <p:txBody>
          <a:bodyPr wrap="square" lIns="0" tIns="0" rIns="0" bIns="0" rtlCol="0" anchor="ctr"/>
          <a:lstStyle/>
          <a:p>
            <a:pPr indent="0" marL="0">
              <a:buNone/>
            </a:pPr>
            <a:r>
              <a:rPr lang="en-US" sz="850" i="1" dirty="0">
                <a:solidFill>
                  <a:srgbClr val="5E7A80"/>
                </a:solidFill>
                <a:latin typeface="Calibri" pitchFamily="34" charset="0"/>
                <a:ea typeface="Calibri" pitchFamily="34" charset="-122"/>
                <a:cs typeface="Calibri" pitchFamily="34" charset="-120"/>
              </a:rPr>
              <a:t>arxiv.org/abs/2502.03041</a:t>
            </a:r>
            <a:endParaRPr lang="en-US" sz="850" dirty="0"/>
          </a:p>
        </p:txBody>
      </p:sp>
      <p:sp>
        <p:nvSpPr>
          <p:cNvPr id="17" name="Shape 15"/>
          <p:cNvSpPr/>
          <p:nvPr/>
        </p:nvSpPr>
        <p:spPr>
          <a:xfrm>
            <a:off x="640080" y="4023360"/>
            <a:ext cx="10927080" cy="749808"/>
          </a:xfrm>
          <a:prstGeom prst="roundRect">
            <a:avLst>
              <a:gd name="adj" fmla="val 9756"/>
            </a:avLst>
          </a:prstGeom>
          <a:solidFill>
            <a:srgbClr val="FFFFFF"/>
          </a:solidFill>
          <a:ln/>
        </p:spPr>
      </p:sp>
      <p:sp>
        <p:nvSpPr>
          <p:cNvPr id="18" name="Shape 16"/>
          <p:cNvSpPr/>
          <p:nvPr/>
        </p:nvSpPr>
        <p:spPr>
          <a:xfrm>
            <a:off x="640080" y="4023360"/>
            <a:ext cx="10927080" cy="749808"/>
          </a:xfrm>
          <a:prstGeom prst="roundRect">
            <a:avLst>
              <a:gd name="adj" fmla="val 9756"/>
            </a:avLst>
          </a:prstGeom>
          <a:solidFill>
            <a:srgbClr val="FFFFFF">
              <a:alpha val="0"/>
            </a:srgbClr>
          </a:solidFill>
          <a:ln w="12700">
            <a:solidFill>
              <a:srgbClr val="CDE8E3"/>
            </a:solidFill>
            <a:prstDash val="solid"/>
          </a:ln>
        </p:spPr>
      </p:sp>
      <p:sp>
        <p:nvSpPr>
          <p:cNvPr id="19" name="Text 17"/>
          <p:cNvSpPr/>
          <p:nvPr/>
        </p:nvSpPr>
        <p:spPr>
          <a:xfrm>
            <a:off x="868680" y="4114800"/>
            <a:ext cx="2743200" cy="566928"/>
          </a:xfrm>
          <a:prstGeom prst="rect">
            <a:avLst/>
          </a:prstGeom>
          <a:noFill/>
          <a:ln/>
        </p:spPr>
        <p:txBody>
          <a:bodyPr wrap="square" lIns="0" tIns="0" rIns="0" bIns="0" rtlCol="0" anchor="ctr"/>
          <a:lstStyle/>
          <a:p>
            <a:pPr indent="0" marL="0">
              <a:buNone/>
            </a:pPr>
            <a:r>
              <a:rPr lang="en-US" sz="1100" b="1" dirty="0">
                <a:solidFill>
                  <a:srgbClr val="028090"/>
                </a:solidFill>
                <a:latin typeface="Cambria" pitchFamily="34" charset="0"/>
                <a:ea typeface="Cambria" pitchFamily="34" charset="-122"/>
                <a:cs typeface="Cambria" pitchFamily="34" charset="-120"/>
              </a:rPr>
              <a:t>Alibaba — LUM &amp; RecGPT</a:t>
            </a:r>
            <a:endParaRPr lang="en-US" sz="1100" dirty="0"/>
          </a:p>
        </p:txBody>
      </p:sp>
      <p:sp>
        <p:nvSpPr>
          <p:cNvPr id="20" name="Text 18"/>
          <p:cNvSpPr/>
          <p:nvPr/>
        </p:nvSpPr>
        <p:spPr>
          <a:xfrm>
            <a:off x="3703320" y="4096512"/>
            <a:ext cx="7680960" cy="402336"/>
          </a:xfrm>
          <a:prstGeom prst="rect">
            <a:avLst/>
          </a:prstGeom>
          <a:noFill/>
          <a:ln/>
        </p:spPr>
        <p:txBody>
          <a:bodyPr wrap="square" lIns="0" tIns="0" rIns="0" bIns="0" rtlCol="0" anchor="t"/>
          <a:lstStyle/>
          <a:p>
            <a:pPr indent="0" marL="0">
              <a:buNone/>
            </a:pPr>
            <a:r>
              <a:rPr lang="en-US" sz="1000" dirty="0">
                <a:solidFill>
                  <a:srgbClr val="153A40"/>
                </a:solidFill>
                <a:latin typeface="Calibri" pitchFamily="34" charset="0"/>
                <a:ea typeface="Calibri" pitchFamily="34" charset="-122"/>
                <a:cs typeface="Calibri" pitchFamily="34" charset="-120"/>
              </a:rPr>
              <a:t>Yan et al., “Large User Model” (2025); Yi et al., “RecGPT Technical Report” (2025).</a:t>
            </a:r>
            <a:endParaRPr lang="en-US" sz="1000" dirty="0"/>
          </a:p>
        </p:txBody>
      </p:sp>
      <p:sp>
        <p:nvSpPr>
          <p:cNvPr id="21" name="Text 19"/>
          <p:cNvSpPr/>
          <p:nvPr/>
        </p:nvSpPr>
        <p:spPr>
          <a:xfrm>
            <a:off x="3703320" y="4498848"/>
            <a:ext cx="7680960" cy="237744"/>
          </a:xfrm>
          <a:prstGeom prst="rect">
            <a:avLst/>
          </a:prstGeom>
          <a:noFill/>
          <a:ln/>
        </p:spPr>
        <p:txBody>
          <a:bodyPr wrap="square" lIns="0" tIns="0" rIns="0" bIns="0" rtlCol="0" anchor="ctr"/>
          <a:lstStyle/>
          <a:p>
            <a:pPr indent="0" marL="0">
              <a:buNone/>
            </a:pPr>
            <a:r>
              <a:rPr lang="en-US" sz="850" i="1" dirty="0">
                <a:solidFill>
                  <a:srgbClr val="5E7A80"/>
                </a:solidFill>
                <a:latin typeface="Calibri" pitchFamily="34" charset="0"/>
                <a:ea typeface="Calibri" pitchFamily="34" charset="-122"/>
                <a:cs typeface="Calibri" pitchFamily="34" charset="-120"/>
              </a:rPr>
              <a:t>arXiv 2025 (LUM); RecGPT report, Aug 2025</a:t>
            </a:r>
            <a:endParaRPr lang="en-US" sz="850" dirty="0"/>
          </a:p>
        </p:txBody>
      </p:sp>
      <p:sp>
        <p:nvSpPr>
          <p:cNvPr id="22" name="Shape 20"/>
          <p:cNvSpPr/>
          <p:nvPr/>
        </p:nvSpPr>
        <p:spPr>
          <a:xfrm>
            <a:off x="640080" y="4846320"/>
            <a:ext cx="10927080" cy="749808"/>
          </a:xfrm>
          <a:prstGeom prst="roundRect">
            <a:avLst>
              <a:gd name="adj" fmla="val 9756"/>
            </a:avLst>
          </a:prstGeom>
          <a:solidFill>
            <a:srgbClr val="EAF7F5"/>
          </a:solidFill>
          <a:ln/>
          <a:effectLst>
            <a:outerShdw sx="100000" sy="100000" kx="0" ky="0" algn="bl" rotWithShape="0" blurRad="127000" dist="50800" dir="5400000">
              <a:srgbClr val="8A93A6">
                <a:alpha val="13000"/>
              </a:srgbClr>
            </a:outerShdw>
          </a:effectLst>
        </p:spPr>
      </p:sp>
      <p:sp>
        <p:nvSpPr>
          <p:cNvPr id="23" name="Text 21"/>
          <p:cNvSpPr/>
          <p:nvPr/>
        </p:nvSpPr>
        <p:spPr>
          <a:xfrm>
            <a:off x="868680" y="4937760"/>
            <a:ext cx="2743200" cy="566928"/>
          </a:xfrm>
          <a:prstGeom prst="rect">
            <a:avLst/>
          </a:prstGeom>
          <a:noFill/>
          <a:ln/>
        </p:spPr>
        <p:txBody>
          <a:bodyPr wrap="square" lIns="0" tIns="0" rIns="0" bIns="0" rtlCol="0" anchor="ctr"/>
          <a:lstStyle/>
          <a:p>
            <a:pPr indent="0" marL="0">
              <a:buNone/>
            </a:pPr>
            <a:r>
              <a:rPr lang="en-US" sz="1100" b="1" dirty="0">
                <a:solidFill>
                  <a:srgbClr val="028090"/>
                </a:solidFill>
                <a:latin typeface="Cambria" pitchFamily="34" charset="0"/>
                <a:ea typeface="Cambria" pitchFamily="34" charset="-122"/>
                <a:cs typeface="Cambria" pitchFamily="34" charset="-120"/>
              </a:rPr>
              <a:t>JD.com — GenCTR &amp; GRAM</a:t>
            </a:r>
            <a:endParaRPr lang="en-US" sz="1100" dirty="0"/>
          </a:p>
        </p:txBody>
      </p:sp>
      <p:sp>
        <p:nvSpPr>
          <p:cNvPr id="24" name="Text 22"/>
          <p:cNvSpPr/>
          <p:nvPr/>
        </p:nvSpPr>
        <p:spPr>
          <a:xfrm>
            <a:off x="3703320" y="4919472"/>
            <a:ext cx="7680960" cy="402336"/>
          </a:xfrm>
          <a:prstGeom prst="rect">
            <a:avLst/>
          </a:prstGeom>
          <a:noFill/>
          <a:ln/>
        </p:spPr>
        <p:txBody>
          <a:bodyPr wrap="square" lIns="0" tIns="0" rIns="0" bIns="0" rtlCol="0" anchor="t"/>
          <a:lstStyle/>
          <a:p>
            <a:pPr indent="0" marL="0">
              <a:buNone/>
            </a:pPr>
            <a:r>
              <a:rPr lang="en-US" sz="1000" dirty="0">
                <a:solidFill>
                  <a:srgbClr val="153A40"/>
                </a:solidFill>
                <a:latin typeface="Calibri" pitchFamily="34" charset="0"/>
                <a:ea typeface="Calibri" pitchFamily="34" charset="-122"/>
                <a:cs typeface="Calibri" pitchFamily="34" charset="-120"/>
              </a:rPr>
              <a:t>Kong et al., “Generative CTR Prediction…” (2025); JD “GRAM: Generative Retrieval and Alignment” (2025).</a:t>
            </a:r>
            <a:endParaRPr lang="en-US" sz="1000" dirty="0"/>
          </a:p>
        </p:txBody>
      </p:sp>
      <p:sp>
        <p:nvSpPr>
          <p:cNvPr id="25" name="Text 23"/>
          <p:cNvSpPr/>
          <p:nvPr/>
        </p:nvSpPr>
        <p:spPr>
          <a:xfrm>
            <a:off x="3703320" y="5321808"/>
            <a:ext cx="7680960" cy="237744"/>
          </a:xfrm>
          <a:prstGeom prst="rect">
            <a:avLst/>
          </a:prstGeom>
          <a:noFill/>
          <a:ln/>
        </p:spPr>
        <p:txBody>
          <a:bodyPr wrap="square" lIns="0" tIns="0" rIns="0" bIns="0" rtlCol="0" anchor="ctr"/>
          <a:lstStyle/>
          <a:p>
            <a:pPr indent="0" marL="0">
              <a:buNone/>
            </a:pPr>
            <a:r>
              <a:rPr lang="en-US" sz="850" i="1" dirty="0">
                <a:solidFill>
                  <a:srgbClr val="5E7A80"/>
                </a:solidFill>
                <a:latin typeface="Calibri" pitchFamily="34" charset="0"/>
                <a:ea typeface="Calibri" pitchFamily="34" charset="-122"/>
                <a:cs typeface="Calibri" pitchFamily="34" charset="-120"/>
              </a:rPr>
              <a:t>arxiv.org/abs/2507.11246</a:t>
            </a:r>
            <a:endParaRPr lang="en-US" sz="850" dirty="0"/>
          </a:p>
        </p:txBody>
      </p:sp>
      <p:sp>
        <p:nvSpPr>
          <p:cNvPr id="26" name="Shape 24"/>
          <p:cNvSpPr/>
          <p:nvPr/>
        </p:nvSpPr>
        <p:spPr>
          <a:xfrm>
            <a:off x="640080" y="5669280"/>
            <a:ext cx="10927080" cy="749808"/>
          </a:xfrm>
          <a:prstGeom prst="roundRect">
            <a:avLst>
              <a:gd name="adj" fmla="val 9756"/>
            </a:avLst>
          </a:prstGeom>
          <a:solidFill>
            <a:srgbClr val="FFFFFF"/>
          </a:solidFill>
          <a:ln/>
        </p:spPr>
      </p:sp>
      <p:sp>
        <p:nvSpPr>
          <p:cNvPr id="27" name="Shape 25"/>
          <p:cNvSpPr/>
          <p:nvPr/>
        </p:nvSpPr>
        <p:spPr>
          <a:xfrm>
            <a:off x="640080" y="5669280"/>
            <a:ext cx="10927080" cy="749808"/>
          </a:xfrm>
          <a:prstGeom prst="roundRect">
            <a:avLst>
              <a:gd name="adj" fmla="val 9756"/>
            </a:avLst>
          </a:prstGeom>
          <a:solidFill>
            <a:srgbClr val="FFFFFF">
              <a:alpha val="0"/>
            </a:srgbClr>
          </a:solidFill>
          <a:ln w="12700">
            <a:solidFill>
              <a:srgbClr val="CDE8E3"/>
            </a:solidFill>
            <a:prstDash val="solid"/>
          </a:ln>
        </p:spPr>
      </p:sp>
      <p:sp>
        <p:nvSpPr>
          <p:cNvPr id="28" name="Text 26"/>
          <p:cNvSpPr/>
          <p:nvPr/>
        </p:nvSpPr>
        <p:spPr>
          <a:xfrm>
            <a:off x="868680" y="5760720"/>
            <a:ext cx="2743200" cy="566928"/>
          </a:xfrm>
          <a:prstGeom prst="rect">
            <a:avLst/>
          </a:prstGeom>
          <a:noFill/>
          <a:ln/>
        </p:spPr>
        <p:txBody>
          <a:bodyPr wrap="square" lIns="0" tIns="0" rIns="0" bIns="0" rtlCol="0" anchor="ctr"/>
          <a:lstStyle/>
          <a:p>
            <a:pPr indent="0" marL="0">
              <a:buNone/>
            </a:pPr>
            <a:r>
              <a:rPr lang="en-US" sz="1100" b="1" dirty="0">
                <a:solidFill>
                  <a:srgbClr val="028090"/>
                </a:solidFill>
                <a:latin typeface="Cambria" pitchFamily="34" charset="0"/>
                <a:ea typeface="Cambria" pitchFamily="34" charset="-122"/>
                <a:cs typeface="Cambria" pitchFamily="34" charset="-120"/>
              </a:rPr>
              <a:t>User-class / cold-start</a:t>
            </a:r>
            <a:endParaRPr lang="en-US" sz="1100" dirty="0"/>
          </a:p>
        </p:txBody>
      </p:sp>
      <p:sp>
        <p:nvSpPr>
          <p:cNvPr id="29" name="Text 27"/>
          <p:cNvSpPr/>
          <p:nvPr/>
        </p:nvSpPr>
        <p:spPr>
          <a:xfrm>
            <a:off x="3703320" y="5742432"/>
            <a:ext cx="7680960" cy="402336"/>
          </a:xfrm>
          <a:prstGeom prst="rect">
            <a:avLst/>
          </a:prstGeom>
          <a:noFill/>
          <a:ln/>
        </p:spPr>
        <p:txBody>
          <a:bodyPr wrap="square" lIns="0" tIns="0" rIns="0" bIns="0" rtlCol="0" anchor="t"/>
          <a:lstStyle/>
          <a:p>
            <a:pPr indent="0" marL="0">
              <a:buNone/>
            </a:pPr>
            <a:r>
              <a:rPr lang="en-US" sz="1000" dirty="0">
                <a:solidFill>
                  <a:srgbClr val="153A40"/>
                </a:solidFill>
                <a:latin typeface="Calibri" pitchFamily="34" charset="0"/>
                <a:ea typeface="Calibri" pitchFamily="34" charset="-122"/>
                <a:cs typeface="Calibri" pitchFamily="34" charset="-120"/>
              </a:rPr>
              <a:t>Netflix cold-start (Li et al., Nov 2025); video-platform cold-start study (Aug 2025); cold-start LLM survey (2025).</a:t>
            </a:r>
            <a:endParaRPr lang="en-US" sz="1000" dirty="0"/>
          </a:p>
        </p:txBody>
      </p:sp>
      <p:sp>
        <p:nvSpPr>
          <p:cNvPr id="30" name="Text 28"/>
          <p:cNvSpPr/>
          <p:nvPr/>
        </p:nvSpPr>
        <p:spPr>
          <a:xfrm>
            <a:off x="3703320" y="6144768"/>
            <a:ext cx="7680960" cy="237744"/>
          </a:xfrm>
          <a:prstGeom prst="rect">
            <a:avLst/>
          </a:prstGeom>
          <a:noFill/>
          <a:ln/>
        </p:spPr>
        <p:txBody>
          <a:bodyPr wrap="square" lIns="0" tIns="0" rIns="0" bIns="0" rtlCol="0" anchor="ctr"/>
          <a:lstStyle/>
          <a:p>
            <a:pPr indent="0" marL="0">
              <a:buNone/>
            </a:pPr>
            <a:r>
              <a:rPr lang="en-US" sz="850" i="1" dirty="0">
                <a:solidFill>
                  <a:srgbClr val="5E7A80"/>
                </a:solidFill>
                <a:latin typeface="Calibri" pitchFamily="34" charset="0"/>
                <a:ea typeface="Calibri" pitchFamily="34" charset="-122"/>
                <a:cs typeface="Calibri" pitchFamily="34" charset="-120"/>
              </a:rPr>
              <a:t>arXiv 2025</a:t>
            </a:r>
            <a:endParaRPr lang="en-US" sz="850" dirty="0"/>
          </a:p>
        </p:txBody>
      </p:sp>
      <p:sp>
        <p:nvSpPr>
          <p:cNvPr id="31" name="Text 29"/>
          <p:cNvSpPr/>
          <p:nvPr/>
        </p:nvSpPr>
        <p:spPr>
          <a:xfrm>
            <a:off x="640080" y="6537960"/>
            <a:ext cx="10927080" cy="365760"/>
          </a:xfrm>
          <a:prstGeom prst="rect">
            <a:avLst/>
          </a:prstGeom>
          <a:noFill/>
          <a:ln/>
        </p:spPr>
        <p:txBody>
          <a:bodyPr wrap="square" lIns="0" tIns="0" rIns="0" bIns="0" rtlCol="0" anchor="ctr"/>
          <a:lstStyle/>
          <a:p>
            <a:pPr indent="0" marL="0">
              <a:buNone/>
            </a:pPr>
            <a:r>
              <a:rPr lang="en-US" sz="950" i="1" dirty="0">
                <a:solidFill>
                  <a:srgbClr val="5E7A80"/>
                </a:solidFill>
                <a:latin typeface="Calibri" pitchFamily="34" charset="0"/>
                <a:ea typeface="Calibri" pitchFamily="34" charset="-122"/>
                <a:cs typeface="Calibri" pitchFamily="34" charset="-120"/>
              </a:rPr>
              <a:t>Note: pre-GPT milestones (item-to-item CF 1998/2003; EGES &amp; DIN 2018; JD Telepath 2017) are historical; all quantitative effectiveness figures above are from 2024–2026 publications.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Recommendation Systems in E-Commerce — Data Science Beginners</dc:title>
  <dc:subject>PptxGenJS Presentation</dc:subject>
  <dc:creator>Recommendation Systems Briefing</dc:creator>
  <cp:lastModifiedBy>Recommendation Systems Briefing</cp:lastModifiedBy>
  <cp:revision>1</cp:revision>
  <dcterms:created xsi:type="dcterms:W3CDTF">2026-07-01T05:15:30Z</dcterms:created>
  <dcterms:modified xsi:type="dcterms:W3CDTF">2026-07-01T05:15:30Z</dcterms:modified>
</cp:coreProperties>
</file>